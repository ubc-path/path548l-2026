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82" r:id="rId4"/>
    <p:sldId id="297" r:id="rId5"/>
    <p:sldId id="298" r:id="rId6"/>
    <p:sldId id="295" r:id="rId7"/>
    <p:sldId id="29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9980" autoAdjust="0"/>
    <p:restoredTop sz="94660"/>
  </p:normalViewPr>
  <p:slideViewPr>
    <p:cSldViewPr showGuides="1">
      <p:cViewPr varScale="1">
        <p:scale>
          <a:sx n="80" d="100"/>
          <a:sy n="80" d="100"/>
        </p:scale>
        <p:origin x="102" y="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90045-4C24-43CD-AD00-F6D8B484A165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67E0C-81DB-4EE3-ADE0-5CE38F74E3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990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    </a:t>
            </a:r>
            <a:r>
              <a:rPr lang="en-US" sz="3200" b="1" dirty="0"/>
              <a:t>Interacting with biostatistician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981200"/>
            <a:ext cx="19928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Module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Lecture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295400"/>
            <a:ext cx="86106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Be aware of what preparation is needed before you meet with a biostatistician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Do you need a biostatistician?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1" y="1295400"/>
            <a:ext cx="8382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Several times in this course we recommended to consult a biostatistician</a:t>
            </a:r>
          </a:p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Typically around $100/h</a:t>
            </a:r>
          </a:p>
          <a:p>
            <a:pPr>
              <a:spcAft>
                <a:spcPts val="1200"/>
              </a:spcAft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You would likely benefit from such consultation if:</a:t>
            </a:r>
          </a:p>
          <a:p>
            <a:pPr>
              <a:spcAft>
                <a:spcPts val="1200"/>
              </a:spcAft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You are planning intermediate or advanced statistics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You are planning to submit to a journal that may </a:t>
            </a:r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</a:rPr>
              <a:t>require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the involvement of  a biostatistician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Your PI/collaborators want to do things differently than what you think is right based on your new knowledge; you need backup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92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What do you need to prepare for a biostatistician?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295400"/>
            <a:ext cx="8534400" cy="450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Assume that the biostatistician has never seen your data before and is unfamiliar with your research topic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Your job is to bring them up to speed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Ideally, you would consult BEFORE you start your experiments (often done at time of grant proposal).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</a:rPr>
              <a:t>Explain (ideally in writing, can be guided by STROBE or other guidelines) 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Context (briefly)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Research question/ research objective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What is your primary endpoint or measure of interest?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Your hypothesis (null and alternate) (must be testable)</a:t>
            </a:r>
          </a:p>
        </p:txBody>
      </p:sp>
    </p:spTree>
    <p:extLst>
      <p:ext uri="{BB962C8B-B14F-4D97-AF65-F5344CB8AC3E}">
        <p14:creationId xmlns:p14="http://schemas.microsoft.com/office/powerpoint/2010/main" val="70763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What do you need to prepare for a biostatistician?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143000"/>
            <a:ext cx="8534400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</a:rPr>
              <a:t>Explain (ideally in writing, can be guided by STROBE or other guidelines) :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Type of study you are planning (longitudinal, case-control, etc.), be prepared to explain why you are doing it this way as they may have other suggestions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Inclusion/exclusion criteria (if applicable)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Variables (continuous vs categorical) and their definition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Exploratory or confirmatory?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Share preliminary data and sample size/power calculations if relevant 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Bring visuals of your data if you have it</a:t>
            </a:r>
          </a:p>
        </p:txBody>
      </p:sp>
    </p:spTree>
    <p:extLst>
      <p:ext uri="{BB962C8B-B14F-4D97-AF65-F5344CB8AC3E}">
        <p14:creationId xmlns:p14="http://schemas.microsoft.com/office/powerpoint/2010/main" val="207235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Example of a biostatistical support request form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16EC05-2BDA-4B75-89CD-1DEFB4DB9553}"/>
              </a:ext>
            </a:extLst>
          </p:cNvPr>
          <p:cNvGrpSpPr/>
          <p:nvPr/>
        </p:nvGrpSpPr>
        <p:grpSpPr>
          <a:xfrm>
            <a:off x="1447800" y="1219200"/>
            <a:ext cx="6563360" cy="4876800"/>
            <a:chOff x="1219200" y="1600200"/>
            <a:chExt cx="6563360" cy="4876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A16721-10E5-4832-BF68-34AFA169CF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667" t="63333" r="30000" b="14445"/>
            <a:stretch/>
          </p:blipFill>
          <p:spPr>
            <a:xfrm>
              <a:off x="1219200" y="1600200"/>
              <a:ext cx="6563360" cy="2895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187B21-39F4-467F-8949-DFD4D15B0E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833" t="39630" r="24167" b="35185"/>
            <a:stretch/>
          </p:blipFill>
          <p:spPr>
            <a:xfrm>
              <a:off x="1361439" y="4267200"/>
              <a:ext cx="6239435" cy="22098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CE297-C4EB-4DA2-AC41-99AD8D2FA314}"/>
              </a:ext>
            </a:extLst>
          </p:cNvPr>
          <p:cNvGrpSpPr/>
          <p:nvPr/>
        </p:nvGrpSpPr>
        <p:grpSpPr>
          <a:xfrm>
            <a:off x="901460" y="2064423"/>
            <a:ext cx="622540" cy="754977"/>
            <a:chOff x="672860" y="2445423"/>
            <a:chExt cx="622540" cy="754977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6448D321-A1BC-4C3B-A5FC-506F65A72263}"/>
                </a:ext>
              </a:extLst>
            </p:cNvPr>
            <p:cNvSpPr/>
            <p:nvPr/>
          </p:nvSpPr>
          <p:spPr>
            <a:xfrm>
              <a:off x="672860" y="2445423"/>
              <a:ext cx="609600" cy="304800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40D505F3-3964-4AD7-A374-C74930B94CD3}"/>
                </a:ext>
              </a:extLst>
            </p:cNvPr>
            <p:cNvSpPr/>
            <p:nvPr/>
          </p:nvSpPr>
          <p:spPr>
            <a:xfrm>
              <a:off x="685800" y="2895600"/>
              <a:ext cx="609600" cy="304800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37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9EE332-52D9-424F-8BCE-E05A14D15ADF}"/>
              </a:ext>
            </a:extLst>
          </p:cNvPr>
          <p:cNvSpPr txBox="1"/>
          <p:nvPr/>
        </p:nvSpPr>
        <p:spPr>
          <a:xfrm>
            <a:off x="304800" y="1143000"/>
            <a:ext cx="85344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Cost varies from free or partly free  (as part of a UBC courses offering statistical consulting to UBC students):</a:t>
            </a:r>
          </a:p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To $100 or more per hour</a:t>
            </a:r>
          </a:p>
          <a:p>
            <a:pPr>
              <a:spcAft>
                <a:spcPts val="1200"/>
              </a:spcAft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Preparation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is key to keeping costs down</a:t>
            </a:r>
          </a:p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Be clear in whether you want the biostatistician to </a:t>
            </a:r>
          </a:p>
          <a:p>
            <a:pPr marL="342900" indent="-342900"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Help you design a study</a:t>
            </a:r>
          </a:p>
          <a:p>
            <a:pPr marL="342900" indent="-342900"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Help you do the stats on your data yourself; you are consulting to ensure you are doing it correctly </a:t>
            </a:r>
          </a:p>
          <a:p>
            <a:pPr marL="342900" indent="-342900">
              <a:spcAft>
                <a:spcPts val="1200"/>
              </a:spcAft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Do the analysis for you</a:t>
            </a:r>
          </a:p>
          <a:p>
            <a:pPr marL="342900" indent="-342900">
              <a:spcAft>
                <a:spcPts val="1200"/>
              </a:spcAft>
              <a:buFontTx/>
              <a:buChar char="-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ALWAYS clear this with your PI beforehand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6934AC-DB73-4EEE-A3C0-E4A2D1BCD77B}"/>
              </a:ext>
            </a:extLst>
          </p:cNvPr>
          <p:cNvSpPr/>
          <p:nvPr/>
        </p:nvSpPr>
        <p:spPr>
          <a:xfrm>
            <a:off x="3810000" y="1507007"/>
            <a:ext cx="4572000" cy="279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https://www.stat.ubc.ca/need-help-your-data</a:t>
            </a:r>
          </a:p>
        </p:txBody>
      </p:sp>
    </p:spTree>
    <p:extLst>
      <p:ext uri="{BB962C8B-B14F-4D97-AF65-F5344CB8AC3E}">
        <p14:creationId xmlns:p14="http://schemas.microsoft.com/office/powerpoint/2010/main" val="3086000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55696</TotalTime>
  <Words>405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hcote</dc:creator>
  <cp:lastModifiedBy>Cote, Helene</cp:lastModifiedBy>
  <cp:revision>950</cp:revision>
  <dcterms:created xsi:type="dcterms:W3CDTF">2014-05-07T23:33:29Z</dcterms:created>
  <dcterms:modified xsi:type="dcterms:W3CDTF">2025-06-18T19:38:21Z</dcterms:modified>
</cp:coreProperties>
</file>