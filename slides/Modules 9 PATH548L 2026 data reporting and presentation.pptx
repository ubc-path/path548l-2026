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94" r:id="rId2"/>
    <p:sldId id="295" r:id="rId3"/>
    <p:sldId id="315" r:id="rId4"/>
    <p:sldId id="316" r:id="rId5"/>
    <p:sldId id="317" r:id="rId6"/>
    <p:sldId id="318" r:id="rId7"/>
    <p:sldId id="319" r:id="rId8"/>
    <p:sldId id="339" r:id="rId9"/>
    <p:sldId id="341" r:id="rId10"/>
    <p:sldId id="321" r:id="rId11"/>
    <p:sldId id="322" r:id="rId12"/>
    <p:sldId id="323" r:id="rId13"/>
    <p:sldId id="324" r:id="rId14"/>
    <p:sldId id="333" r:id="rId15"/>
    <p:sldId id="343" r:id="rId16"/>
    <p:sldId id="325" r:id="rId17"/>
    <p:sldId id="326" r:id="rId18"/>
    <p:sldId id="327" r:id="rId19"/>
    <p:sldId id="328" r:id="rId20"/>
    <p:sldId id="330" r:id="rId21"/>
    <p:sldId id="329" r:id="rId22"/>
    <p:sldId id="337" r:id="rId23"/>
    <p:sldId id="344" r:id="rId24"/>
    <p:sldId id="335" r:id="rId25"/>
    <p:sldId id="336" r:id="rId26"/>
    <p:sldId id="331" r:id="rId27"/>
    <p:sldId id="332" r:id="rId28"/>
  </p:sldIdLst>
  <p:sldSz cx="9144000" cy="6858000" type="screen4x3"/>
  <p:notesSz cx="7315200" cy="96012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0" autoAdjust="0"/>
    <p:restoredTop sz="94660"/>
  </p:normalViewPr>
  <p:slideViewPr>
    <p:cSldViewPr showGuides="1">
      <p:cViewPr>
        <p:scale>
          <a:sx n="120" d="100"/>
          <a:sy n="120" d="100"/>
        </p:scale>
        <p:origin x="774" y="96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50000">
                  <a:srgbClr val="4F81BD">
                    <a:tint val="44500"/>
                    <a:satMod val="160000"/>
                  </a:srgbClr>
                </a:gs>
                <a:gs pos="100000">
                  <a:srgbClr val="4F81BD">
                    <a:tint val="23500"/>
                    <a:satMod val="160000"/>
                  </a:srgbClr>
                </a:gs>
              </a:gsLst>
              <a:lin ang="5400000" scaled="0"/>
            </a:gradFill>
            <a:ln cmpd="dbl"/>
            <a:effectLst>
              <a:outerShdw blurRad="50800" dist="190500" dir="6480000" algn="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prstMaterial="dkEdge"/>
          </c:spPr>
          <c:invertIfNegative val="0"/>
          <c:cat>
            <c:strRef>
              <c:f>Sheet1!$B$5:$B$8</c:f>
              <c:strCache>
                <c:ptCount val="4"/>
                <c:pt idx="0">
                  <c:v>group 1</c:v>
                </c:pt>
                <c:pt idx="1">
                  <c:v>group 2</c:v>
                </c:pt>
                <c:pt idx="2">
                  <c:v>group 3</c:v>
                </c:pt>
                <c:pt idx="3">
                  <c:v>group 4</c:v>
                </c:pt>
              </c:strCache>
            </c:strRef>
          </c:cat>
          <c:val>
            <c:numRef>
              <c:f>Sheet1!$C$5:$C$8</c:f>
              <c:numCache>
                <c:formatCode>General</c:formatCode>
                <c:ptCount val="4"/>
                <c:pt idx="0">
                  <c:v>4.5</c:v>
                </c:pt>
                <c:pt idx="1">
                  <c:v>3</c:v>
                </c:pt>
                <c:pt idx="2">
                  <c:v>1</c:v>
                </c:pt>
                <c:pt idx="3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EB-4C2D-A8F7-B63F9B3F3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8736128"/>
        <c:axId val="68737664"/>
      </c:barChart>
      <c:catAx>
        <c:axId val="687361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8737664"/>
        <c:crosses val="autoZero"/>
        <c:auto val="1"/>
        <c:lblAlgn val="ctr"/>
        <c:lblOffset val="100"/>
        <c:noMultiLvlLbl val="0"/>
      </c:catAx>
      <c:valAx>
        <c:axId val="68737664"/>
        <c:scaling>
          <c:orientation val="minMax"/>
        </c:scaling>
        <c:delete val="0"/>
        <c:axPos val="l"/>
        <c:majorGridlines>
          <c:spPr>
            <a:ln>
              <a:prstDash val="dash"/>
            </a:ln>
          </c:spPr>
        </c:majorGridlines>
        <c:numFmt formatCode="General" sourceLinked="1"/>
        <c:majorTickMark val="out"/>
        <c:minorTickMark val="none"/>
        <c:tickLblPos val="nextTo"/>
        <c:crossAx val="6873612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C428FA-1340-447D-BACA-20B61C6DD5B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2B9750A-5D41-4641-B408-17B3B30693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B9750A-5D41-4641-B408-17B3B30693C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63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EC417-DE76-4BDA-ADD1-32DACB28C9C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613F1-7461-46F1-AD2A-B0E2B7A49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tiff"/><Relationship Id="rId4" Type="http://schemas.openxmlformats.org/officeDocument/2006/relationships/image" Target="../media/image25.tif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1.png"/><Relationship Id="rId7" Type="http://schemas.openxmlformats.org/officeDocument/2006/relationships/hyperlink" Target="http://blogs-images.forbes.com/naomirobbins/files/2012/05/3dbar_labels.png" TargetMode="External"/><Relationship Id="rId2" Type="http://schemas.openxmlformats.org/officeDocument/2006/relationships/hyperlink" Target="http://www.google.ca/url?sa=i&amp;rct=j&amp;q=&amp;esrc=s&amp;source=images&amp;cd=&amp;cad=rja&amp;uact=8&amp;docid=y18PQrULOalJvM&amp;tbnid=AZEKwsroeIW4PM:&amp;ved=0CAUQjRw&amp;url=http://www.jpowered.com/php-scripts/vertical-bar-graph/&amp;ei=4lmqU-qnM434oATknYCABQ&amp;bvm=bv.69620078,d.cGU&amp;psig=AFQjCNEEqjMowkyIVr4JKkdYNliVkoqXhQ&amp;ust=1403759426103290" TargetMode="Externa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42.gif"/><Relationship Id="rId4" Type="http://schemas.openxmlformats.org/officeDocument/2006/relationships/hyperlink" Target="http://www.google.ca/url?sa=i&amp;rct=j&amp;q=&amp;esrc=s&amp;source=images&amp;cd=&amp;cad=rja&amp;uact=8&amp;docid=1PcpqOkyoce0qM&amp;tbnid=GHDRdQlEOjz7fM:&amp;ved=0CAUQjRw&amp;url=http://www.cricages.com/?attachment_id=6538&amp;ei=FVqqU6HzJ8jooAT-y4HgBQ&amp;bvm=bv.69620078,d.cGU&amp;psig=AFQjCNEEqjMowkyIVr4JKkdYNliVkoqXhQ&amp;ust=1403759426103290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a/dp/020507507X/ref=cm_sw_r_em_apa_i_f.A9AbAWPM5KW" TargetMode="External"/><Relationship Id="rId2" Type="http://schemas.openxmlformats.org/officeDocument/2006/relationships/hyperlink" Target="http://www.editage.com/insights/tips-on-effective-use-of-tables-and-figures-in-research-paper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blogs.nature.com/methagora/2013/07/data-visualization-points-of-view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9080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    </a:t>
            </a:r>
            <a:r>
              <a:rPr lang="en-US" sz="3200" b="1" dirty="0"/>
              <a:t>Data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5C76F-EF73-4D9D-AC4C-87059054E018}"/>
              </a:ext>
            </a:extLst>
          </p:cNvPr>
          <p:cNvSpPr txBox="1"/>
          <p:nvPr/>
        </p:nvSpPr>
        <p:spPr>
          <a:xfrm>
            <a:off x="381000" y="1752600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</a:rPr>
              <a:t>Module 9</a:t>
            </a:r>
          </a:p>
        </p:txBody>
      </p:sp>
    </p:spTree>
    <p:extLst>
      <p:ext uri="{BB962C8B-B14F-4D97-AF65-F5344CB8AC3E}">
        <p14:creationId xmlns:p14="http://schemas.microsoft.com/office/powerpoint/2010/main" val="2344691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7605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 Lecture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257955"/>
            <a:ext cx="822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Identify the elements of, and know how to build effective Tables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Recognize the importance of transparent data presentation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Recognize the elements of effective visual/graphical data presentation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0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Data presentation (tables and figures)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990600"/>
            <a:ext cx="8229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Many readers of research article actually read: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Only the title + abstract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Only the title + abstract + figures, maybe glance at the tables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SzPct val="120000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Some may read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title + abstract + figures + tables + conclusion (maybe the discussion)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SzPct val="120000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000" b="1" dirty="0">
                <a:solidFill>
                  <a:srgbClr val="C00000"/>
                </a:solidFill>
              </a:rPr>
              <a:t>Few read the whole thing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3657600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Tables and figures should: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describe the study sample (if applicable) and convey the main study findings in a manner that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easily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understandable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stand alone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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reader should not be required to read the main text to understand 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be simple, informative, and transparent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respect the journal’s format (if applicable)</a:t>
            </a:r>
          </a:p>
        </p:txBody>
      </p:sp>
    </p:spTree>
    <p:extLst>
      <p:ext uri="{BB962C8B-B14F-4D97-AF65-F5344CB8AC3E}">
        <p14:creationId xmlns:p14="http://schemas.microsoft.com/office/powerpoint/2010/main" val="191978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990600"/>
            <a:ext cx="8534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Usually summarize the study sample or the results (e.g. demographic tables, descriptive stats of results)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Title of table is shown </a:t>
            </a: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ABOVE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 the table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and briefly describes its content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Avoid abbreviations whenever possible as these will need to be defined in the footnote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Justify the first column to the left, usually justify right or centered for other columns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May use horizontal lines to define sections but vertical ones should not be used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Always indicate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“n” and units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Present values with appropriate precision level (not 2.654328)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For details explained in footnote, use subscript symbols (*, #, ^, +, etc… or a, b, c, d) 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Present data based on whether they are descriptive (e.g. mean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SD or median [IQR] (range)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based on their distribution, or used to infer statistics, (e.g. mean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 SEM, effect estimate with 95% CI), or median [IQR]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38600" y="3962400"/>
            <a:ext cx="4648200" cy="376192"/>
          </a:xfrm>
          <a:prstGeom prst="rect">
            <a:avLst/>
          </a:prstGeom>
          <a:solidFill>
            <a:schemeClr val="accent2"/>
          </a:solidFill>
        </p:spPr>
        <p:txBody>
          <a:bodyPr wrap="square" lIns="98234" tIns="49117" rIns="98234" bIns="49117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Common mistake: p &lt; 1.0 x 10</a:t>
            </a:r>
            <a:r>
              <a:rPr lang="en-US" b="1" baseline="30000" dirty="0">
                <a:solidFill>
                  <a:schemeClr val="bg1"/>
                </a:solidFill>
              </a:rPr>
              <a:t>-12</a:t>
            </a:r>
          </a:p>
        </p:txBody>
      </p:sp>
    </p:spTree>
    <p:extLst>
      <p:ext uri="{BB962C8B-B14F-4D97-AF65-F5344CB8AC3E}">
        <p14:creationId xmlns:p14="http://schemas.microsoft.com/office/powerpoint/2010/main" val="401516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Tables </a:t>
            </a:r>
            <a:r>
              <a:rPr lang="en-US" sz="3200" b="1" dirty="0">
                <a:sym typeface="Symbol"/>
              </a:rPr>
              <a:t> examples</a:t>
            </a:r>
            <a:endParaRPr lang="en-US" sz="3200" b="1" dirty="0"/>
          </a:p>
        </p:txBody>
      </p:sp>
      <p:pic>
        <p:nvPicPr>
          <p:cNvPr id="1026" name="Picture 2" descr="http://www.koonec.com/wp-content/uploads/2010/08/Example-Table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272" y="1140733"/>
            <a:ext cx="8305800" cy="5505007"/>
          </a:xfrm>
          <a:prstGeom prst="rect">
            <a:avLst/>
          </a:prstGeom>
          <a:noFill/>
        </p:spPr>
      </p:pic>
      <p:grpSp>
        <p:nvGrpSpPr>
          <p:cNvPr id="6" name="Group 5"/>
          <p:cNvGrpSpPr/>
          <p:nvPr/>
        </p:nvGrpSpPr>
        <p:grpSpPr>
          <a:xfrm>
            <a:off x="914400" y="920233"/>
            <a:ext cx="5846220" cy="1746767"/>
            <a:chOff x="914400" y="920233"/>
            <a:chExt cx="5846220" cy="1746767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14400" y="1219200"/>
              <a:ext cx="2590800" cy="1447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 flipH="1">
              <a:off x="3529739" y="920233"/>
              <a:ext cx="32308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</a:rPr>
                <a:t>Should probably be sex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81000" y="2645044"/>
            <a:ext cx="8738461" cy="4064895"/>
            <a:chOff x="381000" y="2645044"/>
            <a:chExt cx="8738461" cy="4064895"/>
          </a:xfrm>
        </p:grpSpPr>
        <p:sp>
          <p:nvSpPr>
            <p:cNvPr id="7" name="Oval 6"/>
            <p:cNvSpPr/>
            <p:nvPr/>
          </p:nvSpPr>
          <p:spPr>
            <a:xfrm>
              <a:off x="381000" y="6019800"/>
              <a:ext cx="1981200" cy="59010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 rot="5400000">
              <a:off x="7685729" y="3105627"/>
              <a:ext cx="1355926" cy="434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032608" y="6248274"/>
              <a:ext cx="2086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</a:rPr>
                <a:t>Really needed?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8373798" y="4000970"/>
              <a:ext cx="0" cy="21831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 flipV="1">
              <a:off x="2467928" y="6314853"/>
              <a:ext cx="4535384" cy="1642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104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8" name="Picture 10" descr="Image not available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11078"/>
            <a:ext cx="9143999" cy="5633943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715000" y="6133233"/>
            <a:ext cx="2836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Dabelea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 D et al. JAMA. 2014;311(17):1778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Tables </a:t>
            </a:r>
            <a:r>
              <a:rPr lang="en-US" sz="3200" b="1" dirty="0">
                <a:sym typeface="Symbol"/>
              </a:rPr>
              <a:t> examples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926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Table 1 BPA levels measured in serum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3196902"/>
            <a:ext cx="8991600" cy="3280098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0" y="2815902"/>
            <a:ext cx="3835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Table 1:</a:t>
            </a:r>
            <a:r>
              <a:rPr lang="en-US" dirty="0"/>
              <a:t> BPA levels measured in serum.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Tables </a:t>
            </a:r>
            <a:r>
              <a:rPr lang="en-US" sz="3200" b="1" dirty="0">
                <a:sym typeface="Symbol"/>
              </a:rPr>
              <a:t> examples</a:t>
            </a:r>
            <a:endParaRPr lang="en-US" sz="3200" b="1" dirty="0"/>
          </a:p>
        </p:txBody>
      </p:sp>
      <p:grpSp>
        <p:nvGrpSpPr>
          <p:cNvPr id="37" name="Group 36"/>
          <p:cNvGrpSpPr/>
          <p:nvPr/>
        </p:nvGrpSpPr>
        <p:grpSpPr>
          <a:xfrm>
            <a:off x="4603875" y="2282502"/>
            <a:ext cx="4387725" cy="3200400"/>
            <a:chOff x="4572000" y="2282502"/>
            <a:chExt cx="4387725" cy="3200400"/>
          </a:xfrm>
        </p:grpSpPr>
        <p:sp>
          <p:nvSpPr>
            <p:cNvPr id="5" name="Oval 4"/>
            <p:cNvSpPr/>
            <p:nvPr/>
          </p:nvSpPr>
          <p:spPr>
            <a:xfrm>
              <a:off x="4572000" y="3958902"/>
              <a:ext cx="533400" cy="1524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4828478" y="2282502"/>
              <a:ext cx="3813717" cy="1483112"/>
            </a:xfrm>
            <a:custGeom>
              <a:avLst/>
              <a:gdLst>
                <a:gd name="connsiteX0" fmla="*/ 0 w 3813717"/>
                <a:gd name="connsiteY0" fmla="*/ 1483112 h 1483112"/>
                <a:gd name="connsiteX1" fmla="*/ 11151 w 3813717"/>
                <a:gd name="connsiteY1" fmla="*/ 836341 h 1483112"/>
                <a:gd name="connsiteX2" fmla="*/ 44605 w 3813717"/>
                <a:gd name="connsiteY2" fmla="*/ 680224 h 1483112"/>
                <a:gd name="connsiteX3" fmla="*/ 55756 w 3813717"/>
                <a:gd name="connsiteY3" fmla="*/ 624468 h 1483112"/>
                <a:gd name="connsiteX4" fmla="*/ 100361 w 3813717"/>
                <a:gd name="connsiteY4" fmla="*/ 546409 h 1483112"/>
                <a:gd name="connsiteX5" fmla="*/ 111512 w 3813717"/>
                <a:gd name="connsiteY5" fmla="*/ 512956 h 1483112"/>
                <a:gd name="connsiteX6" fmla="*/ 156117 w 3813717"/>
                <a:gd name="connsiteY6" fmla="*/ 446048 h 1483112"/>
                <a:gd name="connsiteX7" fmla="*/ 178420 w 3813717"/>
                <a:gd name="connsiteY7" fmla="*/ 412595 h 1483112"/>
                <a:gd name="connsiteX8" fmla="*/ 200722 w 3813717"/>
                <a:gd name="connsiteY8" fmla="*/ 390292 h 1483112"/>
                <a:gd name="connsiteX9" fmla="*/ 223024 w 3813717"/>
                <a:gd name="connsiteY9" fmla="*/ 345687 h 1483112"/>
                <a:gd name="connsiteX10" fmla="*/ 312234 w 3813717"/>
                <a:gd name="connsiteY10" fmla="*/ 278780 h 1483112"/>
                <a:gd name="connsiteX11" fmla="*/ 356839 w 3813717"/>
                <a:gd name="connsiteY11" fmla="*/ 245326 h 1483112"/>
                <a:gd name="connsiteX12" fmla="*/ 379142 w 3813717"/>
                <a:gd name="connsiteY12" fmla="*/ 223024 h 1483112"/>
                <a:gd name="connsiteX13" fmla="*/ 479502 w 3813717"/>
                <a:gd name="connsiteY13" fmla="*/ 167268 h 1483112"/>
                <a:gd name="connsiteX14" fmla="*/ 512956 w 3813717"/>
                <a:gd name="connsiteY14" fmla="*/ 144965 h 1483112"/>
                <a:gd name="connsiteX15" fmla="*/ 591015 w 3813717"/>
                <a:gd name="connsiteY15" fmla="*/ 111512 h 1483112"/>
                <a:gd name="connsiteX16" fmla="*/ 669073 w 3813717"/>
                <a:gd name="connsiteY16" fmla="*/ 78058 h 1483112"/>
                <a:gd name="connsiteX17" fmla="*/ 791737 w 3813717"/>
                <a:gd name="connsiteY17" fmla="*/ 33453 h 1483112"/>
                <a:gd name="connsiteX18" fmla="*/ 1048215 w 3813717"/>
                <a:gd name="connsiteY18" fmla="*/ 0 h 1483112"/>
                <a:gd name="connsiteX19" fmla="*/ 1929161 w 3813717"/>
                <a:gd name="connsiteY19" fmla="*/ 11151 h 1483112"/>
                <a:gd name="connsiteX20" fmla="*/ 2843561 w 3813717"/>
                <a:gd name="connsiteY20" fmla="*/ 33453 h 1483112"/>
                <a:gd name="connsiteX21" fmla="*/ 2888166 w 3813717"/>
                <a:gd name="connsiteY21" fmla="*/ 44604 h 1483112"/>
                <a:gd name="connsiteX22" fmla="*/ 2921620 w 3813717"/>
                <a:gd name="connsiteY22" fmla="*/ 55756 h 1483112"/>
                <a:gd name="connsiteX23" fmla="*/ 3010829 w 3813717"/>
                <a:gd name="connsiteY23" fmla="*/ 66907 h 1483112"/>
                <a:gd name="connsiteX24" fmla="*/ 3100039 w 3813717"/>
                <a:gd name="connsiteY24" fmla="*/ 111512 h 1483112"/>
                <a:gd name="connsiteX25" fmla="*/ 3189249 w 3813717"/>
                <a:gd name="connsiteY25" fmla="*/ 133814 h 1483112"/>
                <a:gd name="connsiteX26" fmla="*/ 3267307 w 3813717"/>
                <a:gd name="connsiteY26" fmla="*/ 178419 h 1483112"/>
                <a:gd name="connsiteX27" fmla="*/ 3323063 w 3813717"/>
                <a:gd name="connsiteY27" fmla="*/ 189570 h 1483112"/>
                <a:gd name="connsiteX28" fmla="*/ 3479181 w 3813717"/>
                <a:gd name="connsiteY28" fmla="*/ 312234 h 1483112"/>
                <a:gd name="connsiteX29" fmla="*/ 3534937 w 3813717"/>
                <a:gd name="connsiteY29" fmla="*/ 390292 h 1483112"/>
                <a:gd name="connsiteX30" fmla="*/ 3568390 w 3813717"/>
                <a:gd name="connsiteY30" fmla="*/ 412595 h 1483112"/>
                <a:gd name="connsiteX31" fmla="*/ 3601844 w 3813717"/>
                <a:gd name="connsiteY31" fmla="*/ 479502 h 1483112"/>
                <a:gd name="connsiteX32" fmla="*/ 3657600 w 3813717"/>
                <a:gd name="connsiteY32" fmla="*/ 557561 h 1483112"/>
                <a:gd name="connsiteX33" fmla="*/ 3668751 w 3813717"/>
                <a:gd name="connsiteY33" fmla="*/ 602165 h 1483112"/>
                <a:gd name="connsiteX34" fmla="*/ 3691054 w 3813717"/>
                <a:gd name="connsiteY34" fmla="*/ 635619 h 1483112"/>
                <a:gd name="connsiteX35" fmla="*/ 3713356 w 3813717"/>
                <a:gd name="connsiteY35" fmla="*/ 724829 h 1483112"/>
                <a:gd name="connsiteX36" fmla="*/ 3724507 w 3813717"/>
                <a:gd name="connsiteY36" fmla="*/ 769434 h 1483112"/>
                <a:gd name="connsiteX37" fmla="*/ 3769112 w 3813717"/>
                <a:gd name="connsiteY37" fmla="*/ 869795 h 1483112"/>
                <a:gd name="connsiteX38" fmla="*/ 3780263 w 3813717"/>
                <a:gd name="connsiteY38" fmla="*/ 914400 h 1483112"/>
                <a:gd name="connsiteX39" fmla="*/ 3791415 w 3813717"/>
                <a:gd name="connsiteY39" fmla="*/ 1037063 h 1483112"/>
                <a:gd name="connsiteX40" fmla="*/ 3813717 w 3813717"/>
                <a:gd name="connsiteY40" fmla="*/ 1103970 h 1483112"/>
                <a:gd name="connsiteX41" fmla="*/ 3813717 w 3813717"/>
                <a:gd name="connsiteY41" fmla="*/ 1349297 h 1483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813717" h="1483112">
                  <a:moveTo>
                    <a:pt x="0" y="1483112"/>
                  </a:moveTo>
                  <a:cubicBezTo>
                    <a:pt x="3717" y="1267522"/>
                    <a:pt x="1647" y="1051754"/>
                    <a:pt x="11151" y="836341"/>
                  </a:cubicBezTo>
                  <a:cubicBezTo>
                    <a:pt x="13232" y="789167"/>
                    <a:pt x="33651" y="729516"/>
                    <a:pt x="44605" y="680224"/>
                  </a:cubicBezTo>
                  <a:cubicBezTo>
                    <a:pt x="48716" y="661722"/>
                    <a:pt x="49762" y="642449"/>
                    <a:pt x="55756" y="624468"/>
                  </a:cubicBezTo>
                  <a:cubicBezTo>
                    <a:pt x="75304" y="565824"/>
                    <a:pt x="75891" y="595349"/>
                    <a:pt x="100361" y="546409"/>
                  </a:cubicBezTo>
                  <a:cubicBezTo>
                    <a:pt x="105618" y="535896"/>
                    <a:pt x="105804" y="523231"/>
                    <a:pt x="111512" y="512956"/>
                  </a:cubicBezTo>
                  <a:cubicBezTo>
                    <a:pt x="124529" y="489525"/>
                    <a:pt x="141248" y="468351"/>
                    <a:pt x="156117" y="446048"/>
                  </a:cubicBezTo>
                  <a:cubicBezTo>
                    <a:pt x="163551" y="434897"/>
                    <a:pt x="168944" y="422072"/>
                    <a:pt x="178420" y="412595"/>
                  </a:cubicBezTo>
                  <a:cubicBezTo>
                    <a:pt x="185854" y="405161"/>
                    <a:pt x="194890" y="399040"/>
                    <a:pt x="200722" y="390292"/>
                  </a:cubicBezTo>
                  <a:cubicBezTo>
                    <a:pt x="209943" y="376461"/>
                    <a:pt x="213803" y="359518"/>
                    <a:pt x="223024" y="345687"/>
                  </a:cubicBezTo>
                  <a:cubicBezTo>
                    <a:pt x="240071" y="320117"/>
                    <a:pt x="298302" y="289229"/>
                    <a:pt x="312234" y="278780"/>
                  </a:cubicBezTo>
                  <a:cubicBezTo>
                    <a:pt x="327102" y="267629"/>
                    <a:pt x="342561" y="257224"/>
                    <a:pt x="356839" y="245326"/>
                  </a:cubicBezTo>
                  <a:cubicBezTo>
                    <a:pt x="364916" y="238595"/>
                    <a:pt x="370587" y="229135"/>
                    <a:pt x="379142" y="223024"/>
                  </a:cubicBezTo>
                  <a:cubicBezTo>
                    <a:pt x="434870" y="183219"/>
                    <a:pt x="426466" y="197575"/>
                    <a:pt x="479502" y="167268"/>
                  </a:cubicBezTo>
                  <a:cubicBezTo>
                    <a:pt x="491138" y="160619"/>
                    <a:pt x="501320" y="151614"/>
                    <a:pt x="512956" y="144965"/>
                  </a:cubicBezTo>
                  <a:cubicBezTo>
                    <a:pt x="551537" y="122919"/>
                    <a:pt x="553484" y="124022"/>
                    <a:pt x="591015" y="111512"/>
                  </a:cubicBezTo>
                  <a:cubicBezTo>
                    <a:pt x="649812" y="72312"/>
                    <a:pt x="597066" y="102060"/>
                    <a:pt x="669073" y="78058"/>
                  </a:cubicBezTo>
                  <a:cubicBezTo>
                    <a:pt x="704548" y="66233"/>
                    <a:pt x="755295" y="39527"/>
                    <a:pt x="791737" y="33453"/>
                  </a:cubicBezTo>
                  <a:cubicBezTo>
                    <a:pt x="966049" y="4401"/>
                    <a:pt x="880517" y="15245"/>
                    <a:pt x="1048215" y="0"/>
                  </a:cubicBezTo>
                  <a:lnTo>
                    <a:pt x="1929161" y="11151"/>
                  </a:lnTo>
                  <a:cubicBezTo>
                    <a:pt x="2679061" y="21639"/>
                    <a:pt x="2413953" y="9586"/>
                    <a:pt x="2843561" y="33453"/>
                  </a:cubicBezTo>
                  <a:cubicBezTo>
                    <a:pt x="2858429" y="37170"/>
                    <a:pt x="2873430" y="40394"/>
                    <a:pt x="2888166" y="44604"/>
                  </a:cubicBezTo>
                  <a:cubicBezTo>
                    <a:pt x="2899468" y="47833"/>
                    <a:pt x="2910055" y="53653"/>
                    <a:pt x="2921620" y="55756"/>
                  </a:cubicBezTo>
                  <a:cubicBezTo>
                    <a:pt x="2951104" y="61117"/>
                    <a:pt x="2981093" y="63190"/>
                    <a:pt x="3010829" y="66907"/>
                  </a:cubicBezTo>
                  <a:cubicBezTo>
                    <a:pt x="3040566" y="81775"/>
                    <a:pt x="3067785" y="103449"/>
                    <a:pt x="3100039" y="111512"/>
                  </a:cubicBezTo>
                  <a:lnTo>
                    <a:pt x="3189249" y="133814"/>
                  </a:lnTo>
                  <a:cubicBezTo>
                    <a:pt x="3213723" y="150131"/>
                    <a:pt x="3239007" y="168986"/>
                    <a:pt x="3267307" y="178419"/>
                  </a:cubicBezTo>
                  <a:cubicBezTo>
                    <a:pt x="3285288" y="184412"/>
                    <a:pt x="3304478" y="185853"/>
                    <a:pt x="3323063" y="189570"/>
                  </a:cubicBezTo>
                  <a:cubicBezTo>
                    <a:pt x="3408260" y="274767"/>
                    <a:pt x="3212500" y="81110"/>
                    <a:pt x="3479181" y="312234"/>
                  </a:cubicBezTo>
                  <a:cubicBezTo>
                    <a:pt x="3545011" y="369286"/>
                    <a:pt x="3484776" y="340131"/>
                    <a:pt x="3534937" y="390292"/>
                  </a:cubicBezTo>
                  <a:cubicBezTo>
                    <a:pt x="3544414" y="399769"/>
                    <a:pt x="3557239" y="405161"/>
                    <a:pt x="3568390" y="412595"/>
                  </a:cubicBezTo>
                  <a:cubicBezTo>
                    <a:pt x="3585586" y="464178"/>
                    <a:pt x="3570964" y="430093"/>
                    <a:pt x="3601844" y="479502"/>
                  </a:cubicBezTo>
                  <a:cubicBezTo>
                    <a:pt x="3645024" y="548590"/>
                    <a:pt x="3617879" y="517838"/>
                    <a:pt x="3657600" y="557561"/>
                  </a:cubicBezTo>
                  <a:cubicBezTo>
                    <a:pt x="3661317" y="572429"/>
                    <a:pt x="3662714" y="588079"/>
                    <a:pt x="3668751" y="602165"/>
                  </a:cubicBezTo>
                  <a:cubicBezTo>
                    <a:pt x="3674030" y="614484"/>
                    <a:pt x="3686474" y="623024"/>
                    <a:pt x="3691054" y="635619"/>
                  </a:cubicBezTo>
                  <a:cubicBezTo>
                    <a:pt x="3701529" y="664425"/>
                    <a:pt x="3705922" y="695092"/>
                    <a:pt x="3713356" y="724829"/>
                  </a:cubicBezTo>
                  <a:cubicBezTo>
                    <a:pt x="3717073" y="739697"/>
                    <a:pt x="3717653" y="755726"/>
                    <a:pt x="3724507" y="769434"/>
                  </a:cubicBezTo>
                  <a:cubicBezTo>
                    <a:pt x="3743939" y="808297"/>
                    <a:pt x="3754873" y="827077"/>
                    <a:pt x="3769112" y="869795"/>
                  </a:cubicBezTo>
                  <a:cubicBezTo>
                    <a:pt x="3773958" y="884334"/>
                    <a:pt x="3776546" y="899532"/>
                    <a:pt x="3780263" y="914400"/>
                  </a:cubicBezTo>
                  <a:cubicBezTo>
                    <a:pt x="3783980" y="955288"/>
                    <a:pt x="3784280" y="996631"/>
                    <a:pt x="3791415" y="1037063"/>
                  </a:cubicBezTo>
                  <a:cubicBezTo>
                    <a:pt x="3795501" y="1060214"/>
                    <a:pt x="3813717" y="1080461"/>
                    <a:pt x="3813717" y="1103970"/>
                  </a:cubicBezTo>
                  <a:lnTo>
                    <a:pt x="3813717" y="1349297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8508380" y="3397624"/>
              <a:ext cx="356840" cy="236777"/>
            </a:xfrm>
            <a:custGeom>
              <a:avLst/>
              <a:gdLst>
                <a:gd name="connsiteX0" fmla="*/ 0 w 356840"/>
                <a:gd name="connsiteY0" fmla="*/ 66907 h 236777"/>
                <a:gd name="connsiteX1" fmla="*/ 22303 w 356840"/>
                <a:gd name="connsiteY1" fmla="*/ 100361 h 236777"/>
                <a:gd name="connsiteX2" fmla="*/ 66908 w 356840"/>
                <a:gd name="connsiteY2" fmla="*/ 189571 h 236777"/>
                <a:gd name="connsiteX3" fmla="*/ 133815 w 356840"/>
                <a:gd name="connsiteY3" fmla="*/ 234176 h 236777"/>
                <a:gd name="connsiteX4" fmla="*/ 167269 w 356840"/>
                <a:gd name="connsiteY4" fmla="*/ 223024 h 236777"/>
                <a:gd name="connsiteX5" fmla="*/ 189571 w 356840"/>
                <a:gd name="connsiteY5" fmla="*/ 189571 h 236777"/>
                <a:gd name="connsiteX6" fmla="*/ 234176 w 356840"/>
                <a:gd name="connsiteY6" fmla="*/ 133815 h 236777"/>
                <a:gd name="connsiteX7" fmla="*/ 267630 w 356840"/>
                <a:gd name="connsiteY7" fmla="*/ 78058 h 236777"/>
                <a:gd name="connsiteX8" fmla="*/ 278781 w 356840"/>
                <a:gd name="connsiteY8" fmla="*/ 44605 h 236777"/>
                <a:gd name="connsiteX9" fmla="*/ 312235 w 356840"/>
                <a:gd name="connsiteY9" fmla="*/ 33454 h 236777"/>
                <a:gd name="connsiteX10" fmla="*/ 356840 w 356840"/>
                <a:gd name="connsiteY10" fmla="*/ 0 h 23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6840" h="236777">
                  <a:moveTo>
                    <a:pt x="0" y="66907"/>
                  </a:moveTo>
                  <a:cubicBezTo>
                    <a:pt x="7434" y="78058"/>
                    <a:pt x="16860" y="88114"/>
                    <a:pt x="22303" y="100361"/>
                  </a:cubicBezTo>
                  <a:cubicBezTo>
                    <a:pt x="46238" y="154214"/>
                    <a:pt x="28739" y="160944"/>
                    <a:pt x="66908" y="189571"/>
                  </a:cubicBezTo>
                  <a:cubicBezTo>
                    <a:pt x="88351" y="205654"/>
                    <a:pt x="133815" y="234176"/>
                    <a:pt x="133815" y="234176"/>
                  </a:cubicBezTo>
                  <a:cubicBezTo>
                    <a:pt x="144966" y="230459"/>
                    <a:pt x="158090" y="230367"/>
                    <a:pt x="167269" y="223024"/>
                  </a:cubicBezTo>
                  <a:cubicBezTo>
                    <a:pt x="177734" y="214652"/>
                    <a:pt x="181199" y="200036"/>
                    <a:pt x="189571" y="189571"/>
                  </a:cubicBezTo>
                  <a:cubicBezTo>
                    <a:pt x="253129" y="110124"/>
                    <a:pt x="165535" y="236777"/>
                    <a:pt x="234176" y="133815"/>
                  </a:cubicBezTo>
                  <a:cubicBezTo>
                    <a:pt x="265764" y="39050"/>
                    <a:pt x="221710" y="154591"/>
                    <a:pt x="267630" y="78058"/>
                  </a:cubicBezTo>
                  <a:cubicBezTo>
                    <a:pt x="273678" y="67979"/>
                    <a:pt x="270469" y="52916"/>
                    <a:pt x="278781" y="44605"/>
                  </a:cubicBezTo>
                  <a:cubicBezTo>
                    <a:pt x="287093" y="36293"/>
                    <a:pt x="301084" y="37171"/>
                    <a:pt x="312235" y="33454"/>
                  </a:cubicBezTo>
                  <a:cubicBezTo>
                    <a:pt x="340414" y="5274"/>
                    <a:pt x="325133" y="15853"/>
                    <a:pt x="356840" y="0"/>
                  </a:cubicBez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92985" y="3983283"/>
              <a:ext cx="9667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Real </a:t>
              </a:r>
            </a:p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p values</a:t>
              </a:r>
            </a:p>
          </p:txBody>
        </p:sp>
      </p:grpSp>
      <p:sp>
        <p:nvSpPr>
          <p:cNvPr id="14" name="Oval 13"/>
          <p:cNvSpPr/>
          <p:nvPr/>
        </p:nvSpPr>
        <p:spPr>
          <a:xfrm>
            <a:off x="2209800" y="3349302"/>
            <a:ext cx="914400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352800" y="3654102"/>
            <a:ext cx="3810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81000" y="3958902"/>
            <a:ext cx="3048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590800" y="6244902"/>
            <a:ext cx="1447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2667000" y="2294170"/>
            <a:ext cx="825867" cy="657405"/>
            <a:chOff x="2667000" y="2294170"/>
            <a:chExt cx="825867" cy="657405"/>
          </a:xfrm>
        </p:grpSpPr>
        <p:sp>
          <p:nvSpPr>
            <p:cNvPr id="30" name="TextBox 29"/>
            <p:cNvSpPr txBox="1"/>
            <p:nvPr/>
          </p:nvSpPr>
          <p:spPr>
            <a:xfrm>
              <a:off x="2667000" y="2294170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mouse</a:t>
              </a:r>
            </a:p>
          </p:txBody>
        </p:sp>
        <p:sp>
          <p:nvSpPr>
            <p:cNvPr id="31" name="Freeform 30"/>
            <p:cNvSpPr/>
            <p:nvPr/>
          </p:nvSpPr>
          <p:spPr>
            <a:xfrm>
              <a:off x="2943922" y="2588919"/>
              <a:ext cx="196844" cy="362656"/>
            </a:xfrm>
            <a:custGeom>
              <a:avLst/>
              <a:gdLst>
                <a:gd name="connsiteX0" fmla="*/ 0 w 196844"/>
                <a:gd name="connsiteY0" fmla="*/ 83876 h 362656"/>
                <a:gd name="connsiteX1" fmla="*/ 22302 w 196844"/>
                <a:gd name="connsiteY1" fmla="*/ 161934 h 362656"/>
                <a:gd name="connsiteX2" fmla="*/ 44605 w 196844"/>
                <a:gd name="connsiteY2" fmla="*/ 195388 h 362656"/>
                <a:gd name="connsiteX3" fmla="*/ 55756 w 196844"/>
                <a:gd name="connsiteY3" fmla="*/ 239993 h 362656"/>
                <a:gd name="connsiteX4" fmla="*/ 78058 w 196844"/>
                <a:gd name="connsiteY4" fmla="*/ 306900 h 362656"/>
                <a:gd name="connsiteX5" fmla="*/ 89210 w 196844"/>
                <a:gd name="connsiteY5" fmla="*/ 362656 h 362656"/>
                <a:gd name="connsiteX6" fmla="*/ 100361 w 196844"/>
                <a:gd name="connsiteY6" fmla="*/ 106178 h 362656"/>
                <a:gd name="connsiteX7" fmla="*/ 111512 w 196844"/>
                <a:gd name="connsiteY7" fmla="*/ 72724 h 362656"/>
                <a:gd name="connsiteX8" fmla="*/ 133815 w 196844"/>
                <a:gd name="connsiteY8" fmla="*/ 50422 h 362656"/>
                <a:gd name="connsiteX9" fmla="*/ 178419 w 196844"/>
                <a:gd name="connsiteY9" fmla="*/ 16968 h 36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844" h="362656">
                  <a:moveTo>
                    <a:pt x="0" y="83876"/>
                  </a:moveTo>
                  <a:cubicBezTo>
                    <a:pt x="3573" y="98167"/>
                    <a:pt x="14303" y="145936"/>
                    <a:pt x="22302" y="161934"/>
                  </a:cubicBezTo>
                  <a:cubicBezTo>
                    <a:pt x="28296" y="173921"/>
                    <a:pt x="37171" y="184237"/>
                    <a:pt x="44605" y="195388"/>
                  </a:cubicBezTo>
                  <a:cubicBezTo>
                    <a:pt x="48322" y="210256"/>
                    <a:pt x="51352" y="225313"/>
                    <a:pt x="55756" y="239993"/>
                  </a:cubicBezTo>
                  <a:cubicBezTo>
                    <a:pt x="62511" y="262510"/>
                    <a:pt x="73447" y="283848"/>
                    <a:pt x="78058" y="306900"/>
                  </a:cubicBezTo>
                  <a:lnTo>
                    <a:pt x="89210" y="362656"/>
                  </a:lnTo>
                  <a:cubicBezTo>
                    <a:pt x="92927" y="277163"/>
                    <a:pt x="93798" y="191499"/>
                    <a:pt x="100361" y="106178"/>
                  </a:cubicBezTo>
                  <a:cubicBezTo>
                    <a:pt x="101263" y="94458"/>
                    <a:pt x="105464" y="82803"/>
                    <a:pt x="111512" y="72724"/>
                  </a:cubicBezTo>
                  <a:cubicBezTo>
                    <a:pt x="116921" y="63709"/>
                    <a:pt x="125605" y="56990"/>
                    <a:pt x="133815" y="50422"/>
                  </a:cubicBezTo>
                  <a:cubicBezTo>
                    <a:pt x="196844" y="0"/>
                    <a:pt x="147906" y="47483"/>
                    <a:pt x="178419" y="16968"/>
                  </a:cubicBez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04800" y="2282502"/>
            <a:ext cx="1893852" cy="667456"/>
            <a:chOff x="304800" y="2282502"/>
            <a:chExt cx="1893852" cy="667456"/>
          </a:xfrm>
        </p:grpSpPr>
        <p:sp>
          <p:nvSpPr>
            <p:cNvPr id="32" name="Freeform 31"/>
            <p:cNvSpPr/>
            <p:nvPr/>
          </p:nvSpPr>
          <p:spPr>
            <a:xfrm>
              <a:off x="685800" y="2587302"/>
              <a:ext cx="196844" cy="362656"/>
            </a:xfrm>
            <a:custGeom>
              <a:avLst/>
              <a:gdLst>
                <a:gd name="connsiteX0" fmla="*/ 0 w 196844"/>
                <a:gd name="connsiteY0" fmla="*/ 83876 h 362656"/>
                <a:gd name="connsiteX1" fmla="*/ 22302 w 196844"/>
                <a:gd name="connsiteY1" fmla="*/ 161934 h 362656"/>
                <a:gd name="connsiteX2" fmla="*/ 44605 w 196844"/>
                <a:gd name="connsiteY2" fmla="*/ 195388 h 362656"/>
                <a:gd name="connsiteX3" fmla="*/ 55756 w 196844"/>
                <a:gd name="connsiteY3" fmla="*/ 239993 h 362656"/>
                <a:gd name="connsiteX4" fmla="*/ 78058 w 196844"/>
                <a:gd name="connsiteY4" fmla="*/ 306900 h 362656"/>
                <a:gd name="connsiteX5" fmla="*/ 89210 w 196844"/>
                <a:gd name="connsiteY5" fmla="*/ 362656 h 362656"/>
                <a:gd name="connsiteX6" fmla="*/ 100361 w 196844"/>
                <a:gd name="connsiteY6" fmla="*/ 106178 h 362656"/>
                <a:gd name="connsiteX7" fmla="*/ 111512 w 196844"/>
                <a:gd name="connsiteY7" fmla="*/ 72724 h 362656"/>
                <a:gd name="connsiteX8" fmla="*/ 133815 w 196844"/>
                <a:gd name="connsiteY8" fmla="*/ 50422 h 362656"/>
                <a:gd name="connsiteX9" fmla="*/ 178419 w 196844"/>
                <a:gd name="connsiteY9" fmla="*/ 16968 h 36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844" h="362656">
                  <a:moveTo>
                    <a:pt x="0" y="83876"/>
                  </a:moveTo>
                  <a:cubicBezTo>
                    <a:pt x="3573" y="98167"/>
                    <a:pt x="14303" y="145936"/>
                    <a:pt x="22302" y="161934"/>
                  </a:cubicBezTo>
                  <a:cubicBezTo>
                    <a:pt x="28296" y="173921"/>
                    <a:pt x="37171" y="184237"/>
                    <a:pt x="44605" y="195388"/>
                  </a:cubicBezTo>
                  <a:cubicBezTo>
                    <a:pt x="48322" y="210256"/>
                    <a:pt x="51352" y="225313"/>
                    <a:pt x="55756" y="239993"/>
                  </a:cubicBezTo>
                  <a:cubicBezTo>
                    <a:pt x="62511" y="262510"/>
                    <a:pt x="73447" y="283848"/>
                    <a:pt x="78058" y="306900"/>
                  </a:cubicBezTo>
                  <a:lnTo>
                    <a:pt x="89210" y="362656"/>
                  </a:lnTo>
                  <a:cubicBezTo>
                    <a:pt x="92927" y="277163"/>
                    <a:pt x="93798" y="191499"/>
                    <a:pt x="100361" y="106178"/>
                  </a:cubicBezTo>
                  <a:cubicBezTo>
                    <a:pt x="101263" y="94458"/>
                    <a:pt x="105464" y="82803"/>
                    <a:pt x="111512" y="72724"/>
                  </a:cubicBezTo>
                  <a:cubicBezTo>
                    <a:pt x="116921" y="63709"/>
                    <a:pt x="125605" y="56990"/>
                    <a:pt x="133815" y="50422"/>
                  </a:cubicBezTo>
                  <a:cubicBezTo>
                    <a:pt x="196844" y="0"/>
                    <a:pt x="147906" y="47483"/>
                    <a:pt x="178419" y="16968"/>
                  </a:cubicBez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04800" y="2282502"/>
              <a:ext cx="18938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C00000"/>
                  </a:solidFill>
                </a:rPr>
                <a:t>Bisphenol</a:t>
              </a:r>
              <a:r>
                <a:rPr lang="en-US" b="1" dirty="0">
                  <a:solidFill>
                    <a:srgbClr val="C00000"/>
                  </a:solidFill>
                </a:rPr>
                <a:t> A (BPA)</a:t>
              </a:r>
            </a:p>
          </p:txBody>
        </p:sp>
      </p:grp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38200"/>
            <a:ext cx="577215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7" name="Group 46"/>
          <p:cNvGrpSpPr/>
          <p:nvPr/>
        </p:nvGrpSpPr>
        <p:grpSpPr>
          <a:xfrm>
            <a:off x="4038841" y="2438400"/>
            <a:ext cx="1281120" cy="1295400"/>
            <a:chOff x="4038841" y="2438400"/>
            <a:chExt cx="1281120" cy="1295400"/>
          </a:xfrm>
        </p:grpSpPr>
        <p:sp>
          <p:nvSpPr>
            <p:cNvPr id="38" name="TextBox 37"/>
            <p:cNvSpPr txBox="1"/>
            <p:nvPr/>
          </p:nvSpPr>
          <p:spPr>
            <a:xfrm>
              <a:off x="4038841" y="2438400"/>
              <a:ext cx="1281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SD or SEM?</a:t>
              </a:r>
            </a:p>
          </p:txBody>
        </p:sp>
        <p:cxnSp>
          <p:nvCxnSpPr>
            <p:cNvPr id="40" name="Straight Arrow Connector 39"/>
            <p:cNvCxnSpPr>
              <a:stCxn id="38" idx="2"/>
            </p:cNvCxnSpPr>
            <p:nvPr/>
          </p:nvCxnSpPr>
          <p:spPr>
            <a:xfrm flipH="1">
              <a:off x="4572000" y="2807732"/>
              <a:ext cx="107401" cy="92606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2057400" y="5791200"/>
            <a:ext cx="7086599" cy="904220"/>
            <a:chOff x="2057400" y="5791200"/>
            <a:chExt cx="7086599" cy="904220"/>
          </a:xfrm>
        </p:grpSpPr>
        <p:sp>
          <p:nvSpPr>
            <p:cNvPr id="41" name="Oval 40"/>
            <p:cNvSpPr/>
            <p:nvPr/>
          </p:nvSpPr>
          <p:spPr>
            <a:xfrm>
              <a:off x="2057400" y="5791200"/>
              <a:ext cx="1371600" cy="2286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>
              <a:stCxn id="41" idx="6"/>
            </p:cNvCxnSpPr>
            <p:nvPr/>
          </p:nvCxnSpPr>
          <p:spPr>
            <a:xfrm>
              <a:off x="3429000" y="5905500"/>
              <a:ext cx="1600200" cy="4191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4953000" y="6172200"/>
              <a:ext cx="4190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Are those controls animals we don’t see data for or are they the n=7 with BPA 0 </a:t>
              </a:r>
              <a:r>
                <a:rPr lang="en-US" sz="1400" b="1" dirty="0">
                  <a:solidFill>
                    <a:srgbClr val="C00000"/>
                  </a:solidFill>
                  <a:sym typeface="Symbol"/>
                </a:rPr>
                <a:t>g/ml? </a:t>
              </a:r>
              <a:endParaRPr lang="en-US" sz="14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45" name="Oval 44"/>
          <p:cNvSpPr/>
          <p:nvPr/>
        </p:nvSpPr>
        <p:spPr>
          <a:xfrm>
            <a:off x="0" y="4800600"/>
            <a:ext cx="304800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228600" y="5026223"/>
            <a:ext cx="15758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mother’s exposure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D1AE937-4DBB-40DA-8CA7-DB99C1953522}"/>
              </a:ext>
            </a:extLst>
          </p:cNvPr>
          <p:cNvSpPr/>
          <p:nvPr/>
        </p:nvSpPr>
        <p:spPr>
          <a:xfrm>
            <a:off x="4419600" y="4050269"/>
            <a:ext cx="425999" cy="25852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4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5" grpId="0" animBg="1"/>
      <p:bldP spid="46" grpId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2DBCC5-B2DA-4581-88C4-045EC96C040B}"/>
              </a:ext>
            </a:extLst>
          </p:cNvPr>
          <p:cNvSpPr txBox="1"/>
          <p:nvPr/>
        </p:nvSpPr>
        <p:spPr>
          <a:xfrm>
            <a:off x="304800" y="1117590"/>
            <a:ext cx="5362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how could you improve this Table?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5D721-0477-4E4F-AB32-8CE15EA92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" y="1847215"/>
            <a:ext cx="6557416" cy="22100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0C05AD-C945-4F0F-98A1-FF4AC8B4AB57}"/>
              </a:ext>
            </a:extLst>
          </p:cNvPr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Tables </a:t>
            </a:r>
            <a:r>
              <a:rPr lang="en-US" sz="3200" b="1" dirty="0">
                <a:sym typeface="Symbol"/>
              </a:rPr>
              <a:t> examples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1BEF1-B649-46B1-9014-0D1B1C7CF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" y="4495800"/>
            <a:ext cx="733540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4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1F79EC-A4AE-4AC8-97F9-2716B7E8FAFF}"/>
              </a:ext>
            </a:extLst>
          </p:cNvPr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Tables </a:t>
            </a:r>
            <a:r>
              <a:rPr lang="en-US" sz="3200" b="1" dirty="0">
                <a:sym typeface="Symbol"/>
              </a:rPr>
              <a:t> examples</a:t>
            </a: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B4EA3-7718-49B1-852D-8AD81BB4578D}"/>
              </a:ext>
            </a:extLst>
          </p:cNvPr>
          <p:cNvSpPr txBox="1"/>
          <p:nvPr/>
        </p:nvSpPr>
        <p:spPr>
          <a:xfrm>
            <a:off x="304800" y="111759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 table accompanying a multivariable analysis could look like this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ABF884-070E-48C2-B80E-5A5A185A247C}"/>
              </a:ext>
            </a:extLst>
          </p:cNvPr>
          <p:cNvSpPr txBox="1"/>
          <p:nvPr/>
        </p:nvSpPr>
        <p:spPr>
          <a:xfrm flipH="1">
            <a:off x="1219200" y="6164987"/>
            <a:ext cx="173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 = odds ratio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5C283E-C62A-4220-ADE9-8CB619603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48587"/>
            <a:ext cx="7333265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3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990600"/>
            <a:ext cx="8534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Classical types of Graphs: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Correlations (Pearson’s, Spearman’s)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Groups (comparing means, variance, ranks)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Frequencies (comparing proportions)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Forest plots (describing the size of independent effects)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Longitudinal studies 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Survival plots</a:t>
            </a:r>
          </a:p>
          <a:p>
            <a:pPr marL="234950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endParaRPr lang="en-US" sz="2000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  <a:p>
            <a:pPr>
              <a:buClr>
                <a:schemeClr val="accent1">
                  <a:lumMod val="75000"/>
                </a:schemeClr>
              </a:buClr>
              <a:buSzPct val="120000"/>
            </a:pPr>
            <a:endParaRPr lang="en-US" sz="2000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</a:t>
            </a:r>
          </a:p>
        </p:txBody>
      </p:sp>
      <p:sp>
        <p:nvSpPr>
          <p:cNvPr id="2" name="Rectangle 1"/>
          <p:cNvSpPr/>
          <p:nvPr/>
        </p:nvSpPr>
        <p:spPr>
          <a:xfrm>
            <a:off x="301868" y="5513427"/>
            <a:ext cx="88421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000" b="1" dirty="0">
                <a:solidFill>
                  <a:srgbClr val="C00000"/>
                </a:solidFill>
              </a:rPr>
              <a:t>GRAPHS SHOULD BE SELF-EXPLANATORY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endParaRPr lang="en-US" sz="2000" b="1" dirty="0">
              <a:solidFill>
                <a:srgbClr val="C00000"/>
              </a:solidFill>
            </a:endParaRP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Graphs used in oral presentation and in manuscript may differ slightly</a:t>
            </a:r>
          </a:p>
        </p:txBody>
      </p:sp>
    </p:spTree>
    <p:extLst>
      <p:ext uri="{BB962C8B-B14F-4D97-AF65-F5344CB8AC3E}">
        <p14:creationId xmlns:p14="http://schemas.microsoft.com/office/powerpoint/2010/main" val="338228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- Correlations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990600"/>
            <a:ext cx="8458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buClr>
                <a:schemeClr val="accent1">
                  <a:lumMod val="75000"/>
                </a:schemeClr>
              </a:buClr>
              <a:buSzPct val="120000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Choose the proper correlation based on the data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Do not draw a regression line when showing Spearman’s correlation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Indicate r or rho as appropriate (can be on the figure or in the figure legend)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Indicate real p value rather than * or p&lt;0.05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Consider using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or symbols to provide additional information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Start axes at zero, if not, consider breaking the axis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8726" y="3810000"/>
            <a:ext cx="6096000" cy="304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843" y="4180752"/>
            <a:ext cx="783875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</a:rPr>
              <a:t>Title always goes BELOW the graph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Typically, there should be a short title, followed by a more detailed figure legend (journal-dependent)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sz="2000" b="1" dirty="0">
              <a:solidFill>
                <a:srgbClr val="C00000"/>
              </a:solidFill>
            </a:endParaRP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843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2669814"/>
            <a:ext cx="4114800" cy="2618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981200"/>
            <a:ext cx="5072244" cy="399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5432064"/>
            <a:ext cx="2952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– bad choices</a:t>
            </a:r>
          </a:p>
        </p:txBody>
      </p:sp>
    </p:spTree>
    <p:extLst>
      <p:ext uri="{BB962C8B-B14F-4D97-AF65-F5344CB8AC3E}">
        <p14:creationId xmlns:p14="http://schemas.microsoft.com/office/powerpoint/2010/main" val="3638496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cote\AppData\Local\Microsoft\Windows\Temporary Internet Files\Content.Outlook\BSKF8YU7\Data 22 box tukey no fram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826189"/>
            <a:ext cx="2283946" cy="165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hcote\AppData\Local\Microsoft\Windows\Temporary Internet Files\Content.Outlook\BSKF8YU7\Data 2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60992"/>
            <a:ext cx="2109994" cy="151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hcote\AppData\Local\Microsoft\Windows\Temporary Internet Files\Content.Outlook\BSKF8YU7\Data 22 bar sem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14400"/>
            <a:ext cx="2207296" cy="158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hcote\AppData\Local\Microsoft\Windows\Temporary Internet Files\Content.Outlook\BSKF8YU7\Data 22 95ci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960992"/>
            <a:ext cx="2208890" cy="158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hcote\AppData\Local\Microsoft\Windows\Temporary Internet Files\Content.Outlook\BSKF8YU7\Data 22 dor sem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003" y="2883711"/>
            <a:ext cx="2227921" cy="161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hcote\AppData\Local\Microsoft\Windows\Temporary Internet Files\Content.Outlook\BSKF8YU7\Data 22 boc w dot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961" y="2883711"/>
            <a:ext cx="2459785" cy="177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hcote\AppData\Local\Microsoft\Windows\Temporary Internet Files\Content.Outlook\BSKF8YU7\Data 22 box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951614"/>
            <a:ext cx="2340681" cy="169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hcote\AppData\Local\Microsoft\Windows\Temporary Internet Files\Content.Outlook\BSKF8YU7\Data 22 dor 95ci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846235"/>
            <a:ext cx="2387647" cy="172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hcote\AppData\Local\Microsoft\Windows\Temporary Internet Files\Content.Outlook\BSKF8YU7\Data 22 mea 95ci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134" y="4891990"/>
            <a:ext cx="2342666" cy="158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C:\Users\hcote\AppData\Local\Microsoft\Windows\Temporary Internet Files\Content.Outlook\BSKF8YU7\Data 22 mean sem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818" y="4998695"/>
            <a:ext cx="2026582" cy="136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:\Users\hcote\AppData\Local\Microsoft\Windows\Temporary Internet Files\Content.Outlook\BSKF8YU7\Data 22 mean sd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2" y="4891990"/>
            <a:ext cx="2221369" cy="149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C:\Users\hcote\AppData\Local\Microsoft\Windows\Temporary Internet Files\Content.Outlook\BSKF8YU7\Data 22 dor sd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41036"/>
            <a:ext cx="2189913" cy="147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8600" y="87868"/>
            <a:ext cx="6526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Which graph would you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favour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if you are trying to infer differences?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915" y="612706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Mean, 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0904" y="61270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Mean, SEM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5200" y="661031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Mean, 95%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7504" y="669734"/>
            <a:ext cx="199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Median, IQR, range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5765" y="56737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6312" y="61270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724" y="669734"/>
            <a:ext cx="29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4846" y="669734"/>
            <a:ext cx="139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959" y="261335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153" y="4659335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9996" y="259017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0972" y="262403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6301" y="261335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4846" y="458407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000" y="463780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91147" y="4707324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492000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cote\AppData\Local\Microsoft\Windows\Temporary Internet Files\Content.Outlook\BSKF8YU7\Data 22 box tukey no fram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826189"/>
            <a:ext cx="2283946" cy="165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hcote\AppData\Local\Microsoft\Windows\Temporary Internet Files\Content.Outlook\BSKF8YU7\Data 2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60992"/>
            <a:ext cx="2109994" cy="151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hcote\AppData\Local\Microsoft\Windows\Temporary Internet Files\Content.Outlook\BSKF8YU7\Data 22 bar sem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14400"/>
            <a:ext cx="2207296" cy="158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hcote\AppData\Local\Microsoft\Windows\Temporary Internet Files\Content.Outlook\BSKF8YU7\Data 22 95ci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960992"/>
            <a:ext cx="2208890" cy="158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hcote\AppData\Local\Microsoft\Windows\Temporary Internet Files\Content.Outlook\BSKF8YU7\Data 22 dor sem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003" y="2883711"/>
            <a:ext cx="2227921" cy="161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hcote\AppData\Local\Microsoft\Windows\Temporary Internet Files\Content.Outlook\BSKF8YU7\Data 22 boc w dot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961" y="2883711"/>
            <a:ext cx="2459785" cy="177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hcote\AppData\Local\Microsoft\Windows\Temporary Internet Files\Content.Outlook\BSKF8YU7\Data 22 box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951614"/>
            <a:ext cx="2340681" cy="169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hcote\AppData\Local\Microsoft\Windows\Temporary Internet Files\Content.Outlook\BSKF8YU7\Data 22 dor 95ci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846235"/>
            <a:ext cx="2387647" cy="172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hcote\AppData\Local\Microsoft\Windows\Temporary Internet Files\Content.Outlook\BSKF8YU7\Data 22 mea 95ci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134" y="4891990"/>
            <a:ext cx="2342666" cy="158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C:\Users\hcote\AppData\Local\Microsoft\Windows\Temporary Internet Files\Content.Outlook\BSKF8YU7\Data 22 mean sem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818" y="4998695"/>
            <a:ext cx="2026582" cy="136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:\Users\hcote\AppData\Local\Microsoft\Windows\Temporary Internet Files\Content.Outlook\BSKF8YU7\Data 22 mean sd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2" y="4891990"/>
            <a:ext cx="2221369" cy="149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C:\Users\hcote\AppData\Local\Microsoft\Windows\Temporary Internet Files\Content.Outlook\BSKF8YU7\Data 22 dor sd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41036"/>
            <a:ext cx="2189913" cy="147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8600" y="87868"/>
            <a:ext cx="6526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Which graph would you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favour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if you are trying to infer differences?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915" y="612706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Mean, 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0904" y="61270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Mean, SEM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5200" y="661031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Mean, 95%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7504" y="669734"/>
            <a:ext cx="199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Median, IQR, range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5765" y="56737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6312" y="61270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724" y="669734"/>
            <a:ext cx="29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4846" y="669734"/>
            <a:ext cx="139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959" y="261335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153" y="4659335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9996" y="259017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0972" y="262403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6301" y="261335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4846" y="458407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000" y="463780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91147" y="4707324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0835" y="567377"/>
            <a:ext cx="5979965" cy="179482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573235" y="719777"/>
            <a:ext cx="5979965" cy="179482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EB71FA5-39C7-4BA6-9F4A-56F06F409ED0}"/>
              </a:ext>
            </a:extLst>
          </p:cNvPr>
          <p:cNvCxnSpPr>
            <a:cxnSpLocks/>
          </p:cNvCxnSpPr>
          <p:nvPr/>
        </p:nvCxnSpPr>
        <p:spPr>
          <a:xfrm>
            <a:off x="371801" y="3237657"/>
            <a:ext cx="1893201" cy="81603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58247E7-4444-4EAA-BB06-A1274B02E3AA}"/>
              </a:ext>
            </a:extLst>
          </p:cNvPr>
          <p:cNvCxnSpPr>
            <a:cxnSpLocks/>
          </p:cNvCxnSpPr>
          <p:nvPr/>
        </p:nvCxnSpPr>
        <p:spPr>
          <a:xfrm flipH="1">
            <a:off x="420049" y="3306947"/>
            <a:ext cx="1893201" cy="81603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2ABE59E-1864-4CAA-AE35-5FFF9C819DFA}"/>
              </a:ext>
            </a:extLst>
          </p:cNvPr>
          <p:cNvGrpSpPr/>
          <p:nvPr/>
        </p:nvGrpSpPr>
        <p:grpSpPr>
          <a:xfrm>
            <a:off x="252570" y="5199230"/>
            <a:ext cx="1941449" cy="885322"/>
            <a:chOff x="573235" y="719777"/>
            <a:chExt cx="6132365" cy="1947223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90C6738-A573-4FD7-B917-2498E14175E9}"/>
                </a:ext>
              </a:extLst>
            </p:cNvPr>
            <p:cNvCxnSpPr>
              <a:cxnSpLocks/>
            </p:cNvCxnSpPr>
            <p:nvPr/>
          </p:nvCxnSpPr>
          <p:spPr>
            <a:xfrm>
              <a:off x="573235" y="719777"/>
              <a:ext cx="5979965" cy="1794823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2557DC2-7A58-4777-99EB-2FF1273E10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635" y="872177"/>
              <a:ext cx="5979965" cy="1794823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1606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cote\AppData\Local\Microsoft\Windows\Temporary Internet Files\Content.Outlook\BSKF8YU7\Data 22 box tukey no fram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826189"/>
            <a:ext cx="2283946" cy="165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hcote\AppData\Local\Microsoft\Windows\Temporary Internet Files\Content.Outlook\BSKF8YU7\Data 2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60992"/>
            <a:ext cx="2109994" cy="151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hcote\AppData\Local\Microsoft\Windows\Temporary Internet Files\Content.Outlook\BSKF8YU7\Data 22 bar sem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14400"/>
            <a:ext cx="2207296" cy="158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hcote\AppData\Local\Microsoft\Windows\Temporary Internet Files\Content.Outlook\BSKF8YU7\Data 22 95ci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960992"/>
            <a:ext cx="2208890" cy="158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hcote\AppData\Local\Microsoft\Windows\Temporary Internet Files\Content.Outlook\BSKF8YU7\Data 22 dor sem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003" y="2883711"/>
            <a:ext cx="2227921" cy="161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hcote\AppData\Local\Microsoft\Windows\Temporary Internet Files\Content.Outlook\BSKF8YU7\Data 22 boc w dot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961" y="2883711"/>
            <a:ext cx="2459785" cy="177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hcote\AppData\Local\Microsoft\Windows\Temporary Internet Files\Content.Outlook\BSKF8YU7\Data 22 box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951614"/>
            <a:ext cx="2340681" cy="169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hcote\AppData\Local\Microsoft\Windows\Temporary Internet Files\Content.Outlook\BSKF8YU7\Data 22 dor 95ci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846235"/>
            <a:ext cx="2387647" cy="172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hcote\AppData\Local\Microsoft\Windows\Temporary Internet Files\Content.Outlook\BSKF8YU7\Data 22 mea 95ci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134" y="4891990"/>
            <a:ext cx="2342666" cy="158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C:\Users\hcote\AppData\Local\Microsoft\Windows\Temporary Internet Files\Content.Outlook\BSKF8YU7\Data 22 mean sem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818" y="4998695"/>
            <a:ext cx="2026582" cy="136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:\Users\hcote\AppData\Local\Microsoft\Windows\Temporary Internet Files\Content.Outlook\BSKF8YU7\Data 22 mean sd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2" y="4891990"/>
            <a:ext cx="2221369" cy="149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C:\Users\hcote\AppData\Local\Microsoft\Windows\Temporary Internet Files\Content.Outlook\BSKF8YU7\Data 22 dor sd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41036"/>
            <a:ext cx="2189913" cy="147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8600" y="87868"/>
            <a:ext cx="6526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Which graph would you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favour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if you are trying to infer differences?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915" y="612706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Mean, 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0904" y="61270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Mean, SEM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5200" y="661031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Mean, 95%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7504" y="669734"/>
            <a:ext cx="199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Median, IQR, range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5765" y="56737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6312" y="61270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724" y="669734"/>
            <a:ext cx="29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4846" y="669734"/>
            <a:ext cx="139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959" y="261335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153" y="4659335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9996" y="259017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0972" y="262403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6301" y="261335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4846" y="458407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7000" y="463780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91147" y="4707324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0835" y="567377"/>
            <a:ext cx="5979965" cy="179482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573235" y="719777"/>
            <a:ext cx="5979965" cy="179482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EB71FA5-39C7-4BA6-9F4A-56F06F409ED0}"/>
              </a:ext>
            </a:extLst>
          </p:cNvPr>
          <p:cNvCxnSpPr>
            <a:cxnSpLocks/>
          </p:cNvCxnSpPr>
          <p:nvPr/>
        </p:nvCxnSpPr>
        <p:spPr>
          <a:xfrm>
            <a:off x="371801" y="3237657"/>
            <a:ext cx="1893201" cy="81603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58247E7-4444-4EAA-BB06-A1274B02E3AA}"/>
              </a:ext>
            </a:extLst>
          </p:cNvPr>
          <p:cNvCxnSpPr>
            <a:cxnSpLocks/>
          </p:cNvCxnSpPr>
          <p:nvPr/>
        </p:nvCxnSpPr>
        <p:spPr>
          <a:xfrm flipH="1">
            <a:off x="420049" y="3306947"/>
            <a:ext cx="1893201" cy="81603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2ABE59E-1864-4CAA-AE35-5FFF9C819DFA}"/>
              </a:ext>
            </a:extLst>
          </p:cNvPr>
          <p:cNvGrpSpPr/>
          <p:nvPr/>
        </p:nvGrpSpPr>
        <p:grpSpPr>
          <a:xfrm>
            <a:off x="252570" y="5199230"/>
            <a:ext cx="1941449" cy="885322"/>
            <a:chOff x="573235" y="719777"/>
            <a:chExt cx="6132365" cy="1947223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90C6738-A573-4FD7-B917-2498E14175E9}"/>
                </a:ext>
              </a:extLst>
            </p:cNvPr>
            <p:cNvCxnSpPr>
              <a:cxnSpLocks/>
            </p:cNvCxnSpPr>
            <p:nvPr/>
          </p:nvCxnSpPr>
          <p:spPr>
            <a:xfrm>
              <a:off x="573235" y="719777"/>
              <a:ext cx="5979965" cy="1794823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2557DC2-7A58-4777-99EB-2FF1273E10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635" y="872177"/>
              <a:ext cx="5979965" cy="1794823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A94BF22-54EE-4F8A-A88F-F1ACCFEA8E19}"/>
              </a:ext>
            </a:extLst>
          </p:cNvPr>
          <p:cNvCxnSpPr>
            <a:cxnSpLocks/>
          </p:cNvCxnSpPr>
          <p:nvPr/>
        </p:nvCxnSpPr>
        <p:spPr>
          <a:xfrm>
            <a:off x="2572997" y="3101069"/>
            <a:ext cx="3805607" cy="3076414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75BB962-53E9-4E8E-A8D5-8722D474D65C}"/>
              </a:ext>
            </a:extLst>
          </p:cNvPr>
          <p:cNvCxnSpPr>
            <a:cxnSpLocks/>
          </p:cNvCxnSpPr>
          <p:nvPr/>
        </p:nvCxnSpPr>
        <p:spPr>
          <a:xfrm flipH="1">
            <a:off x="2740905" y="3147099"/>
            <a:ext cx="3610187" cy="3013323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FE08F4-712D-4161-B0A0-534281B8E31C}"/>
              </a:ext>
            </a:extLst>
          </p:cNvPr>
          <p:cNvSpPr txBox="1"/>
          <p:nvPr/>
        </p:nvSpPr>
        <p:spPr>
          <a:xfrm>
            <a:off x="2098321" y="6413250"/>
            <a:ext cx="524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Orange would be OK if data were normally distributed</a:t>
            </a:r>
          </a:p>
        </p:txBody>
      </p:sp>
    </p:spTree>
    <p:extLst>
      <p:ext uri="{BB962C8B-B14F-4D97-AF65-F5344CB8AC3E}">
        <p14:creationId xmlns:p14="http://schemas.microsoft.com/office/powerpoint/2010/main" val="3044803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-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859971"/>
            <a:ext cx="88392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50" lvl="1" indent="-234950">
              <a:buClr>
                <a:schemeClr val="accent1">
                  <a:lumMod val="75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Favour dot or scatter plot (if n not too large) or boxplot (if n is large) </a:t>
            </a:r>
          </a:p>
          <a:p>
            <a:pPr marL="0" lvl="1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    =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most transparent and provides more information to the reader</a:t>
            </a:r>
          </a:p>
          <a:p>
            <a:pPr marL="342900" lvl="1" indent="-342900">
              <a:buClr>
                <a:schemeClr val="accent1">
                  <a:lumMod val="7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</a:rPr>
              <a:t>Bar graphs should be reserved for count data</a:t>
            </a:r>
          </a:p>
          <a:p>
            <a:pPr marL="0" lvl="1">
              <a:buClr>
                <a:schemeClr val="accent1">
                  <a:lumMod val="75000"/>
                </a:schemeClr>
              </a:buClr>
              <a:buSzPct val="120000"/>
            </a:pP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Whenever possible, shows ALL the data, it reveals distribution, spread, variance, and outliers 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Consider adding information through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colour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, shape, or size of dots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Start axes at zero, if not, break the axis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Show bars for variance/distribution (mean + SEM or 95%CI or median + IQR)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Show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real p values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rather than stars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Clearly indicate what groups are compared (usually line between them)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Indicate size of “n” if not obvious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If doing too many comparisons, use correction (</a:t>
            </a:r>
            <a:r>
              <a:rPr lang="en-US" sz="2000" i="1" dirty="0">
                <a:solidFill>
                  <a:schemeClr val="accent1">
                    <a:lumMod val="50000"/>
                  </a:schemeClr>
                </a:solidFill>
              </a:rPr>
              <a:t>e.g.,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Tukey)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Avoid abbreviations as they will need to be defined in the footnote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Avoid slanted label if possible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In Figure legend, indicate what the error bars are, the sample size (if not already on figure), and/or the number and type of replicate, may want to also indicate the statistical test used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07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857" y="109097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The effect of the sample size on the variance is almost completely lost on the reader if you use bar graphs and do not indicate the n on the graph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352800" y="1911124"/>
            <a:ext cx="5486400" cy="2703252"/>
            <a:chOff x="228601" y="2028825"/>
            <a:chExt cx="5486400" cy="2674678"/>
          </a:xfrm>
        </p:grpSpPr>
        <p:pic>
          <p:nvPicPr>
            <p:cNvPr id="2" name="Picture 1" descr="http://www.graphpad.com/guides/prism/7/statistics/hmfile_hash_f71959f8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1" y="2028825"/>
              <a:ext cx="5486400" cy="2647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228601" y="4395726"/>
              <a:ext cx="14850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solidFill>
                    <a:schemeClr val="bg1">
                      <a:lumMod val="50000"/>
                    </a:schemeClr>
                  </a:solidFill>
                </a:rPr>
                <a:t>GraphPad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 tutorial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752600" y="3024250"/>
              <a:ext cx="39624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6" name="Picture 2" descr="C:\Users\hcote\AppData\Local\Microsoft\Windows\Temporary Internet Files\Content.Outlook\DUJLL0IR\group comparisn 2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1" y="4750747"/>
            <a:ext cx="2524376" cy="196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hcote\AppData\Local\Microsoft\Windows\Temporary Internet Files\Content.Outlook\DUJLL0IR\group comparison.t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359" y="4549614"/>
            <a:ext cx="2890083" cy="220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:\Users\hcote\AppData\Local\Microsoft\Windows\Temporary Internet Files\Content.Outlook\DUJLL0IR\3 point grap.t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443" y="4650002"/>
            <a:ext cx="2841996" cy="216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68131" y="6381306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and SD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087" y="6381306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and SEM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8043" y="6381306"/>
            <a:ext cx="1875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 and 95% CI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638" y="3102982"/>
            <a:ext cx="2534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Is the error bar large because the variance is large or because the sample size is small?</a:t>
            </a:r>
          </a:p>
        </p:txBody>
      </p:sp>
    </p:spTree>
    <p:extLst>
      <p:ext uri="{BB962C8B-B14F-4D97-AF65-F5344CB8AC3E}">
        <p14:creationId xmlns:p14="http://schemas.microsoft.com/office/powerpoint/2010/main" val="353978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" r="3103" b="2718"/>
          <a:stretch/>
        </p:blipFill>
        <p:spPr bwMode="auto">
          <a:xfrm>
            <a:off x="152400" y="838200"/>
            <a:ext cx="8506326" cy="6025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1999AA-B855-4A6D-B8EF-1C6D75CE03B7}"/>
              </a:ext>
            </a:extLst>
          </p:cNvPr>
          <p:cNvGrpSpPr/>
          <p:nvPr/>
        </p:nvGrpSpPr>
        <p:grpSpPr>
          <a:xfrm>
            <a:off x="1828800" y="3211259"/>
            <a:ext cx="2057400" cy="376373"/>
            <a:chOff x="1828800" y="3199514"/>
            <a:chExt cx="2057400" cy="41401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7C5D87-FCB6-46FE-858F-397E1867FB12}"/>
                </a:ext>
              </a:extLst>
            </p:cNvPr>
            <p:cNvSpPr/>
            <p:nvPr/>
          </p:nvSpPr>
          <p:spPr>
            <a:xfrm>
              <a:off x="1828800" y="3384924"/>
              <a:ext cx="20574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BD1BD27-DA4B-4DB2-9A95-63004C742171}"/>
                </a:ext>
              </a:extLst>
            </p:cNvPr>
            <p:cNvCxnSpPr/>
            <p:nvPr/>
          </p:nvCxnSpPr>
          <p:spPr>
            <a:xfrm>
              <a:off x="2362200" y="3429000"/>
              <a:ext cx="1295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8110573-B199-4E0F-AA43-ECE2C7045966}"/>
                </a:ext>
              </a:extLst>
            </p:cNvPr>
            <p:cNvCxnSpPr/>
            <p:nvPr/>
          </p:nvCxnSpPr>
          <p:spPr>
            <a:xfrm>
              <a:off x="2362200" y="3429000"/>
              <a:ext cx="0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981E87-F047-47F6-92D1-6D4F02B1E596}"/>
                </a:ext>
              </a:extLst>
            </p:cNvPr>
            <p:cNvCxnSpPr/>
            <p:nvPr/>
          </p:nvCxnSpPr>
          <p:spPr>
            <a:xfrm>
              <a:off x="3657600" y="3423024"/>
              <a:ext cx="0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F317544-DAD7-4E57-AE83-4CFE711E4A44}"/>
                </a:ext>
              </a:extLst>
            </p:cNvPr>
            <p:cNvSpPr txBox="1"/>
            <p:nvPr/>
          </p:nvSpPr>
          <p:spPr>
            <a:xfrm>
              <a:off x="2587819" y="3199514"/>
              <a:ext cx="78739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i="1" dirty="0"/>
                <a:t>P </a:t>
              </a:r>
              <a:r>
                <a:rPr lang="en-US" sz="1050" dirty="0"/>
                <a:t>&lt; 0.0001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F5E4D75-2F87-4822-AD55-6F9A46675609}"/>
              </a:ext>
            </a:extLst>
          </p:cNvPr>
          <p:cNvSpPr txBox="1"/>
          <p:nvPr/>
        </p:nvSpPr>
        <p:spPr>
          <a:xfrm>
            <a:off x="7663577" y="1600200"/>
            <a:ext cx="99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Could consider boxplot or violin plot</a:t>
            </a:r>
          </a:p>
        </p:txBody>
      </p:sp>
    </p:spTree>
    <p:extLst>
      <p:ext uri="{BB962C8B-B14F-4D97-AF65-F5344CB8AC3E}">
        <p14:creationId xmlns:p14="http://schemas.microsoft.com/office/powerpoint/2010/main" val="217127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4830" t="31905" r="4217"/>
          <a:stretch/>
        </p:blipFill>
        <p:spPr>
          <a:xfrm>
            <a:off x="1333499" y="1066800"/>
            <a:ext cx="6477001" cy="39032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" y="4800600"/>
            <a:ext cx="8534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buClr>
                <a:schemeClr val="accent1">
                  <a:lumMod val="75000"/>
                </a:schemeClr>
              </a:buClr>
              <a:buSzPct val="120000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Can use two axes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SzPct val="120000"/>
              <a:buFontTx/>
              <a:buChar char="-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Refrain from drawing solid lines between points if they are not linking the same cells, animals, or humans</a:t>
            </a: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</a:t>
            </a:r>
          </a:p>
        </p:txBody>
      </p:sp>
    </p:spTree>
    <p:extLst>
      <p:ext uri="{BB962C8B-B14F-4D97-AF65-F5344CB8AC3E}">
        <p14:creationId xmlns:p14="http://schemas.microsoft.com/office/powerpoint/2010/main" val="391897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09600" y="876300"/>
            <a:ext cx="7010400" cy="5372100"/>
            <a:chOff x="1114425" y="1581150"/>
            <a:chExt cx="6915150" cy="4743450"/>
          </a:xfrm>
        </p:grpSpPr>
        <p:pic>
          <p:nvPicPr>
            <p:cNvPr id="2" name="Picture 1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425" y="1581150"/>
              <a:ext cx="6915150" cy="474345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2362200" y="1581150"/>
              <a:ext cx="4267200" cy="4000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366B0-D4D9-4F04-A305-5FA6785DEDB9}"/>
              </a:ext>
            </a:extLst>
          </p:cNvPr>
          <p:cNvSpPr txBox="1"/>
          <p:nvPr/>
        </p:nvSpPr>
        <p:spPr>
          <a:xfrm>
            <a:off x="7467600" y="1371600"/>
            <a:ext cx="120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much?</a:t>
            </a:r>
          </a:p>
        </p:txBody>
      </p:sp>
    </p:spTree>
    <p:extLst>
      <p:ext uri="{BB962C8B-B14F-4D97-AF65-F5344CB8AC3E}">
        <p14:creationId xmlns:p14="http://schemas.microsoft.com/office/powerpoint/2010/main" val="342383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24"/>
          <a:stretch/>
        </p:blipFill>
        <p:spPr>
          <a:xfrm>
            <a:off x="4572000" y="2362200"/>
            <a:ext cx="4183690" cy="24706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-3198" t="15834" r="62422" b="-4354"/>
          <a:stretch/>
        </p:blipFill>
        <p:spPr>
          <a:xfrm>
            <a:off x="304800" y="2101438"/>
            <a:ext cx="3886200" cy="445176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81200" y="1339334"/>
            <a:ext cx="121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Forest plot</a:t>
            </a:r>
          </a:p>
        </p:txBody>
      </p:sp>
    </p:spTree>
    <p:extLst>
      <p:ext uri="{BB962C8B-B14F-4D97-AF65-F5344CB8AC3E}">
        <p14:creationId xmlns:p14="http://schemas.microsoft.com/office/powerpoint/2010/main" val="2852278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bubble chart&#10;&#10;Description automatically generated">
            <a:extLst>
              <a:ext uri="{FF2B5EF4-FFF2-40B4-BE49-F238E27FC236}">
                <a16:creationId xmlns:a16="http://schemas.microsoft.com/office/drawing/2014/main" id="{8852432D-9E83-4BAA-8085-1C4FF5A74D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71"/>
          <a:stretch/>
        </p:blipFill>
        <p:spPr>
          <a:xfrm>
            <a:off x="178275" y="2859845"/>
            <a:ext cx="3901239" cy="3042305"/>
          </a:xfrm>
          <a:prstGeom prst="rect">
            <a:avLst/>
          </a:prstGeom>
        </p:spPr>
      </p:pic>
      <p:pic>
        <p:nvPicPr>
          <p:cNvPr id="3" name="Picture 2" descr="A picture containing scatter chart&#10;&#10;Description automatically generated">
            <a:extLst>
              <a:ext uri="{FF2B5EF4-FFF2-40B4-BE49-F238E27FC236}">
                <a16:creationId xmlns:a16="http://schemas.microsoft.com/office/drawing/2014/main" id="{AF22B3B3-570D-4AA0-AD2D-2EE25726DC1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17"/>
          <a:stretch/>
        </p:blipFill>
        <p:spPr>
          <a:xfrm>
            <a:off x="4738322" y="2859845"/>
            <a:ext cx="4192767" cy="30913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7B74B5-F9BB-48FB-8DAA-6041FD7337B3}"/>
              </a:ext>
            </a:extLst>
          </p:cNvPr>
          <p:cNvSpPr txBox="1"/>
          <p:nvPr/>
        </p:nvSpPr>
        <p:spPr>
          <a:xfrm>
            <a:off x="1136489" y="2897256"/>
            <a:ext cx="2385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Women living with HIV</a:t>
            </a:r>
            <a:endParaRPr lang="uk-UA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25DB1-606D-416B-AD7B-42DCE2E70DFB}"/>
              </a:ext>
            </a:extLst>
          </p:cNvPr>
          <p:cNvSpPr txBox="1"/>
          <p:nvPr/>
        </p:nvSpPr>
        <p:spPr>
          <a:xfrm>
            <a:off x="6320782" y="2892233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Controls</a:t>
            </a:r>
            <a:endParaRPr lang="uk-UA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9F443-B4BC-46BA-B450-10999A8DB6D1}"/>
              </a:ext>
            </a:extLst>
          </p:cNvPr>
          <p:cNvSpPr txBox="1"/>
          <p:nvPr/>
        </p:nvSpPr>
        <p:spPr>
          <a:xfrm>
            <a:off x="3249671" y="2438400"/>
            <a:ext cx="23727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Interference with general activity</a:t>
            </a:r>
            <a:endParaRPr lang="uk-UA" sz="11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AD188A-0198-4292-B8DF-430065663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158" y="2700010"/>
            <a:ext cx="538117" cy="8316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7C11D8-7A13-40C2-A83E-5DC9C931A3D3}"/>
              </a:ext>
            </a:extLst>
          </p:cNvPr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F62D5F-5003-4FA3-8F5B-4B5BC7194DC9}"/>
              </a:ext>
            </a:extLst>
          </p:cNvPr>
          <p:cNvSpPr txBox="1"/>
          <p:nvPr/>
        </p:nvSpPr>
        <p:spPr>
          <a:xfrm>
            <a:off x="27709" y="901352"/>
            <a:ext cx="87352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buClr>
                <a:schemeClr val="accent1">
                  <a:lumMod val="75000"/>
                </a:schemeClr>
              </a:buClr>
              <a:buSzPct val="120000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lvl="1">
              <a:buClr>
                <a:schemeClr val="accent1">
                  <a:lumMod val="75000"/>
                </a:schemeClr>
              </a:buClr>
              <a:buSzPct val="120000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The primary goal of a graph is not always to support statistics, it can be used to simply describe and visualize data. It can use more than two dimensions</a:t>
            </a:r>
          </a:p>
        </p:txBody>
      </p:sp>
    </p:spTree>
    <p:extLst>
      <p:ext uri="{BB962C8B-B14F-4D97-AF65-F5344CB8AC3E}">
        <p14:creationId xmlns:p14="http://schemas.microsoft.com/office/powerpoint/2010/main" val="2871212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DCEF32-1071-4640-B283-0E0AFB86A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266605"/>
              </p:ext>
            </p:extLst>
          </p:nvPr>
        </p:nvGraphicFramePr>
        <p:xfrm>
          <a:off x="318447" y="1263598"/>
          <a:ext cx="8229600" cy="1463039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4419599">
                  <a:extLst>
                    <a:ext uri="{9D8B030D-6E8A-4147-A177-3AD203B41FA5}">
                      <a16:colId xmlns:a16="http://schemas.microsoft.com/office/drawing/2014/main" val="59789828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8354840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767739563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2368668835"/>
                    </a:ext>
                  </a:extLst>
                </a:gridCol>
              </a:tblGrid>
              <a:tr h="7572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uk-UA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k-UA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omen living </a:t>
                      </a:r>
                      <a:b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with HIV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(n</a:t>
                      </a:r>
                      <a:r>
                        <a:rPr lang="uk-UA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= </a:t>
                      </a: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88)</a:t>
                      </a:r>
                      <a:endParaRPr lang="uk-UA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HIV-negative </a:t>
                      </a:r>
                      <a:r>
                        <a:rPr lang="uk-UA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Controls</a:t>
                      </a: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b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</a:b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(n</a:t>
                      </a:r>
                      <a:r>
                        <a:rPr lang="uk-UA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124)</a:t>
                      </a:r>
                      <a:endParaRPr lang="uk-UA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k-UA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uk-UA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value</a:t>
                      </a:r>
                      <a:endParaRPr lang="uk-UA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4261665"/>
                  </a:ext>
                </a:extLst>
              </a:tr>
              <a:tr h="3528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10-year</a:t>
                      </a:r>
                      <a:r>
                        <a:rPr lang="en-US" sz="14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cardiovascular event risk </a:t>
                      </a:r>
                      <a:r>
                        <a:rPr lang="en-US" sz="1400" b="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ASCVD), median [IQR]</a:t>
                      </a:r>
                      <a:endParaRPr lang="uk-UA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8C9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2.4 [1.2-5.7] %</a:t>
                      </a:r>
                      <a:endParaRPr lang="uk-UA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8C9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3.4 [1.2-6.4] %</a:t>
                      </a:r>
                      <a:endParaRPr lang="uk-UA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8C9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0.3</a:t>
                      </a:r>
                      <a:endParaRPr lang="uk-UA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8C9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485219"/>
                  </a:ext>
                </a:extLst>
              </a:tr>
              <a:tr h="3528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5-year</a:t>
                      </a:r>
                      <a:r>
                        <a:rPr lang="en-US" sz="14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all-cause mortality risk </a:t>
                      </a:r>
                      <a:r>
                        <a:rPr lang="en-US" sz="1400" b="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VACS 2.0), median [IQR]</a:t>
                      </a:r>
                      <a:endParaRPr lang="uk-UA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8C9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6.8 [3.9-18.7] %</a:t>
                      </a:r>
                      <a:endParaRPr lang="uk-UA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8C9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5.0 [3.3-6.8] %</a:t>
                      </a:r>
                      <a:endParaRPr lang="uk-UA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8C9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&lt;0.001</a:t>
                      </a:r>
                      <a:endParaRPr lang="uk-UA" sz="1400" b="1" dirty="0">
                        <a:solidFill>
                          <a:srgbClr val="C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8C9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396359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06FCE564-5745-4446-AEB0-6899A75D0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3016198"/>
            <a:ext cx="8458201" cy="346080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02F9C32-17E6-4945-88B4-B19C688CC6AF}"/>
              </a:ext>
            </a:extLst>
          </p:cNvPr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</a:t>
            </a:r>
          </a:p>
        </p:txBody>
      </p:sp>
    </p:spTree>
    <p:extLst>
      <p:ext uri="{BB962C8B-B14F-4D97-AF65-F5344CB8AC3E}">
        <p14:creationId xmlns:p14="http://schemas.microsoft.com/office/powerpoint/2010/main" val="1311939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845" y="1109076"/>
            <a:ext cx="3277383" cy="2274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05600" y="1005108"/>
            <a:ext cx="1430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Survival plot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56" t="15759" r="1754" b="3581"/>
          <a:stretch/>
        </p:blipFill>
        <p:spPr>
          <a:xfrm>
            <a:off x="304799" y="1315488"/>
            <a:ext cx="4191000" cy="21448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76028" y="984307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Mosaic plot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4191000"/>
            <a:ext cx="2667000" cy="2667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43203" y="3483721"/>
            <a:ext cx="1569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Survivors of Titanic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7680" y="3821668"/>
            <a:ext cx="1205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Heat maps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8" y="5012154"/>
            <a:ext cx="2733675" cy="10440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3413" y="4355068"/>
            <a:ext cx="35161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Box plot 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(can be vertical or horizontal, can show data points or not)</a:t>
            </a:r>
          </a:p>
        </p:txBody>
      </p:sp>
    </p:spTree>
    <p:extLst>
      <p:ext uri="{BB962C8B-B14F-4D97-AF65-F5344CB8AC3E}">
        <p14:creationId xmlns:p14="http://schemas.microsoft.com/office/powerpoint/2010/main" val="2707629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658" y="4879003"/>
            <a:ext cx="564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Generally, GraphPad Prism is convenient for simple figures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609" y="1064211"/>
            <a:ext cx="862799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The graphs generated as output from statistical software or R or python are useful when in work mode but their default output format is usually not suitable for publication</a:t>
            </a:r>
          </a:p>
          <a:p>
            <a:br>
              <a:rPr lang="en-US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	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- Labels are often too close to axes, too small, or reflect the variable’s “code” in R</a:t>
            </a:r>
          </a:p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	- Font size are often inadequate	</a:t>
            </a:r>
          </a:p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	- </a:t>
            </a:r>
            <a:r>
              <a:rPr lang="en-US" sz="1600" dirty="0" err="1">
                <a:solidFill>
                  <a:schemeClr val="tx2">
                    <a:lumMod val="50000"/>
                  </a:schemeClr>
                </a:solidFill>
              </a:rPr>
              <a:t>Colours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, background, grids are often </a:t>
            </a:r>
            <a:br>
              <a:rPr lang="en-US" sz="16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                      unnecessary</a:t>
            </a:r>
          </a:p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	- Not what top journals are looking for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may hinder getting you in a top journal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But R or python output can be modified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658" y="5513947"/>
            <a:ext cx="7618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Several specialized software exists for more advanced data presentation, 3D plots, volcano plots, bubble plots, etc.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742" y="2427500"/>
            <a:ext cx="4038600" cy="250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69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data:image/jpeg;base64,/9j/4AAQSkZJRgABAQAAAQABAAD/2wCEAAkGBxQTEhUUEhQVFRUWGR4TGBcVFhgZGRgYGR0YFhYYGBcYHykgGBomHRcVIzEhJSorLy4uGCAzODMsOigtLisBCgoKDg0OGxAQGzEkICQ3Ny80LCwtLCwvLC0vMCwuLCwsLDQsNCw3LCwsLCwsLCwsLCwvLCwsLCwsLC8sLCwsLP/AABEIAOEA4QMBIgACEQEDEQH/xAAcAAACAgMBAQAAAAAAAAAAAAAABgQFAgMHCAH/xABJEAACAAMFAwUMBwYGAgMAAAABAgADEQQFEiExBhNBByIyM1EUNEJhcXJzgZGxssEWI0NSVHTRJDVigqGzFRdEU8LwktIl4vH/xAAaAQEAAgMBAAAAAAAAAAAAAAAABQYBAwQC/8QANBEAAgEDAQUGBQQBBQAAAAAAAAECAwQRBSExM0FxBhI0UWGBEzKxwdEicqHwNRQkgpGy/9oADAMBAAIRAxEAPwDoEEEEAEEEEAEEEEAQJV7I01pQD1QlWanNDBVcg54gKMOcRhJyBrlGNsvhEVGX6wNNSznCRzWmMEBPkLDLsjXbrkE18TzJmWLCFIUpjTdHCygNoWIqTQnxCkVdlkAIWY6gzktJwrLAxy93goAtAv1YJHGpj0u6C1e8pILKZqAoCWBYDCFALE9lAyk+URts9oRxVGDAHCSDWhGoPYYqTs3KxzHrQzMZJwSiQ0wKrEMyE0yPNOXONQRSLG77KJSlcbNVi1WIyr4I7FHAcNNINLkD415yRWs2WKY61YfZECb/AOJIB7Kxus9oSYMSMGFStVNcwaEeUEaRUvs5JMyc+JqzlZcJwsksv1rJLYFQXIUtUHFTPUxY3fZhKTDjZ+czVc1POJag/hFaAcAAINLkCDI2lkMzAsUClhifCFqkwSWzBOHnkAYqVrlWJn+KyOb9bL5xIHOGZDBCPUxC+U0iIbhl7hpOJsLTd+W5uLFvhaKaaYhTye2Mr0uSXPbEzMtV3bhcNGUOs2hqMjVdR2nxRnCASr7Vt+QpwSSyly6AFkpVczVdcmOWRqRG1b4l7yVLJo86XvVGRFOaKYgaE1YUpkaGMRdSiXORXI37O7Hm1G8FGAypSnbGtbmAMkia4aSm6DDBUyyUJUilM92oqBWlYYQJN63kshVZwSGmJKy4bxggY+IVrGQvOT/uy/BPSHhsUT/yYEDtIpGN6WFZyqpYrgmJOBWlcUtg661FKgRTT9l1ARZRw0dHmOz5tgnG00wBaGrO+dVpi40pBJY2gu7zvKVZ1V5zBELBMR6IJBIxHgMqV8carHfciYFKzF5+agmhIqyg0OdDganbSNtvsazd3iNN3MWcKUzK1oDXhnFVZ9k5S0o7kAy2IqvOMl5kyUTQZUaYdNaCCSxtBMtG0FnVBM3ispZEqhDZzDhQ66ca9gMbJN8S2nPJqAy4MNSOfjUuMPqBiDK2VlKoUO/NlyJQJw5dzMZkttMzU58Mo3/4AuLG0yYzY5U0k4c2kqVWtFAzqSaeqkP0gt4III8AIIIIAIIIIAIIIIAIIIIAIIIIAIIIIAIIIIA1WhqKSNQrEZA5hHIyML2y99zZk1xNIdVlNMpglrmtOKqPHDIwBoGrhNQaA6FWHDPjEexXXZZRJlqwLKUPWnmtqM4kaFWnGhKMo5b3PGcb+ZyVqVWVWEoywlvWXtI117TS5iS3eS0ve4N1RWcOZktp2EcwHEqqcWWHSjHhPF9WbGErRiVTOW2TMhnKhyycoC2E5x9Sy2cLZ1AalmpuhSZzcKGUOHO5jEZ1jF7HZjO3xVseMTdJlN4qGUrlaULBCVr2Rx4fkzqK+x3+XsS2tpcpFmNLwA4zQTHVKTKISGBJAIqCStcIizs14o9pnWfdEGUsty+HmneY6DTKmD118UaHuyzGzpZqTBJl4cKgzR0CHSrDM0ZVOfZG9bPIE3fDHvMKoT9bzggYJjGjEY3zPbGXnyYPl9zTLC4KCpNeap7O0RDm3uZctGaUHqHZnOFEUIRkWwkBiDliwrzTVhFnamlTKY8RppzXHuERrVYrPMTdtvMFGUqN6Ayv0lYDpA+OOCFC5V1KpJvuNbsvfs5bvM6pVKToKCX6s78L157zN70kb1pClN8EZwpH3Qpzp56+3KK+RtTZhZ7PNtBSU0+SJ+GlQAcOLOmgLj/oiQLrsofGomK31hGEzQAZxUzSoGQLFFJj5IumyoJYXeruk3KENOBEslDu8QzK1lpl4o78P1OUn2W2yZjsiCpQlWO7IUMtMS4iKV5wy7DXSPlpUB8gBzRp5WjXIkSFmmaMeMgrU7080tjwgHQVJIHCppSsZzpgZqitKAZgji3aPHGNuHnP9aBjBBBGoyEEEEAEEEEAEEEEAEEEEAEEEEAQb0vIScFVqXYIKsFFSQOk2WLPJdTQ9hjU161MwIqkS1DVZyoIJmK1KKxFDLppnXhlWVb7Ak4ATMRANaBmUHxMAaMPEYDYJeJmwAFsOIjKuBi61p/EST26GojOwEaxXhNZ8MySJdRkcZarYVZgowCoBLCtR0fVGG0F+JZZDTWDHMIowkYncFlHOpXIMTnkFbiKRPFlXHjocXnMQOFQpOEGnECsKvKt3jL/ADMv+1aYMCFtnttbZc6WZU5pavJlziihSA0xMwMQ0+eeucVlz7WXtaJqSZNomO7FQBRTTDxY4ch94nXjWIO3XWyPysj4I6FyPWFRY3nISkxnKFgFJKqAQOcppqdKRxX907ai5pZe5dTdQpfFn3TYdnL+pTu5NCNRxNTng17DqBkKCId6pe1kVptptqlQsxwqYSxbdsFIXCOaGwnsGtCci03pe9ol9GafWkv/ANIT9pbU82TOeYxZjLbM07DkAMgIg7bUbuc13mseiJCdnCKeUJw2/vH8U/g8E8HTwc/H97jWPh2+vGlO6pmhGi8TU5017DqBkMoWoItBEjP/AJgXjWvdT6k9FKZjDphpSnDQHMZ5xNtm21vWTZ3FpmVcEklRnu3KrmQQ2WtKV8KsJcWd4kdz2bSuF60Yk9YdQcl9UAPGw953lbphDWyckhBSY6oGbnHFhXCpIY8GOgqB2R1iba7OM2eYOOZnr/QUA8gjnfIX1Vr85Pc0NN+xUtUuKs7l0+80o+TxyJizt4yp5Mr7vqUFw2dnZmyxbybRPa2bRyC27d3gHdRapgALLouhYnWmvYdQMhQQ6D5xyi8Otmee3vMSWkJrvJtvq8nPexUUsF//AJgXjWvdT6k9FKZjDphpSnDQHMZ5x8G394/in8Hgng6eDn4/vcawswRNkeOMvba3mzTHNpmYldJYOEZLME525wFAaotONAQCACDF/wAwLxrXup9SeilMxh0w0pThoDmM84qJJHcs3Su+lcTXoWitF0I0zOYypqYr4AZht/eP4p/B4J4Ong5+P73GsfDt9eNKd1TNCNF4mpzpr2HUDIZQtQQA635tvb5c9lW0zABhahRVzaWteawNBmSBpxAEQBt/eP4p/B4J4Ong5+P73GsVm0hHdDUpTCnRYsOrTi2cXWwOxMy8JlTVLOh579v8Kdre6NVatCjBzm8JHqMXJ4RHO3140p3VM0I0XianOmvYdQMhlDFsBthbbReEiXOtDujM7MuFaH6t8qKBRcgewa0ht/ycsf8AuT/av6RosGx1ksVukGS815qtmGIwqGBXPDQ4udWnizyyMfS1m2qzUI5y/Q3u1njJ0WCCCJU5gggggAgjRa7ZLlAGa6oCcILEAEnQVMapt6Sl1Y1rhACOSxzJwgLzwKGpWoFM4zgEyE/lW7xl/mZf9q0w1SrSrGgOdA1CCDQ9oOYIqKjUVFaVELPKfJLWOWB+Kl1NCQo3VpqzUBoo1J4CMA47t11sj8rI+COmcj/7ub0re5Y57tg8kPI3iTXPcsihV1lilK0KFHzw5VxaiuVcI6RyUshu9t2rKu9fJ3Dnh4QVeFOHA9tBD634b3X3O2w4psv7UwrX13tN9G3uMNN/amFm9Cu4mYgSuBqhSFJFDoSDT2GIWz3x6ktcczlcWtzbOWq1BjZ5LzAuTEUABOgqSM4zsCWabNSXup643wV36GmIgIabkVpXPSv8MegrHZe4pSyZIlBEGQEthU8STjzJ7YntS1B2qSgsyfnuwQ1tbuszhn+X15fhJntT/wBoibR2SZJSzyZyskyWr4lYqQKuWFMOmudTHabw2pnUKgIpOWIA1HkqTnHLNtZkreJvUmOxRs1mqoqTlUGWxOdSc86jSlTpsNQr16ndqJJemfybK9rGnBsbeQvqrX5ye5oab9hd5FnlmXat0joKpXHMVzoeKotM6+0dlSxX7ELqHjZ9V9ESNjwhWHzjlF4dbM89veY6uPnHN7XNs28bFKnE4zipPQA64qAyTSrZjWgyz1ia0r5pexxX25FRBDVsts4Lc5SRInc1QWdrQoRTWpqdwdRkBqDnmMoaTySzPudv+rHHof6bhx7f4YkKt9b0pd2c0mcMaM5LKRz2RXuSdrTfSeIp0LTSo1J1oRkM66iK6HvaTZ6VYJLJORmLTZRwy7QjEBUnVBcyBhJLA0oaildASqCbZqdVPrQfbprXnGm50IyA4HOp0jdSqwqx70HlHmUHF4ZXwRYGdZv9mf4X+oTj0PseHHt/hj7vrLXqZ9Kj/UJpTMV3Gtc68BlQ6xsPJs2nJ7pata4ZfSKk9WnFco7Ryc2ZGuuQWRSedmVBPSPExyTaKZZxPYGTOrhl6TEliuBCTg3JoCMtdc860jsfJ0R/hkrCCFxPhDGpAxtQFgACaUzoK9giE114oR/d9md1hxCBfclQTRVHkAERbi6+T54idf2piDcXXyfPERVk/wBUeqJS53PodGgggi4FdCCCCAK6+bvabgwMEZWBx84MBUE4cJoeiDhaoJUV0gnXeWcud0x4BkJB1ALZ9IAkAjtPbFjBGcgr7Ddm7wc4sEApXUtgEsknsoNO0mFzlTlgWKXQDvmX/STaQP6AQ5wn8q3eMv8AMy/7VpjAOQ7ddbI/KyPgjpnI/wDu5vSt7ljme3XWyPysj4I6ZyP/ALub0re5Yh9b8N7r7nbYcUlX9qYVr672m+jb3GGm/tTCtfXe030be4xC2m+PUlrjmc+2f76s/ppfxrHpS+OMea9n++rP6aX8ax6UvjjHXr3Fh0f2OHTN7EO8OlCBt91svzPmYf7w6UIG33Wy/M+Zj3pfFibL7hsduQvqrX5ye5oab9hW5C+qtfnJ7mhpv2I/UPGz6r6I3WPCFYfOOUXh1szz295jq4+ccovDrZnnt7zE1pXzS9jivtyPQGyVjEiwyNyxlh0ExgqyzVmAqSWUk+sxFt9/WlDQTT60l/8ArFncXeFm9CnuhbvfpeuK8kp1pd5Z2skYwj8JPAn7fMTIUk1JmgknUnC8IUPm3fe6+kHwvCHFs03ge5DXnFCCCCO85Sz2kI7oalKYU6LFh1acWzjt/Jr+6pH8/wARjiW05PdLVrXDL6RUnq04rlHbeTX91SP5/iMQmvcCP7vszusOIR7+1MQbi6+T54idf2piDcXXyfPERNl80eqJS53PodGgggi4ldNFutIly3mEVCKWpUDTPU5AeOIdwXwtql41w+DXBMEwAsiuVxLxUsVIoNImW9GaU4UMWKkAKwViacGOSnxxXbNWd5aTFmYgcdQjzBMZQVXVlUAVNTQdsetmAXEEU+0aOVl4N4eeKqhdcWY1eWQV4jM05xJGQphOWuM7qZm2HCVcrqfrHz+s8QFaVXTVcYBdwn8q3eMv8zL/ALVpi4sFjKzQw3rVGZmquQwKBRqYsRIFQTxOQio5T3pYVxBWraJYGQIB3VoxEqwIYEYxThiBrUQYOWbY3a7zJBBlj9mkrSZOlSyCssE1WYwIHjpQnLXKOick8kpd7KcJO9J5rKwzVGHOUkaHMVyNQcwY5ht4xM6QSSSbLJJJJJJKZkk5k+OOl8j/AO7m9K3uWIbW/De6+522HFJV/amFi9kxSJgFKlCMyAMxTMnIDxnKGe/tTCtfXe030be4xC2e+PUlrjmJdyXW62iQxaTQTJTZWiQxoWBFFDkk5ZgCo4x6HvjjHmvZ/vqz+ml/GselL44x169xYdH9jh0zexDvDpQkbZWJpk1MJliigc+bLl9JmApvGFRlmRplWlRDveHShA2+62X5nzMe9L4sTZfcNj5yKWYy5dqDFDUoeY6OPDXMoSAag5a0odCKsd+wrchfVWvzk9zQ037EfqHjZ9V9EbrHhCsPnHN7fdMzeTDik9J274kVoGIOWOtfFqRmMo6QPnHKLw62Z57e8xN6V80vY4r7cj0XcyUsVnBpUSlGRDDIUyZSQw8YJBhZvfpeuGS4u8LN6FPdC3e/S9cV6HFfV/Uk48JCptlZi8gBSgo4Y43RMgrDIuRiOegz1yyMJ3+CzK0xSNSO+rPwGLXeaU46E5aw17d97r6QfC8IcWvTeB7kJecUsBc8z70jwf8AU2fwtPtMvH2caQG6JlK4pGhPfNn4Ghyx69g1IzGUV8Ed5yjHtHc0zuhs5AyUddZ0zEpGPN3mnj0J0zMdi5O5RW65IOGvO6LKwzJPSUkcdK5HI0IIjhu0hHdDUpTCnRYsOrTi2cdv5Nf3VI/n+IxCa9wI/u+zO6w4hHv7UxBuLr5PniJ1/amINxdfJ88RE2XzR6olLnc+h0aCCCLiV0rb+u6VNl1nSVnYKsqNpipT/piu2ICbuZu5MqSC+aSXxqGwKCDVVwuNGXOhEWd9yXeWBKDFsYPNntIyFakuqsSP4aUMZ3VImorCdMVyWZlwrTCpNVUtlvCPvUWvZHrP6QTYIII8gIT+VbvGX+Zl/wBq0w4Qu7ZShMSVLYKQH3/OBIJlqUAIBGX1zH1CNlGk6s1BczVWqqlTc3yOR7TXJaLQ0l5Mp3UWeVLJpTnKtGHOpXPjpHReS6wzJNgZJqlG3rGh7CFppEC2XvMTgh9TD/lDFsjbTNs7uwAOMjLxAdsaO09hGhZKSznvLy9TVoV9Wr3Xdkklh7uqK2/tTCtfXe030be4w039qYVr672m+jb3GKhab49S23HM59s/31Z/TS/jWPSl8cY817P99Wf00v41j0pfHGOvXuLDo/scOmb2Id4dKEDb7rZfmfMw/wB4HncOzM098aLTcljm0M90ZgKdYABxoKH+sSGhafWuJfEjsiub8/JHJrOo0baPcllt8l5eZjyF9Va/OT3NDTfsYbC3dZ5InizUocJbC+LPnU45RnfsQ+rUnS1CpB8mvojv0qsq1sprc/MVh845ReHWzPPb3mOrj5xyi8Otmee3vMSulfNL2NF9uR6JuLvCzehT3Qt3v0vXDJcXeFm9CnuhbvfpeuK/Divq/qSceEhO2773X0g+F4Q4fNu+919IPheEezyGdgiKWZjQKoqSTwAEWvTnih/2Qt5xTXBHXLp5GsUpGtE9pcwirIqBgteFScz2xleHJJZpKF5lrmAaAbtak9gGLMxqes2fe7qln2Z4VtUZzbacnulq1rhl9IqT1acVyjtvJr+6pH8/xGOI7T07pmAAADCtAAOiqjgAOEdu5Nf3VI/n+Ixza5JSt4Nc2vozfYrFVpke/tTEG4uvk+eInX9qYg3F18nzxEXZfNHqiTudz6HRoIIIuJXQggggCuvu3PKVWUALiAZ2BYKKjUKQdKmugw+MRibbMBdWwLSdulbPCimUk0FyaVJJK8M2UeWbaLIj4S6KxU4lLKDhYZgiuhyHsj5LsUtSxWWgLdIhFBbjziBnn2xnKBDsF5NMKVXDjHRPSXmK5J8XPC6a07YhbRvVpeR6L6in+0fn74v8IrWmZyJ40FaCvrPtMUe0vSl+a/vlR12PiI/3kcWoeGn/AHmIt8Q0bA96P6Q+5YV74ho2B70f0h9yx67aeBX7l9zT2b8S+n4I1/amKyyS0pWaCVOQGEkHhU9vHKLO/tTEJOpXyfMxBdkbWnWqylNZ7u7r5/gl+1FxUp0owg8d54eN+PL8moTLGGAWWgeow/VUOKuWdMs4fL44xyn7aX56/EI6tfHGPPbSKjc0kvJ/VGrsrHEJPLe3mJf26eVvgeI176RJ+3Tyt8DxFvfSLL2R8D7siO0nj/8Aivqy15N9LT/J/wAom37ELk30tP8AJ/yibfsUPX/8rW6r/wAot2i+Dj0FYfOOdWq/7Qkxgs1gFfLTLDVF4cFyjoo+ccovDrZnnt7zHdpXzS9jXfbkeibhH7BZvQp7hC3e/S9cMlxd4Wb0Ke6Fu9+l64r8OK+r+pJx4SFba62PKko8pirCYMx5rxhyV26ZPvCWk5sarLegYCgwq2H2Ym9satu+919IPheNfI3+809HM+ExPx/x9ToyJreIR1u95YUHDl5CYUbTMYnNiaaVJNPbDjfehhLn9IxAW20l5pd1CBf18z5c+YiTGVQQABTQHH8RJjsXJ3NL3ZKdjVmaYzHtJdiT7SY5JfmzVqmT5jpJdlY1ByzFB2mOvbAWV5V2ykmKVdSwIOo5xPuIie1qlUhZ0+/Frat6xyZC2NanUuJKEk+jT5kG/tTEG4uvk+eInX9qYg3F18nzxEVZfNHqiWudz6HRoIIIuJXQggggAgiPa7YkumM0xHCKAkk6aKCaZjPxjtjbOm4RUhjwooLE+oQBnFFtL0pfmv75UT7He0qa5SW2IgBjQcCAwPkIZfbFPt+7y5CTpYBKzN02LohXV2xMfB50qWorxcDUiOi1mqdaMpbkc13TlVoyhHexOviGjYHvR/SH3LHONq79aVMRVAdXlJOBYYTzxioVBYDyVPlMaro5SJ1nlmWkqWQWLHEWrU0HDyR67S1Y31qqdDa8p+W7Jr0WhO1rudXYsdfI6Hf2piEnUr5PmYR7VyiTZnSkp6iY+2DbOY53ZSWqqkxhUnVEeYornWpAGmdeGo4OzMXYym6+zOPXzOvX1/rFD4O3DfoXH20vz1+IR1a+OMefhtY+JW3a1UhtTwNYYLRys2h+lJlerF+sae09KV/XhOhtST9D3oX+0g1V2fyNv26eVvgeIt76Qktt9MxBxKQMNMzTMEHL1mNt5bXTDKlOVlkzAxIBOWFioyplkO0xM9nq8LO1+HW2PL9SN1q2ndXXxaW1YS8ubOjcm+lp/k/5RNv2OV3JyiTrNj3cqWcdK4ieFaUp5TG61cpc6Z0pMv1FoqurWNa4v6lamsxbWNvokWDTa8KFtGnN7RlGvrhKtexNsZ3YSxQsSOeuhJPbDfspbmnyjPoqnEUApiApQk8MzX+kSLZfc1NMB/lP6xZ9I0JQo/FqvbLkuS/JX9U1mpKt8OgliPN52v8AA53RKKWKzq2RWUqnygUPuhYvfpeuK607dTZcnoy6KMq1zOtNe2FlNt3nTEVpSjEwWoJyqQK0ipT0O7pV8SS2t42rmyy0dToTob92/Yy02kumbaZQSSuIhwxzAFKMNT5RG7kw2atFnvCW85Aq4HWuIHMoaaeSL+fNeStFK0Hav9TnrFbK2pnS5gaiErWmR4gr29hMW+roHcsJUo7ZtPnhZf2KrHWqta7U8JQz65x+R5vvQwpyJJaYxqObQ0ZSQSdNCNKRRX/yhzlIUy5ZqK8R4ool2+mgkrKQVyNSTp/+xXdH02pZ3idzFYXvtxsLBqd2rmycbd7X7bM7f4yPVsveYnBD6mH/AChr2btJmWRXIAJZshpll8o43fm1DrNKYUYAKahiekoY50HEnhEq7eU6fJlCUkmWVFTmWrnmYme03dvbeFO32tSTednJrn1IfQ7Z2lZzqLGzH8of7+1MQLjP7RJHEuKDiaZmg8QBJ7ACdBCTauUSbM6UlPUTE/Ym/VtF5WXFLKkF6HfEKPqXHRC5nFn48lOUVuz02tCS7+xLaWW4vack+7tO3QQQRYCICCCCAK+97vM4IFYJhYNiwksACDzCGGE5cQwqBllGdqsFQd2cJY1bFidWGdVK4xQVpoRpTTKJsEZyCJLsrY1ZmUhc6KmHnlcLGuI82mg1H3jCvypylFil0AH7TL0AGkm0gf0AHqhzhP5Vu8Zf5mX/AGrTGAch2662R+VkfBC3DJt11sj8rI+CFuACLG4a71qV6mfoQPsJtdeFNRqRUDOK6LC4x9Y3H6mf4OL7Cbw4eXhrwgCvggggAi1vMnuay60wzKVKkdY2gGY9cVUWl5D9nsuXgzPApX6xvC8P5aQBVwQQQAzbNbUPIQSERWDPWpJrVqDtAjbeu0zCY6NLXmsUqGpXCSPGOHaYXLB1svz14V4jhx8kbb6H7RO9I/g4fCPg+D5OEdcL6vCPdjLZ7HLKyoSk5OO19T5eN4NNOeQGi9n6mPl09fK9IvxCIkS7p6+V6RfiEaVOU6ilJ7cm2UVGm1Hdg7He/GFK0dKG29+MKVo6UXCp8iKnbixtR00835mKWLrajpp5vzMUsVS948i02nBiWu05PdLVrXDL6RUnq04rlFVFptKKWhsqc1PAwfZp4PD568Yq45ToCGvks/elmpXV9CB9nMrrw7RqRpnCpDVyXD/5SzeV/BxfZvw4eXhrwgD0RBBBABBBHxv+0gD7BSKK4rLPWWwylneTD9ahdmBdyCQs2g1rUHOunE4TLuxmaJkiay78TlGOUcf1Syqir9oJocOQHkPrAGCE7lXNLChOndKf2rTF3dljmIUxgAhQGK0CkYAolqo0CsGIyAFctTSxeQGw7xVfA6zUNCMLqrJiGZqee9Oyo4isYYOJ7W7HW6bMkmXZphC2eSh0FGVAGUgmoIij+gN4/hZntX9Y9GwRgHnL6A3j+Fme1f1iZdWw9vRyWsrgbuauZ4tKmKvRNekR4u3KsegYIA85fQG8fwsz2r+sH0BvH8LM9q/rHo2CAPOX0BvH8LM9q/rE+27EW9pMhRZXxIHDZ6VckVqaafd9ecd+ggDzl9Abx/CzPav6wfQG8fwsz2r+sejYIA88WTYO8BMQmyvQMCc10BFdDX2RsvPYW3tOmstlcqzswoRoWJHSNfbnHoOCAPOX0BvH8LM9q/rG6x7E2+XMSY9mdURg7ElclUgsdeABj0PGm2SN5LdK0xqyV1piBFaeuPUHiSbPM1mLQg3vxhStHSjpto2WL6zh6pf/AN4iSNgpYdWeazgGpXCBXxE1OUWSep27hhP+GV+jp1eL2r+Tl957K2y0YJkiQ7pQjEKAantMQfoDeP4WZ7V/WPRiKAAAAABQAaADIADsj7FerVPiTc/MnqVP4cFHyOA35sRb3nMyWVypCjI10RQemQdQfllED6A3j+Fme1f1j0bBGo2HnL6A3j+Fme1f1hh2A2Qtsi8JE2dZ2SWpbExOQqjqOiSdSPF25VjtkEAEEEEAEEEEAEEEEAEEEVky1b4tLl41KspLAgYkxc4owJyIDDgeymRjOATplpUEgmhGGuv2jFE9rAiNsV867AzoSclw5ktiJRsaAmuEgHiQTm2fOJiwgAjF3ABJyAFT5BmY1W21CWuIqzZ0CrTET4gxAOVTroDEWyyzMLTMTFHoZak8wy2lpqnjbEc8xTKlWqwCdLmg1ANaUr6xUf0IjOIl3WLdhs6ljiObHQBRmxJOQGpiXGAERLXeKS3VXNMSs4PABCgYmmgG8BLaAAkkRhMtLOJiy1cEYlDmgXEMiAa19dKeOoNMVsAdKOJi1R5VHcMwSZhxVapqeYKc5vLwGceYLCCAxqtU8S0ZyCQoqaCpy7BxMYBtjTLn1d1oRhoa5UIYE5ewjPsiPaCzbohHFJnOFVFFowJbnUYZg5V8lREiXZ6O74mOOgocNBhrSlBXidSYyDdBBFbbrxZJmBUDD6mrYqU3s1pZypnQKSPHTyglkFhMmAUqaVIUeU5AQS5gYVBqMx7DQ/1Bipl2SczTQ9ArUK1dzRwxqVKtiQUw0oV45DjZWOziWgQaD5mpy4DODQN0EYTJoXU61oO2gqaeoRBnMZxlhS6qCrzMLYSZby5tBUGvSwaUOQoYYBJNtl7zd4uf2UNK0xYcVKYsPOw1rTOlM4kRX2CwkFZkw/WlF3mSUMzCqswOGoNBSikL4syYsIMBBBBGAEEEEAEEEEAEQrdayFIlFS4dFINTQO6IxIGeSsT6oztoYlAFPSVicqAKakHjpGFlu1UmNMBJZgQcl0rizIFWPjJOWUZQIncsybz6qpxIr1VsxZp7sCgrljzOZNMulrFjJsiIxZVAZsiRqQKkDyAk0HCpjfEHuiYZ5QUCKFJOAkmuLLFjGHQeCYZyDfarWsvDjNAzYQeFcLPn6lPrpGlZju7gFN2KCtCWbEoNQ1aUFew1rwpnDu+xznRTPmHeIwcYZarR8DK1Ks2JOflp0fHFrZpARFReiihBXsUAD3QewEGy3bqJuBhRFUAHIICuZJzJBNdBQkZ6mwlSwqhVFAoCgDgBkBGUEMgiXszCROKEhhLcqV1DBThIGedaRV227Zs9JstpgqrkKzLkpMqWVdMNDzWZ6UI6RzqIv4IJ4BiqAVoKVJb1nMmMoIIwCqv20zUH1QqRLmTfK0vBgU5GoOI1UUJpkRQ1LNdn1kxnC0Zn4c5lYigY1zAoSNOkcq1JtYIzkBBBBGAEans6kklQScOfmMXT2MSRG2CACCCCAI8yQWmKSRhWpAoa1IKkHhTOsZWayJLrgULi1pxpkKnjQZeQAcI3QQAQQQQAQQQQAQQQQAQQQQAQQQQARiEFSaZnU9tNPeYyggAggggAggggAjQbZLqVxrUMJZFRXGyh1WnaVINOyN8K9v2REy0vaAyrMaarhwpxqgkGQUBr96j+qPUUuYGmkRLTeEtBNLMPqU3swCpKpRmBIGeYRvZC3J2NzTFusKmplhOYSLO1nxUOWIkhjl4IjP6KOFmDeSy02yrZXdpZL4llTJRdWrXnF0JJrklM8iM4j5gaZb1AI0IBHkOYjKKu5Lp7nM2hGFyjKqigXDLSW2WmbIWy7YtI8sBBBBGAEEEEAEEEEAEEEEAEEEEAEEEEAEEEEAEEEEAEEEEAEEEEAEEEEAEEEEAEEEEAEEEEAEEEEAEEEEAEEEEAEEEEAEEEEAEEEEAEEEEAEEEEAf/Z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052" name="AutoShape 4" descr="data:image/jpeg;base64,/9j/4AAQSkZJRgABAQAAAQABAAD/2wCEAAkGBxQTEhUUEhQVFRUWGR4TGBcVFhgZGRgYGR0YFhYYGBcYHykgGBomHRcVIzEhJSorLy4uGCAzODMsOigtLisBCgoKDg0OGxAQGzEkICQ3Ny80LCwtLCwvLC0vMCwuLCwsLDQsNCw3LCwsLCwsLCwsLCwvLCwsLCwsLC8sLCwsLP/AABEIAOEA4QMBIgACEQEDEQH/xAAcAAACAgMBAQAAAAAAAAAAAAAABgQFAgMHCAH/xABJEAACAAMFAwUMBwYGAgMAAAABAgADEQQFEiExBhNBByIyM1EUNEJhcXJzgZGxssEWI0NSVHTRJDVigqGzFRdEU8LwktIl4vH/xAAaAQEAAgMBAAAAAAAAAAAAAAAABQYBAwQC/8QANBEAAgEDAQUGBQQBBQAAAAAAAAECAwQRBSExM0FxBhI0UWGBEzKxwdEicqHwNRQkgpGy/9oADAMBAAIRAxEAPwDoEEEEAEEEEAEEEEAQJV7I01pQD1QlWanNDBVcg54gKMOcRhJyBrlGNsvhEVGX6wNNSznCRzWmMEBPkLDLsjXbrkE18TzJmWLCFIUpjTdHCygNoWIqTQnxCkVdlkAIWY6gzktJwrLAxy93goAtAv1YJHGpj0u6C1e8pILKZqAoCWBYDCFALE9lAyk+URts9oRxVGDAHCSDWhGoPYYqTs3KxzHrQzMZJwSiQ0wKrEMyE0yPNOXONQRSLG77KJSlcbNVi1WIyr4I7FHAcNNINLkD415yRWs2WKY61YfZECb/AOJIB7Kxus9oSYMSMGFStVNcwaEeUEaRUvs5JMyc+JqzlZcJwsksv1rJLYFQXIUtUHFTPUxY3fZhKTDjZ+czVc1POJag/hFaAcAAINLkCDI2lkMzAsUClhifCFqkwSWzBOHnkAYqVrlWJn+KyOb9bL5xIHOGZDBCPUxC+U0iIbhl7hpOJsLTd+W5uLFvhaKaaYhTye2Mr0uSXPbEzMtV3bhcNGUOs2hqMjVdR2nxRnCASr7Vt+QpwSSyly6AFkpVczVdcmOWRqRG1b4l7yVLJo86XvVGRFOaKYgaE1YUpkaGMRdSiXORXI37O7Hm1G8FGAypSnbGtbmAMkia4aSm6DDBUyyUJUilM92oqBWlYYQJN63kshVZwSGmJKy4bxggY+IVrGQvOT/uy/BPSHhsUT/yYEDtIpGN6WFZyqpYrgmJOBWlcUtg661FKgRTT9l1ARZRw0dHmOz5tgnG00wBaGrO+dVpi40pBJY2gu7zvKVZ1V5zBELBMR6IJBIxHgMqV8carHfciYFKzF5+agmhIqyg0OdDganbSNtvsazd3iNN3MWcKUzK1oDXhnFVZ9k5S0o7kAy2IqvOMl5kyUTQZUaYdNaCCSxtBMtG0FnVBM3ispZEqhDZzDhQ66ca9gMbJN8S2nPJqAy4MNSOfjUuMPqBiDK2VlKoUO/NlyJQJw5dzMZkttMzU58Mo3/4AuLG0yYzY5U0k4c2kqVWtFAzqSaeqkP0gt4III8AIIIIAIIIIAIIIIAIIIIAIIIIAIIIIAIIIIA1WhqKSNQrEZA5hHIyML2y99zZk1xNIdVlNMpglrmtOKqPHDIwBoGrhNQaA6FWHDPjEexXXZZRJlqwLKUPWnmtqM4kaFWnGhKMo5b3PGcb+ZyVqVWVWEoywlvWXtI117TS5iS3eS0ve4N1RWcOZktp2EcwHEqqcWWHSjHhPF9WbGErRiVTOW2TMhnKhyycoC2E5x9Sy2cLZ1AalmpuhSZzcKGUOHO5jEZ1jF7HZjO3xVseMTdJlN4qGUrlaULBCVr2Rx4fkzqK+x3+XsS2tpcpFmNLwA4zQTHVKTKISGBJAIqCStcIizs14o9pnWfdEGUsty+HmneY6DTKmD118UaHuyzGzpZqTBJl4cKgzR0CHSrDM0ZVOfZG9bPIE3fDHvMKoT9bzggYJjGjEY3zPbGXnyYPl9zTLC4KCpNeap7O0RDm3uZctGaUHqHZnOFEUIRkWwkBiDliwrzTVhFnamlTKY8RppzXHuERrVYrPMTdtvMFGUqN6Ayv0lYDpA+OOCFC5V1KpJvuNbsvfs5bvM6pVKToKCX6s78L157zN70kb1pClN8EZwpH3Qpzp56+3KK+RtTZhZ7PNtBSU0+SJ+GlQAcOLOmgLj/oiQLrsofGomK31hGEzQAZxUzSoGQLFFJj5IumyoJYXeruk3KENOBEslDu8QzK1lpl4o78P1OUn2W2yZjsiCpQlWO7IUMtMS4iKV5wy7DXSPlpUB8gBzRp5WjXIkSFmmaMeMgrU7080tjwgHQVJIHCppSsZzpgZqitKAZgji3aPHGNuHnP9aBjBBBGoyEEEEAEEEEAEEEEAEEEEAEEEEAQb0vIScFVqXYIKsFFSQOk2WLPJdTQ9hjU161MwIqkS1DVZyoIJmK1KKxFDLppnXhlWVb7Ak4ATMRANaBmUHxMAaMPEYDYJeJmwAFsOIjKuBi61p/EST26GojOwEaxXhNZ8MySJdRkcZarYVZgowCoBLCtR0fVGG0F+JZZDTWDHMIowkYncFlHOpXIMTnkFbiKRPFlXHjocXnMQOFQpOEGnECsKvKt3jL/ADMv+1aYMCFtnttbZc6WZU5pavJlziihSA0xMwMQ0+eeucVlz7WXtaJqSZNomO7FQBRTTDxY4ch94nXjWIO3XWyPysj4I6FyPWFRY3nISkxnKFgFJKqAQOcppqdKRxX907ai5pZe5dTdQpfFn3TYdnL+pTu5NCNRxNTng17DqBkKCId6pe1kVptptqlQsxwqYSxbdsFIXCOaGwnsGtCci03pe9ol9GafWkv/ANIT9pbU82TOeYxZjLbM07DkAMgIg7bUbuc13mseiJCdnCKeUJw2/vH8U/g8E8HTwc/H97jWPh2+vGlO6pmhGi8TU5017DqBkMoWoItBEjP/AJgXjWvdT6k9FKZjDphpSnDQHMZ5xNtm21vWTZ3FpmVcEklRnu3KrmQQ2WtKV8KsJcWd4kdz2bSuF60Yk9YdQcl9UAPGw953lbphDWyckhBSY6oGbnHFhXCpIY8GOgqB2R1iba7OM2eYOOZnr/QUA8gjnfIX1Vr85Pc0NN+xUtUuKs7l0+80o+TxyJizt4yp5Mr7vqUFw2dnZmyxbybRPa2bRyC27d3gHdRapgALLouhYnWmvYdQMhQQ6D5xyi8Otmee3vMSWkJrvJtvq8nPexUUsF//AJgXjWvdT6k9FKZjDphpSnDQHMZ5x8G394/in8Hgng6eDn4/vcawswRNkeOMvba3mzTHNpmYldJYOEZLME525wFAaotONAQCACDF/wAwLxrXup9SeilMxh0w0pThoDmM84qJJHcs3Su+lcTXoWitF0I0zOYypqYr4AZht/eP4p/B4J4Ong5+P73GsfDt9eNKd1TNCNF4mpzpr2HUDIZQtQQA635tvb5c9lW0zABhahRVzaWteawNBmSBpxAEQBt/eP4p/B4J4Ong5+P73GsVm0hHdDUpTCnRYsOrTi2cXWwOxMy8JlTVLOh579v8Kdre6NVatCjBzm8JHqMXJ4RHO3140p3VM0I0XianOmvYdQMhlDFsBthbbReEiXOtDujM7MuFaH6t8qKBRcgewa0ht/ycsf8AuT/av6RosGx1ksVukGS815qtmGIwqGBXPDQ4udWnizyyMfS1m2qzUI5y/Q3u1njJ0WCCCJU5gggggAgjRa7ZLlAGa6oCcILEAEnQVMapt6Sl1Y1rhACOSxzJwgLzwKGpWoFM4zgEyE/lW7xl/mZf9q0w1SrSrGgOdA1CCDQ9oOYIqKjUVFaVELPKfJLWOWB+Kl1NCQo3VpqzUBoo1J4CMA47t11sj8rI+COmcj/7ub0re5Y57tg8kPI3iTXPcsihV1lilK0KFHzw5VxaiuVcI6RyUshu9t2rKu9fJ3Dnh4QVeFOHA9tBD634b3X3O2w4psv7UwrX13tN9G3uMNN/amFm9Cu4mYgSuBqhSFJFDoSDT2GIWz3x6ktcczlcWtzbOWq1BjZ5LzAuTEUABOgqSM4zsCWabNSXup643wV36GmIgIabkVpXPSv8MegrHZe4pSyZIlBEGQEthU8STjzJ7YntS1B2qSgsyfnuwQ1tbuszhn+X15fhJntT/wBoibR2SZJSzyZyskyWr4lYqQKuWFMOmudTHabw2pnUKgIpOWIA1HkqTnHLNtZkreJvUmOxRs1mqoqTlUGWxOdSc86jSlTpsNQr16ndqJJemfybK9rGnBsbeQvqrX5ye5oab9hd5FnlmXat0joKpXHMVzoeKotM6+0dlSxX7ELqHjZ9V9ESNjwhWHzjlF4dbM89veY6uPnHN7XNs28bFKnE4zipPQA64qAyTSrZjWgyz1ia0r5pexxX25FRBDVsts4Lc5SRInc1QWdrQoRTWpqdwdRkBqDnmMoaTySzPudv+rHHof6bhx7f4YkKt9b0pd2c0mcMaM5LKRz2RXuSdrTfSeIp0LTSo1J1oRkM66iK6HvaTZ6VYJLJORmLTZRwy7QjEBUnVBcyBhJLA0oaildASqCbZqdVPrQfbprXnGm50IyA4HOp0jdSqwqx70HlHmUHF4ZXwRYGdZv9mf4X+oTj0PseHHt/hj7vrLXqZ9Kj/UJpTMV3Gtc68BlQ6xsPJs2nJ7pata4ZfSKk9WnFco7Ryc2ZGuuQWRSedmVBPSPExyTaKZZxPYGTOrhl6TEliuBCTg3JoCMtdc860jsfJ0R/hkrCCFxPhDGpAxtQFgACaUzoK9giE114oR/d9md1hxCBfclQTRVHkAERbi6+T54idf2piDcXXyfPERVk/wBUeqJS53PodGgggi4FdCCCCAK6+bvabgwMEZWBx84MBUE4cJoeiDhaoJUV0gnXeWcud0x4BkJB1ALZ9IAkAjtPbFjBGcgr7Ddm7wc4sEApXUtgEsknsoNO0mFzlTlgWKXQDvmX/STaQP6AQ5wn8q3eMv8AMy/7VpjAOQ7ddbI/KyPgjpnI/wDu5vSt7ljme3XWyPysj4I6ZyP/ALub0re5Yh9b8N7r7nbYcUlX9qYVr672m+jb3GGm/tTCtfXe030be4xC2m+PUlrjmc+2f76s/ppfxrHpS+OMea9n++rP6aX8ax6UvjjHXr3Fh0f2OHTN7EO8OlCBt91svzPmYf7w6UIG33Wy/M+Zj3pfFibL7hsduQvqrX5ye5oab9hW5C+qtfnJ7mhpv2I/UPGz6r6I3WPCFYfOOUXh1szz295jq4+ccovDrZnnt7zE1pXzS9jivtyPQGyVjEiwyNyxlh0ExgqyzVmAqSWUk+sxFt9/WlDQTT60l/8ArFncXeFm9CnuhbvfpeuK8kp1pd5Z2skYwj8JPAn7fMTIUk1JmgknUnC8IUPm3fe6+kHwvCHFs03ge5DXnFCCCCO85Sz2kI7oalKYU6LFh1acWzjt/Jr+6pH8/wARjiW05PdLVrXDL6RUnq04rlHbeTX91SP5/iMQmvcCP7vszusOIR7+1MQbi6+T54idf2piDcXXyfPERNl80eqJS53PodGgggi4ldNFutIly3mEVCKWpUDTPU5AeOIdwXwtql41w+DXBMEwAsiuVxLxUsVIoNImW9GaU4UMWKkAKwViacGOSnxxXbNWd5aTFmYgcdQjzBMZQVXVlUAVNTQdsetmAXEEU+0aOVl4N4eeKqhdcWY1eWQV4jM05xJGQphOWuM7qZm2HCVcrqfrHz+s8QFaVXTVcYBdwn8q3eMv8zL/ALVpi4sFjKzQw3rVGZmquQwKBRqYsRIFQTxOQio5T3pYVxBWraJYGQIB3VoxEqwIYEYxThiBrUQYOWbY3a7zJBBlj9mkrSZOlSyCssE1WYwIHjpQnLXKOick8kpd7KcJO9J5rKwzVGHOUkaHMVyNQcwY5ht4xM6QSSSbLJJJJJJKZkk5k+OOl8j/AO7m9K3uWIbW/De6+522HFJV/amFi9kxSJgFKlCMyAMxTMnIDxnKGe/tTCtfXe030be4xC2e+PUlrjmJdyXW62iQxaTQTJTZWiQxoWBFFDkk5ZgCo4x6HvjjHmvZ/vqz+ml/GselL44x169xYdH9jh0zexDvDpQkbZWJpk1MJliigc+bLl9JmApvGFRlmRplWlRDveHShA2+62X5nzMe9L4sTZfcNj5yKWYy5dqDFDUoeY6OPDXMoSAag5a0odCKsd+wrchfVWvzk9zQ037EfqHjZ9V9EbrHhCsPnHN7fdMzeTDik9J274kVoGIOWOtfFqRmMo6QPnHKLw62Z57e8xN6V80vY4r7cj0XcyUsVnBpUSlGRDDIUyZSQw8YJBhZvfpeuGS4u8LN6FPdC3e/S9cV6HFfV/Uk48JCptlZi8gBSgo4Y43RMgrDIuRiOegz1yyMJ3+CzK0xSNSO+rPwGLXeaU46E5aw17d97r6QfC8IcWvTeB7kJecUsBc8z70jwf8AU2fwtPtMvH2caQG6JlK4pGhPfNn4Ghyx69g1IzGUV8Ed5yjHtHc0zuhs5AyUddZ0zEpGPN3mnj0J0zMdi5O5RW65IOGvO6LKwzJPSUkcdK5HI0IIjhu0hHdDUpTCnRYsOrTi2cdv5Nf3VI/n+IxCa9wI/u+zO6w4hHv7UxBuLr5PniJ1/amINxdfJ88RE2XzR6olLnc+h0aCCCLiV0rb+u6VNl1nSVnYKsqNpipT/piu2ICbuZu5MqSC+aSXxqGwKCDVVwuNGXOhEWd9yXeWBKDFsYPNntIyFakuqsSP4aUMZ3VImorCdMVyWZlwrTCpNVUtlvCPvUWvZHrP6QTYIII8gIT+VbvGX+Zl/wBq0w4Qu7ZShMSVLYKQH3/OBIJlqUAIBGX1zH1CNlGk6s1BczVWqqlTc3yOR7TXJaLQ0l5Mp3UWeVLJpTnKtGHOpXPjpHReS6wzJNgZJqlG3rGh7CFppEC2XvMTgh9TD/lDFsjbTNs7uwAOMjLxAdsaO09hGhZKSznvLy9TVoV9Wr3Xdkklh7uqK2/tTCtfXe030be4w039qYVr672m+jb3GKhab49S23HM59s/31Z/TS/jWPSl8cY817P99Wf00v41j0pfHGOvXuLDo/scOmb2Id4dKEDb7rZfmfMw/wB4HncOzM098aLTcljm0M90ZgKdYABxoKH+sSGhafWuJfEjsiub8/JHJrOo0baPcllt8l5eZjyF9Va/OT3NDTfsYbC3dZ5InizUocJbC+LPnU45RnfsQ+rUnS1CpB8mvojv0qsq1sprc/MVh845ReHWzPPb3mOrj5xyi8Otmee3vMSulfNL2NF9uR6JuLvCzehT3Qt3v0vXDJcXeFm9CnuhbvfpeuK/Divq/qSceEhO2773X0g+F4Q4fNu+919IPheEezyGdgiKWZjQKoqSTwAEWvTnih/2Qt5xTXBHXLp5GsUpGtE9pcwirIqBgteFScz2xleHJJZpKF5lrmAaAbtak9gGLMxqes2fe7qln2Z4VtUZzbacnulq1rhl9IqT1acVyjtvJr+6pH8/xGOI7T07pmAAADCtAAOiqjgAOEdu5Nf3VI/n+Ixza5JSt4Nc2vozfYrFVpke/tTEG4uvk+eInX9qYg3F18nzxEXZfNHqiTudz6HRoIIIuJXQggggCuvu3PKVWUALiAZ2BYKKjUKQdKmugw+MRibbMBdWwLSdulbPCimUk0FyaVJJK8M2UeWbaLIj4S6KxU4lLKDhYZgiuhyHsj5LsUtSxWWgLdIhFBbjziBnn2xnKBDsF5NMKVXDjHRPSXmK5J8XPC6a07YhbRvVpeR6L6in+0fn74v8IrWmZyJ40FaCvrPtMUe0vSl+a/vlR12PiI/3kcWoeGn/AHmIt8Q0bA96P6Q+5YV74ho2B70f0h9yx67aeBX7l9zT2b8S+n4I1/amKyyS0pWaCVOQGEkHhU9vHKLO/tTEJOpXyfMxBdkbWnWqylNZ7u7r5/gl+1FxUp0owg8d54eN+PL8moTLGGAWWgeow/VUOKuWdMs4fL44xyn7aX56/EI6tfHGPPbSKjc0kvJ/VGrsrHEJPLe3mJf26eVvgeI176RJ+3Tyt8DxFvfSLL2R8D7siO0nj/8Aivqy15N9LT/J/wAom37ELk30tP8AJ/yibfsUPX/8rW6r/wAot2i+Dj0FYfOOdWq/7Qkxgs1gFfLTLDVF4cFyjoo+ccovDrZnnt7zHdpXzS9jXfbkeibhH7BZvQp7hC3e/S9cMlxd4Wb0Ke6Fu9+l64r8OK+r+pJx4SFba62PKko8pirCYMx5rxhyV26ZPvCWk5sarLegYCgwq2H2Ym9satu+919IPheNfI3+809HM+ExPx/x9ToyJreIR1u95YUHDl5CYUbTMYnNiaaVJNPbDjfehhLn9IxAW20l5pd1CBf18z5c+YiTGVQQABTQHH8RJjsXJ3NL3ZKdjVmaYzHtJdiT7SY5JfmzVqmT5jpJdlY1ByzFB2mOvbAWV5V2ykmKVdSwIOo5xPuIie1qlUhZ0+/Frat6xyZC2NanUuJKEk+jT5kG/tTEG4uvk+eInX9qYg3F18nzxEVZfNHqiWudz6HRoIIIuJXQggggAgiPa7YkumM0xHCKAkk6aKCaZjPxjtjbOm4RUhjwooLE+oQBnFFtL0pfmv75UT7He0qa5SW2IgBjQcCAwPkIZfbFPt+7y5CTpYBKzN02LohXV2xMfB50qWorxcDUiOi1mqdaMpbkc13TlVoyhHexOviGjYHvR/SH3LHONq79aVMRVAdXlJOBYYTzxioVBYDyVPlMaro5SJ1nlmWkqWQWLHEWrU0HDyR67S1Y31qqdDa8p+W7Jr0WhO1rudXYsdfI6Hf2piEnUr5PmYR7VyiTZnSkp6iY+2DbOY53ZSWqqkxhUnVEeYornWpAGmdeGo4OzMXYym6+zOPXzOvX1/rFD4O3DfoXH20vz1+IR1a+OMefhtY+JW3a1UhtTwNYYLRys2h+lJlerF+sae09KV/XhOhtST9D3oX+0g1V2fyNv26eVvgeIt76Qktt9MxBxKQMNMzTMEHL1mNt5bXTDKlOVlkzAxIBOWFioyplkO0xM9nq8LO1+HW2PL9SN1q2ndXXxaW1YS8ubOjcm+lp/k/5RNv2OV3JyiTrNj3cqWcdK4ieFaUp5TG61cpc6Z0pMv1FoqurWNa4v6lamsxbWNvokWDTa8KFtGnN7RlGvrhKtexNsZ3YSxQsSOeuhJPbDfspbmnyjPoqnEUApiApQk8MzX+kSLZfc1NMB/lP6xZ9I0JQo/FqvbLkuS/JX9U1mpKt8OgliPN52v8AA53RKKWKzq2RWUqnygUPuhYvfpeuK607dTZcnoy6KMq1zOtNe2FlNt3nTEVpSjEwWoJyqQK0ipT0O7pV8SS2t42rmyy0dToTob92/Yy02kumbaZQSSuIhwxzAFKMNT5RG7kw2atFnvCW85Aq4HWuIHMoaaeSL+fNeStFK0Hav9TnrFbK2pnS5gaiErWmR4gr29hMW+roHcsJUo7ZtPnhZf2KrHWqta7U8JQz65x+R5vvQwpyJJaYxqObQ0ZSQSdNCNKRRX/yhzlIUy5ZqK8R4ool2+mgkrKQVyNSTp/+xXdH02pZ3idzFYXvtxsLBqd2rmycbd7X7bM7f4yPVsveYnBD6mH/AChr2btJmWRXIAJZshpll8o43fm1DrNKYUYAKahiekoY50HEnhEq7eU6fJlCUkmWVFTmWrnmYme03dvbeFO32tSTednJrn1IfQ7Z2lZzqLGzH8of7+1MQLjP7RJHEuKDiaZmg8QBJ7ACdBCTauUSbM6UlPUTE/Ym/VtF5WXFLKkF6HfEKPqXHRC5nFn48lOUVuz02tCS7+xLaWW4vack+7tO3QQQRYCICCCCAK+97vM4IFYJhYNiwksACDzCGGE5cQwqBllGdqsFQd2cJY1bFidWGdVK4xQVpoRpTTKJsEZyCJLsrY1ZmUhc6KmHnlcLGuI82mg1H3jCvypylFil0AH7TL0AGkm0gf0AHqhzhP5Vu8Zf5mX/AGrTGAch2662R+VkfBC3DJt11sj8rI+CFuACLG4a71qV6mfoQPsJtdeFNRqRUDOK6LC4x9Y3H6mf4OL7Cbw4eXhrwgCvggggAi1vMnuay60wzKVKkdY2gGY9cVUWl5D9nsuXgzPApX6xvC8P5aQBVwQQQAzbNbUPIQSERWDPWpJrVqDtAjbeu0zCY6NLXmsUqGpXCSPGOHaYXLB1svz14V4jhx8kbb6H7RO9I/g4fCPg+D5OEdcL6vCPdjLZ7HLKyoSk5OO19T5eN4NNOeQGi9n6mPl09fK9IvxCIkS7p6+V6RfiEaVOU6ilJ7cm2UVGm1Hdg7He/GFK0dKG29+MKVo6UXCp8iKnbixtR00835mKWLrajpp5vzMUsVS948i02nBiWu05PdLVrXDL6RUnq04rlFVFptKKWhsqc1PAwfZp4PD568Yq45ToCGvks/elmpXV9CB9nMrrw7RqRpnCpDVyXD/5SzeV/BxfZvw4eXhrwgD0RBBBABBBHxv+0gD7BSKK4rLPWWwylneTD9ahdmBdyCQs2g1rUHOunE4TLuxmaJkiay78TlGOUcf1Syqir9oJocOQHkPrAGCE7lXNLChOndKf2rTF3dljmIUxgAhQGK0CkYAolqo0CsGIyAFctTSxeQGw7xVfA6zUNCMLqrJiGZqee9Oyo4isYYOJ7W7HW6bMkmXZphC2eSh0FGVAGUgmoIij+gN4/hZntX9Y9GwRgHnL6A3j+Fme1f1iZdWw9vRyWsrgbuauZ4tKmKvRNekR4u3KsegYIA85fQG8fwsz2r+sH0BvH8LM9q/rHo2CAPOX0BvH8LM9q/rE+27EW9pMhRZXxIHDZ6VckVqaafd9ecd+ggDzl9Abx/CzPav6wfQG8fwsz2r+sejYIA88WTYO8BMQmyvQMCc10BFdDX2RsvPYW3tOmstlcqzswoRoWJHSNfbnHoOCAPOX0BvH8LM9q/rG6x7E2+XMSY9mdURg7ElclUgsdeABj0PGm2SN5LdK0xqyV1piBFaeuPUHiSbPM1mLQg3vxhStHSjpto2WL6zh6pf/AN4iSNgpYdWeazgGpXCBXxE1OUWSep27hhP+GV+jp1eL2r+Tl957K2y0YJkiQ7pQjEKAantMQfoDeP4WZ7V/WPRiKAAAAABQAaADIADsj7FerVPiTc/MnqVP4cFHyOA35sRb3nMyWVypCjI10RQemQdQfllED6A3j+Fme1f1j0bBGo2HnL6A3j+Fme1f1hh2A2Qtsi8JE2dZ2SWpbExOQqjqOiSdSPF25VjtkEAEEEEAEEEEAEEEEAEEEVky1b4tLl41KspLAgYkxc4owJyIDDgeymRjOATplpUEgmhGGuv2jFE9rAiNsV867AzoSclw5ktiJRsaAmuEgHiQTm2fOJiwgAjF3ABJyAFT5BmY1W21CWuIqzZ0CrTET4gxAOVTroDEWyyzMLTMTFHoZak8wy2lpqnjbEc8xTKlWqwCdLmg1ANaUr6xUf0IjOIl3WLdhs6ljiObHQBRmxJOQGpiXGAERLXeKS3VXNMSs4PABCgYmmgG8BLaAAkkRhMtLOJiy1cEYlDmgXEMiAa19dKeOoNMVsAdKOJi1R5VHcMwSZhxVapqeYKc5vLwGceYLCCAxqtU8S0ZyCQoqaCpy7BxMYBtjTLn1d1oRhoa5UIYE5ewjPsiPaCzbohHFJnOFVFFowJbnUYZg5V8lREiXZ6O74mOOgocNBhrSlBXidSYyDdBBFbbrxZJmBUDD6mrYqU3s1pZypnQKSPHTyglkFhMmAUqaVIUeU5AQS5gYVBqMx7DQ/1Bipl2SczTQ9ArUK1dzRwxqVKtiQUw0oV45DjZWOziWgQaD5mpy4DODQN0EYTJoXU61oO2gqaeoRBnMZxlhS6qCrzMLYSZby5tBUGvSwaUOQoYYBJNtl7zd4uf2UNK0xYcVKYsPOw1rTOlM4kRX2CwkFZkw/WlF3mSUMzCqswOGoNBSikL4syYsIMBBBBGAEEEEAEEEEAEQrdayFIlFS4dFINTQO6IxIGeSsT6oztoYlAFPSVicqAKakHjpGFlu1UmNMBJZgQcl0rizIFWPjJOWUZQIncsybz6qpxIr1VsxZp7sCgrljzOZNMulrFjJsiIxZVAZsiRqQKkDyAk0HCpjfEHuiYZ5QUCKFJOAkmuLLFjGHQeCYZyDfarWsvDjNAzYQeFcLPn6lPrpGlZju7gFN2KCtCWbEoNQ1aUFew1rwpnDu+xznRTPmHeIwcYZarR8DK1Ks2JOflp0fHFrZpARFReiihBXsUAD3QewEGy3bqJuBhRFUAHIICuZJzJBNdBQkZ6mwlSwqhVFAoCgDgBkBGUEMgiXszCROKEhhLcqV1DBThIGedaRV227Zs9JstpgqrkKzLkpMqWVdMNDzWZ6UI6RzqIv4IJ4BiqAVoKVJb1nMmMoIIwCqv20zUH1QqRLmTfK0vBgU5GoOI1UUJpkRQ1LNdn1kxnC0Zn4c5lYigY1zAoSNOkcq1JtYIzkBBBBGAEans6kklQScOfmMXT2MSRG2CACCCCAI8yQWmKSRhWpAoa1IKkHhTOsZWayJLrgULi1pxpkKnjQZeQAcI3QQAQQQQAQQQQAQQQQAQQQQAQQQQARiEFSaZnU9tNPeYyggAggggAggggAjQbZLqVxrUMJZFRXGyh1WnaVINOyN8K9v2REy0vaAyrMaarhwpxqgkGQUBr96j+qPUUuYGmkRLTeEtBNLMPqU3swCpKpRmBIGeYRvZC3J2NzTFusKmplhOYSLO1nxUOWIkhjl4IjP6KOFmDeSy02yrZXdpZL4llTJRdWrXnF0JJrklM8iM4j5gaZb1AI0IBHkOYjKKu5Lp7nM2hGFyjKqigXDLSW2WmbIWy7YtI8sBBBBGAEEEEAEEEEAEEEEAEEEEAEEEEAEEEEAEEEEAEEEEAEEEEAEEEEAEEEEAEEEEAEEEEAEEEEAEEEEAEEEEAEEEEAEEEEAEEEEAEEEEAEEEEAf/Z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054" name="AutoShape 6" descr="data:image/jpeg;base64,/9j/4AAQSkZJRgABAQAAAQABAAD/2wCEAAkGBxQTEhUUEhQVFRUWGR4TGBcVFhgZGRgYGR0YFhYYGBcYHykgGBomHRcVIzEhJSorLy4uGCAzODMsOigtLisBCgoKDg0OGxAQGzEkICQ3Ny80LCwtLCwvLC0vMCwuLCwsLDQsNCw3LCwsLCwsLCwsLCwvLCwsLCwsLC8sLCwsLP/AABEIAOEA4QMBIgACEQEDEQH/xAAcAAACAgMBAQAAAAAAAAAAAAAABgQFAgMHCAH/xABJEAACAAMFAwUMBwYGAgMAAAABAgADEQQFEiExBhNBByIyM1EUNEJhcXJzgZGxssEWI0NSVHTRJDVigqGzFRdEU8LwktIl4vH/xAAaAQEAAgMBAAAAAAAAAAAAAAAABQYBAwQC/8QANBEAAgEDAQUGBQQBBQAAAAAAAAECAwQRBSExM0FxBhI0UWGBEzKxwdEicqHwNRQkgpGy/9oADAMBAAIRAxEAPwDoEEEEAEEEEAEEEEAQJV7I01pQD1QlWanNDBVcg54gKMOcRhJyBrlGNsvhEVGX6wNNSznCRzWmMEBPkLDLsjXbrkE18TzJmWLCFIUpjTdHCygNoWIqTQnxCkVdlkAIWY6gzktJwrLAxy93goAtAv1YJHGpj0u6C1e8pILKZqAoCWBYDCFALE9lAyk+URts9oRxVGDAHCSDWhGoPYYqTs3KxzHrQzMZJwSiQ0wKrEMyE0yPNOXONQRSLG77KJSlcbNVi1WIyr4I7FHAcNNINLkD415yRWs2WKY61YfZECb/AOJIB7Kxus9oSYMSMGFStVNcwaEeUEaRUvs5JMyc+JqzlZcJwsksv1rJLYFQXIUtUHFTPUxY3fZhKTDjZ+czVc1POJag/hFaAcAAINLkCDI2lkMzAsUClhifCFqkwSWzBOHnkAYqVrlWJn+KyOb9bL5xIHOGZDBCPUxC+U0iIbhl7hpOJsLTd+W5uLFvhaKaaYhTye2Mr0uSXPbEzMtV3bhcNGUOs2hqMjVdR2nxRnCASr7Vt+QpwSSyly6AFkpVczVdcmOWRqRG1b4l7yVLJo86XvVGRFOaKYgaE1YUpkaGMRdSiXORXI37O7Hm1G8FGAypSnbGtbmAMkia4aSm6DDBUyyUJUilM92oqBWlYYQJN63kshVZwSGmJKy4bxggY+IVrGQvOT/uy/BPSHhsUT/yYEDtIpGN6WFZyqpYrgmJOBWlcUtg661FKgRTT9l1ARZRw0dHmOz5tgnG00wBaGrO+dVpi40pBJY2gu7zvKVZ1V5zBELBMR6IJBIxHgMqV8carHfciYFKzF5+agmhIqyg0OdDganbSNtvsazd3iNN3MWcKUzK1oDXhnFVZ9k5S0o7kAy2IqvOMl5kyUTQZUaYdNaCCSxtBMtG0FnVBM3ispZEqhDZzDhQ66ca9gMbJN8S2nPJqAy4MNSOfjUuMPqBiDK2VlKoUO/NlyJQJw5dzMZkttMzU58Mo3/4AuLG0yYzY5U0k4c2kqVWtFAzqSaeqkP0gt4III8AIIIIAIIIIAIIIIAIIIIAIIIIAIIIIAIIIIA1WhqKSNQrEZA5hHIyML2y99zZk1xNIdVlNMpglrmtOKqPHDIwBoGrhNQaA6FWHDPjEexXXZZRJlqwLKUPWnmtqM4kaFWnGhKMo5b3PGcb+ZyVqVWVWEoywlvWXtI117TS5iS3eS0ve4N1RWcOZktp2EcwHEqqcWWHSjHhPF9WbGErRiVTOW2TMhnKhyycoC2E5x9Sy2cLZ1AalmpuhSZzcKGUOHO5jEZ1jF7HZjO3xVseMTdJlN4qGUrlaULBCVr2Rx4fkzqK+x3+XsS2tpcpFmNLwA4zQTHVKTKISGBJAIqCStcIizs14o9pnWfdEGUsty+HmneY6DTKmD118UaHuyzGzpZqTBJl4cKgzR0CHSrDM0ZVOfZG9bPIE3fDHvMKoT9bzggYJjGjEY3zPbGXnyYPl9zTLC4KCpNeap7O0RDm3uZctGaUHqHZnOFEUIRkWwkBiDliwrzTVhFnamlTKY8RppzXHuERrVYrPMTdtvMFGUqN6Ayv0lYDpA+OOCFC5V1KpJvuNbsvfs5bvM6pVKToKCX6s78L157zN70kb1pClN8EZwpH3Qpzp56+3KK+RtTZhZ7PNtBSU0+SJ+GlQAcOLOmgLj/oiQLrsofGomK31hGEzQAZxUzSoGQLFFJj5IumyoJYXeruk3KENOBEslDu8QzK1lpl4o78P1OUn2W2yZjsiCpQlWO7IUMtMS4iKV5wy7DXSPlpUB8gBzRp5WjXIkSFmmaMeMgrU7080tjwgHQVJIHCppSsZzpgZqitKAZgji3aPHGNuHnP9aBjBBBGoyEEEEAEEEEAEEEEAEEEEAEEEEAQb0vIScFVqXYIKsFFSQOk2WLPJdTQ9hjU161MwIqkS1DVZyoIJmK1KKxFDLppnXhlWVb7Ak4ATMRANaBmUHxMAaMPEYDYJeJmwAFsOIjKuBi61p/EST26GojOwEaxXhNZ8MySJdRkcZarYVZgowCoBLCtR0fVGG0F+JZZDTWDHMIowkYncFlHOpXIMTnkFbiKRPFlXHjocXnMQOFQpOEGnECsKvKt3jL/ADMv+1aYMCFtnttbZc6WZU5pavJlziihSA0xMwMQ0+eeucVlz7WXtaJqSZNomO7FQBRTTDxY4ch94nXjWIO3XWyPysj4I6FyPWFRY3nISkxnKFgFJKqAQOcppqdKRxX907ai5pZe5dTdQpfFn3TYdnL+pTu5NCNRxNTng17DqBkKCId6pe1kVptptqlQsxwqYSxbdsFIXCOaGwnsGtCci03pe9ol9GafWkv/ANIT9pbU82TOeYxZjLbM07DkAMgIg7bUbuc13mseiJCdnCKeUJw2/vH8U/g8E8HTwc/H97jWPh2+vGlO6pmhGi8TU5017DqBkMoWoItBEjP/AJgXjWvdT6k9FKZjDphpSnDQHMZ5xNtm21vWTZ3FpmVcEklRnu3KrmQQ2WtKV8KsJcWd4kdz2bSuF60Yk9YdQcl9UAPGw953lbphDWyckhBSY6oGbnHFhXCpIY8GOgqB2R1iba7OM2eYOOZnr/QUA8gjnfIX1Vr85Pc0NN+xUtUuKs7l0+80o+TxyJizt4yp5Mr7vqUFw2dnZmyxbybRPa2bRyC27d3gHdRapgALLouhYnWmvYdQMhQQ6D5xyi8Otmee3vMSWkJrvJtvq8nPexUUsF//AJgXjWvdT6k9FKZjDphpSnDQHMZ5x8G394/in8Hgng6eDn4/vcawswRNkeOMvba3mzTHNpmYldJYOEZLME525wFAaotONAQCACDF/wAwLxrXup9SeilMxh0w0pThoDmM84qJJHcs3Su+lcTXoWitF0I0zOYypqYr4AZht/eP4p/B4J4Ong5+P73GsfDt9eNKd1TNCNF4mpzpr2HUDIZQtQQA635tvb5c9lW0zABhahRVzaWteawNBmSBpxAEQBt/eP4p/B4J4Ong5+P73GsVm0hHdDUpTCnRYsOrTi2cXWwOxMy8JlTVLOh579v8Kdre6NVatCjBzm8JHqMXJ4RHO3140p3VM0I0XianOmvYdQMhlDFsBthbbReEiXOtDujM7MuFaH6t8qKBRcgewa0ht/ycsf8AuT/av6RosGx1ksVukGS815qtmGIwqGBXPDQ4udWnizyyMfS1m2qzUI5y/Q3u1njJ0WCCCJU5gggggAgjRa7ZLlAGa6oCcILEAEnQVMapt6Sl1Y1rhACOSxzJwgLzwKGpWoFM4zgEyE/lW7xl/mZf9q0w1SrSrGgOdA1CCDQ9oOYIqKjUVFaVELPKfJLWOWB+Kl1NCQo3VpqzUBoo1J4CMA47t11sj8rI+COmcj/7ub0re5Y57tg8kPI3iTXPcsihV1lilK0KFHzw5VxaiuVcI6RyUshu9t2rKu9fJ3Dnh4QVeFOHA9tBD634b3X3O2w4psv7UwrX13tN9G3uMNN/amFm9Cu4mYgSuBqhSFJFDoSDT2GIWz3x6ktcczlcWtzbOWq1BjZ5LzAuTEUABOgqSM4zsCWabNSXup643wV36GmIgIabkVpXPSv8MegrHZe4pSyZIlBEGQEthU8STjzJ7YntS1B2qSgsyfnuwQ1tbuszhn+X15fhJntT/wBoibR2SZJSzyZyskyWr4lYqQKuWFMOmudTHabw2pnUKgIpOWIA1HkqTnHLNtZkreJvUmOxRs1mqoqTlUGWxOdSc86jSlTpsNQr16ndqJJemfybK9rGnBsbeQvqrX5ye5oab9hd5FnlmXat0joKpXHMVzoeKotM6+0dlSxX7ELqHjZ9V9ESNjwhWHzjlF4dbM89veY6uPnHN7XNs28bFKnE4zipPQA64qAyTSrZjWgyz1ia0r5pexxX25FRBDVsts4Lc5SRInc1QWdrQoRTWpqdwdRkBqDnmMoaTySzPudv+rHHof6bhx7f4YkKt9b0pd2c0mcMaM5LKRz2RXuSdrTfSeIp0LTSo1J1oRkM66iK6HvaTZ6VYJLJORmLTZRwy7QjEBUnVBcyBhJLA0oaildASqCbZqdVPrQfbprXnGm50IyA4HOp0jdSqwqx70HlHmUHF4ZXwRYGdZv9mf4X+oTj0PseHHt/hj7vrLXqZ9Kj/UJpTMV3Gtc68BlQ6xsPJs2nJ7pata4ZfSKk9WnFco7Ryc2ZGuuQWRSedmVBPSPExyTaKZZxPYGTOrhl6TEliuBCTg3JoCMtdc860jsfJ0R/hkrCCFxPhDGpAxtQFgACaUzoK9giE114oR/d9md1hxCBfclQTRVHkAERbi6+T54idf2piDcXXyfPERVk/wBUeqJS53PodGgggi4FdCCCCAK6+bvabgwMEZWBx84MBUE4cJoeiDhaoJUV0gnXeWcud0x4BkJB1ALZ9IAkAjtPbFjBGcgr7Ddm7wc4sEApXUtgEsknsoNO0mFzlTlgWKXQDvmX/STaQP6AQ5wn8q3eMv8AMy/7VpjAOQ7ddbI/KyPgjpnI/wDu5vSt7ljme3XWyPysj4I6ZyP/ALub0re5Yh9b8N7r7nbYcUlX9qYVr672m+jb3GGm/tTCtfXe030be4xC2m+PUlrjmc+2f76s/ppfxrHpS+OMea9n++rP6aX8ax6UvjjHXr3Fh0f2OHTN7EO8OlCBt91svzPmYf7w6UIG33Wy/M+Zj3pfFibL7hsduQvqrX5ye5oab9hW5C+qtfnJ7mhpv2I/UPGz6r6I3WPCFYfOOUXh1szz295jq4+ccovDrZnnt7zE1pXzS9jivtyPQGyVjEiwyNyxlh0ExgqyzVmAqSWUk+sxFt9/WlDQTT60l/8ArFncXeFm9CnuhbvfpeuK8kp1pd5Z2skYwj8JPAn7fMTIUk1JmgknUnC8IUPm3fe6+kHwvCHFs03ge5DXnFCCCCO85Sz2kI7oalKYU6LFh1acWzjt/Jr+6pH8/wARjiW05PdLVrXDL6RUnq04rlHbeTX91SP5/iMQmvcCP7vszusOIR7+1MQbi6+T54idf2piDcXXyfPERNl80eqJS53PodGgggi4ldNFutIly3mEVCKWpUDTPU5AeOIdwXwtql41w+DXBMEwAsiuVxLxUsVIoNImW9GaU4UMWKkAKwViacGOSnxxXbNWd5aTFmYgcdQjzBMZQVXVlUAVNTQdsetmAXEEU+0aOVl4N4eeKqhdcWY1eWQV4jM05xJGQphOWuM7qZm2HCVcrqfrHz+s8QFaVXTVcYBdwn8q3eMv8zL/ALVpi4sFjKzQw3rVGZmquQwKBRqYsRIFQTxOQio5T3pYVxBWraJYGQIB3VoxEqwIYEYxThiBrUQYOWbY3a7zJBBlj9mkrSZOlSyCssE1WYwIHjpQnLXKOick8kpd7KcJO9J5rKwzVGHOUkaHMVyNQcwY5ht4xM6QSSSbLJJJJJJKZkk5k+OOl8j/AO7m9K3uWIbW/De6+522HFJV/amFi9kxSJgFKlCMyAMxTMnIDxnKGe/tTCtfXe030be4xC2e+PUlrjmJdyXW62iQxaTQTJTZWiQxoWBFFDkk5ZgCo4x6HvjjHmvZ/vqz+ml/GselL44x169xYdH9jh0zexDvDpQkbZWJpk1MJliigc+bLl9JmApvGFRlmRplWlRDveHShA2+62X5nzMe9L4sTZfcNj5yKWYy5dqDFDUoeY6OPDXMoSAag5a0odCKsd+wrchfVWvzk9zQ037EfqHjZ9V9EbrHhCsPnHN7fdMzeTDik9J274kVoGIOWOtfFqRmMo6QPnHKLw62Z57e8xN6V80vY4r7cj0XcyUsVnBpUSlGRDDIUyZSQw8YJBhZvfpeuGS4u8LN6FPdC3e/S9cV6HFfV/Uk48JCptlZi8gBSgo4Y43RMgrDIuRiOegz1yyMJ3+CzK0xSNSO+rPwGLXeaU46E5aw17d97r6QfC8IcWvTeB7kJecUsBc8z70jwf8AU2fwtPtMvH2caQG6JlK4pGhPfNn4Ghyx69g1IzGUV8Ed5yjHtHc0zuhs5AyUddZ0zEpGPN3mnj0J0zMdi5O5RW65IOGvO6LKwzJPSUkcdK5HI0IIjhu0hHdDUpTCnRYsOrTi2cdv5Nf3VI/n+IxCa9wI/u+zO6w4hHv7UxBuLr5PniJ1/amINxdfJ88RE2XzR6olLnc+h0aCCCLiV0rb+u6VNl1nSVnYKsqNpipT/piu2ICbuZu5MqSC+aSXxqGwKCDVVwuNGXOhEWd9yXeWBKDFsYPNntIyFakuqsSP4aUMZ3VImorCdMVyWZlwrTCpNVUtlvCPvUWvZHrP6QTYIII8gIT+VbvGX+Zl/wBq0w4Qu7ZShMSVLYKQH3/OBIJlqUAIBGX1zH1CNlGk6s1BczVWqqlTc3yOR7TXJaLQ0l5Mp3UWeVLJpTnKtGHOpXPjpHReS6wzJNgZJqlG3rGh7CFppEC2XvMTgh9TD/lDFsjbTNs7uwAOMjLxAdsaO09hGhZKSznvLy9TVoV9Wr3Xdkklh7uqK2/tTCtfXe030be4w039qYVr672m+jb3GKhab49S23HM59s/31Z/TS/jWPSl8cY817P99Wf00v41j0pfHGOvXuLDo/scOmb2Id4dKEDb7rZfmfMw/wB4HncOzM098aLTcljm0M90ZgKdYABxoKH+sSGhafWuJfEjsiub8/JHJrOo0baPcllt8l5eZjyF9Va/OT3NDTfsYbC3dZ5InizUocJbC+LPnU45RnfsQ+rUnS1CpB8mvojv0qsq1sprc/MVh845ReHWzPPb3mOrj5xyi8Otmee3vMSulfNL2NF9uR6JuLvCzehT3Qt3v0vXDJcXeFm9CnuhbvfpeuK/Divq/qSceEhO2773X0g+F4Q4fNu+919IPheEezyGdgiKWZjQKoqSTwAEWvTnih/2Qt5xTXBHXLp5GsUpGtE9pcwirIqBgteFScz2xleHJJZpKF5lrmAaAbtak9gGLMxqes2fe7qln2Z4VtUZzbacnulq1rhl9IqT1acVyjtvJr+6pH8/xGOI7T07pmAAADCtAAOiqjgAOEdu5Nf3VI/n+Ixza5JSt4Nc2vozfYrFVpke/tTEG4uvk+eInX9qYg3F18nzxEXZfNHqiTudz6HRoIIIuJXQggggCuvu3PKVWUALiAZ2BYKKjUKQdKmugw+MRibbMBdWwLSdulbPCimUk0FyaVJJK8M2UeWbaLIj4S6KxU4lLKDhYZgiuhyHsj5LsUtSxWWgLdIhFBbjziBnn2xnKBDsF5NMKVXDjHRPSXmK5J8XPC6a07YhbRvVpeR6L6in+0fn74v8IrWmZyJ40FaCvrPtMUe0vSl+a/vlR12PiI/3kcWoeGn/AHmIt8Q0bA96P6Q+5YV74ho2B70f0h9yx67aeBX7l9zT2b8S+n4I1/amKyyS0pWaCVOQGEkHhU9vHKLO/tTEJOpXyfMxBdkbWnWqylNZ7u7r5/gl+1FxUp0owg8d54eN+PL8moTLGGAWWgeow/VUOKuWdMs4fL44xyn7aX56/EI6tfHGPPbSKjc0kvJ/VGrsrHEJPLe3mJf26eVvgeI176RJ+3Tyt8DxFvfSLL2R8D7siO0nj/8Aivqy15N9LT/J/wAom37ELk30tP8AJ/yibfsUPX/8rW6r/wAot2i+Dj0FYfOOdWq/7Qkxgs1gFfLTLDVF4cFyjoo+ccovDrZnnt7zHdpXzS9jXfbkeibhH7BZvQp7hC3e/S9cMlxd4Wb0Ke6Fu9+l64r8OK+r+pJx4SFba62PKko8pirCYMx5rxhyV26ZPvCWk5sarLegYCgwq2H2Ym9satu+919IPheNfI3+809HM+ExPx/x9ToyJreIR1u95YUHDl5CYUbTMYnNiaaVJNPbDjfehhLn9IxAW20l5pd1CBf18z5c+YiTGVQQABTQHH8RJjsXJ3NL3ZKdjVmaYzHtJdiT7SY5JfmzVqmT5jpJdlY1ByzFB2mOvbAWV5V2ykmKVdSwIOo5xPuIie1qlUhZ0+/Frat6xyZC2NanUuJKEk+jT5kG/tTEG4uvk+eInX9qYg3F18nzxEVZfNHqiWudz6HRoIIIuJXQggggAgiPa7YkumM0xHCKAkk6aKCaZjPxjtjbOm4RUhjwooLE+oQBnFFtL0pfmv75UT7He0qa5SW2IgBjQcCAwPkIZfbFPt+7y5CTpYBKzN02LohXV2xMfB50qWorxcDUiOi1mqdaMpbkc13TlVoyhHexOviGjYHvR/SH3LHONq79aVMRVAdXlJOBYYTzxioVBYDyVPlMaro5SJ1nlmWkqWQWLHEWrU0HDyR67S1Y31qqdDa8p+W7Jr0WhO1rudXYsdfI6Hf2piEnUr5PmYR7VyiTZnSkp6iY+2DbOY53ZSWqqkxhUnVEeYornWpAGmdeGo4OzMXYym6+zOPXzOvX1/rFD4O3DfoXH20vz1+IR1a+OMefhtY+JW3a1UhtTwNYYLRys2h+lJlerF+sae09KV/XhOhtST9D3oX+0g1V2fyNv26eVvgeIt76Qktt9MxBxKQMNMzTMEHL1mNt5bXTDKlOVlkzAxIBOWFioyplkO0xM9nq8LO1+HW2PL9SN1q2ndXXxaW1YS8ubOjcm+lp/k/5RNv2OV3JyiTrNj3cqWcdK4ieFaUp5TG61cpc6Z0pMv1FoqurWNa4v6lamsxbWNvokWDTa8KFtGnN7RlGvrhKtexNsZ3YSxQsSOeuhJPbDfspbmnyjPoqnEUApiApQk8MzX+kSLZfc1NMB/lP6xZ9I0JQo/FqvbLkuS/JX9U1mpKt8OgliPN52v8AA53RKKWKzq2RWUqnygUPuhYvfpeuK607dTZcnoy6KMq1zOtNe2FlNt3nTEVpSjEwWoJyqQK0ipT0O7pV8SS2t42rmyy0dToTob92/Yy02kumbaZQSSuIhwxzAFKMNT5RG7kw2atFnvCW85Aq4HWuIHMoaaeSL+fNeStFK0Hav9TnrFbK2pnS5gaiErWmR4gr29hMW+roHcsJUo7ZtPnhZf2KrHWqta7U8JQz65x+R5vvQwpyJJaYxqObQ0ZSQSdNCNKRRX/yhzlIUy5ZqK8R4ool2+mgkrKQVyNSTp/+xXdH02pZ3idzFYXvtxsLBqd2rmycbd7X7bM7f4yPVsveYnBD6mH/AChr2btJmWRXIAJZshpll8o43fm1DrNKYUYAKahiekoY50HEnhEq7eU6fJlCUkmWVFTmWrnmYme03dvbeFO32tSTednJrn1IfQ7Z2lZzqLGzH8of7+1MQLjP7RJHEuKDiaZmg8QBJ7ACdBCTauUSbM6UlPUTE/Ym/VtF5WXFLKkF6HfEKPqXHRC5nFn48lOUVuz02tCS7+xLaWW4vack+7tO3QQQRYCICCCCAK+97vM4IFYJhYNiwksACDzCGGE5cQwqBllGdqsFQd2cJY1bFidWGdVK4xQVpoRpTTKJsEZyCJLsrY1ZmUhc6KmHnlcLGuI82mg1H3jCvypylFil0AH7TL0AGkm0gf0AHqhzhP5Vu8Zf5mX/AGrTGAch2662R+VkfBC3DJt11sj8rI+CFuACLG4a71qV6mfoQPsJtdeFNRqRUDOK6LC4x9Y3H6mf4OL7Cbw4eXhrwgCvggggAi1vMnuay60wzKVKkdY2gGY9cVUWl5D9nsuXgzPApX6xvC8P5aQBVwQQQAzbNbUPIQSERWDPWpJrVqDtAjbeu0zCY6NLXmsUqGpXCSPGOHaYXLB1svz14V4jhx8kbb6H7RO9I/g4fCPg+D5OEdcL6vCPdjLZ7HLKyoSk5OO19T5eN4NNOeQGi9n6mPl09fK9IvxCIkS7p6+V6RfiEaVOU6ilJ7cm2UVGm1Hdg7He/GFK0dKG29+MKVo6UXCp8iKnbixtR00835mKWLrajpp5vzMUsVS948i02nBiWu05PdLVrXDL6RUnq04rlFVFptKKWhsqc1PAwfZp4PD568Yq45ToCGvks/elmpXV9CB9nMrrw7RqRpnCpDVyXD/5SzeV/BxfZvw4eXhrwgD0RBBBABBBHxv+0gD7BSKK4rLPWWwylneTD9ahdmBdyCQs2g1rUHOunE4TLuxmaJkiay78TlGOUcf1Syqir9oJocOQHkPrAGCE7lXNLChOndKf2rTF3dljmIUxgAhQGK0CkYAolqo0CsGIyAFctTSxeQGw7xVfA6zUNCMLqrJiGZqee9Oyo4isYYOJ7W7HW6bMkmXZphC2eSh0FGVAGUgmoIij+gN4/hZntX9Y9GwRgHnL6A3j+Fme1f1iZdWw9vRyWsrgbuauZ4tKmKvRNekR4u3KsegYIA85fQG8fwsz2r+sH0BvH8LM9q/rHo2CAPOX0BvH8LM9q/rE+27EW9pMhRZXxIHDZ6VckVqaafd9ecd+ggDzl9Abx/CzPav6wfQG8fwsz2r+sejYIA88WTYO8BMQmyvQMCc10BFdDX2RsvPYW3tOmstlcqzswoRoWJHSNfbnHoOCAPOX0BvH8LM9q/rG6x7E2+XMSY9mdURg7ElclUgsdeABj0PGm2SN5LdK0xqyV1piBFaeuPUHiSbPM1mLQg3vxhStHSjpto2WL6zh6pf/AN4iSNgpYdWeazgGpXCBXxE1OUWSep27hhP+GV+jp1eL2r+Tl957K2y0YJkiQ7pQjEKAantMQfoDeP4WZ7V/WPRiKAAAAABQAaADIADsj7FerVPiTc/MnqVP4cFHyOA35sRb3nMyWVypCjI10RQemQdQfllED6A3j+Fme1f1j0bBGo2HnL6A3j+Fme1f1hh2A2Qtsi8JE2dZ2SWpbExOQqjqOiSdSPF25VjtkEAEEEEAEEEEAEEEEAEEEVky1b4tLl41KspLAgYkxc4owJyIDDgeymRjOATplpUEgmhGGuv2jFE9rAiNsV867AzoSclw5ktiJRsaAmuEgHiQTm2fOJiwgAjF3ABJyAFT5BmY1W21CWuIqzZ0CrTET4gxAOVTroDEWyyzMLTMTFHoZak8wy2lpqnjbEc8xTKlWqwCdLmg1ANaUr6xUf0IjOIl3WLdhs6ljiObHQBRmxJOQGpiXGAERLXeKS3VXNMSs4PABCgYmmgG8BLaAAkkRhMtLOJiy1cEYlDmgXEMiAa19dKeOoNMVsAdKOJi1R5VHcMwSZhxVapqeYKc5vLwGceYLCCAxqtU8S0ZyCQoqaCpy7BxMYBtjTLn1d1oRhoa5UIYE5ewjPsiPaCzbohHFJnOFVFFowJbnUYZg5V8lREiXZ6O74mOOgocNBhrSlBXidSYyDdBBFbbrxZJmBUDD6mrYqU3s1pZypnQKSPHTyglkFhMmAUqaVIUeU5AQS5gYVBqMx7DQ/1Bipl2SczTQ9ArUK1dzRwxqVKtiQUw0oV45DjZWOziWgQaD5mpy4DODQN0EYTJoXU61oO2gqaeoRBnMZxlhS6qCrzMLYSZby5tBUGvSwaUOQoYYBJNtl7zd4uf2UNK0xYcVKYsPOw1rTOlM4kRX2CwkFZkw/WlF3mSUMzCqswOGoNBSikL4syYsIMBBBBGAEEEEAEEEEAEQrdayFIlFS4dFINTQO6IxIGeSsT6oztoYlAFPSVicqAKakHjpGFlu1UmNMBJZgQcl0rizIFWPjJOWUZQIncsybz6qpxIr1VsxZp7sCgrljzOZNMulrFjJsiIxZVAZsiRqQKkDyAk0HCpjfEHuiYZ5QUCKFJOAkmuLLFjGHQeCYZyDfarWsvDjNAzYQeFcLPn6lPrpGlZju7gFN2KCtCWbEoNQ1aUFew1rwpnDu+xznRTPmHeIwcYZarR8DK1Ks2JOflp0fHFrZpARFReiihBXsUAD3QewEGy3bqJuBhRFUAHIICuZJzJBNdBQkZ6mwlSwqhVFAoCgDgBkBGUEMgiXszCROKEhhLcqV1DBThIGedaRV227Zs9JstpgqrkKzLkpMqWVdMNDzWZ6UI6RzqIv4IJ4BiqAVoKVJb1nMmMoIIwCqv20zUH1QqRLmTfK0vBgU5GoOI1UUJpkRQ1LNdn1kxnC0Zn4c5lYigY1zAoSNOkcq1JtYIzkBBBBGAEans6kklQScOfmMXT2MSRG2CACCCCAI8yQWmKSRhWpAoa1IKkHhTOsZWayJLrgULi1pxpkKnjQZeQAcI3QQAQQQQAQQQQAQQQQAQQQQAQQQQARiEFSaZnU9tNPeYyggAggggAggggAjQbZLqVxrUMJZFRXGyh1WnaVINOyN8K9v2REy0vaAyrMaarhwpxqgkGQUBr96j+qPUUuYGmkRLTeEtBNLMPqU3swCpKpRmBIGeYRvZC3J2NzTFusKmplhOYSLO1nxUOWIkhjl4IjP6KOFmDeSy02yrZXdpZL4llTJRdWrXnF0JJrklM8iM4j5gaZb1AI0IBHkOYjKKu5Lp7nM2hGFyjKqigXDLSW2WmbIWy7YtI8sBBBBGAEEEEAEEEEAEEEEAEEEEAEEEEAEEEEAEEEEAEEEEAEEEEAEEEEAEEEEAEEEEAEEEEAEEEEAEEEEAEEEEAEEEEAEEEEAEEEEAEEEEAEEEEAf/Z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46038" y="-1371600"/>
            <a:ext cx="2857500" cy="28575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143000"/>
            <a:ext cx="3505200" cy="3267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 descr="http://cricages.com/wp-content/uploads/bar-graph.gif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4572000"/>
            <a:ext cx="3147744" cy="2152650"/>
          </a:xfrm>
          <a:prstGeom prst="rect">
            <a:avLst/>
          </a:prstGeom>
          <a:noFill/>
        </p:spPr>
      </p:pic>
      <p:graphicFrame>
        <p:nvGraphicFramePr>
          <p:cNvPr id="8" name="Chart 7"/>
          <p:cNvGraphicFramePr/>
          <p:nvPr/>
        </p:nvGraphicFramePr>
        <p:xfrm>
          <a:off x="4343400" y="3733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4098" name="Picture 2" descr="Example of a 3D Bar Chart from Excel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343400" y="1032764"/>
            <a:ext cx="4038600" cy="2396236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Graphs − </a:t>
            </a:r>
            <a:r>
              <a:rPr lang="en-US" sz="2800" dirty="0"/>
              <a:t>stay away from “fluff” − less is more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26168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066800"/>
            <a:ext cx="83036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2"/>
              </a:rPr>
              <a:t>http://www.editage.com/insights/tips-on-effective-use-of-tables-and-figures-in-research-papers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359371" y="1600200"/>
            <a:ext cx="83820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600" dirty="0"/>
              <a:t>Stephen Few. Show me the numbers – Designing tables and graphs to enlighten. 2</a:t>
            </a:r>
            <a:r>
              <a:rPr lang="en-CA" sz="1600" baseline="30000" dirty="0"/>
              <a:t>nd</a:t>
            </a:r>
            <a:r>
              <a:rPr lang="en-CA" sz="1600" dirty="0"/>
              <a:t> Edition Analytic Press</a:t>
            </a:r>
          </a:p>
          <a:p>
            <a:endParaRPr lang="en-CA" sz="1600" dirty="0"/>
          </a:p>
          <a:p>
            <a:r>
              <a:rPr lang="en-CA" sz="1600" dirty="0" err="1"/>
              <a:t>Streit</a:t>
            </a:r>
            <a:r>
              <a:rPr lang="en-CA" sz="1600" dirty="0"/>
              <a:t> M &amp; </a:t>
            </a:r>
            <a:r>
              <a:rPr lang="en-CA" sz="1600" dirty="0" err="1"/>
              <a:t>Gehlenborg</a:t>
            </a:r>
            <a:r>
              <a:rPr lang="en-CA" sz="1600" dirty="0"/>
              <a:t> N. Bar charts and box plots: Creating a simple yet effective plot requires an understanding of data and tasks. (2014) Nat Methods 111(2):117</a:t>
            </a:r>
          </a:p>
          <a:p>
            <a:endParaRPr lang="en-CA" sz="1600" dirty="0"/>
          </a:p>
          <a:p>
            <a:r>
              <a:rPr lang="en-CA" sz="1600" dirty="0" err="1"/>
              <a:t>Krzywinski</a:t>
            </a:r>
            <a:r>
              <a:rPr lang="en-CA" sz="1600" dirty="0"/>
              <a:t> M &amp; Altman N. Visualizing samples with box plots (2014) Nat Methods 111(2):119</a:t>
            </a:r>
          </a:p>
          <a:p>
            <a:endParaRPr lang="en-CA" sz="1600" dirty="0"/>
          </a:p>
          <a:p>
            <a:r>
              <a:rPr lang="en-CA" sz="1600" dirty="0"/>
              <a:t>Spitzer et al. </a:t>
            </a:r>
            <a:r>
              <a:rPr lang="en-CA" sz="1600" dirty="0" err="1"/>
              <a:t>BoxPlotR</a:t>
            </a:r>
            <a:r>
              <a:rPr lang="en-CA" sz="1600" dirty="0"/>
              <a:t>: a web tool for generation of box plots (2014) Nat Methods 111(2):121</a:t>
            </a:r>
          </a:p>
          <a:p>
            <a:endParaRPr lang="en-CA" sz="1600" dirty="0"/>
          </a:p>
          <a:p>
            <a:r>
              <a:rPr lang="en-CA" sz="1600" dirty="0" err="1"/>
              <a:t>Krzywinski</a:t>
            </a:r>
            <a:r>
              <a:rPr lang="en-CA" sz="1600" dirty="0"/>
              <a:t> M &amp; Wong B. Plotting symbols (2013) Nat Methods 110(6):451</a:t>
            </a:r>
          </a:p>
          <a:p>
            <a:endParaRPr lang="en-CA" sz="1600" dirty="0"/>
          </a:p>
          <a:p>
            <a:r>
              <a:rPr lang="en-US" sz="1600" dirty="0"/>
              <a:t>A Short Guide to Writing about Biology (8th Edition) </a:t>
            </a:r>
            <a:r>
              <a:rPr lang="en-US" sz="1600" u="sng" dirty="0">
                <a:hlinkClick r:id="rId3"/>
              </a:rPr>
              <a:t>https://www.amazon.ca/dp/020507507X/ref=cm_sw_r_em_apa_i_f.A9AbAWPM5KW</a:t>
            </a:r>
            <a:endParaRPr lang="en-US" sz="1600" u="sng" dirty="0"/>
          </a:p>
          <a:p>
            <a:endParaRPr lang="en-US" sz="1600" dirty="0"/>
          </a:p>
          <a:p>
            <a:endParaRPr lang="en-CA" sz="1600" dirty="0"/>
          </a:p>
          <a:p>
            <a:endParaRPr lang="en-CA" sz="1600" dirty="0"/>
          </a:p>
          <a:p>
            <a:endParaRPr lang="en-CA" sz="16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    </a:t>
            </a:r>
            <a:r>
              <a:rPr lang="en-US" sz="3200" b="1" dirty="0"/>
              <a:t>Other resources, readings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1832" y="5334000"/>
            <a:ext cx="8229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Nature Methods blog on data visualization. </a:t>
            </a:r>
            <a:r>
              <a:rPr lang="en-US" sz="1600" u="sng" dirty="0">
                <a:hlinkClick r:id="rId4"/>
              </a:rPr>
              <a:t>http://blogs.nature.com/methagora/2013/07/data-visualization-points-of-view.html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512683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4c23228f-991d-4831-bedd-0e724cfa7f3d"/>
  <p:tag name="SLIDO_EVENT_SECTION_UUID" val="d37cdcf7-9a88-41d2-bf2f-e66f9c21363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17888</TotalTime>
  <Words>1512</Words>
  <Application>Microsoft Office PowerPoint</Application>
  <PresentationFormat>On-screen Show (4:3)</PresentationFormat>
  <Paragraphs>239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hcote</dc:creator>
  <cp:lastModifiedBy>Cote, Helene</cp:lastModifiedBy>
  <cp:revision>852</cp:revision>
  <dcterms:created xsi:type="dcterms:W3CDTF">2014-05-06T16:36:15Z</dcterms:created>
  <dcterms:modified xsi:type="dcterms:W3CDTF">2026-05-14T18:39:30Z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1.5.3.3511</vt:lpwstr>
  </property>
</Properties>
</file>