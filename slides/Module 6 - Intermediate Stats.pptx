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9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7D6C81-ABDF-4B13-B1CD-5962ECB517A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92EA89-7FD2-4425-B86E-352216D0373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77ED7-658B-4459-9911-6AB17835C3A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0A2FFE1-5A2C-4A83-B8D7-9CD217D2693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23A390-41D6-42CC-AE9B-9D5C351871C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D3BBF-73DB-4674-B939-0C1CD8C8DAF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04A6614-14B6-4AF0-B981-BA9CCF68EA4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E43F066-C0B7-4F87-BE20-2B44C17F0DF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C2794F6-2574-475E-B524-392486C7E12A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D8D68F3-397D-4034-A9EC-4261BD01831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1A5F43-0899-4941-BD99-5A6189B5326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961C33-CCB4-49BA-AC4B-3AE545CC557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28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C4B0E4-E0BE-4632-AF78-25D97FE52FF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155461-E53A-4573-ABB1-B627F73CBDB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74C258-829E-419D-9A84-62DCCB610E4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4FA864-F19C-4BB4-872A-4E5E11DA0E3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9B1287-FE1F-4814-9C9C-8C0DBF9D792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7E0530-17DD-48C7-A4CD-0E58A337306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9A80E6-DACA-4D8D-99C3-7539653A03E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AF50BD-ACAF-49ED-AD55-1403566FE24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84707A-F63B-4948-B760-E1A9CB38A3A0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533C7A-91A9-4158-BB4B-A0B5327A49E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Recap: Correlations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Identifies association between variables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Common measures: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Pearson’s r: </a:t>
            </a:r>
            <a:r>
              <a:rPr b="0" lang="en-GB" sz="1400" spc="-1" strike="noStrike">
                <a:solidFill>
                  <a:srgbClr val="ff0000"/>
                </a:solidFill>
                <a:latin typeface="Arial"/>
                <a:ea typeface="Arial"/>
              </a:rPr>
              <a:t>Linear</a:t>
            </a: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 correlation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Spearman’s ρ:  Rank correlation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Kendall’s τ: Like Spearman’s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Cohen’s κ: Agreement between categorical (nominal) variables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Considerations: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Sign of coefficient indicates direction of association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Report coefficient (strength) and p-value (significance)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Sensitivities to range, outliers, number of observations and linearity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rgbClr val="ff0000"/>
                </a:solidFill>
                <a:latin typeface="Arial"/>
                <a:ea typeface="Arial"/>
              </a:rPr>
              <a:t>Correlation does not imply causation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75345A-36B0-4A41-90AA-15299AB8875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Recap: Binary classification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Sensitivity: Proportion of true positives out of positives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Specificity: Proportion of true negatives out of negatives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Usually a trade off of sensitivity vs specificity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ROC curves provide a summary of a test across a range of thresholds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Google Shape;63;p14" descr=""/>
          <p:cNvPicPr/>
          <p:nvPr/>
        </p:nvPicPr>
        <p:blipFill>
          <a:blip r:embed="rId1"/>
          <a:stretch/>
        </p:blipFill>
        <p:spPr>
          <a:xfrm>
            <a:off x="2628720" y="2548080"/>
            <a:ext cx="3885840" cy="218556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B476DC-4774-4B05-ABDC-DFDFEADA215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2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Recap: Comparisons continuous data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Means independent (two group):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Parametric: t-test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Non-parametric: Mann-Whitney (Wilcoxon)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Means paired (two group):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Parametric: paired t-test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Non-parametric: Wilcoxon signed rank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Variance: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Parametric: F test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Mainly comes up in ANOVA for this course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Means (&gt;= 2 group)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Parametric: ANOVA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Non-parametric: Kruskall-Wallis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912141-E60B-41D1-9FC1-0928C9B9277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3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Recap: Comparisons other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Proportions: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𝜒</a:t>
            </a:r>
            <a:r>
              <a:rPr b="0" lang="en-GB" sz="1400" spc="-1" strike="noStrike" baseline="30000">
                <a:solidFill>
                  <a:schemeClr val="dk2"/>
                </a:solidFill>
                <a:latin typeface="Arial"/>
                <a:ea typeface="Arial"/>
              </a:rPr>
              <a:t>2</a:t>
            </a: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: When contingency table &gt;= 2x2. Continuity correction should be use when n is small.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Fisher’s exact test: Only applies to 2x2 contingency table. Should be used when n&lt;=5.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Multiple testing: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When performing multiple comparisons a correction is needed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Simplest is Bonferroni which divides the required p-value by number of test i.e. for 5 tests at a significance of 0.05, each test would need p &lt; 0.01 for significance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More powerful alternatives to exist but would be appropriate to consult statistician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6AAC3B-0D47-482D-9E5C-583685920B9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4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5200" spc="-1" strike="noStrike">
                <a:solidFill>
                  <a:schemeClr val="dk1"/>
                </a:solidFill>
                <a:latin typeface="Arial"/>
                <a:ea typeface="Arial"/>
              </a:rPr>
              <a:t>Intermediate Statistics</a:t>
            </a:r>
            <a:endParaRPr b="0" lang="en-CA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2"/>
                </a:solidFill>
                <a:latin typeface="Arial"/>
                <a:ea typeface="Arial"/>
              </a:rPr>
              <a:t>Module 7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Multiple variable testing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11760" y="976680"/>
            <a:ext cx="8519760" cy="106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Example : Two groups: Control and TX, each with 10 mice (5 WT, 5 -/-). Weight was measured once in each mouse at time X.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Google Shape;91;p18" descr=""/>
          <p:cNvPicPr/>
          <p:nvPr/>
        </p:nvPicPr>
        <p:blipFill>
          <a:blip r:embed="rId1"/>
          <a:stretch/>
        </p:blipFill>
        <p:spPr>
          <a:xfrm>
            <a:off x="2601000" y="2044080"/>
            <a:ext cx="3941280" cy="29552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92;p18"/>
          <p:cNvSpPr/>
          <p:nvPr/>
        </p:nvSpPr>
        <p:spPr>
          <a:xfrm>
            <a:off x="2703960" y="1373760"/>
            <a:ext cx="2806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rgbClr val="38761d"/>
                </a:solidFill>
                <a:latin typeface="Arial"/>
                <a:ea typeface="Arial"/>
              </a:rPr>
              <a:t>Open mouse_anova.csv in JASP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3E00FF-DC27-4101-9CD1-866D409CE9D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6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Multiple variable testing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11760" y="99072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Model could be a lot more complex if you had a larger sample: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Two groups: Control and TX treated, each with 30 mice (10 WT, 10 +/-, 10 -/-), and the mice are of both sexes, half and half.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Weight was measured at baseline and after treatment, at time X.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Continuous outcome of interest: weight at time X.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Categorical predictor variables: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Treatment (3)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Genotype (3)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Sex (2)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Continuous predictor variables: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Weight at baseline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0;p19"/>
          <p:cNvSpPr/>
          <p:nvPr/>
        </p:nvSpPr>
        <p:spPr>
          <a:xfrm>
            <a:off x="3377880" y="3146760"/>
            <a:ext cx="4986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rgbClr val="38761d"/>
                </a:solidFill>
                <a:latin typeface="Arial"/>
                <a:ea typeface="Arial"/>
              </a:rPr>
              <a:t>Open mouse_linear_regression.csv in JASP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298849-6C10-4838-A225-5734DBBDCC4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7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Regression - Univariable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11760" y="981360"/>
            <a:ext cx="8519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One independent (X) to predict values of the dependent variable (Y)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Assumes a linear relationship between X and Y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Assumes normality of residuals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What is a residual?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oogle Shape;108;p20" descr=""/>
          <p:cNvPicPr/>
          <p:nvPr/>
        </p:nvPicPr>
        <p:blipFill>
          <a:blip r:embed="rId1"/>
          <a:stretch/>
        </p:blipFill>
        <p:spPr>
          <a:xfrm>
            <a:off x="2811960" y="2196000"/>
            <a:ext cx="3519720" cy="232308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109;p20"/>
          <p:cNvSpPr/>
          <p:nvPr/>
        </p:nvSpPr>
        <p:spPr>
          <a:xfrm>
            <a:off x="2841480" y="4582440"/>
            <a:ext cx="3459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200" spc="-1" strike="noStrike">
                <a:solidFill>
                  <a:schemeClr val="dk2"/>
                </a:solidFill>
                <a:latin typeface="Arial"/>
                <a:ea typeface="Arial"/>
              </a:rPr>
              <a:t>https://en.wikipedia.org/wiki/Linear_regression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1BFCC7-1AD0-4DA7-A037-4CA00C56E95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8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Residuals in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86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The sum of deviation of data points from line of best fit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The goal of any line of best fit is to reduce the sum of squared residuals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9760CA-DA4E-4B0B-9792-851299A8B13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9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" name="Google Shape;118;p21" descr=""/>
          <p:cNvPicPr/>
          <p:nvPr/>
        </p:nvPicPr>
        <p:blipFill>
          <a:blip r:embed="rId1"/>
          <a:stretch/>
        </p:blipFill>
        <p:spPr>
          <a:xfrm>
            <a:off x="3135240" y="1882800"/>
            <a:ext cx="2872800" cy="282240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19;p21"/>
          <p:cNvSpPr/>
          <p:nvPr/>
        </p:nvSpPr>
        <p:spPr>
          <a:xfrm>
            <a:off x="2841480" y="4577760"/>
            <a:ext cx="34599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200" spc="-1" strike="noStrike">
                <a:solidFill>
                  <a:schemeClr val="dk2"/>
                </a:solidFill>
                <a:latin typeface="Arial"/>
                <a:ea typeface="Arial"/>
              </a:rPr>
              <a:t>https://en.wikipedia.org/wiki/Linear_regression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Regression assumptions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Linear relationship between outcome (Y) and predictor (X)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The residuals are Normally distributed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Homoscedasticity (aka similar variance in error across predictors)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Plot of residuals by predicted values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In multivariable linear regression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Minimal collinearity amongst predictor variables: Use Variance Inflation Factor (VIF) to detect (&lt;2.5)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D12662-5515-4804-990F-B8893BC5DA3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10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Homoscedasticity/Heteroscedasticity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C21B78-6D67-4EAB-84A4-C04B28AA56C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11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7" name="Google Shape;133;p23" descr=""/>
          <p:cNvPicPr/>
          <p:nvPr/>
        </p:nvPicPr>
        <p:blipFill>
          <a:blip r:embed="rId1"/>
          <a:stretch/>
        </p:blipFill>
        <p:spPr>
          <a:xfrm>
            <a:off x="240120" y="1475640"/>
            <a:ext cx="4653720" cy="219132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134;p23"/>
          <p:cNvSpPr/>
          <p:nvPr/>
        </p:nvSpPr>
        <p:spPr>
          <a:xfrm>
            <a:off x="355320" y="3988440"/>
            <a:ext cx="44229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https://www.geeksforgeeks.org/heteroscedasticity-in-regression-analysis/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135;p23" descr=""/>
          <p:cNvPicPr/>
          <p:nvPr/>
        </p:nvPicPr>
        <p:blipFill>
          <a:blip r:embed="rId2"/>
          <a:stretch/>
        </p:blipFill>
        <p:spPr>
          <a:xfrm>
            <a:off x="5276520" y="1233360"/>
            <a:ext cx="3466440" cy="267588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36;p23"/>
          <p:cNvSpPr/>
          <p:nvPr/>
        </p:nvSpPr>
        <p:spPr>
          <a:xfrm>
            <a:off x="5528520" y="4034160"/>
            <a:ext cx="34329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https://www.statology.org/heteroscedasticity-regression/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8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 lnSpcReduction="20000"/>
          </a:bodyPr>
          <a:p>
            <a:pPr indent="0">
              <a:lnSpc>
                <a:spcPct val="15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Examine the combination of multiple effects on the outcome of interest - the response variable.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6D9887-862B-48EA-B9F0-D93C1CF6A0C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12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Google Shape;144;p24"/>
          <p:cNvSpPr/>
          <p:nvPr/>
        </p:nvSpPr>
        <p:spPr>
          <a:xfrm>
            <a:off x="311760" y="2108160"/>
            <a:ext cx="8519760" cy="24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Outcomes: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Determine how well a set of variables model the response variable.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Determine which variables significantly impact the model.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Develop an equation which may be able to predict the response variable.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Things to consider: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How many variables are too many to include in your analysis?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Very general guideline is around 20 observations per variable.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Criteria for variable inclusion in your model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595959"/>
              </a:buClr>
              <a:buFont typeface="Arial"/>
              <a:buChar char="■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Literature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595959"/>
              </a:buClr>
              <a:buFont typeface="Arial"/>
              <a:buChar char="■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Specified p-value from univariable analysis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595959"/>
              </a:buClr>
              <a:buFont typeface="Arial"/>
              <a:buChar char="■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May not have to have a p-value &lt;0.05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TAKE HOME MESSAGE: You must disclose the method you used in your manuscript.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6C42BA-B18A-43AE-8198-7AEB5695CD3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13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regression - variable selection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88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1111"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AIC and BIC: The goal is to reduce these metrics by the removal of variables from your model.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374025-0335-47A3-AD0E-97689A01C13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14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Google Shape;159;p26"/>
          <p:cNvSpPr/>
          <p:nvPr/>
        </p:nvSpPr>
        <p:spPr>
          <a:xfrm>
            <a:off x="779760" y="3289680"/>
            <a:ext cx="2737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160;p26" descr=""/>
          <p:cNvPicPr/>
          <p:nvPr/>
        </p:nvPicPr>
        <p:blipFill>
          <a:blip r:embed="rId1"/>
          <a:stretch/>
        </p:blipFill>
        <p:spPr>
          <a:xfrm>
            <a:off x="171000" y="2004120"/>
            <a:ext cx="2573640" cy="178668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161;p26" descr=""/>
          <p:cNvPicPr/>
          <p:nvPr/>
        </p:nvPicPr>
        <p:blipFill>
          <a:blip r:embed="rId2"/>
          <a:stretch/>
        </p:blipFill>
        <p:spPr>
          <a:xfrm>
            <a:off x="2900160" y="2004120"/>
            <a:ext cx="2823120" cy="178668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62;p26" descr=""/>
          <p:cNvPicPr/>
          <p:nvPr/>
        </p:nvPicPr>
        <p:blipFill>
          <a:blip r:embed="rId3"/>
          <a:stretch/>
        </p:blipFill>
        <p:spPr>
          <a:xfrm>
            <a:off x="5802840" y="2004120"/>
            <a:ext cx="3296160" cy="96444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63;p26"/>
          <p:cNvSpPr/>
          <p:nvPr/>
        </p:nvSpPr>
        <p:spPr>
          <a:xfrm>
            <a:off x="480240" y="3845880"/>
            <a:ext cx="8519760" cy="88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Stepwise methods can be used to reduce a large number of independent variables to those that are likely to have a significant effect on the model.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regression - variable selection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5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1111"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There is no ‘correct’ set of variables.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However, some models are suboptimal to others.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 number of considerations must be accounted for: face validity, historical context and background knowledge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C70C7B-18DB-48E4-AB90-39B8338D307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15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Google Shape;171;p27"/>
          <p:cNvSpPr/>
          <p:nvPr/>
        </p:nvSpPr>
        <p:spPr>
          <a:xfrm>
            <a:off x="311760" y="3184920"/>
            <a:ext cx="8519760" cy="9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It is best to consult a statistician at this point as there are a number of strategic decisions that have to be made which will influence which variables are selected.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Interactions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When a set of features have an effect when present together we refer to this as an interaction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Interaction effects can be caused by things like drugs that only work with a specific genotype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We saw interaction terms from the ANOVA and ANCOVA analysis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They can also be incorporated into a multivariable linear regression model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FACDA1-22A1-449A-93EF-26C0728DA67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16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regression exercise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Open file “Diabetes Full.xlsx” in JASP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Goal is to determine which set of variables best describe Y (dependent variable)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Which variables to include? Rationale?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Establish the absence of collinearity (strong association) between dependent variables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Adjust model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Check your assumptions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53A44-BB8A-4106-B0B8-FE2AC2465360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17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Logistic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When you have a continuous X against a categorical Y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Measures the change in proportion of various levels of X against the change of gradient in Y.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Useful in determining a predictive effect of a single variable.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D50A3A-D992-459E-BC02-8C589751176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18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Multivariable logistic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Using a number of variables to predict a categorical outcome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Uses essentially the same methodology as was described for Multivariable Regression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A400B-3D49-46DA-95FF-EF2B407BCE9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19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Non-linear regression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298440" y="4245120"/>
            <a:ext cx="851976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 lnSpcReduction="10000"/>
          </a:bodyPr>
          <a:p>
            <a:pPr indent="0">
              <a:lnSpc>
                <a:spcPct val="15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Best to consult a statistician if you need these approaches.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596770-C3CF-486C-88FB-2124917E102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20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Google Shape;207;p32"/>
          <p:cNvSpPr/>
          <p:nvPr/>
        </p:nvSpPr>
        <p:spPr>
          <a:xfrm>
            <a:off x="285120" y="1036440"/>
            <a:ext cx="854640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It is flawed to try to fit a straight line to non-linear data.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208;p32"/>
          <p:cNvSpPr/>
          <p:nvPr/>
        </p:nvSpPr>
        <p:spPr>
          <a:xfrm>
            <a:off x="285120" y="1445040"/>
            <a:ext cx="844164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600" spc="-1" strike="noStrike">
                <a:solidFill>
                  <a:schemeClr val="dk2"/>
                </a:solidFill>
                <a:latin typeface="Arial"/>
                <a:ea typeface="Arial"/>
              </a:rPr>
              <a:t>A variety of non-linear models can fit a data set to varying degrees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209;p32"/>
          <p:cNvSpPr/>
          <p:nvPr/>
        </p:nvSpPr>
        <p:spPr>
          <a:xfrm>
            <a:off x="285120" y="1839600"/>
            <a:ext cx="8475120" cy="23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Some examples of non-linear equations include: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Polynomials (Quadratic, Cubic, Quartic, Quintic)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Sigmoid (Logistic, Gompertz)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Exponential Growth &amp; Decay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Peak Models (Gaussian &amp; Lorentzian)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Pharmacokinetic (Oral Dose, IV Bolus, Biexponential)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Enzyme Kinetics (Michaelis Menten)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Time to failure analysis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311760" y="2148840"/>
            <a:ext cx="8519760" cy="27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Time to death from any cause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Overall Survival (OS)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Time to death from disease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Disease Specific Survival (DSS)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Time to progression or relapse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Progression Free or Relapse Free Survival (PFS or RFS)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8DCB80-4982-4B97-838E-F26B0BB48D2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21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Google Shape;217;p33"/>
          <p:cNvSpPr/>
          <p:nvPr/>
        </p:nvSpPr>
        <p:spPr>
          <a:xfrm>
            <a:off x="327960" y="1563840"/>
            <a:ext cx="850356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Principally three uses in human studies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218;p33"/>
          <p:cNvSpPr/>
          <p:nvPr/>
        </p:nvSpPr>
        <p:spPr>
          <a:xfrm>
            <a:off x="319680" y="1083960"/>
            <a:ext cx="850356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Commonly called Survival analysis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Time to failure analysis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11760" y="1017720"/>
            <a:ext cx="85197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Two essential variables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3B2AFD-AD6D-4CCC-80F9-B2FC8DF10D2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Google Shape;226;p34"/>
          <p:cNvSpPr/>
          <p:nvPr/>
        </p:nvSpPr>
        <p:spPr>
          <a:xfrm>
            <a:off x="375480" y="1616400"/>
            <a:ext cx="8456040" cy="14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Time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Start point -date (birth, presentation of symptoms, diagnosis)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End point (death, death from disease, disease progression, loss of follow-up)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227;p34"/>
          <p:cNvSpPr/>
          <p:nvPr/>
        </p:nvSpPr>
        <p:spPr>
          <a:xfrm>
            <a:off x="343800" y="3204000"/>
            <a:ext cx="8456040" cy="8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Censor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Used when a subject has not encountered a pre-specified endpoint.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Time to failure analysis (univariable)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74552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Kaplan-Meier curves are typically used when considering the effect of single variable i.e. sex, treatment, stage of tumour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Significant differences emerge immediately at the initiation of follow up and are assessed by use of the Log-Rank Statistic.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E76A0F-37CA-4C9E-853D-A70BB397E1E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1" name="Google Shape;235;p35" descr=""/>
          <p:cNvPicPr/>
          <p:nvPr/>
        </p:nvPicPr>
        <p:blipFill>
          <a:blip r:embed="rId1"/>
          <a:srcRect l="49633" t="0" r="0" b="0"/>
          <a:stretch/>
        </p:blipFill>
        <p:spPr>
          <a:xfrm>
            <a:off x="5272920" y="1152360"/>
            <a:ext cx="3676320" cy="306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Time to failure analysis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3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Prognostic factors: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Negative - leads to an event faster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Positive - protects or delays a subject from an event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523ADB-4BD6-4860-BB00-C6E9564B7BC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311760" y="2533680"/>
            <a:ext cx="8519760" cy="13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Many variables can be assessed simultaneously using a method known as the Cox-Proportional Hazards Model.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Uses the same approach as multivariable regression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Cox Proportional Hazards Model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3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Input variables: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Time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Censor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Variables (Research variable(s) and clinical covariates)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FB833A-52A0-4CFB-B045-DAC434D4F9E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500400" y="3144600"/>
            <a:ext cx="8519760" cy="163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Goal - To determine which factors show ‘independent prognostic significance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Forest plots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11760" y="1085760"/>
            <a:ext cx="4529880" cy="36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1111"/>
          </a:bodyPr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Show the resultant risk ratios (aka Hazard Ratios) from the Cox Proportional Hazards Model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For each variable, the centre point represents the Risk Ratio and the lines on either side of the point represent the 95% confidence interval.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 risk ratio of 1 indicates no significant difference.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 risk ratio &lt; 1 indicates a positive prognostic factor (slows time to event)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 risk ratio &gt; 1 indicates a negative prognostic factor (speeds up time to event)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284F42-2162-4A10-A4C2-639E3BDAEAB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3" name="Google Shape;259;p38" descr=""/>
          <p:cNvPicPr/>
          <p:nvPr/>
        </p:nvPicPr>
        <p:blipFill>
          <a:blip r:embed="rId1"/>
          <a:stretch/>
        </p:blipFill>
        <p:spPr>
          <a:xfrm>
            <a:off x="4979160" y="1134000"/>
            <a:ext cx="4041360" cy="3412440"/>
          </a:xfrm>
          <a:prstGeom prst="rect">
            <a:avLst/>
          </a:prstGeom>
          <a:ln w="0">
            <a:noFill/>
          </a:ln>
        </p:spPr>
      </p:pic>
      <p:sp>
        <p:nvSpPr>
          <p:cNvPr id="134" name="Google Shape;260;p38"/>
          <p:cNvSpPr/>
          <p:nvPr/>
        </p:nvSpPr>
        <p:spPr>
          <a:xfrm>
            <a:off x="5127120" y="560160"/>
            <a:ext cx="37450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400" spc="-1" strike="noStrike">
                <a:solidFill>
                  <a:srgbClr val="cc4125"/>
                </a:solidFill>
                <a:latin typeface="Arial"/>
                <a:ea typeface="Arial"/>
              </a:rPr>
              <a:t>Not currently supported in JASP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Survival analysis exercise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Univariable analysis to determine if Adjuvant Chemotherapy is effective in Pancreatic Ductal Adenocarcinoma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Multivariable analysis to determine which set of variable are independently prognostic in Pancreatic Ductal Adenocarcinoma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16F98F-BFBF-4E4F-8D13-3E17CA18ECC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Standardising data (z-scores)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Useful when you have data on two different scales.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Computed as: 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Where X is the row value, X-bar is mean of the column and sigma is the standard deviation for the column.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Can do this in JASP using Edit Data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Create a new column and name it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Select computed type - Compute with drag and drop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595959"/>
              </a:buClr>
              <a:buFont typeface="Arial"/>
              <a:buChar char="○"/>
            </a:pPr>
            <a:r>
              <a:rPr b="0" lang="en-GB" sz="1400" spc="-1" strike="noStrike">
                <a:solidFill>
                  <a:schemeClr val="dk2"/>
                </a:solidFill>
                <a:latin typeface="Arial"/>
                <a:ea typeface="Arial"/>
              </a:rPr>
              <a:t>Add “zScores” and drag the variable inside the “zScores”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3E5B04-7A6B-44FB-B6D8-A4CCEF4C739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1" name="Google Shape;275;p40" descr=""/>
          <p:cNvPicPr/>
          <p:nvPr/>
        </p:nvPicPr>
        <p:blipFill>
          <a:blip r:embed="rId1"/>
          <a:stretch/>
        </p:blipFill>
        <p:spPr>
          <a:xfrm>
            <a:off x="2517480" y="1551600"/>
            <a:ext cx="623880" cy="45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Missing data - types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7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Informative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Data are missing for a reason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May introduce systematic bias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DDEC9A-16CF-4C1C-8D5D-6E6963FBF6E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311760" y="2571840"/>
            <a:ext cx="851976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Non-informative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Random in nature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Bias toward the null (generally)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284;p41"/>
          <p:cNvSpPr/>
          <p:nvPr/>
        </p:nvSpPr>
        <p:spPr>
          <a:xfrm>
            <a:off x="3023280" y="4045320"/>
            <a:ext cx="34837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3c78d8"/>
                </a:solidFill>
                <a:latin typeface="Arial"/>
                <a:ea typeface="Arial"/>
              </a:rPr>
              <a:t>Examples from your research?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Missing data - excluding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46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Most conservative - exclude sample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CE7B7F-C269-4E86-84DF-E6DC86401C7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311760" y="1670760"/>
            <a:ext cx="8519760" cy="46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How many samples is too many to exclude?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311760" y="2255760"/>
            <a:ext cx="8519760" cy="93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Rule of thumb ~10% but you have to demonstrate that the excluded cases are not fundamentally different from the remaining cohort.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Arial"/>
                <a:ea typeface="Arial"/>
              </a:rPr>
              <a:t>Missing data - Imputation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 lnSpcReduction="10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 more liberal approach is to impute missing data.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Basically we guess the missing values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3444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We hope to do it in a way that does not bias the results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EF3728-2624-46EF-93EF-CBE28F732B0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CA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311760" y="2185200"/>
            <a:ext cx="8519760" cy="19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Approaches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Randomly assign a value within the range of the existing data set.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Set to the mean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Multivariate Normal Imputation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Multivariate Singular Value Decomposition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311760" y="415944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Arial"/>
                <a:ea typeface="Arial"/>
              </a:rPr>
              <a:t>Consult a statistician if you feel that your data needs imputation.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303;p43"/>
          <p:cNvSpPr/>
          <p:nvPr/>
        </p:nvSpPr>
        <p:spPr>
          <a:xfrm>
            <a:off x="4937040" y="444960"/>
            <a:ext cx="37450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GB" sz="1400" spc="-1" strike="noStrike">
                <a:solidFill>
                  <a:srgbClr val="cc4125"/>
                </a:solidFill>
                <a:latin typeface="Arial"/>
                <a:ea typeface="Arial"/>
              </a:rPr>
              <a:t>Not currently supported in JASP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en-CA</dc:language>
  <cp:lastModifiedBy/>
  <dcterms:modified xsi:type="dcterms:W3CDTF">2026-05-07T12:35:10Z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