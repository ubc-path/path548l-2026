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91" r:id="rId2"/>
    <p:sldId id="292" r:id="rId3"/>
    <p:sldId id="339" r:id="rId4"/>
    <p:sldId id="258" r:id="rId5"/>
    <p:sldId id="281" r:id="rId6"/>
    <p:sldId id="267" r:id="rId7"/>
    <p:sldId id="290" r:id="rId8"/>
    <p:sldId id="268" r:id="rId9"/>
    <p:sldId id="275" r:id="rId10"/>
    <p:sldId id="271" r:id="rId11"/>
    <p:sldId id="282" r:id="rId12"/>
    <p:sldId id="270" r:id="rId13"/>
    <p:sldId id="274" r:id="rId14"/>
    <p:sldId id="293" r:id="rId15"/>
    <p:sldId id="280" r:id="rId16"/>
    <p:sldId id="276" r:id="rId17"/>
    <p:sldId id="277" r:id="rId18"/>
    <p:sldId id="279" r:id="rId19"/>
    <p:sldId id="289" r:id="rId20"/>
    <p:sldId id="260" r:id="rId21"/>
    <p:sldId id="278" r:id="rId22"/>
    <p:sldId id="286" r:id="rId23"/>
    <p:sldId id="287" r:id="rId24"/>
    <p:sldId id="288" r:id="rId25"/>
    <p:sldId id="259" r:id="rId26"/>
    <p:sldId id="284" r:id="rId27"/>
    <p:sldId id="338" r:id="rId28"/>
    <p:sldId id="285" r:id="rId29"/>
    <p:sldId id="340"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Lst>
  <p:sldSz cx="9144000" cy="6858000" type="screen4x3"/>
  <p:notesSz cx="7315200" cy="96012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0" autoAdjust="0"/>
    <p:restoredTop sz="94660"/>
  </p:normalViewPr>
  <p:slideViewPr>
    <p:cSldViewPr showGuides="1">
      <p:cViewPr varScale="1">
        <p:scale>
          <a:sx n="78" d="100"/>
          <a:sy n="78" d="100"/>
        </p:scale>
        <p:origin x="102" y="564"/>
      </p:cViewPr>
      <p:guideLst>
        <p:guide orient="horz"/>
        <p:guide/>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FC428FA-1340-447D-BACA-20B61C6DD5B7}" type="datetimeFigureOut">
              <a:rPr lang="en-US" smtClean="0"/>
              <a:pPr/>
              <a:t>5/13/2026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92B9750A-5D41-4641-B408-17B3B30693C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2B9750A-5D41-4641-B408-17B3B30693C3}" type="slidenum">
              <a:rPr lang="en-US" smtClean="0"/>
              <a:pPr/>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B9750A-5D41-4641-B408-17B3B30693C3}" type="slidenum">
              <a:rPr lang="en-US" smtClean="0"/>
              <a:pPr/>
              <a:t>26</a:t>
            </a:fld>
            <a:endParaRPr lang="en-US"/>
          </a:p>
        </p:txBody>
      </p:sp>
    </p:spTree>
    <p:extLst>
      <p:ext uri="{BB962C8B-B14F-4D97-AF65-F5344CB8AC3E}">
        <p14:creationId xmlns:p14="http://schemas.microsoft.com/office/powerpoint/2010/main" val="1382538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B9750A-5D41-4641-B408-17B3B30693C3}" type="slidenum">
              <a:rPr lang="en-US" smtClean="0"/>
              <a:pPr/>
              <a:t>29</a:t>
            </a:fld>
            <a:endParaRPr lang="en-US"/>
          </a:p>
        </p:txBody>
      </p:sp>
    </p:spTree>
    <p:extLst>
      <p:ext uri="{BB962C8B-B14F-4D97-AF65-F5344CB8AC3E}">
        <p14:creationId xmlns:p14="http://schemas.microsoft.com/office/powerpoint/2010/main" val="1079916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81396F-9537-468F-BBE4-17C4B65910BA}" type="slidenum">
              <a:rPr lang="en-US" smtClean="0"/>
              <a:t>44</a:t>
            </a:fld>
            <a:endParaRPr lang="en-US"/>
          </a:p>
        </p:txBody>
      </p:sp>
    </p:spTree>
    <p:extLst>
      <p:ext uri="{BB962C8B-B14F-4D97-AF65-F5344CB8AC3E}">
        <p14:creationId xmlns:p14="http://schemas.microsoft.com/office/powerpoint/2010/main" val="408904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84EC417-DE76-4BDA-ADD1-32DACB28C9C3}"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4EC417-DE76-4BDA-ADD1-32DACB28C9C3}"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4EC417-DE76-4BDA-ADD1-32DACB28C9C3}"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4EC417-DE76-4BDA-ADD1-32DACB28C9C3}"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84EC417-DE76-4BDA-ADD1-32DACB28C9C3}"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84EC417-DE76-4BDA-ADD1-32DACB28C9C3}"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4EC417-DE76-4BDA-ADD1-32DACB28C9C3}"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4EC417-DE76-4BDA-ADD1-32DACB28C9C3}"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4EC417-DE76-4BDA-ADD1-32DACB28C9C3}"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4EC417-DE76-4BDA-ADD1-32DACB28C9C3}"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4EC417-DE76-4BDA-ADD1-32DACB28C9C3}"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3613F1-7461-46F1-AD2A-B0E2B7A49AB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4EC417-DE76-4BDA-ADD1-32DACB28C9C3}"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3613F1-7461-46F1-AD2A-B0E2B7A49AB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researchregistry.com/abou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www.equator-network.org/"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journals.plos.org/plosmedicine/article?id=10.1371/journal.pmed.0040297"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www.nc3rs.org.uk/sites/default/files/documents/Guidelines/NC3Rs%20ARRIVE%20Guidelines%20Checklist%20%28fillable%29.pdf"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www.nc3rs.org.uk/sites/default/files/documents/Guidelines/NC3Rs%20ARRIVE%20Guidelines%20Checklist%20%28fillable%29.pdf"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www.nc3rs.org.uk/sites/default/files/documents/Guidelines/NC3Rs%20ARRIVE%20Guidelines%20Checklist%20%28fillable%29.pdf"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s://www.nc3rs.org.uk/sites/default/files/documents/Guidelines/NC3Rs%20ARRIVE%20Guidelines%20Checklist%20%28fillable%29.pdf"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s://www.nc3rs.org.uk/sites/default/files/documents/Guidelines/NC3Rs%20ARRIVE%20Guidelines%20Checklist%20%28fillable%29.pdf"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ilarjournal.oxfordjournals.org/content/43/4/244.full.pdf" TargetMode="External"/><Relationship Id="rId7" Type="http://schemas.openxmlformats.org/officeDocument/2006/relationships/hyperlink" Target="http://www.equator-network.org/reporting-guidelines/stard/" TargetMode="External"/><Relationship Id="rId2" Type="http://schemas.openxmlformats.org/officeDocument/2006/relationships/hyperlink" Target="https://emj.bmj.com/content/emermed/20/1/54.full.pdf" TargetMode="External"/><Relationship Id="rId1" Type="http://schemas.openxmlformats.org/officeDocument/2006/relationships/slideLayout" Target="../slideLayouts/slideLayout7.xml"/><Relationship Id="rId6" Type="http://schemas.openxmlformats.org/officeDocument/2006/relationships/hyperlink" Target="http://www.nejm.org/doi/pdf/10.1056/NEJMoa1212722" TargetMode="External"/><Relationship Id="rId5" Type="http://schemas.openxmlformats.org/officeDocument/2006/relationships/hyperlink" Target="http://www.croiwebcasts.org/console/player/22018?mediaType=audio&amp;" TargetMode="External"/><Relationship Id="rId4" Type="http://schemas.openxmlformats.org/officeDocument/2006/relationships/hyperlink" Target="http://www.ncbi.nlm.nih.gov/pmc/articles/PMC2665449/pdf/9468688.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12" y="259080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 Observational studies and data reporting </a:t>
            </a:r>
            <a:endParaRPr lang="en-US" sz="4000" b="1" dirty="0"/>
          </a:p>
        </p:txBody>
      </p:sp>
      <p:sp>
        <p:nvSpPr>
          <p:cNvPr id="3" name="TextBox 2"/>
          <p:cNvSpPr txBox="1"/>
          <p:nvPr/>
        </p:nvSpPr>
        <p:spPr>
          <a:xfrm>
            <a:off x="381000" y="1752600"/>
            <a:ext cx="2286000" cy="461665"/>
          </a:xfrm>
          <a:prstGeom prst="rect">
            <a:avLst/>
          </a:prstGeom>
          <a:noFill/>
        </p:spPr>
        <p:txBody>
          <a:bodyPr wrap="square" rtlCol="0">
            <a:spAutoFit/>
          </a:bodyPr>
          <a:lstStyle/>
          <a:p>
            <a:r>
              <a:rPr lang="en-US" sz="2400" b="1" dirty="0">
                <a:solidFill>
                  <a:schemeClr val="tx2">
                    <a:lumMod val="50000"/>
                  </a:schemeClr>
                </a:solidFill>
              </a:rPr>
              <a:t>Module 8</a:t>
            </a:r>
          </a:p>
        </p:txBody>
      </p:sp>
    </p:spTree>
    <p:extLst>
      <p:ext uri="{BB962C8B-B14F-4D97-AF65-F5344CB8AC3E}">
        <p14:creationId xmlns:p14="http://schemas.microsoft.com/office/powerpoint/2010/main" val="2518363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Lecture objectives</a:t>
            </a:r>
            <a:endParaRPr lang="en-US" sz="4000" b="1" dirty="0"/>
          </a:p>
        </p:txBody>
      </p:sp>
      <p:sp>
        <p:nvSpPr>
          <p:cNvPr id="3" name="TextBox 2"/>
          <p:cNvSpPr txBox="1"/>
          <p:nvPr/>
        </p:nvSpPr>
        <p:spPr>
          <a:xfrm>
            <a:off x="381000" y="1257955"/>
            <a:ext cx="8229600" cy="3139321"/>
          </a:xfrm>
          <a:prstGeom prst="rect">
            <a:avLst/>
          </a:prstGeom>
          <a:noFill/>
        </p:spPr>
        <p:txBody>
          <a:bodyPr wrap="square" rtlCol="0">
            <a:spAutoFit/>
          </a:bodyPr>
          <a:lstStyle/>
          <a:p>
            <a:pPr marL="234950" indent="-234950">
              <a:buClr>
                <a:schemeClr val="accent1">
                  <a:lumMod val="75000"/>
                </a:schemeClr>
              </a:buClr>
              <a:buSzPct val="120000"/>
              <a:buFont typeface="Wingdings" pitchFamily="2" charset="2"/>
              <a:buChar char="§"/>
            </a:pPr>
            <a:endParaRPr lang="en-US" dirty="0">
              <a:solidFill>
                <a:schemeClr val="accent1">
                  <a:lumMod val="50000"/>
                </a:schemeClr>
              </a:solidFill>
            </a:endParaRPr>
          </a:p>
          <a:p>
            <a:pPr marL="234950" indent="-234950">
              <a:buClr>
                <a:schemeClr val="accent1">
                  <a:lumMod val="75000"/>
                </a:schemeClr>
              </a:buClr>
              <a:buSzPct val="120000"/>
              <a:buFont typeface="Wingdings" pitchFamily="2" charset="2"/>
              <a:buChar char="§"/>
            </a:pPr>
            <a:r>
              <a:rPr lang="en-US" dirty="0">
                <a:solidFill>
                  <a:schemeClr val="accent1">
                    <a:lumMod val="50000"/>
                  </a:schemeClr>
                </a:solidFill>
              </a:rPr>
              <a:t>Recognize the various types of human observational studies</a:t>
            </a:r>
          </a:p>
          <a:p>
            <a:pPr marL="234950" indent="-234950">
              <a:buClr>
                <a:schemeClr val="accent1">
                  <a:lumMod val="75000"/>
                </a:schemeClr>
              </a:buClr>
              <a:buSzPct val="120000"/>
              <a:buFont typeface="Wingdings" pitchFamily="2" charset="2"/>
              <a:buChar char="§"/>
            </a:pPr>
            <a:endParaRPr lang="en-US" dirty="0">
              <a:solidFill>
                <a:schemeClr val="accent1">
                  <a:lumMod val="50000"/>
                </a:schemeClr>
              </a:solidFill>
            </a:endParaRPr>
          </a:p>
          <a:p>
            <a:pPr marL="234950" indent="-234950">
              <a:buClr>
                <a:schemeClr val="accent1">
                  <a:lumMod val="75000"/>
                </a:schemeClr>
              </a:buClr>
              <a:buSzPct val="120000"/>
              <a:buFont typeface="Wingdings" pitchFamily="2" charset="2"/>
              <a:buChar char="§"/>
            </a:pPr>
            <a:r>
              <a:rPr lang="en-US" dirty="0">
                <a:solidFill>
                  <a:schemeClr val="accent1">
                    <a:lumMod val="50000"/>
                  </a:schemeClr>
                </a:solidFill>
              </a:rPr>
              <a:t>Know the pros and cons</a:t>
            </a:r>
          </a:p>
          <a:p>
            <a:pPr>
              <a:buClr>
                <a:schemeClr val="accent1">
                  <a:lumMod val="75000"/>
                </a:schemeClr>
              </a:buClr>
              <a:buSzPct val="120000"/>
            </a:pPr>
            <a:endParaRPr lang="en-US" dirty="0">
              <a:solidFill>
                <a:schemeClr val="accent1">
                  <a:lumMod val="50000"/>
                </a:schemeClr>
              </a:solidFill>
            </a:endParaRPr>
          </a:p>
          <a:p>
            <a:pPr marL="234950" indent="-234950">
              <a:buClr>
                <a:schemeClr val="accent1">
                  <a:lumMod val="75000"/>
                </a:schemeClr>
              </a:buClr>
              <a:buSzPct val="120000"/>
              <a:buFont typeface="Wingdings" pitchFamily="2" charset="2"/>
              <a:buChar char="§"/>
            </a:pPr>
            <a:r>
              <a:rPr lang="en-US" dirty="0">
                <a:solidFill>
                  <a:schemeClr val="accent1">
                    <a:lumMod val="50000"/>
                  </a:schemeClr>
                </a:solidFill>
              </a:rPr>
              <a:t>Recognize the possible biases of observational studies</a:t>
            </a:r>
          </a:p>
          <a:p>
            <a:pPr marL="234950" indent="-234950">
              <a:buClr>
                <a:schemeClr val="accent1">
                  <a:lumMod val="75000"/>
                </a:schemeClr>
              </a:buClr>
              <a:buSzPct val="120000"/>
              <a:buFont typeface="Wingdings" pitchFamily="2" charset="2"/>
              <a:buChar char="§"/>
            </a:pPr>
            <a:endParaRPr lang="en-US" dirty="0">
              <a:solidFill>
                <a:schemeClr val="accent1">
                  <a:lumMod val="50000"/>
                </a:schemeClr>
              </a:solidFill>
            </a:endParaRPr>
          </a:p>
          <a:p>
            <a:pPr marL="234950" indent="-234950">
              <a:buClr>
                <a:schemeClr val="accent1">
                  <a:lumMod val="75000"/>
                </a:schemeClr>
              </a:buClr>
              <a:buSzPct val="120000"/>
              <a:buFont typeface="Wingdings" pitchFamily="2" charset="2"/>
              <a:buChar char="§"/>
            </a:pPr>
            <a:r>
              <a:rPr lang="en-US" dirty="0">
                <a:solidFill>
                  <a:schemeClr val="accent1">
                    <a:lumMod val="50000"/>
                  </a:schemeClr>
                </a:solidFill>
              </a:rPr>
              <a:t>Be aware of various reporting guideline and standards</a:t>
            </a:r>
          </a:p>
          <a:p>
            <a:pPr marL="234950" indent="-234950">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pPr>
            <a:endParaRPr lang="en-US" dirty="0">
              <a:solidFill>
                <a:schemeClr val="accent1">
                  <a:lumMod val="50000"/>
                </a:schemeClr>
              </a:solidFill>
            </a:endParaRPr>
          </a:p>
          <a:p>
            <a:pPr marL="234950" indent="-234950">
              <a:buClr>
                <a:schemeClr val="accent1">
                  <a:lumMod val="75000"/>
                </a:schemeClr>
              </a:buClr>
              <a:buSzPct val="120000"/>
              <a:buFont typeface="Wingdings" pitchFamily="2" charset="2"/>
              <a:buChar char="§"/>
            </a:pPr>
            <a:endParaRPr lang="en-US" dirty="0">
              <a:solidFill>
                <a:schemeClr val="accent1">
                  <a:lumMod val="50000"/>
                </a:schemeClr>
              </a:solidFill>
            </a:endParaRPr>
          </a:p>
        </p:txBody>
      </p:sp>
    </p:spTree>
    <p:extLst>
      <p:ext uri="{BB962C8B-B14F-4D97-AF65-F5344CB8AC3E}">
        <p14:creationId xmlns:p14="http://schemas.microsoft.com/office/powerpoint/2010/main" val="284619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8BFC35-F6D6-4FD5-A6D3-D5A6D3EA7B93}"/>
              </a:ext>
            </a:extLst>
          </p:cNvPr>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Registering studies</a:t>
            </a:r>
            <a:endParaRPr lang="en-US" sz="4000" b="1" dirty="0"/>
          </a:p>
        </p:txBody>
      </p:sp>
      <p:sp>
        <p:nvSpPr>
          <p:cNvPr id="3" name="TextBox 2">
            <a:extLst>
              <a:ext uri="{FF2B5EF4-FFF2-40B4-BE49-F238E27FC236}">
                <a16:creationId xmlns:a16="http://schemas.microsoft.com/office/drawing/2014/main" id="{70DC3310-1D80-42B5-8946-7E83465F59C2}"/>
              </a:ext>
            </a:extLst>
          </p:cNvPr>
          <p:cNvSpPr txBox="1"/>
          <p:nvPr/>
        </p:nvSpPr>
        <p:spPr>
          <a:xfrm>
            <a:off x="304800" y="1143000"/>
            <a:ext cx="8229600" cy="3970318"/>
          </a:xfrm>
          <a:prstGeom prst="rect">
            <a:avLst/>
          </a:prstGeom>
          <a:noFill/>
        </p:spPr>
        <p:txBody>
          <a:bodyPr wrap="square" rtlCol="0">
            <a:spAutoFit/>
          </a:bodyPr>
          <a:lstStyle/>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While the registering of randomized control trials has been the norm for a number of years, more recently, there is the option to register other types of studies, including observational studies and even in vitro studies.</a:t>
            </a: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In an effort to improve scientific data reporting, guidelines have been developed</a:t>
            </a:r>
          </a:p>
          <a:p>
            <a:pPr marL="285750" indent="-285750">
              <a:buClr>
                <a:schemeClr val="accent1">
                  <a:lumMod val="75000"/>
                </a:schemeClr>
              </a:buClr>
              <a:buSzPct val="120000"/>
              <a:buFont typeface="Wingdings" panose="05000000000000000000" pitchFamily="2" charset="2"/>
              <a:buChar char="§"/>
            </a:pPr>
            <a:endParaRPr lang="en-US" b="1"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Several journals offer study registration options</a:t>
            </a: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a:buClr>
                <a:schemeClr val="accent1">
                  <a:lumMod val="75000"/>
                </a:schemeClr>
              </a:buClr>
              <a:buSzPct val="120000"/>
            </a:pPr>
            <a:r>
              <a:rPr lang="en-US" dirty="0">
                <a:solidFill>
                  <a:schemeClr val="accent1">
                    <a:lumMod val="50000"/>
                  </a:schemeClr>
                </a:solidFill>
                <a:hlinkClick r:id="rId2"/>
              </a:rPr>
              <a:t>https://www.researchregistry.com/about</a:t>
            </a:r>
            <a:endParaRPr lang="en-US" dirty="0">
              <a:solidFill>
                <a:schemeClr val="accent1">
                  <a:lumMod val="50000"/>
                </a:schemeClr>
              </a:solidFill>
            </a:endParaRPr>
          </a:p>
          <a:p>
            <a:pPr>
              <a:buClr>
                <a:schemeClr val="accent1">
                  <a:lumMod val="75000"/>
                </a:schemeClr>
              </a:buClr>
              <a:buSzPct val="120000"/>
            </a:pPr>
            <a:endParaRPr lang="en-US" b="1"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a:buClr>
                <a:schemeClr val="accent1">
                  <a:lumMod val="75000"/>
                </a:schemeClr>
              </a:buClr>
              <a:buSzPct val="120000"/>
            </a:pPr>
            <a:r>
              <a:rPr lang="en-US" b="1" dirty="0">
                <a:solidFill>
                  <a:schemeClr val="accent1">
                    <a:lumMod val="50000"/>
                  </a:schemeClr>
                </a:solidFill>
              </a:rPr>
              <a:t>Q: </a:t>
            </a:r>
            <a:r>
              <a:rPr lang="en-US" dirty="0">
                <a:solidFill>
                  <a:schemeClr val="accent1">
                    <a:lumMod val="50000"/>
                  </a:schemeClr>
                </a:solidFill>
              </a:rPr>
              <a:t>Have you or someone in your lab ever registered a study?</a:t>
            </a: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p:txBody>
      </p:sp>
    </p:spTree>
    <p:extLst>
      <p:ext uri="{BB962C8B-B14F-4D97-AF65-F5344CB8AC3E}">
        <p14:creationId xmlns:p14="http://schemas.microsoft.com/office/powerpoint/2010/main" val="867520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endParaRPr lang="en-US" sz="4000" b="1" dirty="0"/>
          </a:p>
        </p:txBody>
      </p:sp>
      <p:sp>
        <p:nvSpPr>
          <p:cNvPr id="4" name="TextBox 3"/>
          <p:cNvSpPr txBox="1"/>
          <p:nvPr/>
        </p:nvSpPr>
        <p:spPr>
          <a:xfrm>
            <a:off x="304800" y="1143000"/>
            <a:ext cx="8305800" cy="4708981"/>
          </a:xfrm>
          <a:prstGeom prst="rect">
            <a:avLst/>
          </a:prstGeom>
          <a:noFill/>
        </p:spPr>
        <p:txBody>
          <a:bodyPr wrap="square" rtlCol="0">
            <a:spAutoFit/>
          </a:bodyPr>
          <a:lstStyle/>
          <a:p>
            <a:r>
              <a:rPr lang="en-US" sz="2000" dirty="0">
                <a:solidFill>
                  <a:schemeClr val="accent1">
                    <a:lumMod val="50000"/>
                  </a:schemeClr>
                </a:solidFill>
              </a:rPr>
              <a:t>Unlike during an experiment or an intervention study, in observational studies,  investigators </a:t>
            </a:r>
            <a:r>
              <a:rPr lang="en-US" sz="2000" b="1" dirty="0">
                <a:solidFill>
                  <a:schemeClr val="accent1">
                    <a:lumMod val="50000"/>
                  </a:schemeClr>
                </a:solidFill>
              </a:rPr>
              <a:t>observe</a:t>
            </a:r>
            <a:r>
              <a:rPr lang="en-US" sz="2000" dirty="0">
                <a:solidFill>
                  <a:schemeClr val="accent1">
                    <a:lumMod val="50000"/>
                  </a:schemeClr>
                </a:solidFill>
              </a:rPr>
              <a:t> study participants and measure variables of interest </a:t>
            </a:r>
            <a:r>
              <a:rPr lang="en-US" sz="2000" b="1" dirty="0">
                <a:solidFill>
                  <a:schemeClr val="accent1">
                    <a:lumMod val="50000"/>
                  </a:schemeClr>
                </a:solidFill>
              </a:rPr>
              <a:t>without </a:t>
            </a:r>
            <a:r>
              <a:rPr lang="en-US" sz="2000" dirty="0">
                <a:solidFill>
                  <a:schemeClr val="accent1">
                    <a:lumMod val="50000"/>
                  </a:schemeClr>
                </a:solidFill>
              </a:rPr>
              <a:t>assigning treatments or interventions to the participants. </a:t>
            </a:r>
          </a:p>
          <a:p>
            <a:endParaRPr lang="en-US" sz="2000" dirty="0">
              <a:solidFill>
                <a:schemeClr val="accent1">
                  <a:lumMod val="50000"/>
                </a:schemeClr>
              </a:solidFill>
            </a:endParaRPr>
          </a:p>
          <a:p>
            <a:r>
              <a:rPr lang="en-US" sz="2000" dirty="0">
                <a:solidFill>
                  <a:schemeClr val="accent1">
                    <a:lumMod val="50000"/>
                  </a:schemeClr>
                </a:solidFill>
              </a:rPr>
              <a:t>The treatment or exposure that each participant experiences is determined beyond the control of the investigator.</a:t>
            </a:r>
          </a:p>
          <a:p>
            <a:endParaRPr lang="en-US" sz="2000" dirty="0">
              <a:solidFill>
                <a:schemeClr val="accent1">
                  <a:lumMod val="50000"/>
                </a:schemeClr>
              </a:solidFill>
            </a:endParaRPr>
          </a:p>
          <a:p>
            <a:r>
              <a:rPr lang="en-US" sz="2000" b="1" dirty="0">
                <a:solidFill>
                  <a:schemeClr val="accent1">
                    <a:lumMod val="50000"/>
                  </a:schemeClr>
                </a:solidFill>
              </a:rPr>
              <a:t>Example: </a:t>
            </a:r>
            <a:r>
              <a:rPr lang="en-US" sz="2000" dirty="0">
                <a:solidFill>
                  <a:schemeClr val="accent1">
                    <a:lumMod val="50000"/>
                  </a:schemeClr>
                </a:solidFill>
              </a:rPr>
              <a:t>Want to study the relationship between smoking in pregnancy and preterm delivery</a:t>
            </a:r>
          </a:p>
          <a:p>
            <a:endParaRPr lang="en-US" sz="2000" dirty="0">
              <a:solidFill>
                <a:schemeClr val="accent1">
                  <a:lumMod val="50000"/>
                </a:schemeClr>
              </a:solidFill>
            </a:endParaRPr>
          </a:p>
          <a:p>
            <a:r>
              <a:rPr lang="en-US" sz="2000" dirty="0">
                <a:solidFill>
                  <a:schemeClr val="accent1">
                    <a:lumMod val="50000"/>
                  </a:schemeClr>
                </a:solidFill>
              </a:rPr>
              <a:t>	Approach </a:t>
            </a:r>
            <a:r>
              <a:rPr lang="en-US" sz="2000" b="1" dirty="0">
                <a:solidFill>
                  <a:schemeClr val="accent1">
                    <a:lumMod val="50000"/>
                  </a:schemeClr>
                </a:solidFill>
              </a:rPr>
              <a:t>all</a:t>
            </a:r>
            <a:r>
              <a:rPr lang="en-US" sz="2000" dirty="0">
                <a:solidFill>
                  <a:schemeClr val="accent1">
                    <a:lumMod val="50000"/>
                  </a:schemeClr>
                </a:solidFill>
              </a:rPr>
              <a:t> consecutive pregnant women who present at a given 	clinic between 12 and 24 weeks of gestation. Ask them questions 	about their smoking habits. Determine their “due date” and record 	when they give birth. </a:t>
            </a:r>
          </a:p>
          <a:p>
            <a:endParaRPr lang="en-US" sz="2000" b="1" dirty="0">
              <a:solidFill>
                <a:schemeClr val="accent1">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447800"/>
            <a:ext cx="4572000" cy="2677656"/>
          </a:xfrm>
          <a:prstGeom prst="rect">
            <a:avLst/>
          </a:prstGeom>
        </p:spPr>
        <p:txBody>
          <a:bodyPr>
            <a:spAutoFit/>
          </a:bodyPr>
          <a:lstStyle/>
          <a:p>
            <a:r>
              <a:rPr lang="en-US" sz="2400" b="1" dirty="0">
                <a:solidFill>
                  <a:schemeClr val="accent1">
                    <a:lumMod val="50000"/>
                  </a:schemeClr>
                </a:solidFill>
              </a:rPr>
              <a:t>Descriptive studies</a:t>
            </a:r>
          </a:p>
          <a:p>
            <a:r>
              <a:rPr lang="en-US" sz="2400" dirty="0">
                <a:solidFill>
                  <a:schemeClr val="accent1">
                    <a:lumMod val="50000"/>
                  </a:schemeClr>
                </a:solidFill>
              </a:rPr>
              <a:t>	- Case series</a:t>
            </a:r>
          </a:p>
          <a:p>
            <a:r>
              <a:rPr lang="en-US" sz="2400" dirty="0">
                <a:solidFill>
                  <a:schemeClr val="accent1">
                    <a:lumMod val="50000"/>
                  </a:schemeClr>
                </a:solidFill>
              </a:rPr>
              <a:t>	- Cross-sectional studies</a:t>
            </a:r>
          </a:p>
          <a:p>
            <a:endParaRPr lang="en-US" sz="2400" dirty="0">
              <a:solidFill>
                <a:schemeClr val="accent1">
                  <a:lumMod val="50000"/>
                </a:schemeClr>
              </a:solidFill>
            </a:endParaRPr>
          </a:p>
          <a:p>
            <a:r>
              <a:rPr lang="en-US" sz="2400" b="1" dirty="0">
                <a:solidFill>
                  <a:schemeClr val="accent1">
                    <a:lumMod val="50000"/>
                  </a:schemeClr>
                </a:solidFill>
              </a:rPr>
              <a:t>Analytic studies</a:t>
            </a:r>
          </a:p>
          <a:p>
            <a:r>
              <a:rPr lang="en-US" sz="2400" dirty="0">
                <a:solidFill>
                  <a:schemeClr val="accent1">
                    <a:lumMod val="50000"/>
                  </a:schemeClr>
                </a:solidFill>
              </a:rPr>
              <a:t>	- Cohort studies</a:t>
            </a:r>
          </a:p>
          <a:p>
            <a:r>
              <a:rPr lang="en-US" sz="2400" dirty="0">
                <a:solidFill>
                  <a:schemeClr val="accent1">
                    <a:lumMod val="50000"/>
                  </a:schemeClr>
                </a:solidFill>
              </a:rPr>
              <a:t>	- Case-control studies</a:t>
            </a: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types</a:t>
            </a:r>
            <a:endParaRPr lang="en-US" sz="4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descriptive studies</a:t>
            </a:r>
            <a:endParaRPr lang="en-US" sz="4000" b="1" dirty="0"/>
          </a:p>
        </p:txBody>
      </p:sp>
      <p:sp>
        <p:nvSpPr>
          <p:cNvPr id="3" name="TextBox 2"/>
          <p:cNvSpPr txBox="1"/>
          <p:nvPr/>
        </p:nvSpPr>
        <p:spPr>
          <a:xfrm>
            <a:off x="381000" y="1295400"/>
            <a:ext cx="8381999" cy="3170099"/>
          </a:xfrm>
          <a:prstGeom prst="rect">
            <a:avLst/>
          </a:prstGeom>
          <a:noFill/>
        </p:spPr>
        <p:txBody>
          <a:bodyPr wrap="square" rtlCol="0">
            <a:spAutoFit/>
          </a:bodyPr>
          <a:lstStyle/>
          <a:p>
            <a:r>
              <a:rPr lang="en-US" sz="2000" b="1" dirty="0">
                <a:solidFill>
                  <a:schemeClr val="accent1">
                    <a:lumMod val="50000"/>
                  </a:schemeClr>
                </a:solidFill>
              </a:rPr>
              <a:t>Case report: </a:t>
            </a:r>
            <a:r>
              <a:rPr lang="en-US" sz="2000" dirty="0">
                <a:solidFill>
                  <a:schemeClr val="accent1">
                    <a:lumMod val="50000"/>
                  </a:schemeClr>
                </a:solidFill>
              </a:rPr>
              <a:t>A single patient with an interesting story (symptoms, signs, 	        diagnosis)</a:t>
            </a:r>
          </a:p>
          <a:p>
            <a:r>
              <a:rPr lang="en-US" sz="2000" dirty="0">
                <a:solidFill>
                  <a:schemeClr val="accent1">
                    <a:lumMod val="50000"/>
                  </a:schemeClr>
                </a:solidFill>
              </a:rPr>
              <a:t>	       To be taken with a grain of salt unless several similar case reports </a:t>
            </a:r>
            <a:br>
              <a:rPr lang="en-US" sz="2000" dirty="0">
                <a:solidFill>
                  <a:schemeClr val="accent1">
                    <a:lumMod val="50000"/>
                  </a:schemeClr>
                </a:solidFill>
              </a:rPr>
            </a:br>
            <a:r>
              <a:rPr lang="en-US" sz="2000" dirty="0">
                <a:solidFill>
                  <a:schemeClr val="accent1">
                    <a:lumMod val="50000"/>
                  </a:schemeClr>
                </a:solidFill>
              </a:rPr>
              <a:t>                        or case series emerge</a:t>
            </a:r>
          </a:p>
          <a:p>
            <a:endParaRPr lang="en-US" sz="2000" dirty="0">
              <a:solidFill>
                <a:schemeClr val="accent1">
                  <a:lumMod val="50000"/>
                </a:schemeClr>
              </a:solidFill>
            </a:endParaRPr>
          </a:p>
          <a:p>
            <a:r>
              <a:rPr lang="en-US" sz="2000" b="1" dirty="0">
                <a:solidFill>
                  <a:schemeClr val="accent1">
                    <a:lumMod val="50000"/>
                  </a:schemeClr>
                </a:solidFill>
              </a:rPr>
              <a:t>Case series: </a:t>
            </a:r>
            <a:r>
              <a:rPr lang="en-US" sz="2000" dirty="0">
                <a:solidFill>
                  <a:schemeClr val="accent1">
                    <a:lumMod val="50000"/>
                  </a:schemeClr>
                </a:solidFill>
              </a:rPr>
              <a:t>A small group of patients (2+) with a similar diagnosis, condition, </a:t>
            </a:r>
            <a:br>
              <a:rPr lang="en-US" sz="2000" dirty="0">
                <a:solidFill>
                  <a:schemeClr val="accent1">
                    <a:lumMod val="50000"/>
                  </a:schemeClr>
                </a:solidFill>
              </a:rPr>
            </a:br>
            <a:r>
              <a:rPr lang="en-US" sz="2000" dirty="0">
                <a:solidFill>
                  <a:schemeClr val="accent1">
                    <a:lumMod val="50000"/>
                  </a:schemeClr>
                </a:solidFill>
              </a:rPr>
              <a:t>                        or treatment</a:t>
            </a:r>
          </a:p>
          <a:p>
            <a:endParaRPr lang="en-US" sz="2000" dirty="0">
              <a:solidFill>
                <a:schemeClr val="accent1">
                  <a:lumMod val="50000"/>
                </a:schemeClr>
              </a:solidFill>
            </a:endParaRPr>
          </a:p>
          <a:p>
            <a:r>
              <a:rPr lang="en-US" sz="2000" dirty="0">
                <a:solidFill>
                  <a:schemeClr val="accent1">
                    <a:lumMod val="50000"/>
                  </a:schemeClr>
                </a:solidFill>
              </a:rPr>
              <a:t>Summary statistics: not applicable because the number “n” is too small</a:t>
            </a:r>
          </a:p>
          <a:p>
            <a:endParaRPr lang="en-US" sz="2000" dirty="0">
              <a:solidFill>
                <a:schemeClr val="accent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case report/series</a:t>
            </a:r>
            <a:endParaRPr lang="en-US" sz="4000" b="1" dirty="0"/>
          </a:p>
        </p:txBody>
      </p:sp>
      <p:sp>
        <p:nvSpPr>
          <p:cNvPr id="3" name="Rectangle 2"/>
          <p:cNvSpPr/>
          <p:nvPr/>
        </p:nvSpPr>
        <p:spPr>
          <a:xfrm>
            <a:off x="381000" y="1219200"/>
            <a:ext cx="7924800" cy="2554545"/>
          </a:xfrm>
          <a:prstGeom prst="rect">
            <a:avLst/>
          </a:prstGeom>
        </p:spPr>
        <p:txBody>
          <a:bodyPr wrap="square">
            <a:spAutoFit/>
          </a:bodyPr>
          <a:lstStyle/>
          <a:p>
            <a:r>
              <a:rPr lang="en-US" sz="2000" b="1" u="sng" dirty="0">
                <a:solidFill>
                  <a:schemeClr val="accent1">
                    <a:lumMod val="50000"/>
                  </a:schemeClr>
                </a:solidFill>
              </a:rPr>
              <a:t>PROS:</a:t>
            </a:r>
          </a:p>
          <a:p>
            <a:pPr lvl="1">
              <a:buFont typeface="Arial" pitchFamily="34" charset="0"/>
              <a:buChar char="•"/>
            </a:pPr>
            <a:r>
              <a:rPr lang="en-US" sz="2000" dirty="0">
                <a:solidFill>
                  <a:schemeClr val="accent1">
                    <a:lumMod val="50000"/>
                  </a:schemeClr>
                </a:solidFill>
              </a:rPr>
              <a:t>  Can be the first indication of an epidemic or new pathogen</a:t>
            </a:r>
          </a:p>
          <a:p>
            <a:pPr lvl="1">
              <a:buFont typeface="Arial" pitchFamily="34" charset="0"/>
              <a:buChar char="•"/>
            </a:pPr>
            <a:r>
              <a:rPr lang="en-US" sz="2000" dirty="0">
                <a:solidFill>
                  <a:schemeClr val="accent1">
                    <a:lumMod val="50000"/>
                  </a:schemeClr>
                </a:solidFill>
              </a:rPr>
              <a:t>  Can raise questions, inform and lead to new hypotheses</a:t>
            </a:r>
          </a:p>
          <a:p>
            <a:pPr lvl="1"/>
            <a:endParaRPr lang="en-US" sz="2000" dirty="0">
              <a:solidFill>
                <a:schemeClr val="accent1">
                  <a:lumMod val="50000"/>
                </a:schemeClr>
              </a:solidFill>
            </a:endParaRPr>
          </a:p>
          <a:p>
            <a:r>
              <a:rPr lang="en-US" sz="2000" b="1" u="sng" dirty="0">
                <a:solidFill>
                  <a:schemeClr val="accent1">
                    <a:lumMod val="50000"/>
                  </a:schemeClr>
                </a:solidFill>
              </a:rPr>
              <a:t>CONS: </a:t>
            </a:r>
          </a:p>
          <a:p>
            <a:pPr lvl="1">
              <a:buFont typeface="Arial" pitchFamily="34" charset="0"/>
              <a:buChar char="•"/>
            </a:pPr>
            <a:r>
              <a:rPr lang="en-US" sz="2000" dirty="0">
                <a:solidFill>
                  <a:schemeClr val="accent1">
                    <a:lumMod val="50000"/>
                  </a:schemeClr>
                </a:solidFill>
              </a:rPr>
              <a:t>  Can be coincidental</a:t>
            </a:r>
          </a:p>
          <a:p>
            <a:pPr lvl="1">
              <a:buFont typeface="Arial" pitchFamily="34" charset="0"/>
              <a:buChar char="•"/>
            </a:pPr>
            <a:r>
              <a:rPr lang="en-US" sz="2000" dirty="0">
                <a:solidFill>
                  <a:schemeClr val="accent1">
                    <a:lumMod val="50000"/>
                  </a:schemeClr>
                </a:solidFill>
              </a:rPr>
              <a:t>  No comparison group; cannot study associations</a:t>
            </a:r>
          </a:p>
          <a:p>
            <a:pPr lvl="1">
              <a:buFont typeface="Arial" pitchFamily="34" charset="0"/>
              <a:buChar char="•"/>
            </a:pPr>
            <a:r>
              <a:rPr lang="en-US" sz="2000" dirty="0">
                <a:solidFill>
                  <a:schemeClr val="accent1">
                    <a:lumMod val="50000"/>
                  </a:schemeClr>
                </a:solidFill>
              </a:rPr>
              <a:t>  Often difficult to publish</a:t>
            </a:r>
          </a:p>
        </p:txBody>
      </p:sp>
      <p:sp>
        <p:nvSpPr>
          <p:cNvPr id="4" name="TextBox 3"/>
          <p:cNvSpPr txBox="1"/>
          <p:nvPr/>
        </p:nvSpPr>
        <p:spPr>
          <a:xfrm>
            <a:off x="457200" y="4419600"/>
            <a:ext cx="8309391" cy="1477328"/>
          </a:xfrm>
          <a:prstGeom prst="rect">
            <a:avLst/>
          </a:prstGeom>
          <a:noFill/>
        </p:spPr>
        <p:txBody>
          <a:bodyPr wrap="none" rtlCol="0">
            <a:spAutoFit/>
          </a:bodyPr>
          <a:lstStyle/>
          <a:p>
            <a:pPr marL="0" lvl="2"/>
            <a:r>
              <a:rPr lang="en-US" b="1" dirty="0">
                <a:solidFill>
                  <a:schemeClr val="accent1">
                    <a:lumMod val="75000"/>
                  </a:schemeClr>
                </a:solidFill>
              </a:rPr>
              <a:t>Examples: </a:t>
            </a:r>
            <a:r>
              <a:rPr lang="en-US" dirty="0">
                <a:solidFill>
                  <a:schemeClr val="accent1">
                    <a:lumMod val="75000"/>
                  </a:schemeClr>
                </a:solidFill>
              </a:rPr>
              <a:t>- First report of </a:t>
            </a:r>
            <a:r>
              <a:rPr lang="en-US" b="1" dirty="0">
                <a:solidFill>
                  <a:schemeClr val="accent1">
                    <a:lumMod val="75000"/>
                  </a:schemeClr>
                </a:solidFill>
              </a:rPr>
              <a:t>gay men </a:t>
            </a:r>
            <a:r>
              <a:rPr lang="en-US" dirty="0">
                <a:solidFill>
                  <a:schemeClr val="accent1">
                    <a:lumMod val="75000"/>
                  </a:schemeClr>
                </a:solidFill>
              </a:rPr>
              <a:t>dying of unusual lung infection disease (HIV)  </a:t>
            </a:r>
          </a:p>
          <a:p>
            <a:pPr lvl="2">
              <a:buFontTx/>
              <a:buChar char="-"/>
            </a:pPr>
            <a:r>
              <a:rPr lang="en-US" dirty="0">
                <a:solidFill>
                  <a:schemeClr val="accent1">
                    <a:lumMod val="75000"/>
                  </a:schemeClr>
                </a:solidFill>
              </a:rPr>
              <a:t>   Reports of HIV+ people dying of lactic acidosis on antiretroviral therapy </a:t>
            </a:r>
          </a:p>
          <a:p>
            <a:pPr lvl="2">
              <a:buFontTx/>
              <a:buChar char="-"/>
            </a:pPr>
            <a:r>
              <a:rPr lang="en-US" dirty="0">
                <a:solidFill>
                  <a:schemeClr val="accent1">
                    <a:lumMod val="75000"/>
                  </a:schemeClr>
                </a:solidFill>
              </a:rPr>
              <a:t>   Rare diseases, unusual disease presentation, rare reactions to vaccines</a:t>
            </a:r>
          </a:p>
          <a:p>
            <a:pPr lvl="2">
              <a:buFontTx/>
              <a:buChar char="-"/>
            </a:pPr>
            <a:r>
              <a:rPr lang="en-US" dirty="0">
                <a:solidFill>
                  <a:schemeClr val="accent1">
                    <a:lumMod val="75000"/>
                  </a:schemeClr>
                </a:solidFill>
              </a:rPr>
              <a:t>   SARS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descriptive studies</a:t>
            </a:r>
            <a:endParaRPr lang="en-US" sz="4000" b="1" dirty="0"/>
          </a:p>
        </p:txBody>
      </p:sp>
      <p:sp>
        <p:nvSpPr>
          <p:cNvPr id="3" name="TextBox 2"/>
          <p:cNvSpPr txBox="1"/>
          <p:nvPr/>
        </p:nvSpPr>
        <p:spPr>
          <a:xfrm>
            <a:off x="228600" y="1224677"/>
            <a:ext cx="8610600" cy="2585323"/>
          </a:xfrm>
          <a:prstGeom prst="rect">
            <a:avLst/>
          </a:prstGeom>
          <a:noFill/>
        </p:spPr>
        <p:txBody>
          <a:bodyPr wrap="square" rtlCol="0">
            <a:spAutoFit/>
          </a:bodyPr>
          <a:lstStyle/>
          <a:p>
            <a:r>
              <a:rPr lang="en-US" b="1" dirty="0">
                <a:solidFill>
                  <a:schemeClr val="accent1">
                    <a:lumMod val="50000"/>
                  </a:schemeClr>
                </a:solidFill>
              </a:rPr>
              <a:t>Cross sectional studies: </a:t>
            </a:r>
            <a:r>
              <a:rPr lang="en-US" dirty="0">
                <a:solidFill>
                  <a:schemeClr val="accent1">
                    <a:lumMod val="50000"/>
                  </a:schemeClr>
                </a:solidFill>
              </a:rPr>
              <a:t>A study of all persons in the target population, or a representative sample of the population (cross-sectional = one time point per person).</a:t>
            </a:r>
          </a:p>
          <a:p>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Should be selected without regard to exposure or disease status</a:t>
            </a:r>
          </a:p>
          <a:p>
            <a:pPr lvl="1">
              <a:buClr>
                <a:schemeClr val="accent1">
                  <a:lumMod val="75000"/>
                </a:schemeClr>
              </a:buClr>
              <a:buSzPct val="120000"/>
            </a:pPr>
            <a:r>
              <a:rPr lang="en-US" dirty="0">
                <a:solidFill>
                  <a:schemeClr val="accent1">
                    <a:lumMod val="50000"/>
                  </a:schemeClr>
                </a:solidFill>
              </a:rPr>
              <a:t>- All comers or a random selection</a:t>
            </a:r>
          </a:p>
          <a:p>
            <a:pPr>
              <a:buClr>
                <a:schemeClr val="accent1">
                  <a:lumMod val="75000"/>
                </a:schemeClr>
              </a:buClr>
              <a:buSzPct val="120000"/>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Individuals are then categorized into those with and without exposure or disease</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A measure is done in all study participants and compared</a:t>
            </a:r>
          </a:p>
        </p:txBody>
      </p:sp>
      <p:sp>
        <p:nvSpPr>
          <p:cNvPr id="5" name="Rectangle 4"/>
          <p:cNvSpPr/>
          <p:nvPr/>
        </p:nvSpPr>
        <p:spPr>
          <a:xfrm>
            <a:off x="217025" y="4196477"/>
            <a:ext cx="8610600" cy="1200329"/>
          </a:xfrm>
          <a:prstGeom prst="rect">
            <a:avLst/>
          </a:prstGeom>
        </p:spPr>
        <p:txBody>
          <a:bodyPr wrap="square">
            <a:spAutoFit/>
          </a:bodyPr>
          <a:lstStyle/>
          <a:p>
            <a:pPr>
              <a:buClr>
                <a:schemeClr val="accent1">
                  <a:lumMod val="75000"/>
                </a:schemeClr>
              </a:buClr>
              <a:buSzPct val="120000"/>
            </a:pPr>
            <a:r>
              <a:rPr lang="en-US" b="1" dirty="0">
                <a:solidFill>
                  <a:schemeClr val="accent1">
                    <a:lumMod val="50000"/>
                  </a:schemeClr>
                </a:solidFill>
              </a:rPr>
              <a:t>Examples: </a:t>
            </a:r>
            <a:endParaRPr lang="en-US" dirty="0">
              <a:solidFill>
                <a:schemeClr val="accent1">
                  <a:lumMod val="50000"/>
                </a:schemeClr>
              </a:solidFill>
            </a:endParaRPr>
          </a:p>
          <a:p>
            <a:pPr>
              <a:buClr>
                <a:schemeClr val="accent1">
                  <a:lumMod val="75000"/>
                </a:schemeClr>
              </a:buClr>
              <a:buSzPct val="120000"/>
            </a:pPr>
            <a:r>
              <a:rPr lang="en-US" dirty="0">
                <a:solidFill>
                  <a:schemeClr val="accent1">
                    <a:lumMod val="50000"/>
                  </a:schemeClr>
                </a:solidFill>
              </a:rPr>
              <a:t>- Study a sample of HIV-infected and HIV-uninfected people (who ideally live in the 	  same neighborhood and have similar socio-demographic characteristics), then  investigate differences in telomere length, smoking rates, CVD, etc…at a given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descriptive studies</a:t>
            </a:r>
            <a:endParaRPr lang="en-US" sz="4000" b="1" dirty="0"/>
          </a:p>
        </p:txBody>
      </p:sp>
      <p:sp>
        <p:nvSpPr>
          <p:cNvPr id="3" name="TextBox 2"/>
          <p:cNvSpPr txBox="1"/>
          <p:nvPr/>
        </p:nvSpPr>
        <p:spPr>
          <a:xfrm>
            <a:off x="228600" y="990600"/>
            <a:ext cx="8915400" cy="1200329"/>
          </a:xfrm>
          <a:prstGeom prst="rect">
            <a:avLst/>
          </a:prstGeom>
          <a:noFill/>
        </p:spPr>
        <p:txBody>
          <a:bodyPr wrap="square" rtlCol="0">
            <a:spAutoFit/>
          </a:bodyPr>
          <a:lstStyle/>
          <a:p>
            <a:r>
              <a:rPr lang="en-US" b="1" dirty="0">
                <a:solidFill>
                  <a:schemeClr val="accent1">
                    <a:lumMod val="50000"/>
                  </a:schemeClr>
                </a:solidFill>
              </a:rPr>
              <a:t>Cross sectional studies: Example</a:t>
            </a:r>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Equal number of 60 </a:t>
            </a:r>
            <a:r>
              <a:rPr lang="en-US" dirty="0" err="1">
                <a:solidFill>
                  <a:schemeClr val="accent1">
                    <a:lumMod val="50000"/>
                  </a:schemeClr>
                </a:solidFill>
              </a:rPr>
              <a:t>yo</a:t>
            </a:r>
            <a:r>
              <a:rPr lang="en-US" dirty="0">
                <a:solidFill>
                  <a:schemeClr val="accent1">
                    <a:lumMod val="50000"/>
                  </a:schemeClr>
                </a:solidFill>
              </a:rPr>
              <a:t> men and women selected randomly from BC population</a:t>
            </a:r>
          </a:p>
          <a:p>
            <a:endParaRPr lang="en-US" dirty="0">
              <a:solidFill>
                <a:schemeClr val="accent1">
                  <a:lumMod val="50000"/>
                </a:schemeClr>
              </a:solidFill>
            </a:endParaRPr>
          </a:p>
        </p:txBody>
      </p:sp>
      <p:cxnSp>
        <p:nvCxnSpPr>
          <p:cNvPr id="4" name="Straight Connector 3"/>
          <p:cNvCxnSpPr/>
          <p:nvPr/>
        </p:nvCxnSpPr>
        <p:spPr>
          <a:xfrm>
            <a:off x="0" y="3429000"/>
            <a:ext cx="2819400" cy="0"/>
          </a:xfrm>
          <a:prstGeom prst="line">
            <a:avLst/>
          </a:prstGeom>
          <a:ln w="57150"/>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533400" y="2057400"/>
            <a:ext cx="6534581" cy="533400"/>
            <a:chOff x="533400" y="3048000"/>
            <a:chExt cx="6534581" cy="533400"/>
          </a:xfrm>
        </p:grpSpPr>
        <p:cxnSp>
          <p:nvCxnSpPr>
            <p:cNvPr id="6" name="Straight Connector 5"/>
            <p:cNvCxnSpPr/>
            <p:nvPr/>
          </p:nvCxnSpPr>
          <p:spPr>
            <a:xfrm>
              <a:off x="533400" y="3429000"/>
              <a:ext cx="685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33400" y="3200400"/>
              <a:ext cx="6858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219200" y="3048000"/>
              <a:ext cx="5848781" cy="307777"/>
            </a:xfrm>
            <a:prstGeom prst="rect">
              <a:avLst/>
            </a:prstGeom>
            <a:noFill/>
          </p:spPr>
          <p:txBody>
            <a:bodyPr wrap="none" rtlCol="0">
              <a:spAutoFit/>
            </a:bodyPr>
            <a:lstStyle/>
            <a:p>
              <a:r>
                <a:rPr lang="en-US" sz="1400" dirty="0">
                  <a:solidFill>
                    <a:schemeClr val="accent1">
                      <a:lumMod val="50000"/>
                    </a:schemeClr>
                  </a:solidFill>
                </a:rPr>
                <a:t>Living free of condition       </a:t>
              </a:r>
              <a:r>
                <a:rPr lang="en-US" sz="1400" dirty="0" err="1">
                  <a:solidFill>
                    <a:schemeClr val="accent1">
                      <a:lumMod val="50000"/>
                    </a:schemeClr>
                  </a:solidFill>
                </a:rPr>
                <a:t>Condition</a:t>
              </a:r>
              <a:r>
                <a:rPr lang="en-US" sz="1400" dirty="0">
                  <a:solidFill>
                    <a:schemeClr val="accent1">
                      <a:lumMod val="50000"/>
                    </a:schemeClr>
                  </a:solidFill>
                </a:rPr>
                <a:t> = cardiovascular disease, HIV, cancer, etc.</a:t>
              </a:r>
            </a:p>
          </p:txBody>
        </p:sp>
        <p:sp>
          <p:nvSpPr>
            <p:cNvPr id="9" name="TextBox 8"/>
            <p:cNvSpPr txBox="1"/>
            <p:nvPr/>
          </p:nvSpPr>
          <p:spPr>
            <a:xfrm>
              <a:off x="1219200" y="3273623"/>
              <a:ext cx="4365811" cy="307777"/>
            </a:xfrm>
            <a:prstGeom prst="rect">
              <a:avLst/>
            </a:prstGeom>
            <a:noFill/>
          </p:spPr>
          <p:txBody>
            <a:bodyPr wrap="none" rtlCol="0">
              <a:spAutoFit/>
            </a:bodyPr>
            <a:lstStyle/>
            <a:p>
              <a:r>
                <a:rPr lang="en-US" sz="1400" dirty="0">
                  <a:solidFill>
                    <a:schemeClr val="accent1">
                      <a:lumMod val="50000"/>
                    </a:schemeClr>
                  </a:solidFill>
                </a:rPr>
                <a:t>Living with the condition    Each line = 10 or 100 persons</a:t>
              </a:r>
            </a:p>
          </p:txBody>
        </p:sp>
      </p:grpSp>
      <p:cxnSp>
        <p:nvCxnSpPr>
          <p:cNvPr id="10" name="Straight Connector 9"/>
          <p:cNvCxnSpPr/>
          <p:nvPr/>
        </p:nvCxnSpPr>
        <p:spPr>
          <a:xfrm>
            <a:off x="0" y="3581400"/>
            <a:ext cx="2133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733800"/>
            <a:ext cx="5715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3886200"/>
            <a:ext cx="3276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4038600"/>
            <a:ext cx="43434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4191000"/>
            <a:ext cx="25908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52400" y="4343400"/>
            <a:ext cx="800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4495800"/>
            <a:ext cx="3810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4648200"/>
            <a:ext cx="3429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28600" y="4800600"/>
            <a:ext cx="32004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52400" y="4953000"/>
            <a:ext cx="3886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0" y="5105400"/>
            <a:ext cx="6934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52400" y="5257800"/>
            <a:ext cx="6096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0" y="5410200"/>
            <a:ext cx="419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0" y="5562600"/>
            <a:ext cx="9372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0" y="5715000"/>
            <a:ext cx="5029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819400" y="3429000"/>
            <a:ext cx="4495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133600" y="3581400"/>
            <a:ext cx="701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715000" y="3733800"/>
            <a:ext cx="3429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276600" y="3886200"/>
            <a:ext cx="5867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343400" y="4038600"/>
            <a:ext cx="3962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590800" y="4191000"/>
            <a:ext cx="6553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848600" y="4343400"/>
            <a:ext cx="1295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733800" y="44958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429000" y="4648200"/>
            <a:ext cx="5715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971800" y="4800600"/>
            <a:ext cx="3124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733800" y="49530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934200" y="5105400"/>
            <a:ext cx="2209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5943600" y="5257800"/>
            <a:ext cx="320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191000" y="5410200"/>
            <a:ext cx="4953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193312" y="5715000"/>
            <a:ext cx="3893288"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4419600" y="30480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625678" y="2743200"/>
            <a:ext cx="1583639" cy="369332"/>
          </a:xfrm>
          <a:prstGeom prst="rect">
            <a:avLst/>
          </a:prstGeom>
          <a:noFill/>
        </p:spPr>
        <p:txBody>
          <a:bodyPr wrap="none" rtlCol="0">
            <a:spAutoFit/>
          </a:bodyPr>
          <a:lstStyle/>
          <a:p>
            <a:r>
              <a:rPr lang="en-US" dirty="0">
                <a:solidFill>
                  <a:schemeClr val="accent1">
                    <a:lumMod val="50000"/>
                  </a:schemeClr>
                </a:solidFill>
              </a:rPr>
              <a:t>Data collection</a:t>
            </a:r>
          </a:p>
        </p:txBody>
      </p:sp>
      <p:cxnSp>
        <p:nvCxnSpPr>
          <p:cNvPr id="42" name="Straight Connector 41"/>
          <p:cNvCxnSpPr/>
          <p:nvPr/>
        </p:nvCxnSpPr>
        <p:spPr>
          <a:xfrm>
            <a:off x="4419600" y="3429000"/>
            <a:ext cx="0" cy="2514600"/>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4800" y="5934670"/>
            <a:ext cx="8839200" cy="646331"/>
          </a:xfrm>
          <a:prstGeom prst="rect">
            <a:avLst/>
          </a:prstGeom>
          <a:noFill/>
        </p:spPr>
        <p:txBody>
          <a:bodyPr wrap="square" rtlCol="0">
            <a:spAutoFit/>
          </a:bodyPr>
          <a:lstStyle/>
          <a:p>
            <a:r>
              <a:rPr lang="en-US" dirty="0">
                <a:solidFill>
                  <a:schemeClr val="accent1">
                    <a:lumMod val="50000"/>
                  </a:schemeClr>
                </a:solidFill>
              </a:rPr>
              <a:t>100 people per line: Prevalence = 500/1600   = 31.3%             95% CI = (29.0% – 33.5%)</a:t>
            </a:r>
          </a:p>
          <a:p>
            <a:r>
              <a:rPr lang="en-US" dirty="0">
                <a:solidFill>
                  <a:schemeClr val="accent1">
                    <a:lumMod val="50000"/>
                  </a:schemeClr>
                </a:solidFill>
              </a:rPr>
              <a:t>10 people per line: Prevalence = 50/160         = 31.3%	   95% CI = (24.0% – 38.5%)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cross-sectional studies</a:t>
            </a:r>
            <a:endParaRPr lang="en-US" sz="4000" dirty="0"/>
          </a:p>
        </p:txBody>
      </p:sp>
      <p:cxnSp>
        <p:nvCxnSpPr>
          <p:cNvPr id="28" name="Straight Connector 27"/>
          <p:cNvCxnSpPr/>
          <p:nvPr/>
        </p:nvCxnSpPr>
        <p:spPr>
          <a:xfrm>
            <a:off x="0" y="1752600"/>
            <a:ext cx="2819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0" y="1905000"/>
            <a:ext cx="2133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2057400"/>
            <a:ext cx="5715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0" y="2209800"/>
            <a:ext cx="32766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0" y="2362200"/>
            <a:ext cx="4343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0" y="2514600"/>
            <a:ext cx="25908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52400" y="2667000"/>
            <a:ext cx="800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0" y="2819400"/>
            <a:ext cx="3810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2971800"/>
            <a:ext cx="3429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28600" y="3124200"/>
            <a:ext cx="3200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52400" y="3276600"/>
            <a:ext cx="3886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3429000"/>
            <a:ext cx="6934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52400" y="3581400"/>
            <a:ext cx="60960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0" y="3733800"/>
            <a:ext cx="41910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0" y="3886200"/>
            <a:ext cx="9372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0" y="4038600"/>
            <a:ext cx="32766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819400" y="1752600"/>
            <a:ext cx="44196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133600" y="1905000"/>
            <a:ext cx="701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715000" y="2057400"/>
            <a:ext cx="3429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276600" y="2209800"/>
            <a:ext cx="58674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343400" y="2362200"/>
            <a:ext cx="37338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2590800" y="2514600"/>
            <a:ext cx="6553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7848600" y="2667000"/>
            <a:ext cx="1295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733800" y="28194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429000" y="2971800"/>
            <a:ext cx="5715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2971800" y="3124200"/>
            <a:ext cx="31242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733800" y="32766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934200" y="3429000"/>
            <a:ext cx="2209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943600" y="3581400"/>
            <a:ext cx="32004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4191000" y="3733800"/>
            <a:ext cx="49530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193312" y="4038600"/>
            <a:ext cx="3893288"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4419600" y="1371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625678" y="1066800"/>
            <a:ext cx="1583639" cy="369332"/>
          </a:xfrm>
          <a:prstGeom prst="rect">
            <a:avLst/>
          </a:prstGeom>
          <a:noFill/>
        </p:spPr>
        <p:txBody>
          <a:bodyPr wrap="none" rtlCol="0">
            <a:spAutoFit/>
          </a:bodyPr>
          <a:lstStyle/>
          <a:p>
            <a:r>
              <a:rPr lang="en-US" dirty="0">
                <a:solidFill>
                  <a:schemeClr val="accent1">
                    <a:lumMod val="50000"/>
                  </a:schemeClr>
                </a:solidFill>
              </a:rPr>
              <a:t>Data collection</a:t>
            </a:r>
          </a:p>
        </p:txBody>
      </p:sp>
      <p:cxnSp>
        <p:nvCxnSpPr>
          <p:cNvPr id="67" name="Straight Connector 66"/>
          <p:cNvCxnSpPr/>
          <p:nvPr/>
        </p:nvCxnSpPr>
        <p:spPr>
          <a:xfrm>
            <a:off x="4419600" y="1752600"/>
            <a:ext cx="0" cy="2514600"/>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298024" y="1230463"/>
            <a:ext cx="2646558" cy="338554"/>
          </a:xfrm>
          <a:prstGeom prst="rect">
            <a:avLst/>
          </a:prstGeom>
          <a:noFill/>
        </p:spPr>
        <p:txBody>
          <a:bodyPr wrap="none" rtlCol="0">
            <a:spAutoFit/>
          </a:bodyPr>
          <a:lstStyle/>
          <a:p>
            <a:r>
              <a:rPr lang="en-US" sz="1600" dirty="0">
                <a:solidFill>
                  <a:schemeClr val="accent1">
                    <a:lumMod val="50000"/>
                  </a:schemeClr>
                </a:solidFill>
              </a:rPr>
              <a:t>dashed = male, solid = female</a:t>
            </a:r>
          </a:p>
        </p:txBody>
      </p:sp>
      <p:sp>
        <p:nvSpPr>
          <p:cNvPr id="71" name="TextBox 70"/>
          <p:cNvSpPr txBox="1"/>
          <p:nvPr/>
        </p:nvSpPr>
        <p:spPr>
          <a:xfrm>
            <a:off x="262263" y="5943600"/>
            <a:ext cx="8840369" cy="646331"/>
          </a:xfrm>
          <a:prstGeom prst="rect">
            <a:avLst/>
          </a:prstGeom>
          <a:noFill/>
        </p:spPr>
        <p:txBody>
          <a:bodyPr wrap="none" rtlCol="0">
            <a:spAutoFit/>
          </a:bodyPr>
          <a:lstStyle/>
          <a:p>
            <a:r>
              <a:rPr lang="en-US" dirty="0">
                <a:solidFill>
                  <a:schemeClr val="accent1">
                    <a:lumMod val="50000"/>
                  </a:schemeClr>
                </a:solidFill>
              </a:rPr>
              <a:t>Prevalence ratio among persons with condition = </a:t>
            </a:r>
            <a:r>
              <a:rPr lang="en-US" b="1" dirty="0"/>
              <a:t>600/800 ÷ 100/800 </a:t>
            </a:r>
            <a:r>
              <a:rPr lang="en-US" b="1" dirty="0">
                <a:solidFill>
                  <a:schemeClr val="accent1">
                    <a:lumMod val="50000"/>
                  </a:schemeClr>
                </a:solidFill>
              </a:rPr>
              <a:t>= 6.0</a:t>
            </a:r>
          </a:p>
          <a:p>
            <a:r>
              <a:rPr lang="en-US" b="1" dirty="0">
                <a:solidFill>
                  <a:schemeClr val="accent1">
                    <a:lumMod val="50000"/>
                  </a:schemeClr>
                </a:solidFill>
                <a:sym typeface="Symbol"/>
              </a:rPr>
              <a:t> The proportion of people with the condition is 6-fold greater if the person is of male sex</a:t>
            </a:r>
            <a:endParaRPr lang="en-US" b="1" dirty="0">
              <a:solidFill>
                <a:schemeClr val="accent1">
                  <a:lumMod val="50000"/>
                </a:schemeClr>
              </a:solidFill>
            </a:endParaRPr>
          </a:p>
        </p:txBody>
      </p:sp>
      <p:graphicFrame>
        <p:nvGraphicFramePr>
          <p:cNvPr id="72" name="Table 71"/>
          <p:cNvGraphicFramePr>
            <a:graphicFrameLocks noGrp="1"/>
          </p:cNvGraphicFramePr>
          <p:nvPr/>
        </p:nvGraphicFramePr>
        <p:xfrm>
          <a:off x="228600" y="4343400"/>
          <a:ext cx="8265037" cy="1478280"/>
        </p:xfrm>
        <a:graphic>
          <a:graphicData uri="http://schemas.openxmlformats.org/drawingml/2006/table">
            <a:tbl>
              <a:tblPr firstRow="1" bandRow="1">
                <a:tableStyleId>{5C22544A-7EE6-4342-B048-85BDC9FD1C3A}</a:tableStyleId>
              </a:tblPr>
              <a:tblGrid>
                <a:gridCol w="919290">
                  <a:extLst>
                    <a:ext uri="{9D8B030D-6E8A-4147-A177-3AD203B41FA5}">
                      <a16:colId xmlns:a16="http://schemas.microsoft.com/office/drawing/2014/main" val="20000"/>
                    </a:ext>
                  </a:extLst>
                </a:gridCol>
                <a:gridCol w="2462022">
                  <a:extLst>
                    <a:ext uri="{9D8B030D-6E8A-4147-A177-3AD203B41FA5}">
                      <a16:colId xmlns:a16="http://schemas.microsoft.com/office/drawing/2014/main" val="20001"/>
                    </a:ext>
                  </a:extLst>
                </a:gridCol>
                <a:gridCol w="2577274">
                  <a:extLst>
                    <a:ext uri="{9D8B030D-6E8A-4147-A177-3AD203B41FA5}">
                      <a16:colId xmlns:a16="http://schemas.microsoft.com/office/drawing/2014/main" val="20002"/>
                    </a:ext>
                  </a:extLst>
                </a:gridCol>
                <a:gridCol w="2306451">
                  <a:extLst>
                    <a:ext uri="{9D8B030D-6E8A-4147-A177-3AD203B41FA5}">
                      <a16:colId xmlns:a16="http://schemas.microsoft.com/office/drawing/2014/main" val="20003"/>
                    </a:ext>
                  </a:extLst>
                </a:gridCol>
              </a:tblGrid>
              <a:tr h="152400">
                <a:tc>
                  <a:txBody>
                    <a:bodyPr/>
                    <a:lstStyle/>
                    <a:p>
                      <a:pPr algn="ctr"/>
                      <a:r>
                        <a:rPr lang="en-US" dirty="0"/>
                        <a:t>Sex</a:t>
                      </a:r>
                    </a:p>
                  </a:txBody>
                  <a:tcPr>
                    <a:solidFill>
                      <a:schemeClr val="accent1">
                        <a:lumMod val="75000"/>
                      </a:schemeClr>
                    </a:solidFill>
                  </a:tcPr>
                </a:tc>
                <a:tc>
                  <a:txBody>
                    <a:bodyPr/>
                    <a:lstStyle/>
                    <a:p>
                      <a:pPr algn="ctr"/>
                      <a:r>
                        <a:rPr lang="en-US" sz="1800" dirty="0">
                          <a:solidFill>
                            <a:schemeClr val="bg1"/>
                          </a:solidFill>
                        </a:rPr>
                        <a:t>Living free of condition </a:t>
                      </a:r>
                      <a:endParaRPr lang="en-US" dirty="0">
                        <a:solidFill>
                          <a:schemeClr val="bg1"/>
                        </a:solidFill>
                      </a:endParaRPr>
                    </a:p>
                  </a:txBody>
                  <a:tcPr>
                    <a:solidFill>
                      <a:schemeClr val="accent1">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Living with</a:t>
                      </a:r>
                      <a:r>
                        <a:rPr lang="en-US" sz="1800" baseline="0" dirty="0">
                          <a:solidFill>
                            <a:schemeClr val="bg1"/>
                          </a:solidFill>
                        </a:rPr>
                        <a:t> the</a:t>
                      </a:r>
                      <a:r>
                        <a:rPr lang="en-US" sz="1800" dirty="0">
                          <a:solidFill>
                            <a:schemeClr val="bg1"/>
                          </a:solidFill>
                        </a:rPr>
                        <a:t> condition</a:t>
                      </a:r>
                      <a:endParaRPr lang="en-US" dirty="0"/>
                    </a:p>
                  </a:txBody>
                  <a:tcPr>
                    <a:solidFill>
                      <a:schemeClr val="accent1">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Total</a:t>
                      </a:r>
                    </a:p>
                  </a:txBody>
                  <a:tcPr>
                    <a:solidFill>
                      <a:schemeClr val="accent1">
                        <a:lumMod val="75000"/>
                      </a:schemeClr>
                    </a:solidFill>
                  </a:tcPr>
                </a:tc>
                <a:extLst>
                  <a:ext uri="{0D108BD9-81ED-4DB2-BD59-A6C34878D82A}">
                    <a16:rowId xmlns:a16="http://schemas.microsoft.com/office/drawing/2014/main" val="10000"/>
                  </a:ext>
                </a:extLst>
              </a:tr>
              <a:tr h="370840">
                <a:tc>
                  <a:txBody>
                    <a:bodyPr/>
                    <a:lstStyle/>
                    <a:p>
                      <a:pPr algn="ctr"/>
                      <a:r>
                        <a:rPr lang="en-US" b="1" dirty="0">
                          <a:solidFill>
                            <a:schemeClr val="bg1"/>
                          </a:solidFill>
                        </a:rPr>
                        <a:t>Male</a:t>
                      </a:r>
                    </a:p>
                  </a:txBody>
                  <a:tcPr>
                    <a:solidFill>
                      <a:schemeClr val="accent1">
                        <a:lumMod val="75000"/>
                      </a:schemeClr>
                    </a:solidFill>
                  </a:tcPr>
                </a:tc>
                <a:tc>
                  <a:txBody>
                    <a:bodyPr/>
                    <a:lstStyle/>
                    <a:p>
                      <a:pPr algn="ctr"/>
                      <a:r>
                        <a:rPr lang="en-US" b="1" dirty="0"/>
                        <a:t>200</a:t>
                      </a:r>
                    </a:p>
                  </a:txBody>
                  <a:tcPr/>
                </a:tc>
                <a:tc>
                  <a:txBody>
                    <a:bodyPr/>
                    <a:lstStyle/>
                    <a:p>
                      <a:pPr algn="ctr"/>
                      <a:r>
                        <a:rPr lang="en-US" b="1" dirty="0"/>
                        <a:t>600</a:t>
                      </a:r>
                    </a:p>
                  </a:txBody>
                  <a:tcPr/>
                </a:tc>
                <a:tc>
                  <a:txBody>
                    <a:bodyPr/>
                    <a:lstStyle/>
                    <a:p>
                      <a:pPr algn="ctr"/>
                      <a:r>
                        <a:rPr lang="en-US" b="1" dirty="0"/>
                        <a:t>800</a:t>
                      </a:r>
                    </a:p>
                  </a:txBody>
                  <a:tcPr/>
                </a:tc>
                <a:extLst>
                  <a:ext uri="{0D108BD9-81ED-4DB2-BD59-A6C34878D82A}">
                    <a16:rowId xmlns:a16="http://schemas.microsoft.com/office/drawing/2014/main" val="10001"/>
                  </a:ext>
                </a:extLst>
              </a:tr>
              <a:tr h="370840">
                <a:tc>
                  <a:txBody>
                    <a:bodyPr/>
                    <a:lstStyle/>
                    <a:p>
                      <a:pPr algn="ctr"/>
                      <a:r>
                        <a:rPr lang="en-US" b="1" dirty="0">
                          <a:solidFill>
                            <a:schemeClr val="bg1"/>
                          </a:solidFill>
                        </a:rPr>
                        <a:t>Female</a:t>
                      </a:r>
                    </a:p>
                  </a:txBody>
                  <a:tcPr>
                    <a:solidFill>
                      <a:schemeClr val="accent1">
                        <a:lumMod val="75000"/>
                      </a:schemeClr>
                    </a:solidFill>
                  </a:tcPr>
                </a:tc>
                <a:tc>
                  <a:txBody>
                    <a:bodyPr/>
                    <a:lstStyle/>
                    <a:p>
                      <a:pPr algn="ctr"/>
                      <a:r>
                        <a:rPr lang="en-US" b="1" dirty="0">
                          <a:solidFill>
                            <a:srgbClr val="C00000"/>
                          </a:solidFill>
                        </a:rPr>
                        <a:t>700</a:t>
                      </a:r>
                    </a:p>
                  </a:txBody>
                  <a:tcPr/>
                </a:tc>
                <a:tc>
                  <a:txBody>
                    <a:bodyPr/>
                    <a:lstStyle/>
                    <a:p>
                      <a:pPr algn="ctr"/>
                      <a:r>
                        <a:rPr lang="en-US" b="1" dirty="0">
                          <a:solidFill>
                            <a:schemeClr val="accent3">
                              <a:lumMod val="50000"/>
                            </a:schemeClr>
                          </a:solidFill>
                        </a:rPr>
                        <a:t>100</a:t>
                      </a:r>
                    </a:p>
                  </a:txBody>
                  <a:tcPr/>
                </a:tc>
                <a:tc>
                  <a:txBody>
                    <a:bodyPr/>
                    <a:lstStyle/>
                    <a:p>
                      <a:pPr algn="ctr"/>
                      <a:r>
                        <a:rPr lang="en-US" b="1" dirty="0"/>
                        <a:t>800</a:t>
                      </a:r>
                    </a:p>
                  </a:txBody>
                  <a:tcPr/>
                </a:tc>
                <a:extLst>
                  <a:ext uri="{0D108BD9-81ED-4DB2-BD59-A6C34878D82A}">
                    <a16:rowId xmlns:a16="http://schemas.microsoft.com/office/drawing/2014/main" val="10002"/>
                  </a:ext>
                </a:extLst>
              </a:tr>
              <a:tr h="370840">
                <a:tc>
                  <a:txBody>
                    <a:bodyPr/>
                    <a:lstStyle/>
                    <a:p>
                      <a:pPr algn="ctr"/>
                      <a:r>
                        <a:rPr lang="en-US" b="1">
                          <a:solidFill>
                            <a:schemeClr val="bg1"/>
                          </a:solidFill>
                        </a:rPr>
                        <a:t>Total</a:t>
                      </a:r>
                      <a:endParaRPr lang="en-US" b="1" dirty="0">
                        <a:solidFill>
                          <a:schemeClr val="bg1"/>
                        </a:solidFill>
                      </a:endParaRPr>
                    </a:p>
                  </a:txBody>
                  <a:tcPr>
                    <a:solidFill>
                      <a:schemeClr val="accent1">
                        <a:lumMod val="75000"/>
                      </a:schemeClr>
                    </a:solidFill>
                  </a:tcPr>
                </a:tc>
                <a:tc>
                  <a:txBody>
                    <a:bodyPr/>
                    <a:lstStyle/>
                    <a:p>
                      <a:pPr algn="ctr"/>
                      <a:r>
                        <a:rPr lang="en-US" b="1" dirty="0">
                          <a:solidFill>
                            <a:schemeClr val="accent6">
                              <a:lumMod val="75000"/>
                            </a:schemeClr>
                          </a:solidFill>
                        </a:rPr>
                        <a:t>900</a:t>
                      </a:r>
                    </a:p>
                  </a:txBody>
                  <a:tcPr/>
                </a:tc>
                <a:tc>
                  <a:txBody>
                    <a:bodyPr/>
                    <a:lstStyle/>
                    <a:p>
                      <a:pPr algn="ctr"/>
                      <a:r>
                        <a:rPr lang="en-US" b="1" dirty="0">
                          <a:solidFill>
                            <a:srgbClr val="7030A0"/>
                          </a:solidFill>
                        </a:rPr>
                        <a:t>700</a:t>
                      </a:r>
                    </a:p>
                  </a:txBody>
                  <a:tcPr/>
                </a:tc>
                <a:tc>
                  <a:txBody>
                    <a:bodyPr/>
                    <a:lstStyle/>
                    <a:p>
                      <a:pPr algn="ctr"/>
                      <a:r>
                        <a:rPr lang="en-US" b="1" dirty="0"/>
                        <a:t>1600</a:t>
                      </a:r>
                    </a:p>
                  </a:txBody>
                  <a:tcPr/>
                </a:tc>
                <a:extLst>
                  <a:ext uri="{0D108BD9-81ED-4DB2-BD59-A6C34878D82A}">
                    <a16:rowId xmlns:a16="http://schemas.microsoft.com/office/drawing/2014/main" val="10003"/>
                  </a:ext>
                </a:extLst>
              </a:tr>
            </a:tbl>
          </a:graphicData>
        </a:graphic>
      </p:graphicFrame>
      <p:cxnSp>
        <p:nvCxnSpPr>
          <p:cNvPr id="66" name="Straight Connector 65"/>
          <p:cNvCxnSpPr/>
          <p:nvPr/>
        </p:nvCxnSpPr>
        <p:spPr>
          <a:xfrm>
            <a:off x="399619" y="1202836"/>
            <a:ext cx="685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99619" y="974236"/>
            <a:ext cx="6858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1085419" y="821836"/>
            <a:ext cx="1859163" cy="307777"/>
          </a:xfrm>
          <a:prstGeom prst="rect">
            <a:avLst/>
          </a:prstGeom>
          <a:noFill/>
        </p:spPr>
        <p:txBody>
          <a:bodyPr wrap="none" rtlCol="0">
            <a:spAutoFit/>
          </a:bodyPr>
          <a:lstStyle/>
          <a:p>
            <a:r>
              <a:rPr lang="en-US" sz="1400" dirty="0">
                <a:solidFill>
                  <a:schemeClr val="accent1">
                    <a:lumMod val="50000"/>
                  </a:schemeClr>
                </a:solidFill>
              </a:rPr>
              <a:t>Living free of condition</a:t>
            </a:r>
          </a:p>
        </p:txBody>
      </p:sp>
      <p:sp>
        <p:nvSpPr>
          <p:cNvPr id="73" name="TextBox 72"/>
          <p:cNvSpPr txBox="1"/>
          <p:nvPr/>
        </p:nvSpPr>
        <p:spPr>
          <a:xfrm>
            <a:off x="1085419" y="1047459"/>
            <a:ext cx="1986569" cy="307777"/>
          </a:xfrm>
          <a:prstGeom prst="rect">
            <a:avLst/>
          </a:prstGeom>
          <a:noFill/>
        </p:spPr>
        <p:txBody>
          <a:bodyPr wrap="none" rtlCol="0">
            <a:spAutoFit/>
          </a:bodyPr>
          <a:lstStyle/>
          <a:p>
            <a:r>
              <a:rPr lang="en-US" sz="1400" dirty="0">
                <a:solidFill>
                  <a:schemeClr val="accent1">
                    <a:lumMod val="50000"/>
                  </a:schemeClr>
                </a:solidFill>
              </a:rPr>
              <a:t>Living with the condition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cross-sectional study</a:t>
            </a:r>
            <a:endParaRPr lang="en-US" sz="4000" dirty="0"/>
          </a:p>
        </p:txBody>
      </p:sp>
      <p:pic>
        <p:nvPicPr>
          <p:cNvPr id="1026" name="Picture 2"/>
          <p:cNvPicPr>
            <a:picLocks noChangeAspect="1" noChangeArrowheads="1"/>
          </p:cNvPicPr>
          <p:nvPr/>
        </p:nvPicPr>
        <p:blipFill>
          <a:blip r:embed="rId2" cstate="print"/>
          <a:srcRect/>
          <a:stretch>
            <a:fillRect/>
          </a:stretch>
        </p:blipFill>
        <p:spPr bwMode="auto">
          <a:xfrm>
            <a:off x="609600" y="990600"/>
            <a:ext cx="7981950" cy="360997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04800" y="4800600"/>
            <a:ext cx="8387644" cy="914400"/>
          </a:xfrm>
          <a:prstGeom prst="rect">
            <a:avLst/>
          </a:prstGeom>
          <a:noFill/>
          <a:ln w="9525">
            <a:noFill/>
            <a:miter lim="800000"/>
            <a:headEnd/>
            <a:tailEnd/>
          </a:ln>
        </p:spPr>
      </p:pic>
      <p:sp>
        <p:nvSpPr>
          <p:cNvPr id="5" name="Rectangle 4"/>
          <p:cNvSpPr/>
          <p:nvPr/>
        </p:nvSpPr>
        <p:spPr>
          <a:xfrm>
            <a:off x="7467600" y="5410200"/>
            <a:ext cx="12192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4" cstate="print"/>
          <a:srcRect/>
          <a:stretch>
            <a:fillRect/>
          </a:stretch>
        </p:blipFill>
        <p:spPr bwMode="auto">
          <a:xfrm>
            <a:off x="2743200" y="2438400"/>
            <a:ext cx="3695700" cy="2190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143000"/>
            <a:ext cx="8610600" cy="5078313"/>
          </a:xfrm>
          <a:prstGeom prst="rect">
            <a:avLst/>
          </a:prstGeom>
        </p:spPr>
        <p:txBody>
          <a:bodyPr wrap="square">
            <a:spAutoFit/>
          </a:bodyPr>
          <a:lstStyle/>
          <a:p>
            <a:r>
              <a:rPr lang="en-US" dirty="0">
                <a:solidFill>
                  <a:schemeClr val="accent1">
                    <a:lumMod val="50000"/>
                  </a:schemeClr>
                </a:solidFill>
              </a:rPr>
              <a:t>Summary statistics:  </a:t>
            </a:r>
          </a:p>
          <a:p>
            <a:pPr lvl="1">
              <a:buFont typeface="Arial" pitchFamily="34" charset="0"/>
              <a:buChar char="•"/>
            </a:pPr>
            <a:r>
              <a:rPr lang="en-US" dirty="0">
                <a:solidFill>
                  <a:schemeClr val="accent1">
                    <a:lumMod val="50000"/>
                  </a:schemeClr>
                </a:solidFill>
              </a:rPr>
              <a:t> can measure </a:t>
            </a:r>
            <a:r>
              <a:rPr lang="en-US" b="1" dirty="0">
                <a:solidFill>
                  <a:schemeClr val="accent1">
                    <a:lumMod val="50000"/>
                  </a:schemeClr>
                </a:solidFill>
              </a:rPr>
              <a:t>prevalence</a:t>
            </a:r>
            <a:r>
              <a:rPr lang="en-US" dirty="0">
                <a:solidFill>
                  <a:schemeClr val="accent1">
                    <a:lumMod val="50000"/>
                  </a:schemeClr>
                </a:solidFill>
              </a:rPr>
              <a:t> (with 95% CI) or the proportion of a population found to have a condition</a:t>
            </a:r>
          </a:p>
          <a:p>
            <a:pPr lvl="1">
              <a:buFont typeface="Arial" pitchFamily="34" charset="0"/>
              <a:buChar char="•"/>
            </a:pPr>
            <a:r>
              <a:rPr lang="en-US" dirty="0">
                <a:solidFill>
                  <a:schemeClr val="accent1">
                    <a:lumMod val="50000"/>
                  </a:schemeClr>
                </a:solidFill>
              </a:rPr>
              <a:t>  can measure the </a:t>
            </a:r>
            <a:r>
              <a:rPr lang="en-US" b="1" dirty="0">
                <a:solidFill>
                  <a:schemeClr val="accent1">
                    <a:lumMod val="50000"/>
                  </a:schemeClr>
                </a:solidFill>
              </a:rPr>
              <a:t>prevalence ratio </a:t>
            </a:r>
            <a:r>
              <a:rPr lang="en-US" dirty="0">
                <a:solidFill>
                  <a:schemeClr val="accent1">
                    <a:lumMod val="50000"/>
                  </a:schemeClr>
                </a:solidFill>
              </a:rPr>
              <a:t>(with 95% CI) or the ratio of the prevalence in two sub-groups</a:t>
            </a:r>
          </a:p>
          <a:p>
            <a:pPr lvl="1">
              <a:buFont typeface="Arial" pitchFamily="34" charset="0"/>
              <a:buChar char="•"/>
            </a:pPr>
            <a:endParaRPr lang="en-US" u="sng" dirty="0">
              <a:solidFill>
                <a:schemeClr val="accent1">
                  <a:lumMod val="50000"/>
                </a:schemeClr>
              </a:solidFill>
            </a:endParaRPr>
          </a:p>
          <a:p>
            <a:pPr lvl="1">
              <a:buFont typeface="Arial" pitchFamily="34" charset="0"/>
              <a:buChar char="•"/>
            </a:pPr>
            <a:endParaRPr lang="en-US" u="sng" dirty="0">
              <a:solidFill>
                <a:schemeClr val="accent1">
                  <a:lumMod val="50000"/>
                </a:schemeClr>
              </a:solidFill>
            </a:endParaRPr>
          </a:p>
          <a:p>
            <a:r>
              <a:rPr lang="en-US" u="sng" dirty="0">
                <a:solidFill>
                  <a:schemeClr val="accent1">
                    <a:lumMod val="50000"/>
                  </a:schemeClr>
                </a:solidFill>
              </a:rPr>
              <a:t>Advantages:</a:t>
            </a:r>
          </a:p>
          <a:p>
            <a:pPr lvl="1">
              <a:buFont typeface="Arial" pitchFamily="34" charset="0"/>
              <a:buChar char="•"/>
            </a:pPr>
            <a:r>
              <a:rPr lang="en-US" dirty="0">
                <a:solidFill>
                  <a:schemeClr val="accent1">
                    <a:lumMod val="50000"/>
                  </a:schemeClr>
                </a:solidFill>
              </a:rPr>
              <a:t>  Provides estimates of prevalence</a:t>
            </a:r>
          </a:p>
          <a:p>
            <a:pPr lvl="1">
              <a:buFont typeface="Arial" pitchFamily="34" charset="0"/>
              <a:buChar char="•"/>
            </a:pPr>
            <a:r>
              <a:rPr lang="en-US" dirty="0">
                <a:solidFill>
                  <a:schemeClr val="accent1">
                    <a:lumMod val="50000"/>
                  </a:schemeClr>
                </a:solidFill>
              </a:rPr>
              <a:t>  Good for describing variables and their distribution</a:t>
            </a:r>
          </a:p>
          <a:p>
            <a:pPr lvl="1">
              <a:buFont typeface="Arial" pitchFamily="34" charset="0"/>
              <a:buChar char="•"/>
            </a:pPr>
            <a:r>
              <a:rPr lang="en-US" dirty="0">
                <a:solidFill>
                  <a:schemeClr val="accent1">
                    <a:lumMod val="50000"/>
                  </a:schemeClr>
                </a:solidFill>
              </a:rPr>
              <a:t>  Can examine associations</a:t>
            </a:r>
          </a:p>
          <a:p>
            <a:pPr lvl="1">
              <a:buFont typeface="Arial" pitchFamily="34" charset="0"/>
              <a:buChar char="•"/>
            </a:pPr>
            <a:r>
              <a:rPr lang="en-US" dirty="0">
                <a:solidFill>
                  <a:schemeClr val="accent1">
                    <a:lumMod val="50000"/>
                  </a:schemeClr>
                </a:solidFill>
              </a:rPr>
              <a:t>  Typically faster study (all observations at once)</a:t>
            </a:r>
          </a:p>
          <a:p>
            <a:pPr lvl="1">
              <a:buFont typeface="Arial" pitchFamily="34" charset="0"/>
              <a:buChar char="•"/>
            </a:pPr>
            <a:r>
              <a:rPr lang="en-US" dirty="0">
                <a:solidFill>
                  <a:schemeClr val="accent1">
                    <a:lumMod val="50000"/>
                  </a:schemeClr>
                </a:solidFill>
              </a:rPr>
              <a:t>  Less expensive than other types of studies</a:t>
            </a:r>
          </a:p>
          <a:p>
            <a:pPr lvl="1"/>
            <a:endParaRPr lang="en-US" dirty="0">
              <a:solidFill>
                <a:schemeClr val="accent1">
                  <a:lumMod val="50000"/>
                </a:schemeClr>
              </a:solidFill>
            </a:endParaRPr>
          </a:p>
          <a:p>
            <a:r>
              <a:rPr lang="en-US" u="sng" dirty="0">
                <a:solidFill>
                  <a:schemeClr val="accent1">
                    <a:lumMod val="50000"/>
                  </a:schemeClr>
                </a:solidFill>
              </a:rPr>
              <a:t>Disadvantages: </a:t>
            </a:r>
          </a:p>
          <a:p>
            <a:pPr lvl="1">
              <a:buFont typeface="Arial" pitchFamily="34" charset="0"/>
              <a:buChar char="•"/>
            </a:pPr>
            <a:r>
              <a:rPr lang="en-US" dirty="0">
                <a:solidFill>
                  <a:schemeClr val="accent1">
                    <a:lumMod val="50000"/>
                  </a:schemeClr>
                </a:solidFill>
              </a:rPr>
              <a:t>  May not be representative of all cases in the target population</a:t>
            </a:r>
          </a:p>
          <a:p>
            <a:pPr lvl="1">
              <a:buFont typeface="Arial" pitchFamily="34" charset="0"/>
              <a:buChar char="•"/>
            </a:pPr>
            <a:r>
              <a:rPr lang="en-US" dirty="0">
                <a:solidFill>
                  <a:schemeClr val="accent1">
                    <a:lumMod val="50000"/>
                  </a:schemeClr>
                </a:solidFill>
              </a:rPr>
              <a:t>  Can not establish causal relationship. </a:t>
            </a:r>
            <a:r>
              <a:rPr lang="en-US" i="1" dirty="0">
                <a:solidFill>
                  <a:schemeClr val="accent1">
                    <a:lumMod val="50000"/>
                  </a:schemeClr>
                </a:solidFill>
              </a:rPr>
              <a:t>Which came first? Exposure or disease? </a:t>
            </a:r>
          </a:p>
          <a:p>
            <a:pPr lvl="1">
              <a:buFont typeface="Arial" pitchFamily="34" charset="0"/>
              <a:buChar char="•"/>
            </a:pPr>
            <a:r>
              <a:rPr lang="en-US" i="1" dirty="0">
                <a:solidFill>
                  <a:schemeClr val="accent1">
                    <a:lumMod val="50000"/>
                  </a:schemeClr>
                </a:solidFill>
              </a:rPr>
              <a:t>  </a:t>
            </a:r>
            <a:r>
              <a:rPr lang="en-US" dirty="0">
                <a:solidFill>
                  <a:schemeClr val="accent1">
                    <a:lumMod val="50000"/>
                  </a:schemeClr>
                </a:solidFill>
              </a:rPr>
              <a:t>Provides limited information on what it means for the future</a:t>
            </a: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cross-sectional studies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Cross-sectional studies </a:t>
            </a:r>
            <a:r>
              <a:rPr lang="en-US" sz="3200" b="1" dirty="0">
                <a:sym typeface="Symbol"/>
              </a:rPr>
              <a:t> </a:t>
            </a:r>
            <a:r>
              <a:rPr lang="en-US" sz="2800" dirty="0">
                <a:sym typeface="Symbol"/>
              </a:rPr>
              <a:t>biases</a:t>
            </a:r>
            <a:endParaRPr lang="en-US" sz="4000" dirty="0"/>
          </a:p>
        </p:txBody>
      </p:sp>
      <p:sp>
        <p:nvSpPr>
          <p:cNvPr id="3" name="TextBox 2"/>
          <p:cNvSpPr txBox="1"/>
          <p:nvPr/>
        </p:nvSpPr>
        <p:spPr>
          <a:xfrm>
            <a:off x="304800" y="1066800"/>
            <a:ext cx="8305800" cy="4247317"/>
          </a:xfrm>
          <a:prstGeom prst="rect">
            <a:avLst/>
          </a:prstGeom>
          <a:noFill/>
        </p:spPr>
        <p:txBody>
          <a:bodyPr wrap="square" rtlCol="0">
            <a:spAutoFit/>
          </a:bodyPr>
          <a:lstStyle/>
          <a:p>
            <a:r>
              <a:rPr lang="en-US" b="1" dirty="0">
                <a:solidFill>
                  <a:schemeClr val="accent1">
                    <a:lumMod val="50000"/>
                  </a:schemeClr>
                </a:solidFill>
              </a:rPr>
              <a:t>Selection bias:</a:t>
            </a:r>
          </a:p>
          <a:p>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When people recruited in a study do not represent the cases in the population</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Can be influenced by </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lvl="1">
              <a:buClr>
                <a:schemeClr val="accent1">
                  <a:lumMod val="75000"/>
                </a:schemeClr>
              </a:buClr>
              <a:buSzPct val="120000"/>
            </a:pPr>
            <a:r>
              <a:rPr lang="en-US" dirty="0">
                <a:solidFill>
                  <a:schemeClr val="accent1">
                    <a:lumMod val="50000"/>
                  </a:schemeClr>
                </a:solidFill>
              </a:rPr>
              <a:t>a) competing risk (e.g. recruiting people who have a lower risk of the condition)</a:t>
            </a:r>
            <a:br>
              <a:rPr lang="en-US" dirty="0">
                <a:solidFill>
                  <a:schemeClr val="accent1">
                    <a:lumMod val="50000"/>
                  </a:schemeClr>
                </a:solidFill>
              </a:rPr>
            </a:br>
            <a:r>
              <a:rPr lang="en-US" dirty="0">
                <a:solidFill>
                  <a:schemeClr val="accent1">
                    <a:lumMod val="50000"/>
                  </a:schemeClr>
                </a:solidFill>
              </a:rPr>
              <a:t>b) healthcare access bias (e.g. can’t study those not engaged in care)</a:t>
            </a:r>
            <a:br>
              <a:rPr lang="en-US" dirty="0">
                <a:solidFill>
                  <a:schemeClr val="accent1">
                    <a:lumMod val="50000"/>
                  </a:schemeClr>
                </a:solidFill>
              </a:rPr>
            </a:br>
            <a:r>
              <a:rPr lang="en-US" dirty="0">
                <a:solidFill>
                  <a:schemeClr val="accent1">
                    <a:lumMod val="50000"/>
                  </a:schemeClr>
                </a:solidFill>
              </a:rPr>
              <a:t>c) inclusion or exclusion criteria (e.g. excluding controls with conditions related to </a:t>
            </a:r>
            <a:br>
              <a:rPr lang="en-US" dirty="0">
                <a:solidFill>
                  <a:schemeClr val="accent1">
                    <a:lumMod val="50000"/>
                  </a:schemeClr>
                </a:solidFill>
              </a:rPr>
            </a:br>
            <a:r>
              <a:rPr lang="en-US" dirty="0">
                <a:solidFill>
                  <a:schemeClr val="accent1">
                    <a:lumMod val="50000"/>
                  </a:schemeClr>
                </a:solidFill>
              </a:rPr>
              <a:t>    the exposure) </a:t>
            </a:r>
            <a:br>
              <a:rPr lang="en-US" dirty="0">
                <a:solidFill>
                  <a:schemeClr val="accent1">
                    <a:lumMod val="50000"/>
                  </a:schemeClr>
                </a:solidFill>
              </a:rPr>
            </a:br>
            <a:r>
              <a:rPr lang="en-US" dirty="0">
                <a:solidFill>
                  <a:schemeClr val="accent1">
                    <a:lumMod val="50000"/>
                  </a:schemeClr>
                </a:solidFill>
              </a:rPr>
              <a:t>d) relative bias (e.g. relatives are more likely to share conditions)</a:t>
            </a:r>
          </a:p>
          <a:p>
            <a:pPr lvl="1">
              <a:buClr>
                <a:schemeClr val="accent1">
                  <a:lumMod val="75000"/>
                </a:schemeClr>
              </a:buClr>
              <a:buSzPct val="120000"/>
            </a:pPr>
            <a:endParaRPr lang="en-US" dirty="0">
              <a:solidFill>
                <a:schemeClr val="accent1">
                  <a:lumMod val="50000"/>
                </a:schemeClr>
              </a:solidFill>
            </a:endParaRPr>
          </a:p>
          <a:p>
            <a:pPr lvl="1">
              <a:buClr>
                <a:schemeClr val="accent1">
                  <a:lumMod val="75000"/>
                </a:schemeClr>
              </a:buClr>
              <a:buSzPct val="120000"/>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People accepting to participate in research may just be different</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Cross-sectional studies </a:t>
            </a:r>
            <a:r>
              <a:rPr lang="en-US" sz="3200" b="1" dirty="0">
                <a:sym typeface="Symbol"/>
              </a:rPr>
              <a:t> </a:t>
            </a:r>
            <a:r>
              <a:rPr lang="en-US" sz="2800" dirty="0">
                <a:sym typeface="Symbol"/>
              </a:rPr>
              <a:t>biases</a:t>
            </a:r>
            <a:endParaRPr lang="en-US" sz="4000" dirty="0"/>
          </a:p>
        </p:txBody>
      </p:sp>
      <p:sp>
        <p:nvSpPr>
          <p:cNvPr id="3" name="TextBox 2"/>
          <p:cNvSpPr txBox="1"/>
          <p:nvPr/>
        </p:nvSpPr>
        <p:spPr>
          <a:xfrm>
            <a:off x="304800" y="1066800"/>
            <a:ext cx="8534400" cy="4247317"/>
          </a:xfrm>
          <a:prstGeom prst="rect">
            <a:avLst/>
          </a:prstGeom>
          <a:noFill/>
        </p:spPr>
        <p:txBody>
          <a:bodyPr wrap="square" rtlCol="0">
            <a:spAutoFit/>
          </a:bodyPr>
          <a:lstStyle/>
          <a:p>
            <a:r>
              <a:rPr lang="en-US" b="1" dirty="0">
                <a:solidFill>
                  <a:schemeClr val="accent1">
                    <a:lumMod val="50000"/>
                  </a:schemeClr>
                </a:solidFill>
              </a:rPr>
              <a:t>Length bias:</a:t>
            </a:r>
          </a:p>
          <a:p>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When people identified with condition will over-represent those with a long duration of the condition and under-represent those with a short duration of the condition</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Could lead to confusion and make a factor related to disease duration seem like a factor related to disease occurrence</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pPr>
            <a:r>
              <a:rPr lang="en-US" dirty="0">
                <a:solidFill>
                  <a:schemeClr val="accent1">
                    <a:lumMod val="50000"/>
                  </a:schemeClr>
                </a:solidFill>
              </a:rPr>
              <a:t>Especially true in pediatric studies of diseases with high mortality rates</a:t>
            </a:r>
          </a:p>
          <a:p>
            <a:pPr>
              <a:buClr>
                <a:schemeClr val="accent1">
                  <a:lumMod val="75000"/>
                </a:schemeClr>
              </a:buClr>
              <a:buSzPct val="120000"/>
            </a:pPr>
            <a:endParaRPr lang="en-US" dirty="0">
              <a:solidFill>
                <a:schemeClr val="accent1">
                  <a:lumMod val="50000"/>
                </a:schemeClr>
              </a:solidFill>
            </a:endParaRPr>
          </a:p>
          <a:p>
            <a:pPr>
              <a:buClr>
                <a:schemeClr val="accent1">
                  <a:lumMod val="75000"/>
                </a:schemeClr>
              </a:buClr>
              <a:buSzPct val="120000"/>
            </a:pPr>
            <a:r>
              <a:rPr lang="en-US" b="1" dirty="0">
                <a:solidFill>
                  <a:schemeClr val="accent1">
                    <a:lumMod val="50000"/>
                  </a:schemeClr>
                </a:solidFill>
              </a:rPr>
              <a:t>Survival bias: </a:t>
            </a:r>
          </a:p>
          <a:p>
            <a:pPr>
              <a:buClr>
                <a:schemeClr val="accent1">
                  <a:lumMod val="75000"/>
                </a:schemeClr>
              </a:buClr>
              <a:buSzPct val="120000"/>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When people identified with condition will over-represent those who survived it (and are therefore still alive to participate in the study)</a:t>
            </a:r>
          </a:p>
          <a:p>
            <a:pPr>
              <a:buClr>
                <a:schemeClr val="accent1">
                  <a:lumMod val="75000"/>
                </a:schemeClr>
              </a:buClr>
              <a:buSzPct val="120000"/>
            </a:pPr>
            <a:endParaRPr lang="en-US" dirty="0">
              <a:solidFill>
                <a:schemeClr val="accent1">
                  <a:lumMod val="50000"/>
                </a:schemeClr>
              </a:solidFill>
            </a:endParaRPr>
          </a:p>
        </p:txBody>
      </p:sp>
    </p:spTree>
    <p:extLst>
      <p:ext uri="{BB962C8B-B14F-4D97-AF65-F5344CB8AC3E}">
        <p14:creationId xmlns:p14="http://schemas.microsoft.com/office/powerpoint/2010/main" val="1073327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Cross-sectional studies </a:t>
            </a:r>
            <a:r>
              <a:rPr lang="en-US" sz="3200" b="1" dirty="0">
                <a:sym typeface="Symbol"/>
              </a:rPr>
              <a:t> </a:t>
            </a:r>
            <a:r>
              <a:rPr lang="en-US" sz="2800" dirty="0">
                <a:sym typeface="Symbol"/>
              </a:rPr>
              <a:t>biases</a:t>
            </a:r>
            <a:endParaRPr lang="en-US" sz="4000" dirty="0"/>
          </a:p>
        </p:txBody>
      </p:sp>
      <p:cxnSp>
        <p:nvCxnSpPr>
          <p:cNvPr id="40" name="Straight Connector 39"/>
          <p:cNvCxnSpPr/>
          <p:nvPr/>
        </p:nvCxnSpPr>
        <p:spPr>
          <a:xfrm>
            <a:off x="0" y="2514600"/>
            <a:ext cx="2819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2667000"/>
            <a:ext cx="2133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0" y="2819400"/>
            <a:ext cx="5715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2971800"/>
            <a:ext cx="32766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0" y="3124200"/>
            <a:ext cx="4343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0" y="3276600"/>
            <a:ext cx="25908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52400" y="3429000"/>
            <a:ext cx="800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0" y="3581400"/>
            <a:ext cx="3810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0" y="3733800"/>
            <a:ext cx="3429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28600" y="3886200"/>
            <a:ext cx="32004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52400" y="4038600"/>
            <a:ext cx="3886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0" y="4191000"/>
            <a:ext cx="6934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52400" y="4343400"/>
            <a:ext cx="60960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0" y="4495800"/>
            <a:ext cx="41910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0" y="4648200"/>
            <a:ext cx="9372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0" y="4800600"/>
            <a:ext cx="3276600" cy="0"/>
          </a:xfrm>
          <a:prstGeom prst="line">
            <a:avLst/>
          </a:prstGeom>
          <a:ln w="57150">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2819400" y="2514600"/>
            <a:ext cx="44196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2133600" y="2667000"/>
            <a:ext cx="701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5715000" y="2819400"/>
            <a:ext cx="3429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276600" y="2971800"/>
            <a:ext cx="58674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4343400" y="3124200"/>
            <a:ext cx="37338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2590800" y="3276600"/>
            <a:ext cx="6553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7848600" y="3429000"/>
            <a:ext cx="1295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3733800" y="35814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3429000" y="3733800"/>
            <a:ext cx="5715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2971800" y="3886200"/>
            <a:ext cx="31242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3733800" y="40386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6934200" y="4191000"/>
            <a:ext cx="2209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943600" y="4343400"/>
            <a:ext cx="32004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4191000" y="4495800"/>
            <a:ext cx="4953000"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3193312" y="4800600"/>
            <a:ext cx="3893288" cy="0"/>
          </a:xfrm>
          <a:prstGeom prst="line">
            <a:avLst/>
          </a:prstGeom>
          <a:ln w="57150">
            <a:solidFill>
              <a:schemeClr val="accent4">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4419600" y="2133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3625678" y="1828800"/>
            <a:ext cx="1583639" cy="369332"/>
          </a:xfrm>
          <a:prstGeom prst="rect">
            <a:avLst/>
          </a:prstGeom>
          <a:noFill/>
        </p:spPr>
        <p:txBody>
          <a:bodyPr wrap="none" rtlCol="0">
            <a:spAutoFit/>
          </a:bodyPr>
          <a:lstStyle/>
          <a:p>
            <a:r>
              <a:rPr lang="en-US" dirty="0">
                <a:solidFill>
                  <a:schemeClr val="accent1">
                    <a:lumMod val="50000"/>
                  </a:schemeClr>
                </a:solidFill>
              </a:rPr>
              <a:t>Data collection</a:t>
            </a:r>
          </a:p>
        </p:txBody>
      </p:sp>
      <p:cxnSp>
        <p:nvCxnSpPr>
          <p:cNvPr id="73" name="Straight Connector 72"/>
          <p:cNvCxnSpPr/>
          <p:nvPr/>
        </p:nvCxnSpPr>
        <p:spPr>
          <a:xfrm>
            <a:off x="4419600" y="2514600"/>
            <a:ext cx="0" cy="2514600"/>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7668483" y="2133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6874561" y="1828800"/>
            <a:ext cx="1583639" cy="369332"/>
          </a:xfrm>
          <a:prstGeom prst="rect">
            <a:avLst/>
          </a:prstGeom>
          <a:noFill/>
        </p:spPr>
        <p:txBody>
          <a:bodyPr wrap="none" rtlCol="0">
            <a:spAutoFit/>
          </a:bodyPr>
          <a:lstStyle/>
          <a:p>
            <a:r>
              <a:rPr lang="en-US" dirty="0">
                <a:solidFill>
                  <a:schemeClr val="accent1">
                    <a:lumMod val="50000"/>
                  </a:schemeClr>
                </a:solidFill>
              </a:rPr>
              <a:t>Data collection</a:t>
            </a:r>
          </a:p>
        </p:txBody>
      </p:sp>
      <p:cxnSp>
        <p:nvCxnSpPr>
          <p:cNvPr id="77" name="Straight Connector 76"/>
          <p:cNvCxnSpPr/>
          <p:nvPr/>
        </p:nvCxnSpPr>
        <p:spPr>
          <a:xfrm>
            <a:off x="7668483" y="2514600"/>
            <a:ext cx="0" cy="2514600"/>
          </a:xfrm>
          <a:prstGeom prst="line">
            <a:avLst/>
          </a:prstGeom>
          <a:ln w="381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2209800" y="5257800"/>
            <a:ext cx="6705600" cy="369332"/>
          </a:xfrm>
          <a:prstGeom prst="rect">
            <a:avLst/>
          </a:prstGeom>
          <a:noFill/>
        </p:spPr>
        <p:txBody>
          <a:bodyPr wrap="square" rtlCol="0">
            <a:spAutoFit/>
          </a:bodyPr>
          <a:lstStyle/>
          <a:p>
            <a:r>
              <a:rPr lang="en-US" dirty="0">
                <a:solidFill>
                  <a:schemeClr val="accent1">
                    <a:lumMod val="50000"/>
                  </a:schemeClr>
                </a:solidFill>
              </a:rPr>
              <a:t>Prevalence =    </a:t>
            </a:r>
            <a:r>
              <a:rPr lang="en-US" b="1" dirty="0">
                <a:solidFill>
                  <a:srgbClr val="C00000"/>
                </a:solidFill>
              </a:rPr>
              <a:t>500/1600 = 31.3%                              </a:t>
            </a:r>
            <a:r>
              <a:rPr lang="en-US" b="1" dirty="0">
                <a:solidFill>
                  <a:schemeClr val="accent6">
                    <a:lumMod val="75000"/>
                  </a:schemeClr>
                </a:solidFill>
              </a:rPr>
              <a:t>200/1300 = 15.4%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analytical studies</a:t>
            </a:r>
            <a:endParaRPr lang="en-US" sz="4000" b="1" dirty="0"/>
          </a:p>
        </p:txBody>
      </p:sp>
      <p:sp>
        <p:nvSpPr>
          <p:cNvPr id="3" name="TextBox 2"/>
          <p:cNvSpPr txBox="1"/>
          <p:nvPr/>
        </p:nvSpPr>
        <p:spPr>
          <a:xfrm>
            <a:off x="381001" y="990600"/>
            <a:ext cx="8458200" cy="6463308"/>
          </a:xfrm>
          <a:prstGeom prst="rect">
            <a:avLst/>
          </a:prstGeom>
          <a:noFill/>
        </p:spPr>
        <p:txBody>
          <a:bodyPr wrap="square" rtlCol="0">
            <a:spAutoFit/>
          </a:bodyPr>
          <a:lstStyle/>
          <a:p>
            <a:r>
              <a:rPr lang="en-US" b="1" dirty="0">
                <a:solidFill>
                  <a:schemeClr val="accent1">
                    <a:lumMod val="50000"/>
                  </a:schemeClr>
                </a:solidFill>
              </a:rPr>
              <a:t>Cohort studies: </a:t>
            </a:r>
          </a:p>
          <a:p>
            <a:endParaRPr lang="en-US" b="1" dirty="0">
              <a:solidFill>
                <a:schemeClr val="accent1">
                  <a:lumMod val="50000"/>
                </a:schemeClr>
              </a:solidFill>
            </a:endParaRPr>
          </a:p>
          <a:p>
            <a:r>
              <a:rPr lang="en-US" dirty="0">
                <a:solidFill>
                  <a:schemeClr val="accent1">
                    <a:lumMod val="50000"/>
                  </a:schemeClr>
                </a:solidFill>
              </a:rPr>
              <a:t>A group of individuals (cohort) who share a common characteristic (e.g. free of disease of interest at baseline, or who all have a disease such as HIV infection) and are studied over time (e.g. for their disease risk factors, or their HIV treatment) to ascertain incidence (of disease of interest, or of disease outcome such as AIDS)</a:t>
            </a:r>
          </a:p>
          <a:p>
            <a:r>
              <a:rPr lang="en-US" b="1" dirty="0">
                <a:solidFill>
                  <a:schemeClr val="accent1">
                    <a:lumMod val="50000"/>
                  </a:schemeClr>
                </a:solidFill>
              </a:rPr>
              <a:t>OR</a:t>
            </a:r>
          </a:p>
          <a:p>
            <a:r>
              <a:rPr lang="en-US" dirty="0">
                <a:solidFill>
                  <a:schemeClr val="accent1">
                    <a:lumMod val="50000"/>
                  </a:schemeClr>
                </a:solidFill>
              </a:rPr>
              <a:t>Two groups of individuals (cohorts) that differ (e.g. males vs females, or individuals who acquired HIV through sexual contact vs through maternal vertical transmission)</a:t>
            </a:r>
          </a:p>
          <a:p>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Can be </a:t>
            </a:r>
            <a:r>
              <a:rPr lang="en-US" b="1" dirty="0">
                <a:solidFill>
                  <a:schemeClr val="accent1">
                    <a:lumMod val="50000"/>
                  </a:schemeClr>
                </a:solidFill>
              </a:rPr>
              <a:t>prospective: </a:t>
            </a:r>
            <a:r>
              <a:rPr lang="en-US" dirty="0">
                <a:solidFill>
                  <a:schemeClr val="accent1">
                    <a:lumMod val="50000"/>
                  </a:schemeClr>
                </a:solidFill>
              </a:rPr>
              <a:t>watches for outcomes, such as the development of a disease, during the study period and relates this to other factors. </a:t>
            </a:r>
          </a:p>
          <a:p>
            <a:endParaRPr lang="en-US" dirty="0">
              <a:solidFill>
                <a:schemeClr val="accent1">
                  <a:lumMod val="50000"/>
                </a:schemeClr>
              </a:solidFill>
            </a:endParaRPr>
          </a:p>
          <a:p>
            <a:r>
              <a:rPr lang="en-US" dirty="0">
                <a:solidFill>
                  <a:schemeClr val="accent1">
                    <a:lumMod val="50000"/>
                  </a:schemeClr>
                </a:solidFill>
              </a:rPr>
              <a:t>Can be </a:t>
            </a:r>
            <a:r>
              <a:rPr lang="en-US" b="1" dirty="0">
                <a:solidFill>
                  <a:schemeClr val="accent1">
                    <a:lumMod val="50000"/>
                  </a:schemeClr>
                </a:solidFill>
              </a:rPr>
              <a:t>retrospective</a:t>
            </a:r>
            <a:r>
              <a:rPr lang="en-US" dirty="0">
                <a:solidFill>
                  <a:schemeClr val="accent1">
                    <a:lumMod val="50000"/>
                  </a:schemeClr>
                </a:solidFill>
              </a:rPr>
              <a:t>: looks backwards and examines exposures to suspected risk or protection factors in relation to an outcome that is established at the start of the study</a:t>
            </a:r>
          </a:p>
          <a:p>
            <a:endParaRPr lang="en-US" dirty="0">
              <a:solidFill>
                <a:schemeClr val="accent1">
                  <a:lumMod val="50000"/>
                </a:schemeClr>
              </a:solidFill>
            </a:endParaRPr>
          </a:p>
          <a:p>
            <a:r>
              <a:rPr lang="en-US" dirty="0">
                <a:solidFill>
                  <a:schemeClr val="accent1">
                    <a:lumMod val="50000"/>
                  </a:schemeClr>
                </a:solidFill>
              </a:rPr>
              <a:t>Prospective studies usually have fewer potential sources of </a:t>
            </a:r>
            <a:r>
              <a:rPr lang="en-US" b="1" dirty="0">
                <a:solidFill>
                  <a:schemeClr val="accent1">
                    <a:lumMod val="50000"/>
                  </a:schemeClr>
                </a:solidFill>
              </a:rPr>
              <a:t>bias and confounding </a:t>
            </a:r>
            <a:r>
              <a:rPr lang="en-US" dirty="0">
                <a:solidFill>
                  <a:schemeClr val="accent1">
                    <a:lumMod val="50000"/>
                  </a:schemeClr>
                </a:solidFill>
              </a:rPr>
              <a:t>than retrospective studies.</a:t>
            </a:r>
          </a:p>
          <a:p>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a:p>
            <a:endParaRPr lang="en-US" b="1" dirty="0">
              <a:solidFill>
                <a:schemeClr val="accent1">
                  <a:lumMod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cohort studies</a:t>
            </a:r>
            <a:endParaRPr lang="en-US" sz="4000" b="1" dirty="0"/>
          </a:p>
        </p:txBody>
      </p:sp>
      <p:sp>
        <p:nvSpPr>
          <p:cNvPr id="3" name="TextBox 2"/>
          <p:cNvSpPr txBox="1"/>
          <p:nvPr/>
        </p:nvSpPr>
        <p:spPr>
          <a:xfrm>
            <a:off x="228600" y="990600"/>
            <a:ext cx="8915400" cy="1477328"/>
          </a:xfrm>
          <a:prstGeom prst="rect">
            <a:avLst/>
          </a:prstGeom>
          <a:noFill/>
        </p:spPr>
        <p:txBody>
          <a:bodyPr wrap="square" rtlCol="0">
            <a:spAutoFit/>
          </a:bodyPr>
          <a:lstStyle/>
          <a:p>
            <a:r>
              <a:rPr lang="en-US" b="1" dirty="0">
                <a:solidFill>
                  <a:schemeClr val="accent1">
                    <a:lumMod val="50000"/>
                  </a:schemeClr>
                </a:solidFill>
              </a:rPr>
              <a:t>Cohort studies: Example</a:t>
            </a:r>
            <a:endParaRPr lang="en-US" dirty="0">
              <a:solidFill>
                <a:schemeClr val="accent1">
                  <a:lumMod val="50000"/>
                </a:schemeClr>
              </a:solidFill>
            </a:endParaRPr>
          </a:p>
          <a:p>
            <a:r>
              <a:rPr lang="en-US" dirty="0">
                <a:solidFill>
                  <a:schemeClr val="accent1">
                    <a:lumMod val="50000"/>
                  </a:schemeClr>
                </a:solidFill>
              </a:rPr>
              <a:t>Equal number of 60 </a:t>
            </a:r>
            <a:r>
              <a:rPr lang="en-US" dirty="0" err="1">
                <a:solidFill>
                  <a:schemeClr val="accent1">
                    <a:lumMod val="50000"/>
                  </a:schemeClr>
                </a:solidFill>
              </a:rPr>
              <a:t>yo</a:t>
            </a:r>
            <a:r>
              <a:rPr lang="en-US" dirty="0">
                <a:solidFill>
                  <a:schemeClr val="accent1">
                    <a:lumMod val="50000"/>
                  </a:schemeClr>
                </a:solidFill>
              </a:rPr>
              <a:t> men and women without the condition selected randomly from BC population</a:t>
            </a:r>
          </a:p>
          <a:p>
            <a:r>
              <a:rPr lang="en-US" dirty="0">
                <a:solidFill>
                  <a:schemeClr val="accent1">
                    <a:lumMod val="50000"/>
                  </a:schemeClr>
                </a:solidFill>
              </a:rPr>
              <a:t>One study visit each year following enrollment in the cohort, many parameters measured</a:t>
            </a:r>
          </a:p>
          <a:p>
            <a:endParaRPr lang="en-US" dirty="0">
              <a:solidFill>
                <a:schemeClr val="accent1">
                  <a:lumMod val="50000"/>
                </a:schemeClr>
              </a:solidFill>
            </a:endParaRPr>
          </a:p>
        </p:txBody>
      </p:sp>
      <p:grpSp>
        <p:nvGrpSpPr>
          <p:cNvPr id="5" name="Group 4"/>
          <p:cNvGrpSpPr/>
          <p:nvPr/>
        </p:nvGrpSpPr>
        <p:grpSpPr>
          <a:xfrm>
            <a:off x="533400" y="2286000"/>
            <a:ext cx="6534581" cy="533400"/>
            <a:chOff x="533400" y="3048000"/>
            <a:chExt cx="6534581" cy="533400"/>
          </a:xfrm>
        </p:grpSpPr>
        <p:cxnSp>
          <p:nvCxnSpPr>
            <p:cNvPr id="6" name="Straight Connector 5"/>
            <p:cNvCxnSpPr/>
            <p:nvPr/>
          </p:nvCxnSpPr>
          <p:spPr>
            <a:xfrm>
              <a:off x="533400" y="3429000"/>
              <a:ext cx="685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33400" y="3200400"/>
              <a:ext cx="68580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219200" y="3048000"/>
              <a:ext cx="5848781" cy="307777"/>
            </a:xfrm>
            <a:prstGeom prst="rect">
              <a:avLst/>
            </a:prstGeom>
            <a:noFill/>
          </p:spPr>
          <p:txBody>
            <a:bodyPr wrap="none" rtlCol="0">
              <a:spAutoFit/>
            </a:bodyPr>
            <a:lstStyle/>
            <a:p>
              <a:r>
                <a:rPr lang="en-US" sz="1400" dirty="0">
                  <a:solidFill>
                    <a:schemeClr val="accent1">
                      <a:lumMod val="50000"/>
                    </a:schemeClr>
                  </a:solidFill>
                </a:rPr>
                <a:t>Living free of condition       </a:t>
              </a:r>
              <a:r>
                <a:rPr lang="en-US" sz="1400" dirty="0" err="1">
                  <a:solidFill>
                    <a:schemeClr val="accent1">
                      <a:lumMod val="50000"/>
                    </a:schemeClr>
                  </a:solidFill>
                </a:rPr>
                <a:t>Condition</a:t>
              </a:r>
              <a:r>
                <a:rPr lang="en-US" sz="1400" dirty="0">
                  <a:solidFill>
                    <a:schemeClr val="accent1">
                      <a:lumMod val="50000"/>
                    </a:schemeClr>
                  </a:solidFill>
                </a:rPr>
                <a:t> = cardiovascular disease, HIV, cancer, etc.</a:t>
              </a:r>
            </a:p>
          </p:txBody>
        </p:sp>
        <p:sp>
          <p:nvSpPr>
            <p:cNvPr id="9" name="TextBox 8"/>
            <p:cNvSpPr txBox="1"/>
            <p:nvPr/>
          </p:nvSpPr>
          <p:spPr>
            <a:xfrm>
              <a:off x="1219200" y="3273623"/>
              <a:ext cx="3854453" cy="307777"/>
            </a:xfrm>
            <a:prstGeom prst="rect">
              <a:avLst/>
            </a:prstGeom>
            <a:noFill/>
          </p:spPr>
          <p:txBody>
            <a:bodyPr wrap="none" rtlCol="0">
              <a:spAutoFit/>
            </a:bodyPr>
            <a:lstStyle/>
            <a:p>
              <a:r>
                <a:rPr lang="en-US" sz="1400" dirty="0">
                  <a:solidFill>
                    <a:schemeClr val="accent1">
                      <a:lumMod val="50000"/>
                    </a:schemeClr>
                  </a:solidFill>
                </a:rPr>
                <a:t>Living with the condition    Each line = 100 persons</a:t>
              </a:r>
            </a:p>
          </p:txBody>
        </p:sp>
      </p:grpSp>
      <p:grpSp>
        <p:nvGrpSpPr>
          <p:cNvPr id="74" name="Group 73"/>
          <p:cNvGrpSpPr/>
          <p:nvPr/>
        </p:nvGrpSpPr>
        <p:grpSpPr>
          <a:xfrm>
            <a:off x="-228600" y="3657600"/>
            <a:ext cx="9601200" cy="2286000"/>
            <a:chOff x="-228600" y="3657600"/>
            <a:chExt cx="9601200" cy="2286000"/>
          </a:xfrm>
        </p:grpSpPr>
        <p:cxnSp>
          <p:nvCxnSpPr>
            <p:cNvPr id="4" name="Straight Connector 3"/>
            <p:cNvCxnSpPr/>
            <p:nvPr/>
          </p:nvCxnSpPr>
          <p:spPr>
            <a:xfrm>
              <a:off x="0" y="3657600"/>
              <a:ext cx="28194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3810000"/>
              <a:ext cx="2133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962400"/>
              <a:ext cx="5715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4114800"/>
              <a:ext cx="3276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4267200"/>
              <a:ext cx="43434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4419600"/>
              <a:ext cx="25908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52400" y="4572000"/>
              <a:ext cx="800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4724400"/>
              <a:ext cx="3810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4876800"/>
              <a:ext cx="3429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28600" y="5029200"/>
              <a:ext cx="32004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52400" y="5181600"/>
              <a:ext cx="3886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0" y="5334000"/>
              <a:ext cx="6934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52400" y="5486400"/>
              <a:ext cx="6096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0" y="5638800"/>
              <a:ext cx="4191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0" y="5791200"/>
              <a:ext cx="93726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0" y="5943600"/>
              <a:ext cx="5029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819400" y="3657600"/>
              <a:ext cx="44196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133600" y="3810000"/>
              <a:ext cx="701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715000" y="3962400"/>
              <a:ext cx="3429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276600" y="4114800"/>
              <a:ext cx="5867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343400" y="4267200"/>
              <a:ext cx="3733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590800" y="4419600"/>
              <a:ext cx="6553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848600" y="4572000"/>
              <a:ext cx="1295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733800" y="47244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429000" y="4876800"/>
              <a:ext cx="5715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971800" y="5029200"/>
              <a:ext cx="3124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733800" y="5181600"/>
              <a:ext cx="54102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934200" y="5334000"/>
              <a:ext cx="22098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5943600" y="5486400"/>
              <a:ext cx="32004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191000" y="5638800"/>
              <a:ext cx="4953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193312" y="5943600"/>
              <a:ext cx="3817088"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40" name="Straight Arrow Connector 39"/>
          <p:cNvCxnSpPr/>
          <p:nvPr/>
        </p:nvCxnSpPr>
        <p:spPr>
          <a:xfrm>
            <a:off x="381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4800" y="6163270"/>
            <a:ext cx="8153400" cy="369332"/>
          </a:xfrm>
          <a:prstGeom prst="rect">
            <a:avLst/>
          </a:prstGeom>
          <a:noFill/>
        </p:spPr>
        <p:txBody>
          <a:bodyPr wrap="square" rtlCol="0">
            <a:spAutoFit/>
          </a:bodyPr>
          <a:lstStyle/>
          <a:p>
            <a:r>
              <a:rPr lang="en-US" dirty="0">
                <a:solidFill>
                  <a:schemeClr val="accent1">
                    <a:lumMod val="50000"/>
                  </a:schemeClr>
                </a:solidFill>
              </a:rPr>
              <a:t>Incidence = X %                             95% CI = ?</a:t>
            </a:r>
          </a:p>
        </p:txBody>
      </p:sp>
      <p:grpSp>
        <p:nvGrpSpPr>
          <p:cNvPr id="46" name="Group 45"/>
          <p:cNvGrpSpPr/>
          <p:nvPr/>
        </p:nvGrpSpPr>
        <p:grpSpPr>
          <a:xfrm>
            <a:off x="7162800" y="2362200"/>
            <a:ext cx="1828154" cy="369332"/>
            <a:chOff x="6858000" y="2667000"/>
            <a:chExt cx="1828154" cy="369332"/>
          </a:xfrm>
        </p:grpSpPr>
        <p:cxnSp>
          <p:nvCxnSpPr>
            <p:cNvPr id="44" name="Straight Arrow Connector 43"/>
            <p:cNvCxnSpPr/>
            <p:nvPr/>
          </p:nvCxnSpPr>
          <p:spPr>
            <a:xfrm>
              <a:off x="6858000" y="26670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934200" y="2667000"/>
              <a:ext cx="1751954" cy="369332"/>
            </a:xfrm>
            <a:prstGeom prst="rect">
              <a:avLst/>
            </a:prstGeom>
            <a:noFill/>
          </p:spPr>
          <p:txBody>
            <a:bodyPr wrap="none" rtlCol="0">
              <a:spAutoFit/>
            </a:bodyPr>
            <a:lstStyle/>
            <a:p>
              <a:r>
                <a:rPr lang="en-US" dirty="0">
                  <a:solidFill>
                    <a:schemeClr val="accent1">
                      <a:lumMod val="50000"/>
                    </a:schemeClr>
                  </a:solidFill>
                </a:rPr>
                <a:t>= Data collection</a:t>
              </a:r>
            </a:p>
          </p:txBody>
        </p:sp>
      </p:grpSp>
      <p:sp>
        <p:nvSpPr>
          <p:cNvPr id="47" name="TextBox 46"/>
          <p:cNvSpPr txBox="1"/>
          <p:nvPr/>
        </p:nvSpPr>
        <p:spPr>
          <a:xfrm>
            <a:off x="152400" y="2895600"/>
            <a:ext cx="965329" cy="369332"/>
          </a:xfrm>
          <a:prstGeom prst="rect">
            <a:avLst/>
          </a:prstGeom>
          <a:noFill/>
        </p:spPr>
        <p:txBody>
          <a:bodyPr wrap="none" rtlCol="0">
            <a:spAutoFit/>
          </a:bodyPr>
          <a:lstStyle/>
          <a:p>
            <a:r>
              <a:rPr lang="en-US" dirty="0"/>
              <a:t>baseline</a:t>
            </a:r>
          </a:p>
        </p:txBody>
      </p:sp>
      <p:cxnSp>
        <p:nvCxnSpPr>
          <p:cNvPr id="48" name="Straight Arrow Connector 47"/>
          <p:cNvCxnSpPr/>
          <p:nvPr/>
        </p:nvCxnSpPr>
        <p:spPr>
          <a:xfrm>
            <a:off x="762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1143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1524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1905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2286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2667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048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429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3810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4191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572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4953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5334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5715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096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6477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6858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7239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7620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8001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8382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8763000" y="3276600"/>
            <a:ext cx="0" cy="304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cohort studies</a:t>
            </a:r>
            <a:endParaRPr lang="en-US" sz="4000" b="1" dirty="0"/>
          </a:p>
        </p:txBody>
      </p:sp>
      <p:sp>
        <p:nvSpPr>
          <p:cNvPr id="3" name="Rectangle 2"/>
          <p:cNvSpPr/>
          <p:nvPr/>
        </p:nvSpPr>
        <p:spPr>
          <a:xfrm>
            <a:off x="228600" y="1143000"/>
            <a:ext cx="8610600" cy="3539430"/>
          </a:xfrm>
          <a:prstGeom prst="rect">
            <a:avLst/>
          </a:prstGeom>
        </p:spPr>
        <p:txBody>
          <a:bodyPr wrap="square">
            <a:spAutoFit/>
          </a:bodyPr>
          <a:lstStyle/>
          <a:p>
            <a:r>
              <a:rPr lang="en-US" sz="2400" b="1" dirty="0">
                <a:solidFill>
                  <a:schemeClr val="accent1">
                    <a:lumMod val="50000"/>
                  </a:schemeClr>
                </a:solidFill>
              </a:rPr>
              <a:t>Summary statistics:  </a:t>
            </a:r>
          </a:p>
          <a:p>
            <a:endParaRPr lang="en-US" sz="2000" dirty="0">
              <a:solidFill>
                <a:schemeClr val="accent1">
                  <a:lumMod val="50000"/>
                </a:schemeClr>
              </a:solidFill>
            </a:endParaRPr>
          </a:p>
          <a:p>
            <a:pPr lvl="1">
              <a:buFont typeface="Arial" pitchFamily="34" charset="0"/>
              <a:buChar char="•"/>
            </a:pPr>
            <a:r>
              <a:rPr lang="en-US" sz="2000" b="1" dirty="0">
                <a:solidFill>
                  <a:schemeClr val="accent1">
                    <a:lumMod val="50000"/>
                  </a:schemeClr>
                </a:solidFill>
              </a:rPr>
              <a:t>   incidence rates, </a:t>
            </a:r>
            <a:r>
              <a:rPr lang="en-US" sz="2000" dirty="0">
                <a:solidFill>
                  <a:schemeClr val="accent1">
                    <a:lumMod val="50000"/>
                  </a:schemeClr>
                </a:solidFill>
              </a:rPr>
              <a:t>(with 95% CI) or the number of new cases per population </a:t>
            </a:r>
            <a:br>
              <a:rPr lang="en-US" sz="2000" dirty="0">
                <a:solidFill>
                  <a:schemeClr val="accent1">
                    <a:lumMod val="50000"/>
                  </a:schemeClr>
                </a:solidFill>
              </a:rPr>
            </a:br>
            <a:r>
              <a:rPr lang="en-US" sz="2000" dirty="0">
                <a:solidFill>
                  <a:schemeClr val="accent1">
                    <a:lumMod val="50000"/>
                  </a:schemeClr>
                </a:solidFill>
              </a:rPr>
              <a:t>     at risk in a given time period </a:t>
            </a:r>
          </a:p>
          <a:p>
            <a:pPr lvl="1">
              <a:buFont typeface="Arial" pitchFamily="34" charset="0"/>
              <a:buChar char="•"/>
            </a:pPr>
            <a:endParaRPr lang="en-US" sz="2000" dirty="0">
              <a:solidFill>
                <a:schemeClr val="accent1">
                  <a:lumMod val="50000"/>
                </a:schemeClr>
              </a:solidFill>
            </a:endParaRPr>
          </a:p>
          <a:p>
            <a:pPr lvl="1">
              <a:buFont typeface="Arial" pitchFamily="34" charset="0"/>
              <a:buChar char="•"/>
            </a:pPr>
            <a:r>
              <a:rPr lang="en-US" sz="2000" dirty="0">
                <a:solidFill>
                  <a:schemeClr val="accent1">
                    <a:lumMod val="50000"/>
                  </a:schemeClr>
                </a:solidFill>
              </a:rPr>
              <a:t>   </a:t>
            </a:r>
            <a:r>
              <a:rPr lang="en-US" sz="2000" b="1" dirty="0">
                <a:solidFill>
                  <a:schemeClr val="accent1">
                    <a:lumMod val="50000"/>
                  </a:schemeClr>
                </a:solidFill>
              </a:rPr>
              <a:t>incidence ratio </a:t>
            </a:r>
            <a:r>
              <a:rPr lang="en-US" sz="2000" dirty="0">
                <a:solidFill>
                  <a:schemeClr val="accent1">
                    <a:lumMod val="50000"/>
                  </a:schemeClr>
                </a:solidFill>
              </a:rPr>
              <a:t>(with 95% CI) or the ratio of the incidence rate in two </a:t>
            </a:r>
            <a:br>
              <a:rPr lang="en-US" sz="2000" dirty="0">
                <a:solidFill>
                  <a:schemeClr val="accent1">
                    <a:lumMod val="50000"/>
                  </a:schemeClr>
                </a:solidFill>
              </a:rPr>
            </a:br>
            <a:r>
              <a:rPr lang="en-US" sz="2000" dirty="0">
                <a:solidFill>
                  <a:schemeClr val="accent1">
                    <a:lumMod val="50000"/>
                  </a:schemeClr>
                </a:solidFill>
              </a:rPr>
              <a:t>     sub-groups</a:t>
            </a:r>
          </a:p>
          <a:p>
            <a:pPr lvl="1">
              <a:buFont typeface="Arial" pitchFamily="34" charset="0"/>
              <a:buChar char="•"/>
            </a:pPr>
            <a:endParaRPr lang="en-US" sz="2000" dirty="0">
              <a:solidFill>
                <a:schemeClr val="accent1">
                  <a:lumMod val="50000"/>
                </a:schemeClr>
              </a:solidFill>
            </a:endParaRPr>
          </a:p>
          <a:p>
            <a:pPr lvl="1">
              <a:buFont typeface="Arial" pitchFamily="34" charset="0"/>
              <a:buChar char="•"/>
            </a:pPr>
            <a:r>
              <a:rPr lang="en-US" sz="2000" dirty="0">
                <a:solidFill>
                  <a:schemeClr val="accent1">
                    <a:lumMod val="50000"/>
                  </a:schemeClr>
                </a:solidFill>
              </a:rPr>
              <a:t>   </a:t>
            </a:r>
            <a:r>
              <a:rPr lang="en-US" sz="2000" b="1" dirty="0">
                <a:solidFill>
                  <a:schemeClr val="accent1">
                    <a:lumMod val="50000"/>
                  </a:schemeClr>
                </a:solidFill>
              </a:rPr>
              <a:t>cumulative incidence ratios</a:t>
            </a:r>
            <a:r>
              <a:rPr lang="en-US" sz="2000" dirty="0">
                <a:solidFill>
                  <a:schemeClr val="accent1">
                    <a:lumMod val="50000"/>
                  </a:schemeClr>
                </a:solidFill>
              </a:rPr>
              <a:t> if time-to-data is available</a:t>
            </a:r>
          </a:p>
          <a:p>
            <a:pPr lvl="1"/>
            <a:endParaRPr lang="en-US" sz="2000" u="sng" dirty="0">
              <a:solidFill>
                <a:schemeClr val="accent1">
                  <a:lumMod val="50000"/>
                </a:schemeClr>
              </a:solidFill>
            </a:endParaRPr>
          </a:p>
          <a:p>
            <a:pPr lvl="1"/>
            <a:endParaRPr lang="en-US" sz="2000" dirty="0">
              <a:solidFill>
                <a:schemeClr val="accent1">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0"/>
            <a:ext cx="8534400" cy="4708981"/>
          </a:xfrm>
          <a:prstGeom prst="rect">
            <a:avLst/>
          </a:prstGeom>
        </p:spPr>
        <p:txBody>
          <a:bodyPr wrap="square">
            <a:spAutoFit/>
          </a:bodyPr>
          <a:lstStyle/>
          <a:p>
            <a:r>
              <a:rPr lang="en-US" sz="2000" b="1" dirty="0">
                <a:solidFill>
                  <a:schemeClr val="accent1">
                    <a:lumMod val="50000"/>
                  </a:schemeClr>
                </a:solidFill>
              </a:rPr>
              <a:t>PROS: </a:t>
            </a:r>
          </a:p>
          <a:p>
            <a:endParaRPr lang="en-US" sz="2000" u="sng" dirty="0">
              <a:solidFill>
                <a:schemeClr val="accent1">
                  <a:lumMod val="50000"/>
                </a:schemeClr>
              </a:solidFill>
            </a:endParaRPr>
          </a:p>
          <a:p>
            <a:pPr lvl="1">
              <a:buClr>
                <a:schemeClr val="accent1">
                  <a:lumMod val="75000"/>
                </a:schemeClr>
              </a:buClr>
              <a:buSzPct val="120000"/>
              <a:buFont typeface="Wingdings" pitchFamily="2" charset="2"/>
              <a:buChar char="§"/>
            </a:pPr>
            <a:r>
              <a:rPr lang="en-US" sz="2000" dirty="0">
                <a:solidFill>
                  <a:schemeClr val="accent1">
                    <a:lumMod val="50000"/>
                  </a:schemeClr>
                </a:solidFill>
              </a:rPr>
              <a:t>  Provides estimates of incidence of disease (in addition to prevalence)</a:t>
            </a:r>
          </a:p>
          <a:p>
            <a:pPr lvl="1">
              <a:buClr>
                <a:schemeClr val="accent1">
                  <a:lumMod val="75000"/>
                </a:schemeClr>
              </a:buClr>
              <a:buSzPct val="120000"/>
              <a:buFont typeface="Wingdings" pitchFamily="2" charset="2"/>
              <a:buChar char="§"/>
            </a:pPr>
            <a:r>
              <a:rPr lang="en-US" sz="2000" dirty="0">
                <a:solidFill>
                  <a:schemeClr val="accent1">
                    <a:lumMod val="50000"/>
                  </a:schemeClr>
                </a:solidFill>
              </a:rPr>
              <a:t>  Exposure precedes disease (temporal)</a:t>
            </a:r>
          </a:p>
          <a:p>
            <a:pPr lvl="1">
              <a:buClr>
                <a:schemeClr val="accent1">
                  <a:lumMod val="75000"/>
                </a:schemeClr>
              </a:buClr>
              <a:buSzPct val="120000"/>
              <a:buFont typeface="Wingdings" pitchFamily="2" charset="2"/>
              <a:buChar char="§"/>
            </a:pPr>
            <a:r>
              <a:rPr lang="en-US" sz="2000" dirty="0">
                <a:solidFill>
                  <a:schemeClr val="accent1">
                    <a:lumMod val="50000"/>
                  </a:schemeClr>
                </a:solidFill>
              </a:rPr>
              <a:t>  If prospective, have the opportunity to measure important factors </a:t>
            </a:r>
            <a:br>
              <a:rPr lang="en-US" sz="2000" dirty="0">
                <a:solidFill>
                  <a:schemeClr val="accent1">
                    <a:lumMod val="50000"/>
                  </a:schemeClr>
                </a:solidFill>
              </a:rPr>
            </a:br>
            <a:r>
              <a:rPr lang="en-US" sz="2000" dirty="0">
                <a:solidFill>
                  <a:schemeClr val="accent1">
                    <a:lumMod val="50000"/>
                  </a:schemeClr>
                </a:solidFill>
              </a:rPr>
              <a:t>     accurately and completely</a:t>
            </a:r>
          </a:p>
          <a:p>
            <a:pPr lvl="1">
              <a:buClr>
                <a:schemeClr val="accent1">
                  <a:lumMod val="75000"/>
                </a:schemeClr>
              </a:buClr>
              <a:buSzPct val="120000"/>
              <a:buFont typeface="Wingdings" pitchFamily="2" charset="2"/>
              <a:buChar char="§"/>
            </a:pPr>
            <a:endParaRPr lang="en-US" sz="2000" dirty="0">
              <a:solidFill>
                <a:schemeClr val="accent1">
                  <a:lumMod val="50000"/>
                </a:schemeClr>
              </a:solidFill>
            </a:endParaRPr>
          </a:p>
          <a:p>
            <a:pPr>
              <a:buClr>
                <a:schemeClr val="accent1">
                  <a:lumMod val="75000"/>
                </a:schemeClr>
              </a:buClr>
              <a:buSzPct val="120000"/>
            </a:pPr>
            <a:r>
              <a:rPr lang="en-US" sz="2000" b="1" dirty="0">
                <a:solidFill>
                  <a:schemeClr val="accent1">
                    <a:lumMod val="50000"/>
                  </a:schemeClr>
                </a:solidFill>
              </a:rPr>
              <a:t>CONS: </a:t>
            </a:r>
          </a:p>
          <a:p>
            <a:pPr>
              <a:buClr>
                <a:schemeClr val="accent1">
                  <a:lumMod val="75000"/>
                </a:schemeClr>
              </a:buClr>
              <a:buSzPct val="120000"/>
            </a:pPr>
            <a:endParaRPr lang="en-US" sz="2000" b="1" dirty="0">
              <a:solidFill>
                <a:schemeClr val="accent1">
                  <a:lumMod val="50000"/>
                </a:schemeClr>
              </a:solidFill>
            </a:endParaRPr>
          </a:p>
          <a:p>
            <a:pPr lvl="1">
              <a:buClr>
                <a:schemeClr val="accent1">
                  <a:lumMod val="75000"/>
                </a:schemeClr>
              </a:buClr>
              <a:buSzPct val="120000"/>
              <a:buFont typeface="Wingdings" pitchFamily="2" charset="2"/>
              <a:buChar char="§"/>
            </a:pPr>
            <a:r>
              <a:rPr lang="en-US" sz="2000" dirty="0">
                <a:solidFill>
                  <a:schemeClr val="accent1">
                    <a:lumMod val="50000"/>
                  </a:schemeClr>
                </a:solidFill>
              </a:rPr>
              <a:t>  Likely large and expensive</a:t>
            </a:r>
          </a:p>
          <a:p>
            <a:pPr lvl="1">
              <a:buClr>
                <a:schemeClr val="accent1">
                  <a:lumMod val="75000"/>
                </a:schemeClr>
              </a:buClr>
              <a:buSzPct val="120000"/>
              <a:buFont typeface="Wingdings" pitchFamily="2" charset="2"/>
              <a:buChar char="§"/>
            </a:pPr>
            <a:r>
              <a:rPr lang="en-US" sz="2000" dirty="0">
                <a:solidFill>
                  <a:schemeClr val="accent1">
                    <a:lumMod val="50000"/>
                  </a:schemeClr>
                </a:solidFill>
              </a:rPr>
              <a:t>  Not good for the study of rare diseases or infrequent outcomes</a:t>
            </a:r>
          </a:p>
          <a:p>
            <a:pPr lvl="1">
              <a:buClr>
                <a:schemeClr val="accent1">
                  <a:lumMod val="75000"/>
                </a:schemeClr>
              </a:buClr>
              <a:buSzPct val="120000"/>
              <a:buFont typeface="Wingdings" pitchFamily="2" charset="2"/>
              <a:buChar char="§"/>
            </a:pPr>
            <a:r>
              <a:rPr lang="en-US" sz="2000" dirty="0">
                <a:solidFill>
                  <a:schemeClr val="accent1">
                    <a:lumMod val="50000"/>
                  </a:schemeClr>
                </a:solidFill>
              </a:rPr>
              <a:t>  Subject to biases as are all observational studies</a:t>
            </a:r>
          </a:p>
          <a:p>
            <a:pPr marL="1257300" lvl="2" indent="-342900">
              <a:buClr>
                <a:schemeClr val="accent1">
                  <a:lumMod val="75000"/>
                </a:schemeClr>
              </a:buClr>
              <a:buSzPct val="120000"/>
              <a:buFont typeface="Arial" panose="020B0604020202020204" pitchFamily="34" charset="0"/>
              <a:buChar char="•"/>
            </a:pPr>
            <a:r>
              <a:rPr lang="en-US" dirty="0">
                <a:solidFill>
                  <a:schemeClr val="accent1">
                    <a:lumMod val="50000"/>
                  </a:schemeClr>
                </a:solidFill>
              </a:rPr>
              <a:t>Recall bias</a:t>
            </a:r>
          </a:p>
          <a:p>
            <a:pPr marL="1257300" lvl="2" indent="-342900">
              <a:buClr>
                <a:schemeClr val="accent1">
                  <a:lumMod val="75000"/>
                </a:schemeClr>
              </a:buClr>
              <a:buSzPct val="120000"/>
              <a:buFont typeface="Arial" panose="020B0604020202020204" pitchFamily="34" charset="0"/>
              <a:buChar char="•"/>
            </a:pPr>
            <a:r>
              <a:rPr lang="en-US" dirty="0">
                <a:solidFill>
                  <a:schemeClr val="accent1">
                    <a:lumMod val="50000"/>
                  </a:schemeClr>
                </a:solidFill>
              </a:rPr>
              <a:t>Desirability bias</a:t>
            </a:r>
          </a:p>
          <a:p>
            <a:pPr marL="1257300" lvl="2" indent="-342900">
              <a:buClr>
                <a:schemeClr val="accent1">
                  <a:lumMod val="75000"/>
                </a:schemeClr>
              </a:buClr>
              <a:buSzPct val="120000"/>
              <a:buFont typeface="Arial" panose="020B0604020202020204" pitchFamily="34" charset="0"/>
              <a:buChar char="•"/>
            </a:pPr>
            <a:endParaRPr lang="en-US" sz="2000" dirty="0">
              <a:solidFill>
                <a:schemeClr val="accent1">
                  <a:lumMod val="50000"/>
                </a:schemeClr>
              </a:solidFill>
            </a:endParaRP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Cohort studies </a:t>
            </a:r>
            <a:r>
              <a:rPr lang="en-US" sz="3200" b="1" dirty="0">
                <a:sym typeface="Symbol"/>
              </a:rPr>
              <a:t> </a:t>
            </a:r>
            <a:r>
              <a:rPr lang="en-US" sz="2800" dirty="0">
                <a:sym typeface="Symbol"/>
              </a:rPr>
              <a:t>Pros &amp; Cons</a:t>
            </a:r>
            <a:endParaRPr lang="en-US" sz="40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400" dirty="0">
                <a:sym typeface="Symbol"/>
              </a:rPr>
              <a:t>longitudinal cohort studies </a:t>
            </a:r>
            <a:endParaRPr lang="en-US" sz="4000" dirty="0"/>
          </a:p>
        </p:txBody>
      </p:sp>
      <p:sp>
        <p:nvSpPr>
          <p:cNvPr id="25" name="TextBox 24"/>
          <p:cNvSpPr txBox="1"/>
          <p:nvPr/>
        </p:nvSpPr>
        <p:spPr>
          <a:xfrm>
            <a:off x="381000" y="1066800"/>
            <a:ext cx="8305800" cy="1754326"/>
          </a:xfrm>
          <a:prstGeom prst="rect">
            <a:avLst/>
          </a:prstGeom>
          <a:noFill/>
        </p:spPr>
        <p:txBody>
          <a:bodyPr wrap="square" rtlCol="0">
            <a:spAutoFit/>
          </a:bodyPr>
          <a:lstStyle/>
          <a:p>
            <a:r>
              <a:rPr lang="en-US" dirty="0">
                <a:solidFill>
                  <a:schemeClr val="accent1">
                    <a:lumMod val="50000"/>
                  </a:schemeClr>
                </a:solidFill>
              </a:rPr>
              <a:t>Cohort studies can allow the study of an exposure within individual, enhancing the ability to make associations because </a:t>
            </a:r>
            <a:r>
              <a:rPr lang="en-US" b="1" dirty="0">
                <a:solidFill>
                  <a:schemeClr val="accent1">
                    <a:lumMod val="50000"/>
                  </a:schemeClr>
                </a:solidFill>
              </a:rPr>
              <a:t>each participant can act as their own control</a:t>
            </a:r>
          </a:p>
          <a:p>
            <a:endParaRPr lang="en-US" dirty="0">
              <a:solidFill>
                <a:schemeClr val="accent1">
                  <a:lumMod val="50000"/>
                </a:schemeClr>
              </a:solidFill>
            </a:endParaRPr>
          </a:p>
          <a:p>
            <a:r>
              <a:rPr lang="en-US" dirty="0">
                <a:solidFill>
                  <a:schemeClr val="accent1">
                    <a:lumMod val="50000"/>
                  </a:schemeClr>
                </a:solidFill>
              </a:rPr>
              <a:t>Example: Want to study relationship between smoking and IL-6 levels:</a:t>
            </a:r>
          </a:p>
          <a:p>
            <a:endParaRPr lang="en-US" dirty="0">
              <a:solidFill>
                <a:schemeClr val="accent1">
                  <a:lumMod val="50000"/>
                </a:schemeClr>
              </a:solidFill>
            </a:endParaRPr>
          </a:p>
          <a:p>
            <a:endParaRPr lang="en-US" dirty="0">
              <a:solidFill>
                <a:schemeClr val="accent1">
                  <a:lumMod val="50000"/>
                </a:schemeClr>
              </a:solidFill>
            </a:endParaRPr>
          </a:p>
        </p:txBody>
      </p:sp>
      <p:sp>
        <p:nvSpPr>
          <p:cNvPr id="27" name="TextBox 26"/>
          <p:cNvSpPr txBox="1"/>
          <p:nvPr/>
        </p:nvSpPr>
        <p:spPr>
          <a:xfrm>
            <a:off x="990600" y="2895600"/>
            <a:ext cx="2880084" cy="461665"/>
          </a:xfrm>
          <a:prstGeom prst="rect">
            <a:avLst/>
          </a:prstGeom>
          <a:noFill/>
        </p:spPr>
        <p:txBody>
          <a:bodyPr wrap="none" rtlCol="0">
            <a:spAutoFit/>
          </a:bodyPr>
          <a:lstStyle/>
          <a:p>
            <a:r>
              <a:rPr lang="en-US" sz="2400" b="1" dirty="0">
                <a:solidFill>
                  <a:schemeClr val="accent1">
                    <a:lumMod val="50000"/>
                  </a:schemeClr>
                </a:solidFill>
              </a:rPr>
              <a:t>Cross-sectional study</a:t>
            </a:r>
          </a:p>
        </p:txBody>
      </p:sp>
      <p:sp>
        <p:nvSpPr>
          <p:cNvPr id="28" name="TextBox 27"/>
          <p:cNvSpPr txBox="1"/>
          <p:nvPr/>
        </p:nvSpPr>
        <p:spPr>
          <a:xfrm>
            <a:off x="1447800" y="3352800"/>
            <a:ext cx="1995546" cy="369332"/>
          </a:xfrm>
          <a:prstGeom prst="rect">
            <a:avLst/>
          </a:prstGeom>
          <a:noFill/>
        </p:spPr>
        <p:txBody>
          <a:bodyPr wrap="none" rtlCol="0">
            <a:spAutoFit/>
          </a:bodyPr>
          <a:lstStyle/>
          <a:p>
            <a:r>
              <a:rPr lang="en-US" dirty="0">
                <a:solidFill>
                  <a:schemeClr val="accent1">
                    <a:lumMod val="50000"/>
                  </a:schemeClr>
                </a:solidFill>
              </a:rPr>
              <a:t>Cohort participants</a:t>
            </a:r>
          </a:p>
        </p:txBody>
      </p:sp>
      <p:cxnSp>
        <p:nvCxnSpPr>
          <p:cNvPr id="29" name="Straight Arrow Connector 28"/>
          <p:cNvCxnSpPr/>
          <p:nvPr/>
        </p:nvCxnSpPr>
        <p:spPr>
          <a:xfrm flipH="1">
            <a:off x="1981200" y="38100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590800" y="38100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447800" y="4343400"/>
            <a:ext cx="958724" cy="369332"/>
          </a:xfrm>
          <a:prstGeom prst="rect">
            <a:avLst/>
          </a:prstGeom>
          <a:noFill/>
        </p:spPr>
        <p:txBody>
          <a:bodyPr wrap="none" rtlCol="0">
            <a:spAutoFit/>
          </a:bodyPr>
          <a:lstStyle/>
          <a:p>
            <a:r>
              <a:rPr lang="en-US" dirty="0">
                <a:solidFill>
                  <a:schemeClr val="accent1">
                    <a:lumMod val="50000"/>
                  </a:schemeClr>
                </a:solidFill>
              </a:rPr>
              <a:t>smokers</a:t>
            </a:r>
          </a:p>
        </p:txBody>
      </p:sp>
      <p:sp>
        <p:nvSpPr>
          <p:cNvPr id="32" name="TextBox 31"/>
          <p:cNvSpPr txBox="1"/>
          <p:nvPr/>
        </p:nvSpPr>
        <p:spPr>
          <a:xfrm>
            <a:off x="2392281" y="4343400"/>
            <a:ext cx="1394741" cy="369332"/>
          </a:xfrm>
          <a:prstGeom prst="rect">
            <a:avLst/>
          </a:prstGeom>
          <a:noFill/>
        </p:spPr>
        <p:txBody>
          <a:bodyPr wrap="none" rtlCol="0">
            <a:spAutoFit/>
          </a:bodyPr>
          <a:lstStyle/>
          <a:p>
            <a:r>
              <a:rPr lang="en-US" dirty="0">
                <a:solidFill>
                  <a:schemeClr val="accent1">
                    <a:lumMod val="50000"/>
                  </a:schemeClr>
                </a:solidFill>
              </a:rPr>
              <a:t>non-smokers</a:t>
            </a:r>
          </a:p>
        </p:txBody>
      </p:sp>
      <p:cxnSp>
        <p:nvCxnSpPr>
          <p:cNvPr id="38" name="Straight Arrow Connector 37"/>
          <p:cNvCxnSpPr/>
          <p:nvPr/>
        </p:nvCxnSpPr>
        <p:spPr>
          <a:xfrm>
            <a:off x="1905000" y="4724400"/>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971800" y="4724400"/>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85800" y="5410200"/>
            <a:ext cx="3733800" cy="923330"/>
          </a:xfrm>
          <a:prstGeom prst="rect">
            <a:avLst/>
          </a:prstGeom>
          <a:noFill/>
        </p:spPr>
        <p:txBody>
          <a:bodyPr wrap="square" rtlCol="0">
            <a:spAutoFit/>
          </a:bodyPr>
          <a:lstStyle/>
          <a:p>
            <a:pPr algn="ctr"/>
            <a:r>
              <a:rPr lang="en-US" dirty="0">
                <a:solidFill>
                  <a:schemeClr val="accent1">
                    <a:lumMod val="50000"/>
                  </a:schemeClr>
                </a:solidFill>
              </a:rPr>
              <a:t>IL-6 different?</a:t>
            </a:r>
          </a:p>
          <a:p>
            <a:pPr algn="ctr"/>
            <a:endParaRPr lang="en-US" dirty="0">
              <a:solidFill>
                <a:schemeClr val="accent1">
                  <a:lumMod val="50000"/>
                </a:schemeClr>
              </a:solidFill>
            </a:endParaRPr>
          </a:p>
          <a:p>
            <a:pPr algn="ctr"/>
            <a:r>
              <a:rPr lang="en-US" dirty="0">
                <a:solidFill>
                  <a:schemeClr val="accent1">
                    <a:lumMod val="50000"/>
                  </a:schemeClr>
                </a:solidFill>
              </a:rPr>
              <a:t>(many other factors could be at play)</a:t>
            </a:r>
          </a:p>
        </p:txBody>
      </p:sp>
      <p:sp>
        <p:nvSpPr>
          <p:cNvPr id="41" name="TextBox 40"/>
          <p:cNvSpPr txBox="1"/>
          <p:nvPr/>
        </p:nvSpPr>
        <p:spPr>
          <a:xfrm>
            <a:off x="4816116" y="2895600"/>
            <a:ext cx="3451458" cy="461665"/>
          </a:xfrm>
          <a:prstGeom prst="rect">
            <a:avLst/>
          </a:prstGeom>
          <a:noFill/>
        </p:spPr>
        <p:txBody>
          <a:bodyPr wrap="none" rtlCol="0">
            <a:spAutoFit/>
          </a:bodyPr>
          <a:lstStyle/>
          <a:p>
            <a:r>
              <a:rPr lang="en-US" sz="2400" b="1" dirty="0">
                <a:solidFill>
                  <a:schemeClr val="accent1">
                    <a:lumMod val="50000"/>
                  </a:schemeClr>
                </a:solidFill>
              </a:rPr>
              <a:t>Longitudinal cohort study</a:t>
            </a:r>
          </a:p>
        </p:txBody>
      </p:sp>
      <p:sp>
        <p:nvSpPr>
          <p:cNvPr id="42" name="TextBox 41"/>
          <p:cNvSpPr txBox="1"/>
          <p:nvPr/>
        </p:nvSpPr>
        <p:spPr>
          <a:xfrm>
            <a:off x="5334000" y="3352800"/>
            <a:ext cx="1995546" cy="369332"/>
          </a:xfrm>
          <a:prstGeom prst="rect">
            <a:avLst/>
          </a:prstGeom>
          <a:noFill/>
        </p:spPr>
        <p:txBody>
          <a:bodyPr wrap="none" rtlCol="0">
            <a:spAutoFit/>
          </a:bodyPr>
          <a:lstStyle/>
          <a:p>
            <a:r>
              <a:rPr lang="en-US" dirty="0">
                <a:solidFill>
                  <a:schemeClr val="accent1">
                    <a:lumMod val="50000"/>
                  </a:schemeClr>
                </a:solidFill>
              </a:rPr>
              <a:t>Cohort participants</a:t>
            </a:r>
          </a:p>
        </p:txBody>
      </p:sp>
      <p:cxnSp>
        <p:nvCxnSpPr>
          <p:cNvPr id="43" name="Straight Arrow Connector 42"/>
          <p:cNvCxnSpPr/>
          <p:nvPr/>
        </p:nvCxnSpPr>
        <p:spPr>
          <a:xfrm flipH="1">
            <a:off x="5867400" y="38100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6858000" y="38100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334000" y="4343400"/>
            <a:ext cx="958724" cy="369332"/>
          </a:xfrm>
          <a:prstGeom prst="rect">
            <a:avLst/>
          </a:prstGeom>
          <a:noFill/>
        </p:spPr>
        <p:txBody>
          <a:bodyPr wrap="none" rtlCol="0">
            <a:spAutoFit/>
          </a:bodyPr>
          <a:lstStyle/>
          <a:p>
            <a:r>
              <a:rPr lang="en-US" dirty="0">
                <a:solidFill>
                  <a:schemeClr val="accent1">
                    <a:lumMod val="50000"/>
                  </a:schemeClr>
                </a:solidFill>
              </a:rPr>
              <a:t>smokers</a:t>
            </a:r>
          </a:p>
        </p:txBody>
      </p:sp>
      <p:sp>
        <p:nvSpPr>
          <p:cNvPr id="46" name="TextBox 45"/>
          <p:cNvSpPr txBox="1"/>
          <p:nvPr/>
        </p:nvSpPr>
        <p:spPr>
          <a:xfrm>
            <a:off x="6758659" y="4343400"/>
            <a:ext cx="1394741" cy="369332"/>
          </a:xfrm>
          <a:prstGeom prst="rect">
            <a:avLst/>
          </a:prstGeom>
          <a:noFill/>
        </p:spPr>
        <p:txBody>
          <a:bodyPr wrap="none" rtlCol="0">
            <a:spAutoFit/>
          </a:bodyPr>
          <a:lstStyle/>
          <a:p>
            <a:r>
              <a:rPr lang="en-US" dirty="0">
                <a:solidFill>
                  <a:schemeClr val="accent1">
                    <a:lumMod val="50000"/>
                  </a:schemeClr>
                </a:solidFill>
              </a:rPr>
              <a:t>non-smokers</a:t>
            </a:r>
          </a:p>
        </p:txBody>
      </p:sp>
      <p:cxnSp>
        <p:nvCxnSpPr>
          <p:cNvPr id="47" name="Straight Arrow Connector 46"/>
          <p:cNvCxnSpPr/>
          <p:nvPr/>
        </p:nvCxnSpPr>
        <p:spPr>
          <a:xfrm flipH="1">
            <a:off x="5334000" y="47244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7391400" y="4724400"/>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467600" y="4800600"/>
            <a:ext cx="1500411" cy="369332"/>
          </a:xfrm>
          <a:prstGeom prst="rect">
            <a:avLst/>
          </a:prstGeom>
          <a:noFill/>
        </p:spPr>
        <p:txBody>
          <a:bodyPr wrap="none" rtlCol="0">
            <a:spAutoFit/>
          </a:bodyPr>
          <a:lstStyle/>
          <a:p>
            <a:r>
              <a:rPr lang="en-US" dirty="0">
                <a:solidFill>
                  <a:schemeClr val="accent1">
                    <a:lumMod val="50000"/>
                  </a:schemeClr>
                </a:solidFill>
              </a:rPr>
              <a:t>IL-6 different?</a:t>
            </a:r>
          </a:p>
        </p:txBody>
      </p:sp>
      <p:cxnSp>
        <p:nvCxnSpPr>
          <p:cNvPr id="51" name="Straight Arrow Connector 50"/>
          <p:cNvCxnSpPr/>
          <p:nvPr/>
        </p:nvCxnSpPr>
        <p:spPr>
          <a:xfrm>
            <a:off x="6019800" y="472440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800600" y="5181600"/>
            <a:ext cx="910699" cy="369332"/>
          </a:xfrm>
          <a:prstGeom prst="rect">
            <a:avLst/>
          </a:prstGeom>
          <a:noFill/>
        </p:spPr>
        <p:txBody>
          <a:bodyPr wrap="none" rtlCol="0">
            <a:spAutoFit/>
          </a:bodyPr>
          <a:lstStyle/>
          <a:p>
            <a:r>
              <a:rPr lang="en-US" dirty="0">
                <a:solidFill>
                  <a:schemeClr val="accent1">
                    <a:lumMod val="50000"/>
                  </a:schemeClr>
                </a:solidFill>
              </a:rPr>
              <a:t>quitters</a:t>
            </a:r>
          </a:p>
        </p:txBody>
      </p:sp>
      <p:sp>
        <p:nvSpPr>
          <p:cNvPr id="53" name="TextBox 52"/>
          <p:cNvSpPr txBox="1"/>
          <p:nvPr/>
        </p:nvSpPr>
        <p:spPr>
          <a:xfrm>
            <a:off x="5794901" y="5181600"/>
            <a:ext cx="1346715" cy="369332"/>
          </a:xfrm>
          <a:prstGeom prst="rect">
            <a:avLst/>
          </a:prstGeom>
          <a:noFill/>
        </p:spPr>
        <p:txBody>
          <a:bodyPr wrap="none" rtlCol="0">
            <a:spAutoFit/>
          </a:bodyPr>
          <a:lstStyle/>
          <a:p>
            <a:r>
              <a:rPr lang="en-US" dirty="0">
                <a:solidFill>
                  <a:schemeClr val="accent1">
                    <a:lumMod val="50000"/>
                  </a:schemeClr>
                </a:solidFill>
              </a:rPr>
              <a:t>non-quitters</a:t>
            </a:r>
          </a:p>
        </p:txBody>
      </p:sp>
      <p:cxnSp>
        <p:nvCxnSpPr>
          <p:cNvPr id="54" name="Straight Arrow Connector 53"/>
          <p:cNvCxnSpPr/>
          <p:nvPr/>
        </p:nvCxnSpPr>
        <p:spPr>
          <a:xfrm>
            <a:off x="5334000" y="5562600"/>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953000" y="6096000"/>
            <a:ext cx="776175" cy="369332"/>
          </a:xfrm>
          <a:prstGeom prst="rect">
            <a:avLst/>
          </a:prstGeom>
          <a:noFill/>
        </p:spPr>
        <p:txBody>
          <a:bodyPr wrap="none" rtlCol="0">
            <a:spAutoFit/>
          </a:bodyPr>
          <a:lstStyle/>
          <a:p>
            <a:r>
              <a:rPr lang="en-US" dirty="0">
                <a:solidFill>
                  <a:schemeClr val="accent1">
                    <a:lumMod val="50000"/>
                  </a:schemeClr>
                </a:solidFill>
                <a:sym typeface="Symbol"/>
              </a:rPr>
              <a:t>IL-6?</a:t>
            </a:r>
            <a:endParaRPr lang="en-US" dirty="0">
              <a:solidFill>
                <a:schemeClr val="accent1">
                  <a:lumMod val="50000"/>
                </a:schemeClr>
              </a:solidFill>
            </a:endParaRPr>
          </a:p>
        </p:txBody>
      </p:sp>
      <p:sp>
        <p:nvSpPr>
          <p:cNvPr id="57" name="TextBox 56"/>
          <p:cNvSpPr txBox="1"/>
          <p:nvPr/>
        </p:nvSpPr>
        <p:spPr>
          <a:xfrm>
            <a:off x="6019800" y="6096000"/>
            <a:ext cx="776175" cy="369332"/>
          </a:xfrm>
          <a:prstGeom prst="rect">
            <a:avLst/>
          </a:prstGeom>
          <a:noFill/>
        </p:spPr>
        <p:txBody>
          <a:bodyPr wrap="none" rtlCol="0">
            <a:spAutoFit/>
          </a:bodyPr>
          <a:lstStyle/>
          <a:p>
            <a:r>
              <a:rPr lang="en-US" dirty="0">
                <a:solidFill>
                  <a:schemeClr val="accent1">
                    <a:lumMod val="50000"/>
                  </a:schemeClr>
                </a:solidFill>
                <a:sym typeface="Symbol"/>
              </a:rPr>
              <a:t>IL-6?</a:t>
            </a:r>
            <a:endParaRPr lang="en-US" dirty="0">
              <a:solidFill>
                <a:schemeClr val="accent1">
                  <a:lumMod val="50000"/>
                </a:schemeClr>
              </a:solidFill>
            </a:endParaRPr>
          </a:p>
        </p:txBody>
      </p:sp>
      <p:cxnSp>
        <p:nvCxnSpPr>
          <p:cNvPr id="58" name="Straight Arrow Connector 57"/>
          <p:cNvCxnSpPr/>
          <p:nvPr/>
        </p:nvCxnSpPr>
        <p:spPr>
          <a:xfrm>
            <a:off x="6324600" y="5562600"/>
            <a:ext cx="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553200" y="5638800"/>
            <a:ext cx="1500411" cy="369332"/>
          </a:xfrm>
          <a:prstGeom prst="rect">
            <a:avLst/>
          </a:prstGeom>
          <a:noFill/>
        </p:spPr>
        <p:txBody>
          <a:bodyPr wrap="none" rtlCol="0">
            <a:spAutoFit/>
          </a:bodyPr>
          <a:lstStyle/>
          <a:p>
            <a:r>
              <a:rPr lang="en-US" dirty="0">
                <a:solidFill>
                  <a:schemeClr val="accent1">
                    <a:lumMod val="50000"/>
                  </a:schemeClr>
                </a:solidFill>
              </a:rPr>
              <a:t>IL-6 different?</a:t>
            </a:r>
          </a:p>
        </p:txBody>
      </p:sp>
      <p:sp>
        <p:nvSpPr>
          <p:cNvPr id="2" name="TextBox 1"/>
          <p:cNvSpPr txBox="1"/>
          <p:nvPr/>
        </p:nvSpPr>
        <p:spPr>
          <a:xfrm>
            <a:off x="384845" y="4355068"/>
            <a:ext cx="754309" cy="369332"/>
          </a:xfrm>
          <a:prstGeom prst="rect">
            <a:avLst/>
          </a:prstGeom>
          <a:noFill/>
        </p:spPr>
        <p:txBody>
          <a:bodyPr wrap="none" rtlCol="0">
            <a:spAutoFit/>
          </a:bodyPr>
          <a:lstStyle/>
          <a:p>
            <a:r>
              <a:rPr lang="en-US" dirty="0">
                <a:solidFill>
                  <a:schemeClr val="accent1">
                    <a:lumMod val="50000"/>
                  </a:schemeClr>
                </a:solidFill>
              </a:rPr>
              <a:t>At t=X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case control studies</a:t>
            </a:r>
            <a:endParaRPr lang="en-US" sz="4000" b="1" dirty="0"/>
          </a:p>
        </p:txBody>
      </p:sp>
      <p:sp>
        <p:nvSpPr>
          <p:cNvPr id="3" name="TextBox 2"/>
          <p:cNvSpPr txBox="1"/>
          <p:nvPr/>
        </p:nvSpPr>
        <p:spPr>
          <a:xfrm>
            <a:off x="381000" y="1219200"/>
            <a:ext cx="8610600" cy="1754326"/>
          </a:xfrm>
          <a:prstGeom prst="rect">
            <a:avLst/>
          </a:prstGeom>
          <a:noFill/>
        </p:spPr>
        <p:txBody>
          <a:bodyPr wrap="square" rtlCol="0">
            <a:spAutoFit/>
          </a:bodyPr>
          <a:lstStyle/>
          <a:p>
            <a:r>
              <a:rPr lang="en-US" dirty="0">
                <a:solidFill>
                  <a:schemeClr val="accent1">
                    <a:lumMod val="50000"/>
                  </a:schemeClr>
                </a:solidFill>
              </a:rPr>
              <a:t>Sampling (assignment to groups) is based on an outcome or a characteristic. </a:t>
            </a:r>
          </a:p>
          <a:p>
            <a:endParaRPr lang="en-US" dirty="0">
              <a:solidFill>
                <a:schemeClr val="accent1">
                  <a:lumMod val="50000"/>
                </a:schemeClr>
              </a:solidFill>
            </a:endParaRPr>
          </a:p>
          <a:p>
            <a:r>
              <a:rPr lang="en-US" dirty="0">
                <a:solidFill>
                  <a:schemeClr val="accent1">
                    <a:lumMod val="50000"/>
                  </a:schemeClr>
                </a:solidFill>
              </a:rPr>
              <a:t>Case-control studies start with the identification (in a given population) of a group of cases (individuals with a particular health outcome) and a group of controls (individuals without the health outcome) to be included in the study.</a:t>
            </a:r>
          </a:p>
          <a:p>
            <a:endParaRPr lang="en-US" dirty="0">
              <a:solidFill>
                <a:schemeClr val="accent1">
                  <a:lumMod val="50000"/>
                </a:schemeClr>
              </a:solidFill>
            </a:endParaRPr>
          </a:p>
        </p:txBody>
      </p:sp>
      <p:sp>
        <p:nvSpPr>
          <p:cNvPr id="4" name="TextBox 3"/>
          <p:cNvSpPr txBox="1"/>
          <p:nvPr/>
        </p:nvSpPr>
        <p:spPr>
          <a:xfrm>
            <a:off x="457200" y="5181600"/>
            <a:ext cx="8077200" cy="923330"/>
          </a:xfrm>
          <a:prstGeom prst="rect">
            <a:avLst/>
          </a:prstGeom>
          <a:noFill/>
        </p:spPr>
        <p:txBody>
          <a:bodyPr wrap="square" rtlCol="0">
            <a:spAutoFit/>
          </a:bodyPr>
          <a:lstStyle/>
          <a:p>
            <a:r>
              <a:rPr lang="en-US" dirty="0">
                <a:solidFill>
                  <a:schemeClr val="accent1">
                    <a:lumMod val="50000"/>
                  </a:schemeClr>
                </a:solidFill>
              </a:rPr>
              <a:t>The prevalence of exposure to a potential risk factor(s) or the prevalence of a characteristic is compared between cases and controls</a:t>
            </a:r>
          </a:p>
          <a:p>
            <a:endParaRPr lang="en-US" dirty="0">
              <a:solidFill>
                <a:schemeClr val="accent1">
                  <a:lumMod val="50000"/>
                </a:schemeClr>
              </a:solidFill>
            </a:endParaRPr>
          </a:p>
        </p:txBody>
      </p:sp>
      <p:sp>
        <p:nvSpPr>
          <p:cNvPr id="5" name="Rectangle 4"/>
          <p:cNvSpPr/>
          <p:nvPr/>
        </p:nvSpPr>
        <p:spPr>
          <a:xfrm>
            <a:off x="2057400" y="38862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Cases</a:t>
            </a:r>
          </a:p>
        </p:txBody>
      </p:sp>
      <p:sp>
        <p:nvSpPr>
          <p:cNvPr id="6" name="Rectangle 5"/>
          <p:cNvSpPr/>
          <p:nvPr/>
        </p:nvSpPr>
        <p:spPr>
          <a:xfrm>
            <a:off x="4724400" y="38862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Controls</a:t>
            </a:r>
          </a:p>
        </p:txBody>
      </p:sp>
      <p:cxnSp>
        <p:nvCxnSpPr>
          <p:cNvPr id="7" name="Straight Arrow Connector 6"/>
          <p:cNvCxnSpPr>
            <a:cxnSpLocks/>
          </p:cNvCxnSpPr>
          <p:nvPr/>
        </p:nvCxnSpPr>
        <p:spPr>
          <a:xfrm>
            <a:off x="2459612" y="328041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p:cNvCxnSpPr>
          <p:nvPr/>
        </p:nvCxnSpPr>
        <p:spPr>
          <a:xfrm flipH="1">
            <a:off x="3069212" y="328041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905000" y="2907268"/>
            <a:ext cx="966675" cy="369332"/>
          </a:xfrm>
          <a:prstGeom prst="rect">
            <a:avLst/>
          </a:prstGeom>
          <a:noFill/>
        </p:spPr>
        <p:txBody>
          <a:bodyPr wrap="none" rtlCol="0">
            <a:spAutoFit/>
          </a:bodyPr>
          <a:lstStyle/>
          <a:p>
            <a:r>
              <a:rPr lang="en-US" dirty="0">
                <a:solidFill>
                  <a:schemeClr val="accent1">
                    <a:lumMod val="50000"/>
                  </a:schemeClr>
                </a:solidFill>
              </a:rPr>
              <a:t>exposed</a:t>
            </a:r>
          </a:p>
        </p:txBody>
      </p:sp>
      <p:sp>
        <p:nvSpPr>
          <p:cNvPr id="10" name="TextBox 9"/>
          <p:cNvSpPr txBox="1"/>
          <p:nvPr/>
        </p:nvSpPr>
        <p:spPr>
          <a:xfrm>
            <a:off x="2849481" y="2907268"/>
            <a:ext cx="1210331" cy="369332"/>
          </a:xfrm>
          <a:prstGeom prst="rect">
            <a:avLst/>
          </a:prstGeom>
          <a:noFill/>
        </p:spPr>
        <p:txBody>
          <a:bodyPr wrap="none" rtlCol="0">
            <a:spAutoFit/>
          </a:bodyPr>
          <a:lstStyle/>
          <a:p>
            <a:r>
              <a:rPr lang="en-US" dirty="0">
                <a:solidFill>
                  <a:schemeClr val="accent1">
                    <a:lumMod val="50000"/>
                  </a:schemeClr>
                </a:solidFill>
              </a:rPr>
              <a:t>unexposed</a:t>
            </a:r>
          </a:p>
        </p:txBody>
      </p:sp>
      <p:cxnSp>
        <p:nvCxnSpPr>
          <p:cNvPr id="11" name="Straight Arrow Connector 10"/>
          <p:cNvCxnSpPr>
            <a:cxnSpLocks/>
          </p:cNvCxnSpPr>
          <p:nvPr/>
        </p:nvCxnSpPr>
        <p:spPr>
          <a:xfrm>
            <a:off x="5105400" y="328041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flipH="1">
            <a:off x="5715000" y="3280410"/>
            <a:ext cx="228600" cy="457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550788" y="2907268"/>
            <a:ext cx="966675" cy="369332"/>
          </a:xfrm>
          <a:prstGeom prst="rect">
            <a:avLst/>
          </a:prstGeom>
          <a:noFill/>
        </p:spPr>
        <p:txBody>
          <a:bodyPr wrap="none" rtlCol="0">
            <a:spAutoFit/>
          </a:bodyPr>
          <a:lstStyle/>
          <a:p>
            <a:r>
              <a:rPr lang="en-US" dirty="0">
                <a:solidFill>
                  <a:schemeClr val="accent1">
                    <a:lumMod val="50000"/>
                  </a:schemeClr>
                </a:solidFill>
              </a:rPr>
              <a:t>exposed</a:t>
            </a:r>
          </a:p>
        </p:txBody>
      </p:sp>
      <p:sp>
        <p:nvSpPr>
          <p:cNvPr id="14" name="TextBox 13"/>
          <p:cNvSpPr txBox="1"/>
          <p:nvPr/>
        </p:nvSpPr>
        <p:spPr>
          <a:xfrm>
            <a:off x="5495269" y="2907268"/>
            <a:ext cx="1210331" cy="369332"/>
          </a:xfrm>
          <a:prstGeom prst="rect">
            <a:avLst/>
          </a:prstGeom>
          <a:noFill/>
        </p:spPr>
        <p:txBody>
          <a:bodyPr wrap="none" rtlCol="0">
            <a:spAutoFit/>
          </a:bodyPr>
          <a:lstStyle/>
          <a:p>
            <a:r>
              <a:rPr lang="en-US" dirty="0">
                <a:solidFill>
                  <a:schemeClr val="accent1">
                    <a:lumMod val="50000"/>
                  </a:schemeClr>
                </a:solidFill>
              </a:rPr>
              <a:t>unexposed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case control studies</a:t>
            </a:r>
            <a:endParaRPr lang="en-US" sz="4000" b="1" dirty="0"/>
          </a:p>
        </p:txBody>
      </p:sp>
      <p:sp>
        <p:nvSpPr>
          <p:cNvPr id="4" name="TextBox 3"/>
          <p:cNvSpPr txBox="1"/>
          <p:nvPr/>
        </p:nvSpPr>
        <p:spPr>
          <a:xfrm>
            <a:off x="381000" y="1219200"/>
            <a:ext cx="8458200" cy="5078313"/>
          </a:xfrm>
          <a:prstGeom prst="rect">
            <a:avLst/>
          </a:prstGeom>
          <a:noFill/>
        </p:spPr>
        <p:txBody>
          <a:bodyPr wrap="square" rtlCol="0">
            <a:spAutoFit/>
          </a:bodyPr>
          <a:lstStyle/>
          <a:p>
            <a:pPr>
              <a:buClr>
                <a:schemeClr val="accent1">
                  <a:lumMod val="75000"/>
                </a:schemeClr>
              </a:buClr>
              <a:buSzPct val="120000"/>
              <a:buFont typeface="Wingdings" pitchFamily="2" charset="2"/>
              <a:buChar char="§"/>
            </a:pPr>
            <a:r>
              <a:rPr lang="en-US" dirty="0">
                <a:solidFill>
                  <a:schemeClr val="accent1">
                    <a:lumMod val="50000"/>
                  </a:schemeClr>
                </a:solidFill>
              </a:rPr>
              <a:t> Cases can be:</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lvl="1">
              <a:buClr>
                <a:schemeClr val="accent1">
                  <a:lumMod val="75000"/>
                </a:schemeClr>
              </a:buClr>
              <a:buSzPct val="120000"/>
              <a:buFontTx/>
              <a:buChar char="-"/>
            </a:pPr>
            <a:r>
              <a:rPr lang="en-US" dirty="0">
                <a:solidFill>
                  <a:schemeClr val="accent1">
                    <a:lumMod val="50000"/>
                  </a:schemeClr>
                </a:solidFill>
              </a:rPr>
              <a:t> incident (i.e. new diagnosis </a:t>
            </a:r>
            <a:r>
              <a:rPr lang="en-US" dirty="0">
                <a:solidFill>
                  <a:schemeClr val="accent1">
                    <a:lumMod val="50000"/>
                  </a:schemeClr>
                </a:solidFill>
                <a:sym typeface="Symbol"/>
              </a:rPr>
              <a:t> </a:t>
            </a:r>
            <a:r>
              <a:rPr lang="en-US" dirty="0">
                <a:solidFill>
                  <a:schemeClr val="accent1">
                    <a:lumMod val="50000"/>
                  </a:schemeClr>
                </a:solidFill>
              </a:rPr>
              <a:t>preferable) </a:t>
            </a:r>
          </a:p>
          <a:p>
            <a:pPr lvl="1">
              <a:buClr>
                <a:schemeClr val="accent1">
                  <a:lumMod val="75000"/>
                </a:schemeClr>
              </a:buClr>
              <a:buSzPct val="120000"/>
              <a:buFontTx/>
              <a:buChar char="-"/>
            </a:pPr>
            <a:r>
              <a:rPr lang="en-US" dirty="0">
                <a:solidFill>
                  <a:schemeClr val="accent1">
                    <a:lumMod val="50000"/>
                  </a:schemeClr>
                </a:solidFill>
              </a:rPr>
              <a:t> prevalent (people who already have a diagnosis for various periods of time </a:t>
            </a:r>
            <a:r>
              <a:rPr lang="en-US" dirty="0">
                <a:solidFill>
                  <a:schemeClr val="accent1">
                    <a:lumMod val="50000"/>
                  </a:schemeClr>
                </a:solidFill>
                <a:sym typeface="Symbol"/>
              </a:rPr>
              <a:t>   </a:t>
            </a:r>
            <a:br>
              <a:rPr lang="en-US" dirty="0">
                <a:solidFill>
                  <a:schemeClr val="accent1">
                    <a:lumMod val="50000"/>
                  </a:schemeClr>
                </a:solidFill>
                <a:sym typeface="Symbol"/>
              </a:rPr>
            </a:br>
            <a:r>
              <a:rPr lang="en-US" dirty="0">
                <a:solidFill>
                  <a:schemeClr val="accent1">
                    <a:lumMod val="50000"/>
                  </a:schemeClr>
                </a:solidFill>
                <a:sym typeface="Symbol"/>
              </a:rPr>
              <a:t>   </a:t>
            </a:r>
            <a:r>
              <a:rPr lang="en-US" dirty="0">
                <a:solidFill>
                  <a:schemeClr val="accent1">
                    <a:lumMod val="50000"/>
                  </a:schemeClr>
                </a:solidFill>
              </a:rPr>
              <a:t>more recall bias about exposure)</a:t>
            </a:r>
          </a:p>
          <a:p>
            <a:pPr>
              <a:buClr>
                <a:schemeClr val="accent1">
                  <a:lumMod val="75000"/>
                </a:schemeClr>
              </a:buClr>
              <a:buSzPct val="120000"/>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Selection of a comparable control group is important, ideally a random sample from the general population that gave rise to the cases</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lvl="1">
              <a:buClr>
                <a:schemeClr val="accent1">
                  <a:lumMod val="75000"/>
                </a:schemeClr>
              </a:buClr>
              <a:buSzPct val="120000"/>
              <a:buFont typeface="Wingdings" pitchFamily="2" charset="2"/>
              <a:buChar char="§"/>
            </a:pPr>
            <a:r>
              <a:rPr lang="en-US" dirty="0">
                <a:solidFill>
                  <a:schemeClr val="accent1">
                    <a:lumMod val="50000"/>
                  </a:schemeClr>
                </a:solidFill>
              </a:rPr>
              <a:t> If the cases tend to have different characteristics than the general population (e.g. disease risk related to ancestry, where one lives, social determinants of health), then it may become important that controls share these same characteristics </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The procedures used for the collection of exposure data should be the same for cases and controls (e.g. medical chart, self-report, administrative health data)</a:t>
            </a:r>
          </a:p>
          <a:p>
            <a:pPr>
              <a:buClr>
                <a:schemeClr val="accent1">
                  <a:lumMod val="75000"/>
                </a:schemeClr>
              </a:buClr>
              <a:buSzPct val="120000"/>
              <a:buFont typeface="Wingdings" pitchFamily="2" charset="2"/>
              <a:buChar char="§"/>
            </a:pPr>
            <a:endParaRPr lang="en-US" dirty="0">
              <a:solidFill>
                <a:schemeClr val="accent1">
                  <a:lumMod val="50000"/>
                </a:schemeClr>
              </a:solidFill>
            </a:endParaRPr>
          </a:p>
          <a:p>
            <a:pPr>
              <a:buClr>
                <a:schemeClr val="accent1">
                  <a:lumMod val="75000"/>
                </a:schemeClr>
              </a:buClr>
              <a:buSzPct val="120000"/>
              <a:buFont typeface="Wingdings" pitchFamily="2" charset="2"/>
              <a:buChar char="§"/>
            </a:pPr>
            <a:r>
              <a:rPr lang="en-US" dirty="0">
                <a:solidFill>
                  <a:schemeClr val="accent1">
                    <a:lumMod val="50000"/>
                  </a:schemeClr>
                </a:solidFill>
              </a:rPr>
              <a:t> If the cases and controls are from within a cohort study, would be described as a “nested” case control study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572000"/>
            <a:ext cx="10341293" cy="1477328"/>
          </a:xfrm>
          <a:prstGeom prst="rect">
            <a:avLst/>
          </a:prstGeom>
        </p:spPr>
        <p:txBody>
          <a:bodyPr wrap="none">
            <a:spAutoFit/>
          </a:bodyPr>
          <a:lstStyle/>
          <a:p>
            <a:r>
              <a:rPr lang="en-US" b="1" dirty="0">
                <a:solidFill>
                  <a:schemeClr val="accent1">
                    <a:lumMod val="50000"/>
                  </a:schemeClr>
                </a:solidFill>
              </a:rPr>
              <a:t>Summary statistics: </a:t>
            </a:r>
            <a:r>
              <a:rPr lang="en-US" dirty="0">
                <a:solidFill>
                  <a:schemeClr val="accent1">
                    <a:lumMod val="50000"/>
                  </a:schemeClr>
                </a:solidFill>
              </a:rPr>
              <a:t>Odds and odds ratios (OR) (with 95% CI)</a:t>
            </a:r>
          </a:p>
          <a:p>
            <a:endParaRPr lang="en-US" dirty="0">
              <a:solidFill>
                <a:schemeClr val="accent1">
                  <a:lumMod val="50000"/>
                </a:schemeClr>
              </a:solidFill>
            </a:endParaRPr>
          </a:p>
          <a:p>
            <a:r>
              <a:rPr lang="en-US" dirty="0">
                <a:solidFill>
                  <a:schemeClr val="accent1">
                    <a:lumMod val="50000"/>
                  </a:schemeClr>
                </a:solidFill>
              </a:rPr>
              <a:t>OR = </a:t>
            </a:r>
            <a:r>
              <a:rPr lang="en-US" u="sng" dirty="0">
                <a:solidFill>
                  <a:schemeClr val="accent1">
                    <a:lumMod val="50000"/>
                  </a:schemeClr>
                </a:solidFill>
              </a:rPr>
              <a:t>odds of smoking among cases      </a:t>
            </a:r>
            <a:r>
              <a:rPr lang="en-US" dirty="0">
                <a:solidFill>
                  <a:schemeClr val="accent1">
                    <a:lumMod val="50000"/>
                  </a:schemeClr>
                </a:solidFill>
              </a:rPr>
              <a:t>= (</a:t>
            </a:r>
            <a:r>
              <a:rPr lang="en-US" u="sng" dirty="0">
                <a:solidFill>
                  <a:schemeClr val="accent1">
                    <a:lumMod val="50000"/>
                  </a:schemeClr>
                </a:solidFill>
              </a:rPr>
              <a:t>A/(A+C)) / (C/(A+C)) </a:t>
            </a:r>
            <a:endParaRPr lang="en-US" dirty="0">
              <a:solidFill>
                <a:schemeClr val="accent1">
                  <a:lumMod val="50000"/>
                </a:schemeClr>
              </a:solidFill>
            </a:endParaRPr>
          </a:p>
          <a:p>
            <a:r>
              <a:rPr lang="en-US" dirty="0">
                <a:solidFill>
                  <a:schemeClr val="accent1">
                    <a:lumMod val="50000"/>
                  </a:schemeClr>
                </a:solidFill>
              </a:rPr>
              <a:t>         odds of smoking among controls     (B/(B+D)) / (D/(B+D))					</a:t>
            </a:r>
            <a:endParaRPr lang="en-US" dirty="0"/>
          </a:p>
          <a:p>
            <a:endParaRPr lang="en-US" dirty="0">
              <a:solidFill>
                <a:schemeClr val="accent1">
                  <a:lumMod val="50000"/>
                </a:schemeClr>
              </a:solidFill>
            </a:endParaRPr>
          </a:p>
        </p:txBody>
      </p:sp>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case control studies</a:t>
            </a:r>
            <a:endParaRPr lang="en-US" sz="4000" b="1" dirty="0"/>
          </a:p>
        </p:txBody>
      </p:sp>
      <p:graphicFrame>
        <p:nvGraphicFramePr>
          <p:cNvPr id="4" name="Table 3"/>
          <p:cNvGraphicFramePr>
            <a:graphicFrameLocks noGrp="1"/>
          </p:cNvGraphicFramePr>
          <p:nvPr/>
        </p:nvGraphicFramePr>
        <p:xfrm>
          <a:off x="685800" y="2286000"/>
          <a:ext cx="5258816" cy="20269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146429">
                  <a:extLst>
                    <a:ext uri="{9D8B030D-6E8A-4147-A177-3AD203B41FA5}">
                      <a16:colId xmlns:a16="http://schemas.microsoft.com/office/drawing/2014/main" val="20001"/>
                    </a:ext>
                  </a:extLst>
                </a:gridCol>
                <a:gridCol w="1369187">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pPr algn="ctr"/>
                      <a:r>
                        <a:rPr lang="en-US" dirty="0"/>
                        <a:t>Pre-Term</a:t>
                      </a:r>
                      <a:r>
                        <a:rPr lang="en-US" baseline="0" dirty="0"/>
                        <a:t> </a:t>
                      </a:r>
                    </a:p>
                    <a:p>
                      <a:pPr algn="ctr"/>
                      <a:r>
                        <a:rPr lang="en-US" baseline="0" dirty="0"/>
                        <a:t>Delivery</a:t>
                      </a:r>
                    </a:p>
                    <a:p>
                      <a:pPr algn="ctr"/>
                      <a:r>
                        <a:rPr lang="en-US" baseline="0" dirty="0"/>
                        <a:t>(CASES)</a:t>
                      </a:r>
                      <a:endParaRPr lang="en-US" dirty="0"/>
                    </a:p>
                  </a:txBody>
                  <a:tcPr/>
                </a:tc>
                <a:tc>
                  <a:txBody>
                    <a:bodyPr/>
                    <a:lstStyle/>
                    <a:p>
                      <a:pPr algn="ctr"/>
                      <a:r>
                        <a:rPr lang="en-US" dirty="0"/>
                        <a:t>Term </a:t>
                      </a:r>
                      <a:r>
                        <a:rPr lang="en-US" baseline="0" dirty="0"/>
                        <a:t>Delivery</a:t>
                      </a:r>
                    </a:p>
                    <a:p>
                      <a:pPr algn="ctr"/>
                      <a:r>
                        <a:rPr lang="en-US" baseline="0" dirty="0"/>
                        <a:t>(CONTROLS)</a:t>
                      </a:r>
                      <a:endParaRPr lang="en-US" dirty="0"/>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Smoker</a:t>
                      </a:r>
                    </a:p>
                  </a:txBody>
                  <a:tcPr/>
                </a:tc>
                <a:tc>
                  <a:txBody>
                    <a:bodyPr/>
                    <a:lstStyle/>
                    <a:p>
                      <a:pPr algn="ctr"/>
                      <a:r>
                        <a:rPr lang="en-US" dirty="0"/>
                        <a:t>A</a:t>
                      </a:r>
                    </a:p>
                  </a:txBody>
                  <a:tcPr/>
                </a:tc>
                <a:tc>
                  <a:txBody>
                    <a:bodyPr/>
                    <a:lstStyle/>
                    <a:p>
                      <a:pPr algn="ctr"/>
                      <a:r>
                        <a:rPr lang="en-US" dirty="0"/>
                        <a:t>B</a:t>
                      </a:r>
                    </a:p>
                  </a:txBody>
                  <a:tcPr/>
                </a:tc>
                <a:tc>
                  <a:txBody>
                    <a:bodyPr/>
                    <a:lstStyle/>
                    <a:p>
                      <a:r>
                        <a:rPr lang="en-US" dirty="0"/>
                        <a:t>A+B</a:t>
                      </a:r>
                    </a:p>
                  </a:txBody>
                  <a:tcPr/>
                </a:tc>
                <a:extLst>
                  <a:ext uri="{0D108BD9-81ED-4DB2-BD59-A6C34878D82A}">
                    <a16:rowId xmlns:a16="http://schemas.microsoft.com/office/drawing/2014/main" val="10001"/>
                  </a:ext>
                </a:extLst>
              </a:tr>
              <a:tr h="370840">
                <a:tc>
                  <a:txBody>
                    <a:bodyPr/>
                    <a:lstStyle/>
                    <a:p>
                      <a:r>
                        <a:rPr lang="en-US" dirty="0"/>
                        <a:t>Non-smoker</a:t>
                      </a:r>
                    </a:p>
                  </a:txBody>
                  <a:tcPr/>
                </a:tc>
                <a:tc>
                  <a:txBody>
                    <a:bodyPr/>
                    <a:lstStyle/>
                    <a:p>
                      <a:pPr algn="ctr"/>
                      <a:r>
                        <a:rPr lang="en-US" dirty="0"/>
                        <a:t>C</a:t>
                      </a:r>
                    </a:p>
                  </a:txBody>
                  <a:tcPr/>
                </a:tc>
                <a:tc>
                  <a:txBody>
                    <a:bodyPr/>
                    <a:lstStyle/>
                    <a:p>
                      <a:pPr algn="ctr"/>
                      <a:r>
                        <a:rPr lang="en-US" dirty="0"/>
                        <a:t>D</a:t>
                      </a:r>
                    </a:p>
                  </a:txBody>
                  <a:tcPr/>
                </a:tc>
                <a:tc>
                  <a:txBody>
                    <a:bodyPr/>
                    <a:lstStyle/>
                    <a:p>
                      <a:r>
                        <a:rPr lang="en-US" dirty="0"/>
                        <a:t>C+D</a:t>
                      </a:r>
                    </a:p>
                  </a:txBody>
                  <a:tcPr/>
                </a:tc>
                <a:extLst>
                  <a:ext uri="{0D108BD9-81ED-4DB2-BD59-A6C34878D82A}">
                    <a16:rowId xmlns:a16="http://schemas.microsoft.com/office/drawing/2014/main" val="10002"/>
                  </a:ext>
                </a:extLst>
              </a:tr>
              <a:tr h="370840">
                <a:tc>
                  <a:txBody>
                    <a:bodyPr/>
                    <a:lstStyle/>
                    <a:p>
                      <a:endParaRPr lang="en-US"/>
                    </a:p>
                  </a:txBody>
                  <a:tcPr/>
                </a:tc>
                <a:tc>
                  <a:txBody>
                    <a:bodyPr/>
                    <a:lstStyle/>
                    <a:p>
                      <a:pPr algn="ctr"/>
                      <a:r>
                        <a:rPr lang="en-US" dirty="0"/>
                        <a:t>A+C</a:t>
                      </a:r>
                    </a:p>
                  </a:txBody>
                  <a:tcPr/>
                </a:tc>
                <a:tc>
                  <a:txBody>
                    <a:bodyPr/>
                    <a:lstStyle/>
                    <a:p>
                      <a:pPr algn="ctr"/>
                      <a:r>
                        <a:rPr lang="en-US" dirty="0"/>
                        <a:t>B+D</a:t>
                      </a:r>
                    </a:p>
                  </a:txBody>
                  <a:tcPr/>
                </a:tc>
                <a:tc>
                  <a:txBody>
                    <a:bodyPr/>
                    <a:lstStyle/>
                    <a:p>
                      <a:r>
                        <a:rPr lang="en-US" dirty="0"/>
                        <a:t>A+B+C+D</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1066800"/>
            <a:ext cx="7924800" cy="923330"/>
          </a:xfrm>
          <a:prstGeom prst="rect">
            <a:avLst/>
          </a:prstGeom>
          <a:noFill/>
        </p:spPr>
        <p:txBody>
          <a:bodyPr wrap="square" rtlCol="0">
            <a:spAutoFit/>
          </a:bodyPr>
          <a:lstStyle/>
          <a:p>
            <a:r>
              <a:rPr lang="en-US" b="1" dirty="0">
                <a:solidFill>
                  <a:schemeClr val="accent1">
                    <a:lumMod val="50000"/>
                  </a:schemeClr>
                </a:solidFill>
              </a:rPr>
              <a:t>Example: </a:t>
            </a:r>
            <a:r>
              <a:rPr lang="en-US" dirty="0">
                <a:solidFill>
                  <a:schemeClr val="accent1">
                    <a:lumMod val="50000"/>
                  </a:schemeClr>
                </a:solidFill>
              </a:rPr>
              <a:t>Cases are women who had premature delivery (&lt;37 weeks of gestation) and controls are women who delivered at term (</a:t>
            </a:r>
            <a:r>
              <a:rPr lang="en-US" dirty="0">
                <a:solidFill>
                  <a:schemeClr val="accent1">
                    <a:lumMod val="50000"/>
                  </a:schemeClr>
                </a:solidFill>
                <a:sym typeface="Symbol"/>
              </a:rPr>
              <a:t>37 weeks of gestation). The effect of smoking is investigated.</a:t>
            </a:r>
            <a:endParaRPr lang="en-US" dirty="0">
              <a:solidFill>
                <a:schemeClr val="accent1">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Case-control studies </a:t>
            </a:r>
            <a:r>
              <a:rPr lang="en-US" sz="3200" b="1" dirty="0">
                <a:sym typeface="Symbol"/>
              </a:rPr>
              <a:t> </a:t>
            </a:r>
            <a:r>
              <a:rPr lang="en-US" sz="2800" dirty="0">
                <a:sym typeface="Symbol"/>
              </a:rPr>
              <a:t>PROS and CONS</a:t>
            </a:r>
            <a:endParaRPr lang="en-US" sz="4000" dirty="0"/>
          </a:p>
        </p:txBody>
      </p:sp>
      <p:sp>
        <p:nvSpPr>
          <p:cNvPr id="3" name="Rectangle 2"/>
          <p:cNvSpPr/>
          <p:nvPr/>
        </p:nvSpPr>
        <p:spPr>
          <a:xfrm>
            <a:off x="381000" y="1143000"/>
            <a:ext cx="8763000" cy="4708981"/>
          </a:xfrm>
          <a:prstGeom prst="rect">
            <a:avLst/>
          </a:prstGeom>
        </p:spPr>
        <p:txBody>
          <a:bodyPr wrap="square">
            <a:spAutoFit/>
          </a:bodyPr>
          <a:lstStyle/>
          <a:p>
            <a:r>
              <a:rPr lang="en-US" sz="2000" b="1" dirty="0">
                <a:solidFill>
                  <a:schemeClr val="accent1">
                    <a:lumMod val="50000"/>
                  </a:schemeClr>
                </a:solidFill>
              </a:rPr>
              <a:t>PROS:</a:t>
            </a:r>
          </a:p>
          <a:p>
            <a:endParaRPr lang="en-US" sz="2000" dirty="0">
              <a:solidFill>
                <a:schemeClr val="accent1">
                  <a:lumMod val="50000"/>
                </a:schemeClr>
              </a:solidFill>
            </a:endParaRPr>
          </a:p>
          <a:p>
            <a:pPr>
              <a:buClr>
                <a:schemeClr val="accent1">
                  <a:lumMod val="75000"/>
                </a:schemeClr>
              </a:buClr>
              <a:buSzPct val="120000"/>
              <a:buFont typeface="Wingdings" pitchFamily="2" charset="2"/>
              <a:buChar char="§"/>
            </a:pPr>
            <a:r>
              <a:rPr lang="en-US" sz="2000" dirty="0">
                <a:solidFill>
                  <a:schemeClr val="accent1">
                    <a:lumMod val="50000"/>
                  </a:schemeClr>
                </a:solidFill>
              </a:rPr>
              <a:t>  Cost effective relative to cohort studies</a:t>
            </a:r>
          </a:p>
          <a:p>
            <a:pPr>
              <a:buClr>
                <a:schemeClr val="accent1">
                  <a:lumMod val="75000"/>
                </a:schemeClr>
              </a:buClr>
              <a:buSzPct val="120000"/>
              <a:buFont typeface="Wingdings" pitchFamily="2" charset="2"/>
              <a:buChar char="§"/>
            </a:pPr>
            <a:r>
              <a:rPr lang="en-US" sz="2000" dirty="0">
                <a:solidFill>
                  <a:schemeClr val="accent1">
                    <a:lumMod val="50000"/>
                  </a:schemeClr>
                </a:solidFill>
              </a:rPr>
              <a:t>  Because cases are identified at the beginning of the study </a:t>
            </a:r>
            <a:r>
              <a:rPr lang="en-US" sz="2000" dirty="0">
                <a:solidFill>
                  <a:schemeClr val="accent1">
                    <a:lumMod val="50000"/>
                  </a:schemeClr>
                </a:solidFill>
                <a:sym typeface="Symbol"/>
              </a:rPr>
              <a:t></a:t>
            </a:r>
            <a:r>
              <a:rPr lang="en-US" sz="2000" dirty="0">
                <a:solidFill>
                  <a:schemeClr val="accent1">
                    <a:lumMod val="50000"/>
                  </a:schemeClr>
                </a:solidFill>
              </a:rPr>
              <a:t> no long </a:t>
            </a:r>
            <a:br>
              <a:rPr lang="en-US" sz="2000" dirty="0">
                <a:solidFill>
                  <a:schemeClr val="accent1">
                    <a:lumMod val="50000"/>
                  </a:schemeClr>
                </a:solidFill>
              </a:rPr>
            </a:br>
            <a:r>
              <a:rPr lang="en-US" sz="2000" dirty="0">
                <a:solidFill>
                  <a:schemeClr val="accent1">
                    <a:lumMod val="50000"/>
                  </a:schemeClr>
                </a:solidFill>
              </a:rPr>
              <a:t>    follow up period</a:t>
            </a:r>
          </a:p>
          <a:p>
            <a:pPr>
              <a:buClr>
                <a:schemeClr val="accent1">
                  <a:lumMod val="75000"/>
                </a:schemeClr>
              </a:buClr>
              <a:buSzPct val="120000"/>
              <a:buFont typeface="Wingdings" pitchFamily="2" charset="2"/>
              <a:buChar char="§"/>
            </a:pPr>
            <a:r>
              <a:rPr lang="en-US" sz="2000" dirty="0">
                <a:solidFill>
                  <a:schemeClr val="accent1">
                    <a:lumMod val="50000"/>
                  </a:schemeClr>
                </a:solidFill>
              </a:rPr>
              <a:t>  Good to study rare diseases or diseases with long latency periods</a:t>
            </a:r>
          </a:p>
          <a:p>
            <a:pPr>
              <a:buClr>
                <a:schemeClr val="accent1">
                  <a:lumMod val="75000"/>
                </a:schemeClr>
              </a:buClr>
              <a:buSzPct val="120000"/>
              <a:buFont typeface="Wingdings" pitchFamily="2" charset="2"/>
              <a:buChar char="§"/>
            </a:pPr>
            <a:r>
              <a:rPr lang="en-US" sz="2000" dirty="0">
                <a:solidFill>
                  <a:schemeClr val="accent1">
                    <a:lumMod val="50000"/>
                  </a:schemeClr>
                </a:solidFill>
              </a:rPr>
              <a:t>  Can examine multiple exposures</a:t>
            </a:r>
          </a:p>
          <a:p>
            <a:pPr>
              <a:buClr>
                <a:schemeClr val="accent1">
                  <a:lumMod val="75000"/>
                </a:schemeClr>
              </a:buClr>
              <a:buSzPct val="120000"/>
              <a:buFont typeface="Wingdings" pitchFamily="2" charset="2"/>
              <a:buChar char="§"/>
            </a:pPr>
            <a:endParaRPr lang="en-US" sz="2000" dirty="0">
              <a:solidFill>
                <a:schemeClr val="accent1">
                  <a:lumMod val="50000"/>
                </a:schemeClr>
              </a:solidFill>
            </a:endParaRPr>
          </a:p>
          <a:p>
            <a:pPr>
              <a:buClr>
                <a:schemeClr val="accent1">
                  <a:lumMod val="75000"/>
                </a:schemeClr>
              </a:buClr>
              <a:buSzPct val="120000"/>
            </a:pPr>
            <a:r>
              <a:rPr lang="en-US" sz="2000" b="1" dirty="0">
                <a:solidFill>
                  <a:schemeClr val="accent1">
                    <a:lumMod val="50000"/>
                  </a:schemeClr>
                </a:solidFill>
              </a:rPr>
              <a:t>CONS:</a:t>
            </a:r>
          </a:p>
          <a:p>
            <a:endParaRPr lang="en-US" sz="2000" dirty="0">
              <a:solidFill>
                <a:schemeClr val="accent1">
                  <a:lumMod val="50000"/>
                </a:schemeClr>
              </a:solidFill>
            </a:endParaRPr>
          </a:p>
          <a:p>
            <a:pPr>
              <a:buClr>
                <a:schemeClr val="accent1">
                  <a:lumMod val="75000"/>
                </a:schemeClr>
              </a:buClr>
              <a:buSzPct val="120000"/>
              <a:buFont typeface="Wingdings" pitchFamily="2" charset="2"/>
              <a:buChar char="§"/>
            </a:pPr>
            <a:r>
              <a:rPr lang="en-US" sz="2000" dirty="0">
                <a:solidFill>
                  <a:schemeClr val="accent1">
                    <a:lumMod val="50000"/>
                  </a:schemeClr>
                </a:solidFill>
              </a:rPr>
              <a:t>  Particularly prone to bias; especially selection, recall and observer biases</a:t>
            </a:r>
          </a:p>
          <a:p>
            <a:pPr>
              <a:buClr>
                <a:schemeClr val="accent1">
                  <a:lumMod val="75000"/>
                </a:schemeClr>
              </a:buClr>
              <a:buSzPct val="120000"/>
              <a:buFont typeface="Wingdings" pitchFamily="2" charset="2"/>
              <a:buChar char="§"/>
            </a:pPr>
            <a:r>
              <a:rPr lang="en-US" sz="2000" dirty="0">
                <a:solidFill>
                  <a:schemeClr val="accent1">
                    <a:lumMod val="50000"/>
                  </a:schemeClr>
                </a:solidFill>
              </a:rPr>
              <a:t>  Limited to examining one outcome at a time</a:t>
            </a:r>
          </a:p>
          <a:p>
            <a:pPr>
              <a:buClr>
                <a:schemeClr val="accent1">
                  <a:lumMod val="75000"/>
                </a:schemeClr>
              </a:buClr>
              <a:buSzPct val="120000"/>
              <a:buFont typeface="Wingdings" pitchFamily="2" charset="2"/>
              <a:buChar char="§"/>
            </a:pPr>
            <a:r>
              <a:rPr lang="en-US" sz="2000" dirty="0">
                <a:solidFill>
                  <a:schemeClr val="accent1">
                    <a:lumMod val="50000"/>
                  </a:schemeClr>
                </a:solidFill>
              </a:rPr>
              <a:t>  Cannot estimate incidence rates of disease (unless study is population based)</a:t>
            </a:r>
          </a:p>
          <a:p>
            <a:pPr>
              <a:buClr>
                <a:schemeClr val="accent1">
                  <a:lumMod val="75000"/>
                </a:schemeClr>
              </a:buClr>
              <a:buSzPct val="120000"/>
              <a:buFont typeface="Wingdings" pitchFamily="2" charset="2"/>
              <a:buChar char="§"/>
            </a:pPr>
            <a:r>
              <a:rPr lang="en-US" sz="2000" dirty="0">
                <a:solidFill>
                  <a:schemeClr val="accent1">
                    <a:lumMod val="50000"/>
                  </a:schemeClr>
                </a:solidFill>
              </a:rPr>
              <a:t>  Not good for the study of rare exposures</a:t>
            </a:r>
          </a:p>
          <a:p>
            <a:pPr>
              <a:buClr>
                <a:schemeClr val="accent1">
                  <a:lumMod val="75000"/>
                </a:schemeClr>
              </a:buClr>
              <a:buSzPct val="120000"/>
              <a:buFont typeface="Wingdings" pitchFamily="2" charset="2"/>
              <a:buChar char="§"/>
            </a:pPr>
            <a:r>
              <a:rPr lang="en-US" sz="2000" dirty="0">
                <a:solidFill>
                  <a:schemeClr val="accent1">
                    <a:lumMod val="50000"/>
                  </a:schemeClr>
                </a:solidFill>
              </a:rPr>
              <a:t>  Timing between exposure and disease may be difficult to establish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limitations</a:t>
            </a:r>
            <a:endParaRPr lang="en-US" sz="4000" b="1" dirty="0"/>
          </a:p>
        </p:txBody>
      </p:sp>
      <p:sp>
        <p:nvSpPr>
          <p:cNvPr id="4" name="TextBox 3"/>
          <p:cNvSpPr txBox="1"/>
          <p:nvPr/>
        </p:nvSpPr>
        <p:spPr>
          <a:xfrm>
            <a:off x="152400" y="1066800"/>
            <a:ext cx="8839200" cy="6186309"/>
          </a:xfrm>
          <a:prstGeom prst="rect">
            <a:avLst/>
          </a:prstGeom>
          <a:noFill/>
        </p:spPr>
        <p:txBody>
          <a:bodyPr wrap="square" rtlCol="0">
            <a:spAutoFit/>
          </a:bodyPr>
          <a:lstStyle/>
          <a:p>
            <a:r>
              <a:rPr lang="en-US" dirty="0">
                <a:solidFill>
                  <a:schemeClr val="accent1">
                    <a:lumMod val="50000"/>
                  </a:schemeClr>
                </a:solidFill>
              </a:rPr>
              <a:t>Observational studies are often derided and said to be tainted by data dredging, confounding and bias (compared to </a:t>
            </a:r>
            <a:r>
              <a:rPr lang="en-US" b="1" dirty="0">
                <a:solidFill>
                  <a:schemeClr val="accent1">
                    <a:lumMod val="50000"/>
                  </a:schemeClr>
                </a:solidFill>
              </a:rPr>
              <a:t>randomized controlled trials </a:t>
            </a:r>
            <a:r>
              <a:rPr lang="en-US" dirty="0">
                <a:solidFill>
                  <a:schemeClr val="accent1">
                    <a:lumMod val="50000"/>
                  </a:schemeClr>
                </a:solidFill>
              </a:rPr>
              <a:t>= gold standard)</a:t>
            </a:r>
          </a:p>
          <a:p>
            <a:endParaRPr lang="en-US" dirty="0">
              <a:solidFill>
                <a:schemeClr val="accent1">
                  <a:lumMod val="50000"/>
                </a:schemeClr>
              </a:solidFill>
            </a:endParaRPr>
          </a:p>
          <a:p>
            <a:r>
              <a:rPr lang="en-US" dirty="0">
                <a:solidFill>
                  <a:schemeClr val="accent1">
                    <a:lumMod val="50000"/>
                  </a:schemeClr>
                </a:solidFill>
              </a:rPr>
              <a:t>Q: What is the main difference between observational studies and randomized controlled trials (RCT)?</a:t>
            </a:r>
          </a:p>
          <a:p>
            <a:endParaRPr lang="en-US" dirty="0">
              <a:solidFill>
                <a:schemeClr val="accent1">
                  <a:lumMod val="50000"/>
                </a:schemeClr>
              </a:solidFill>
            </a:endParaRPr>
          </a:p>
          <a:p>
            <a:r>
              <a:rPr lang="en-US" b="1" dirty="0">
                <a:solidFill>
                  <a:schemeClr val="accent1">
                    <a:lumMod val="75000"/>
                  </a:schemeClr>
                </a:solidFill>
              </a:rPr>
              <a:t>Limitations:</a:t>
            </a:r>
          </a:p>
          <a:p>
            <a:endParaRPr lang="en-US" dirty="0">
              <a:solidFill>
                <a:schemeClr val="accent1">
                  <a:lumMod val="75000"/>
                </a:schemeClr>
              </a:solidFill>
            </a:endParaRPr>
          </a:p>
          <a:p>
            <a:r>
              <a:rPr lang="en-US" dirty="0">
                <a:solidFill>
                  <a:schemeClr val="accent1">
                    <a:lumMod val="75000"/>
                  </a:schemeClr>
                </a:solidFill>
              </a:rPr>
              <a:t>Data dredging: look at everything under the sun until you find an association</a:t>
            </a:r>
          </a:p>
          <a:p>
            <a:endParaRPr lang="en-US" dirty="0">
              <a:solidFill>
                <a:schemeClr val="accent1">
                  <a:lumMod val="75000"/>
                </a:schemeClr>
              </a:solidFill>
            </a:endParaRPr>
          </a:p>
          <a:p>
            <a:r>
              <a:rPr lang="en-US" dirty="0">
                <a:solidFill>
                  <a:schemeClr val="accent1">
                    <a:lumMod val="75000"/>
                  </a:schemeClr>
                </a:solidFill>
              </a:rPr>
              <a:t>Confounding and bias: related to humans (</a:t>
            </a:r>
            <a:r>
              <a:rPr lang="en-US" dirty="0" err="1">
                <a:solidFill>
                  <a:schemeClr val="accent1">
                    <a:lumMod val="75000"/>
                  </a:schemeClr>
                </a:solidFill>
              </a:rPr>
              <a:t>behaviour</a:t>
            </a:r>
            <a:r>
              <a:rPr lang="en-US" dirty="0">
                <a:solidFill>
                  <a:schemeClr val="accent1">
                    <a:lumMod val="75000"/>
                  </a:schemeClr>
                </a:solidFill>
              </a:rPr>
              <a:t>, socio-economic status, others) and how the participants were selected</a:t>
            </a:r>
          </a:p>
          <a:p>
            <a:endParaRPr lang="en-US" dirty="0">
              <a:solidFill>
                <a:schemeClr val="accent1">
                  <a:lumMod val="50000"/>
                </a:schemeClr>
              </a:solidFill>
            </a:endParaRPr>
          </a:p>
          <a:p>
            <a:r>
              <a:rPr lang="en-US" dirty="0">
                <a:solidFill>
                  <a:schemeClr val="accent1">
                    <a:lumMod val="50000"/>
                  </a:schemeClr>
                </a:solidFill>
              </a:rPr>
              <a:t>Indeed, some observational studies showed effects that were either misguided or not verified by large controlled studies</a:t>
            </a:r>
          </a:p>
          <a:p>
            <a:endParaRPr lang="en-US" dirty="0">
              <a:solidFill>
                <a:schemeClr val="accent1">
                  <a:lumMod val="50000"/>
                </a:schemeClr>
              </a:solidFill>
            </a:endParaRPr>
          </a:p>
          <a:p>
            <a:r>
              <a:rPr lang="en-US" dirty="0">
                <a:solidFill>
                  <a:schemeClr val="accent1">
                    <a:lumMod val="50000"/>
                  </a:schemeClr>
                </a:solidFill>
              </a:rPr>
              <a:t>RCT are considered the gold standard for evidence-based medicine BUT…RCT often enroll participants that are not fully representative of the “real world”</a:t>
            </a:r>
          </a:p>
          <a:p>
            <a:endParaRPr lang="en-US" dirty="0">
              <a:solidFill>
                <a:schemeClr val="accent1">
                  <a:lumMod val="50000"/>
                </a:schemeClr>
              </a:solidFill>
            </a:endParaRPr>
          </a:p>
          <a:p>
            <a:endParaRPr lang="en-US" dirty="0">
              <a:solidFill>
                <a:schemeClr val="accent1">
                  <a:lumMod val="50000"/>
                </a:schemeClr>
              </a:solidFill>
            </a:endParaRPr>
          </a:p>
          <a:p>
            <a:endParaRPr lang="en-US" b="1" dirty="0">
              <a:solidFill>
                <a:schemeClr val="accent1">
                  <a:lumMod val="50000"/>
                </a:schemeClr>
              </a:solidFill>
            </a:endParaRPr>
          </a:p>
          <a:p>
            <a:endParaRPr lang="en-US"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1" y="457200"/>
            <a:ext cx="9144000" cy="2638425"/>
          </a:xfrm>
          <a:prstGeom prst="rect">
            <a:avLst/>
          </a:prstGeom>
          <a:noFill/>
          <a:ln w="9525">
            <a:noFill/>
            <a:miter lim="800000"/>
            <a:headEnd/>
            <a:tailEnd/>
          </a:ln>
        </p:spPr>
      </p:pic>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 </a:t>
            </a:r>
            <a:r>
              <a:rPr lang="en-US" sz="3200" dirty="0"/>
              <a:t>sometimes the only tool</a:t>
            </a:r>
            <a:endParaRPr lang="en-US" sz="4000" dirty="0"/>
          </a:p>
        </p:txBody>
      </p:sp>
      <p:pic>
        <p:nvPicPr>
          <p:cNvPr id="3075" name="Picture 3"/>
          <p:cNvPicPr>
            <a:picLocks noChangeAspect="1" noChangeArrowheads="1"/>
          </p:cNvPicPr>
          <p:nvPr/>
        </p:nvPicPr>
        <p:blipFill rotWithShape="1">
          <a:blip r:embed="rId4" cstate="print"/>
          <a:srcRect t="-1" r="64340" b="-57032"/>
          <a:stretch/>
        </p:blipFill>
        <p:spPr bwMode="auto">
          <a:xfrm>
            <a:off x="118276" y="3017044"/>
            <a:ext cx="3260711" cy="357188"/>
          </a:xfrm>
          <a:prstGeom prst="rect">
            <a:avLst/>
          </a:prstGeom>
          <a:noFill/>
          <a:ln w="9525">
            <a:noFill/>
            <a:miter lim="800000"/>
            <a:headEnd/>
            <a:tailEnd/>
          </a:ln>
        </p:spPr>
      </p:pic>
      <p:pic>
        <p:nvPicPr>
          <p:cNvPr id="3076" name="Picture 4"/>
          <p:cNvPicPr>
            <a:picLocks noChangeAspect="1" noChangeArrowheads="1"/>
          </p:cNvPicPr>
          <p:nvPr/>
        </p:nvPicPr>
        <p:blipFill>
          <a:blip r:embed="rId5" cstate="print"/>
          <a:srcRect/>
          <a:stretch>
            <a:fillRect/>
          </a:stretch>
        </p:blipFill>
        <p:spPr bwMode="auto">
          <a:xfrm>
            <a:off x="4038600" y="2533650"/>
            <a:ext cx="4327512" cy="4324350"/>
          </a:xfrm>
          <a:prstGeom prst="rect">
            <a:avLst/>
          </a:prstGeom>
          <a:noFill/>
          <a:ln w="9525">
            <a:noFill/>
            <a:miter lim="800000"/>
            <a:headEnd/>
            <a:tailEnd/>
          </a:ln>
        </p:spPr>
      </p:pic>
      <p:pic>
        <p:nvPicPr>
          <p:cNvPr id="3077" name="Picture 5"/>
          <p:cNvPicPr>
            <a:picLocks noChangeAspect="1" noChangeArrowheads="1"/>
          </p:cNvPicPr>
          <p:nvPr/>
        </p:nvPicPr>
        <p:blipFill>
          <a:blip r:embed="rId6" cstate="print"/>
          <a:srcRect/>
          <a:stretch>
            <a:fillRect/>
          </a:stretch>
        </p:blipFill>
        <p:spPr bwMode="auto">
          <a:xfrm>
            <a:off x="85725" y="3662362"/>
            <a:ext cx="3952875" cy="2286000"/>
          </a:xfrm>
          <a:prstGeom prst="rect">
            <a:avLst/>
          </a:prstGeom>
          <a:noFill/>
          <a:ln w="9525">
            <a:noFill/>
            <a:miter lim="800000"/>
            <a:headEnd/>
            <a:tailEnd/>
          </a:ln>
        </p:spPr>
      </p:pic>
      <p:sp>
        <p:nvSpPr>
          <p:cNvPr id="2" name="Rectangle 1">
            <a:extLst>
              <a:ext uri="{FF2B5EF4-FFF2-40B4-BE49-F238E27FC236}">
                <a16:creationId xmlns:a16="http://schemas.microsoft.com/office/drawing/2014/main" id="{68F1A50F-5CAA-43A5-81AE-E9A0EE42749A}"/>
              </a:ext>
            </a:extLst>
          </p:cNvPr>
          <p:cNvSpPr/>
          <p:nvPr/>
        </p:nvSpPr>
        <p:spPr>
          <a:xfrm>
            <a:off x="72473" y="6032569"/>
            <a:ext cx="4036281" cy="646331"/>
          </a:xfrm>
          <a:prstGeom prst="rect">
            <a:avLst/>
          </a:prstGeom>
        </p:spPr>
        <p:txBody>
          <a:bodyPr wrap="square">
            <a:spAutoFit/>
          </a:bodyPr>
          <a:lstStyle/>
          <a:p>
            <a:r>
              <a:rPr lang="en-US" dirty="0">
                <a:solidFill>
                  <a:schemeClr val="accent1">
                    <a:lumMod val="50000"/>
                  </a:schemeClr>
                </a:solidFill>
              </a:rPr>
              <a:t>Observational studies can still inform and are </a:t>
            </a:r>
            <a:r>
              <a:rPr lang="en-US" b="1" dirty="0">
                <a:solidFill>
                  <a:schemeClr val="accent1">
                    <a:lumMod val="50000"/>
                  </a:schemeClr>
                </a:solidFill>
              </a:rPr>
              <a:t>sometimes the only tool available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limitations</a:t>
            </a:r>
            <a:endParaRPr lang="en-US" sz="4000" b="1" dirty="0"/>
          </a:p>
        </p:txBody>
      </p:sp>
      <p:sp>
        <p:nvSpPr>
          <p:cNvPr id="4" name="TextBox 3"/>
          <p:cNvSpPr txBox="1"/>
          <p:nvPr/>
        </p:nvSpPr>
        <p:spPr>
          <a:xfrm>
            <a:off x="419100" y="1066800"/>
            <a:ext cx="8305800" cy="2585323"/>
          </a:xfrm>
          <a:prstGeom prst="rect">
            <a:avLst/>
          </a:prstGeom>
          <a:noFill/>
        </p:spPr>
        <p:txBody>
          <a:bodyPr wrap="square" rtlCol="0">
            <a:spAutoFit/>
          </a:bodyPr>
          <a:lstStyle/>
          <a:p>
            <a:endParaRPr lang="en-US" b="1" dirty="0">
              <a:solidFill>
                <a:schemeClr val="accent1">
                  <a:lumMod val="50000"/>
                </a:schemeClr>
              </a:solidFill>
            </a:endParaRPr>
          </a:p>
          <a:p>
            <a:endParaRPr lang="en-US" dirty="0">
              <a:solidFill>
                <a:schemeClr val="accent1">
                  <a:lumMod val="50000"/>
                </a:schemeClr>
              </a:solidFill>
            </a:endParaRPr>
          </a:p>
          <a:p>
            <a:r>
              <a:rPr lang="en-US" b="1" dirty="0">
                <a:solidFill>
                  <a:schemeClr val="accent1">
                    <a:lumMod val="50000"/>
                  </a:schemeClr>
                </a:solidFill>
              </a:rPr>
              <a:t>Example: </a:t>
            </a:r>
            <a:r>
              <a:rPr lang="en-US" dirty="0">
                <a:solidFill>
                  <a:schemeClr val="accent1">
                    <a:lumMod val="50000"/>
                  </a:schemeClr>
                </a:solidFill>
              </a:rPr>
              <a:t>Effect of smoking in pregnancy: unlikely that one will do a randomized controlled study where half the pregnant women are assigned to smoke in pregnancy</a:t>
            </a:r>
          </a:p>
          <a:p>
            <a:endParaRPr lang="en-US" dirty="0">
              <a:solidFill>
                <a:schemeClr val="accent1">
                  <a:lumMod val="50000"/>
                </a:schemeClr>
              </a:solidFill>
            </a:endParaRPr>
          </a:p>
          <a:p>
            <a:r>
              <a:rPr lang="en-US" dirty="0">
                <a:solidFill>
                  <a:schemeClr val="accent1">
                    <a:lumMod val="50000"/>
                  </a:schemeClr>
                </a:solidFill>
                <a:sym typeface="Symbol"/>
              </a:rPr>
              <a:t> </a:t>
            </a:r>
            <a:r>
              <a:rPr lang="en-US" dirty="0">
                <a:solidFill>
                  <a:schemeClr val="accent1">
                    <a:lumMod val="50000"/>
                  </a:schemeClr>
                </a:solidFill>
                <a:latin typeface="Calibri" panose="020F0502020204030204" pitchFamily="34" charset="0"/>
                <a:cs typeface="Calibri" panose="020F0502020204030204" pitchFamily="34" charset="0"/>
              </a:rPr>
              <a:t>O</a:t>
            </a:r>
            <a:r>
              <a:rPr lang="en-US" dirty="0">
                <a:solidFill>
                  <a:schemeClr val="accent1">
                    <a:lumMod val="50000"/>
                  </a:schemeClr>
                </a:solidFill>
              </a:rPr>
              <a:t>bservational study results should be independently replicated/validated</a:t>
            </a:r>
          </a:p>
          <a:p>
            <a:endParaRPr lang="en-US" dirty="0">
              <a:solidFill>
                <a:schemeClr val="accent1">
                  <a:lumMod val="50000"/>
                </a:schemeClr>
              </a:solidFill>
            </a:endParaRPr>
          </a:p>
          <a:p>
            <a:r>
              <a:rPr lang="en-US" dirty="0">
                <a:solidFill>
                  <a:schemeClr val="accent1">
                    <a:lumMod val="50000"/>
                  </a:schemeClr>
                </a:solidFill>
                <a:sym typeface="Symbol"/>
              </a:rPr>
              <a:t> If a</a:t>
            </a:r>
            <a:r>
              <a:rPr lang="en-US" dirty="0">
                <a:solidFill>
                  <a:schemeClr val="accent1">
                    <a:lumMod val="50000"/>
                  </a:schemeClr>
                </a:solidFill>
              </a:rPr>
              <a:t>n effect/association is seen in one cohort, another independent cohort should investigate whether the same association is also observed (less easy to get $)</a:t>
            </a:r>
          </a:p>
        </p:txBody>
      </p:sp>
    </p:spTree>
    <p:extLst>
      <p:ext uri="{BB962C8B-B14F-4D97-AF65-F5344CB8AC3E}">
        <p14:creationId xmlns:p14="http://schemas.microsoft.com/office/powerpoint/2010/main" val="358117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r>
              <a:rPr lang="en-US" sz="3200" b="1" dirty="0">
                <a:sym typeface="Symbol"/>
              </a:rPr>
              <a:t> </a:t>
            </a:r>
            <a:r>
              <a:rPr lang="en-US" sz="2800" dirty="0">
                <a:sym typeface="Symbol"/>
              </a:rPr>
              <a:t>sensitivity analyses</a:t>
            </a:r>
            <a:endParaRPr lang="en-US" sz="4000" b="1" dirty="0"/>
          </a:p>
        </p:txBody>
      </p:sp>
      <p:sp>
        <p:nvSpPr>
          <p:cNvPr id="4" name="TextBox 3"/>
          <p:cNvSpPr txBox="1"/>
          <p:nvPr/>
        </p:nvSpPr>
        <p:spPr>
          <a:xfrm>
            <a:off x="381000" y="1219200"/>
            <a:ext cx="8305800" cy="5355312"/>
          </a:xfrm>
          <a:prstGeom prst="rect">
            <a:avLst/>
          </a:prstGeom>
          <a:noFill/>
        </p:spPr>
        <p:txBody>
          <a:bodyPr wrap="square" rtlCol="0">
            <a:spAutoFit/>
          </a:bodyPr>
          <a:lstStyle/>
          <a:p>
            <a:r>
              <a:rPr lang="en-US" dirty="0">
                <a:solidFill>
                  <a:schemeClr val="accent1">
                    <a:lumMod val="50000"/>
                  </a:schemeClr>
                </a:solidFill>
              </a:rPr>
              <a:t>When there is a doubt that a factor might be creating bias, a </a:t>
            </a:r>
            <a:r>
              <a:rPr lang="en-US" b="1" dirty="0">
                <a:solidFill>
                  <a:schemeClr val="accent1">
                    <a:lumMod val="50000"/>
                  </a:schemeClr>
                </a:solidFill>
              </a:rPr>
              <a:t>sensitivity analysis </a:t>
            </a:r>
            <a:r>
              <a:rPr lang="en-US" dirty="0">
                <a:solidFill>
                  <a:schemeClr val="accent1">
                    <a:lumMod val="50000"/>
                  </a:schemeClr>
                </a:solidFill>
              </a:rPr>
              <a:t>can be done to try and tease out whether this is the case</a:t>
            </a:r>
          </a:p>
          <a:p>
            <a:endParaRPr lang="en-US" dirty="0">
              <a:solidFill>
                <a:schemeClr val="accent1">
                  <a:lumMod val="50000"/>
                </a:schemeClr>
              </a:solidFill>
            </a:endParaRPr>
          </a:p>
          <a:p>
            <a:endParaRPr lang="en-US" dirty="0">
              <a:solidFill>
                <a:schemeClr val="accent1">
                  <a:lumMod val="50000"/>
                </a:schemeClr>
              </a:solidFill>
            </a:endParaRPr>
          </a:p>
          <a:p>
            <a:r>
              <a:rPr lang="en-US" dirty="0">
                <a:solidFill>
                  <a:schemeClr val="accent1">
                    <a:lumMod val="50000"/>
                  </a:schemeClr>
                </a:solidFill>
              </a:rPr>
              <a:t>For example, a variable may play a role but is missing for many participants, or another variable is suspected to influence the true relationship between an outcome and a given factor.</a:t>
            </a:r>
          </a:p>
          <a:p>
            <a:r>
              <a:rPr lang="en-US" dirty="0">
                <a:solidFill>
                  <a:schemeClr val="accent1">
                    <a:lumMod val="50000"/>
                  </a:schemeClr>
                </a:solidFill>
              </a:rPr>
              <a:t>Can try to do the analysis with and without that variable and see how it changes the statistical model (i.e. restrict the analysis to a subgroup to eliminate the effect of the missing or confounding variable).</a:t>
            </a:r>
          </a:p>
          <a:p>
            <a:endParaRPr lang="en-US" dirty="0">
              <a:solidFill>
                <a:schemeClr val="accent1">
                  <a:lumMod val="50000"/>
                </a:schemeClr>
              </a:solidFill>
            </a:endParaRPr>
          </a:p>
          <a:p>
            <a:r>
              <a:rPr lang="en-US" dirty="0">
                <a:solidFill>
                  <a:schemeClr val="accent1">
                    <a:lumMod val="50000"/>
                  </a:schemeClr>
                </a:solidFill>
              </a:rPr>
              <a:t>Can restrict a sensitivity analysis to a sub-group (e.g. one sex, one ethnic group, etc.)</a:t>
            </a:r>
          </a:p>
          <a:p>
            <a:endParaRPr lang="en-US" dirty="0">
              <a:solidFill>
                <a:schemeClr val="accent1">
                  <a:lumMod val="50000"/>
                </a:schemeClr>
              </a:solidFill>
            </a:endParaRPr>
          </a:p>
          <a:p>
            <a:r>
              <a:rPr lang="en-US" dirty="0">
                <a:solidFill>
                  <a:schemeClr val="accent1">
                    <a:lumMod val="50000"/>
                  </a:schemeClr>
                </a:solidFill>
              </a:rPr>
              <a:t>Often, when reviewers challenge authors on a given point, a sensitivity analysis is done that was not necessarily part of the original analysis plan</a:t>
            </a:r>
          </a:p>
          <a:p>
            <a:endParaRPr lang="en-US" dirty="0">
              <a:solidFill>
                <a:schemeClr val="accent1">
                  <a:lumMod val="50000"/>
                </a:schemeClr>
              </a:solidFill>
            </a:endParaRPr>
          </a:p>
          <a:p>
            <a:r>
              <a:rPr lang="en-US" dirty="0">
                <a:solidFill>
                  <a:schemeClr val="accent1">
                    <a:lumMod val="50000"/>
                  </a:schemeClr>
                </a:solidFill>
              </a:rPr>
              <a:t>When reporting, authors should be transparent as to whether it was a </a:t>
            </a:r>
            <a:r>
              <a:rPr lang="en-US" u="sng" dirty="0">
                <a:solidFill>
                  <a:schemeClr val="accent1">
                    <a:lumMod val="50000"/>
                  </a:schemeClr>
                </a:solidFill>
              </a:rPr>
              <a:t>planned </a:t>
            </a:r>
            <a:r>
              <a:rPr lang="en-US" dirty="0">
                <a:solidFill>
                  <a:schemeClr val="accent1">
                    <a:lumMod val="50000"/>
                  </a:schemeClr>
                </a:solidFill>
              </a:rPr>
              <a:t>sensitivity analysis or one that was triggered by results from the primary analysis</a:t>
            </a:r>
          </a:p>
          <a:p>
            <a:endParaRPr lang="en-US" dirty="0">
              <a:solidFill>
                <a:schemeClr val="accent1">
                  <a:lumMod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 Observational studies </a:t>
            </a:r>
            <a:br>
              <a:rPr lang="en-US" sz="3200" b="1" dirty="0"/>
            </a:br>
            <a:r>
              <a:rPr lang="en-US" sz="2800" dirty="0">
                <a:sym typeface="Symbol"/>
              </a:rPr>
              <a:t>statistical vs. clinical or biological significance</a:t>
            </a:r>
            <a:endParaRPr lang="en-US" sz="4000" dirty="0"/>
          </a:p>
        </p:txBody>
      </p:sp>
      <p:sp>
        <p:nvSpPr>
          <p:cNvPr id="4" name="TextBox 3"/>
          <p:cNvSpPr txBox="1"/>
          <p:nvPr/>
        </p:nvSpPr>
        <p:spPr>
          <a:xfrm>
            <a:off x="381000" y="1219200"/>
            <a:ext cx="8305800" cy="4247317"/>
          </a:xfrm>
          <a:prstGeom prst="rect">
            <a:avLst/>
          </a:prstGeom>
          <a:noFill/>
        </p:spPr>
        <p:txBody>
          <a:bodyPr wrap="square" rtlCol="0">
            <a:spAutoFit/>
          </a:bodyPr>
          <a:lstStyle/>
          <a:p>
            <a:r>
              <a:rPr lang="en-US" dirty="0">
                <a:solidFill>
                  <a:schemeClr val="accent1">
                    <a:lumMod val="50000"/>
                  </a:schemeClr>
                </a:solidFill>
              </a:rPr>
              <a:t>With large studies, it may be easy to demonstrate a significant effect but the effect may be very small = what is the biological or clinical significance?</a:t>
            </a:r>
          </a:p>
          <a:p>
            <a:endParaRPr lang="en-US" dirty="0">
              <a:solidFill>
                <a:schemeClr val="accent1">
                  <a:lumMod val="50000"/>
                </a:schemeClr>
              </a:solidFill>
            </a:endParaRPr>
          </a:p>
          <a:p>
            <a:r>
              <a:rPr lang="en-US" dirty="0">
                <a:solidFill>
                  <a:schemeClr val="accent1">
                    <a:lumMod val="50000"/>
                  </a:schemeClr>
                </a:solidFill>
              </a:rPr>
              <a:t>Always consider the “</a:t>
            </a:r>
            <a:r>
              <a:rPr lang="en-US" b="1" dirty="0">
                <a:solidFill>
                  <a:schemeClr val="accent1">
                    <a:lumMod val="50000"/>
                  </a:schemeClr>
                </a:solidFill>
              </a:rPr>
              <a:t>effect size</a:t>
            </a:r>
            <a:r>
              <a:rPr lang="en-US" dirty="0">
                <a:solidFill>
                  <a:schemeClr val="accent1">
                    <a:lumMod val="50000"/>
                  </a:schemeClr>
                </a:solidFill>
              </a:rPr>
              <a:t>” along with the </a:t>
            </a:r>
            <a:r>
              <a:rPr lang="en-US" b="1" dirty="0">
                <a:solidFill>
                  <a:schemeClr val="accent1">
                    <a:lumMod val="50000"/>
                  </a:schemeClr>
                </a:solidFill>
              </a:rPr>
              <a:t>precision of this estimate</a:t>
            </a:r>
            <a:r>
              <a:rPr lang="en-US" dirty="0">
                <a:solidFill>
                  <a:schemeClr val="accent1">
                    <a:lumMod val="50000"/>
                  </a:schemeClr>
                </a:solidFill>
              </a:rPr>
              <a:t>, not only the statistical significance or p value.</a:t>
            </a:r>
          </a:p>
          <a:p>
            <a:endParaRPr lang="en-US" dirty="0">
              <a:solidFill>
                <a:schemeClr val="accent1">
                  <a:lumMod val="50000"/>
                </a:schemeClr>
              </a:solidFill>
            </a:endParaRPr>
          </a:p>
          <a:p>
            <a:r>
              <a:rPr lang="en-US" dirty="0">
                <a:solidFill>
                  <a:schemeClr val="accent1">
                    <a:lumMod val="50000"/>
                  </a:schemeClr>
                </a:solidFill>
              </a:rPr>
              <a:t>Effect size = your estimate (e.g. mean or odd ratio)</a:t>
            </a:r>
          </a:p>
          <a:p>
            <a:endParaRPr lang="en-US" dirty="0">
              <a:solidFill>
                <a:schemeClr val="accent1">
                  <a:lumMod val="50000"/>
                </a:schemeClr>
              </a:solidFill>
            </a:endParaRPr>
          </a:p>
          <a:p>
            <a:r>
              <a:rPr lang="en-US" dirty="0">
                <a:solidFill>
                  <a:schemeClr val="accent1">
                    <a:lumMod val="50000"/>
                  </a:schemeClr>
                </a:solidFill>
              </a:rPr>
              <a:t>Precision of the estimate = 95% CI</a:t>
            </a:r>
          </a:p>
          <a:p>
            <a:endParaRPr lang="en-US" dirty="0">
              <a:solidFill>
                <a:schemeClr val="accent1">
                  <a:lumMod val="50000"/>
                </a:schemeClr>
              </a:solidFill>
            </a:endParaRPr>
          </a:p>
          <a:p>
            <a:r>
              <a:rPr lang="en-US" dirty="0">
                <a:solidFill>
                  <a:schemeClr val="accent1">
                    <a:lumMod val="50000"/>
                  </a:schemeClr>
                </a:solidFill>
              </a:rPr>
              <a:t>Then interpret what it means biologically or clinically.</a:t>
            </a:r>
          </a:p>
          <a:p>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a:p>
            <a:endParaRPr lang="en-US" dirty="0">
              <a:solidFill>
                <a:schemeClr val="accent1">
                  <a:lumMod val="50000"/>
                </a:schemeClr>
              </a:solidFill>
            </a:endParaRPr>
          </a:p>
        </p:txBody>
      </p:sp>
    </p:spTree>
    <p:extLst>
      <p:ext uri="{BB962C8B-B14F-4D97-AF65-F5344CB8AC3E}">
        <p14:creationId xmlns:p14="http://schemas.microsoft.com/office/powerpoint/2010/main" val="3339272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Reporting guidelines</a:t>
            </a:r>
            <a:endParaRPr lang="en-US" sz="4000" b="1" dirty="0"/>
          </a:p>
        </p:txBody>
      </p:sp>
      <p:sp>
        <p:nvSpPr>
          <p:cNvPr id="6" name="TextBox 5"/>
          <p:cNvSpPr txBox="1"/>
          <p:nvPr/>
        </p:nvSpPr>
        <p:spPr>
          <a:xfrm>
            <a:off x="304800" y="1143000"/>
            <a:ext cx="8229600" cy="4247317"/>
          </a:xfrm>
          <a:prstGeom prst="rect">
            <a:avLst/>
          </a:prstGeom>
          <a:noFill/>
        </p:spPr>
        <p:txBody>
          <a:bodyPr wrap="square" rtlCol="0">
            <a:spAutoFit/>
          </a:bodyPr>
          <a:lstStyle/>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In an effort to improve scientific data reporting, guidelines have been developed</a:t>
            </a: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Many journals now require that these guidelines be followed when reporting, usually mentioned in the “instructions to authors”</a:t>
            </a:r>
          </a:p>
          <a:p>
            <a:pPr>
              <a:buClr>
                <a:schemeClr val="accent1">
                  <a:lumMod val="75000"/>
                </a:schemeClr>
              </a:buClr>
              <a:buSzPct val="120000"/>
            </a:pPr>
            <a:endParaRPr lang="en-US"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Most guidelines are summarized in a useful single website called EQUATOR</a:t>
            </a:r>
          </a:p>
          <a:p>
            <a:pPr>
              <a:buClr>
                <a:schemeClr val="accent1">
                  <a:lumMod val="75000"/>
                </a:schemeClr>
              </a:buClr>
              <a:buSzPct val="120000"/>
            </a:pPr>
            <a:r>
              <a:rPr lang="en-US" dirty="0">
                <a:solidFill>
                  <a:schemeClr val="accent1">
                    <a:lumMod val="50000"/>
                  </a:schemeClr>
                </a:solidFill>
              </a:rPr>
              <a:t>      “Enhancing the </a:t>
            </a:r>
            <a:r>
              <a:rPr lang="en-US" dirty="0" err="1">
                <a:solidFill>
                  <a:schemeClr val="accent1">
                    <a:lumMod val="50000"/>
                  </a:schemeClr>
                </a:solidFill>
              </a:rPr>
              <a:t>QUAlity</a:t>
            </a:r>
            <a:r>
              <a:rPr lang="en-US" dirty="0">
                <a:solidFill>
                  <a:schemeClr val="accent1">
                    <a:lumMod val="50000"/>
                  </a:schemeClr>
                </a:solidFill>
              </a:rPr>
              <a:t> and Transparency Of health Research”</a:t>
            </a:r>
          </a:p>
          <a:p>
            <a:pPr>
              <a:buClr>
                <a:schemeClr val="accent1">
                  <a:lumMod val="75000"/>
                </a:schemeClr>
              </a:buClr>
              <a:buSzPct val="120000"/>
            </a:pPr>
            <a:r>
              <a:rPr lang="en-US" dirty="0">
                <a:solidFill>
                  <a:schemeClr val="accent1">
                    <a:lumMod val="50000"/>
                  </a:schemeClr>
                </a:solidFill>
              </a:rPr>
              <a:t> </a:t>
            </a:r>
          </a:p>
          <a:p>
            <a:pPr algn="ctr">
              <a:buClr>
                <a:schemeClr val="accent1">
                  <a:lumMod val="75000"/>
                </a:schemeClr>
              </a:buClr>
              <a:buSzPct val="120000"/>
            </a:pPr>
            <a:r>
              <a:rPr lang="en-US" dirty="0">
                <a:hlinkClick r:id="rId2"/>
              </a:rPr>
              <a:t>http://www.equator-network.org/</a:t>
            </a:r>
            <a:endParaRPr lang="en-US" dirty="0"/>
          </a:p>
          <a:p>
            <a:pPr marL="285750" indent="-285750">
              <a:buClr>
                <a:schemeClr val="accent1">
                  <a:lumMod val="75000"/>
                </a:schemeClr>
              </a:buClr>
              <a:buSzPct val="120000"/>
              <a:buFont typeface="Wingdings" panose="05000000000000000000" pitchFamily="2" charset="2"/>
              <a:buChar char="§"/>
            </a:pPr>
            <a:endParaRPr lang="en-US" b="1"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b="1"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b="1" dirty="0">
              <a:solidFill>
                <a:schemeClr val="accent1">
                  <a:lumMod val="50000"/>
                </a:schemeClr>
              </a:solidFill>
            </a:endParaRPr>
          </a:p>
          <a:p>
            <a:pPr>
              <a:buClr>
                <a:schemeClr val="accent1">
                  <a:lumMod val="75000"/>
                </a:schemeClr>
              </a:buClr>
              <a:buSzPct val="120000"/>
            </a:pPr>
            <a:endParaRPr lang="en-US" b="1"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a:p>
            <a:pPr marL="285750" indent="-285750">
              <a:buClr>
                <a:schemeClr val="accent1">
                  <a:lumMod val="75000"/>
                </a:schemeClr>
              </a:buClr>
              <a:buSzPct val="120000"/>
              <a:buFont typeface="Wingdings" panose="05000000000000000000" pitchFamily="2" charset="2"/>
              <a:buChar char="§"/>
            </a:pPr>
            <a:endParaRPr lang="en-US" dirty="0">
              <a:solidFill>
                <a:schemeClr val="accent1">
                  <a:lumMod val="50000"/>
                </a:schemeClr>
              </a:solidFill>
            </a:endParaRPr>
          </a:p>
        </p:txBody>
      </p:sp>
      <p:sp>
        <p:nvSpPr>
          <p:cNvPr id="3" name="Rectangle 2"/>
          <p:cNvSpPr/>
          <p:nvPr/>
        </p:nvSpPr>
        <p:spPr>
          <a:xfrm>
            <a:off x="457200" y="5524183"/>
            <a:ext cx="8305800" cy="646331"/>
          </a:xfrm>
          <a:prstGeom prst="rect">
            <a:avLst/>
          </a:prstGeom>
        </p:spPr>
        <p:txBody>
          <a:bodyPr wrap="square">
            <a:spAutoFit/>
          </a:bodyPr>
          <a:lstStyle/>
          <a:p>
            <a:pPr>
              <a:buClr>
                <a:schemeClr val="accent1">
                  <a:lumMod val="75000"/>
                </a:schemeClr>
              </a:buClr>
              <a:buSzPct val="120000"/>
            </a:pPr>
            <a:r>
              <a:rPr lang="en-US" b="1" dirty="0">
                <a:solidFill>
                  <a:srgbClr val="C00000"/>
                </a:solidFill>
              </a:rPr>
              <a:t>Strongly recommend you read those relevant to your type of work </a:t>
            </a:r>
            <a:r>
              <a:rPr lang="en-US" b="1" u="sng" dirty="0">
                <a:solidFill>
                  <a:srgbClr val="C00000"/>
                </a:solidFill>
              </a:rPr>
              <a:t>BEFORE</a:t>
            </a:r>
            <a:r>
              <a:rPr lang="en-US" b="1" dirty="0">
                <a:solidFill>
                  <a:srgbClr val="C00000"/>
                </a:solidFill>
              </a:rPr>
              <a:t> you start collecting data and revisit again </a:t>
            </a:r>
            <a:r>
              <a:rPr lang="en-US" b="1" u="sng" dirty="0">
                <a:solidFill>
                  <a:srgbClr val="C00000"/>
                </a:solidFill>
              </a:rPr>
              <a:t>BEFORE</a:t>
            </a:r>
            <a:r>
              <a:rPr lang="en-US" b="1" dirty="0">
                <a:solidFill>
                  <a:srgbClr val="C00000"/>
                </a:solidFill>
              </a:rPr>
              <a:t> you submit your manuscript</a:t>
            </a:r>
          </a:p>
        </p:txBody>
      </p:sp>
      <p:sp>
        <p:nvSpPr>
          <p:cNvPr id="4" name="TextBox 3"/>
          <p:cNvSpPr txBox="1"/>
          <p:nvPr/>
        </p:nvSpPr>
        <p:spPr>
          <a:xfrm>
            <a:off x="1116578" y="4022109"/>
            <a:ext cx="6347187" cy="369332"/>
          </a:xfrm>
          <a:prstGeom prst="rect">
            <a:avLst/>
          </a:prstGeom>
          <a:noFill/>
        </p:spPr>
        <p:txBody>
          <a:bodyPr wrap="none" rtlCol="0">
            <a:spAutoFit/>
          </a:bodyPr>
          <a:lstStyle/>
          <a:p>
            <a:r>
              <a:rPr lang="en-US" b="1" dirty="0">
                <a:solidFill>
                  <a:schemeClr val="accent1">
                    <a:lumMod val="50000"/>
                  </a:schemeClr>
                </a:solidFill>
              </a:rPr>
              <a:t>Q1:</a:t>
            </a:r>
            <a:r>
              <a:rPr lang="en-US" dirty="0">
                <a:solidFill>
                  <a:schemeClr val="accent1">
                    <a:lumMod val="50000"/>
                  </a:schemeClr>
                </a:solidFill>
              </a:rPr>
              <a:t> Have you ever heard of STROBE, CONSORT, STARD or ARRIVE?</a:t>
            </a:r>
          </a:p>
        </p:txBody>
      </p:sp>
      <p:sp>
        <p:nvSpPr>
          <p:cNvPr id="5" name="Rectangle 4"/>
          <p:cNvSpPr/>
          <p:nvPr/>
        </p:nvSpPr>
        <p:spPr>
          <a:xfrm>
            <a:off x="7696200" y="4724400"/>
            <a:ext cx="2286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747791" y="4355068"/>
            <a:ext cx="1733167" cy="369332"/>
          </a:xfrm>
          <a:prstGeom prst="rect">
            <a:avLst/>
          </a:prstGeom>
          <a:noFill/>
        </p:spPr>
        <p:txBody>
          <a:bodyPr wrap="none" rtlCol="0">
            <a:spAutoFit/>
          </a:bodyPr>
          <a:lstStyle/>
          <a:p>
            <a:r>
              <a:rPr lang="en-US" dirty="0">
                <a:solidFill>
                  <a:schemeClr val="accent1">
                    <a:lumMod val="50000"/>
                  </a:schemeClr>
                </a:solidFill>
              </a:rPr>
              <a:t>If so which one?</a:t>
            </a:r>
          </a:p>
        </p:txBody>
      </p:sp>
    </p:spTree>
    <p:extLst>
      <p:ext uri="{BB962C8B-B14F-4D97-AF65-F5344CB8AC3E}">
        <p14:creationId xmlns:p14="http://schemas.microsoft.com/office/powerpoint/2010/main" val="297025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599" y="457200"/>
            <a:ext cx="8281701" cy="646331"/>
          </a:xfrm>
          <a:prstGeom prst="rect">
            <a:avLst/>
          </a:prstGeom>
        </p:spPr>
        <p:txBody>
          <a:bodyPr wrap="square">
            <a:spAutoFit/>
          </a:bodyPr>
          <a:lstStyle/>
          <a:p>
            <a:r>
              <a:rPr lang="en-US" sz="3600" dirty="0">
                <a:solidFill>
                  <a:schemeClr val="tx2">
                    <a:lumMod val="50000"/>
                  </a:schemeClr>
                </a:solidFill>
              </a:rPr>
              <a:t>https://www.equator-network.org/</a:t>
            </a:r>
          </a:p>
        </p:txBody>
      </p:sp>
      <p:pic>
        <p:nvPicPr>
          <p:cNvPr id="7" name="Picture 6"/>
          <p:cNvPicPr>
            <a:picLocks noChangeAspect="1"/>
          </p:cNvPicPr>
          <p:nvPr/>
        </p:nvPicPr>
        <p:blipFill rotWithShape="1">
          <a:blip r:embed="rId2"/>
          <a:srcRect l="11000" t="11778" r="13499" b="14444"/>
          <a:stretch/>
        </p:blipFill>
        <p:spPr>
          <a:xfrm>
            <a:off x="19050" y="1600200"/>
            <a:ext cx="8872251" cy="4876800"/>
          </a:xfrm>
          <a:prstGeom prst="rect">
            <a:avLst/>
          </a:prstGeom>
        </p:spPr>
      </p:pic>
    </p:spTree>
    <p:extLst>
      <p:ext uri="{BB962C8B-B14F-4D97-AF65-F5344CB8AC3E}">
        <p14:creationId xmlns:p14="http://schemas.microsoft.com/office/powerpoint/2010/main" val="1783144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p>
        </p:txBody>
      </p:sp>
      <p:pic>
        <p:nvPicPr>
          <p:cNvPr id="6146" name="Picture 2" descr="http://www.ispm.ch/fileadmin/template_resources/strobe/logo-strobe.jpg"/>
          <p:cNvPicPr>
            <a:picLocks noChangeAspect="1" noChangeArrowheads="1"/>
          </p:cNvPicPr>
          <p:nvPr/>
        </p:nvPicPr>
        <p:blipFill>
          <a:blip r:embed="rId2" cstate="print"/>
          <a:srcRect/>
          <a:stretch>
            <a:fillRect/>
          </a:stretch>
        </p:blipFill>
        <p:spPr bwMode="auto">
          <a:xfrm>
            <a:off x="247650" y="838200"/>
            <a:ext cx="8572500" cy="1905000"/>
          </a:xfrm>
          <a:prstGeom prst="rect">
            <a:avLst/>
          </a:prstGeom>
          <a:noFill/>
        </p:spPr>
      </p:pic>
      <p:sp>
        <p:nvSpPr>
          <p:cNvPr id="4" name="TextBox 3"/>
          <p:cNvSpPr txBox="1"/>
          <p:nvPr/>
        </p:nvSpPr>
        <p:spPr>
          <a:xfrm>
            <a:off x="361950" y="2890778"/>
            <a:ext cx="8458200" cy="2862322"/>
          </a:xfrm>
          <a:prstGeom prst="rect">
            <a:avLst/>
          </a:prstGeom>
          <a:noFill/>
        </p:spPr>
        <p:txBody>
          <a:bodyPr wrap="square" rtlCol="0">
            <a:spAutoFit/>
          </a:bodyPr>
          <a:lstStyle/>
          <a:p>
            <a:r>
              <a:rPr lang="en-CA" dirty="0">
                <a:solidFill>
                  <a:schemeClr val="accent1">
                    <a:lumMod val="50000"/>
                  </a:schemeClr>
                </a:solidFill>
              </a:rPr>
              <a:t>International, collaborative initiative of epidemiologists, methodologists, statisticians, researchers and journal editors involved in the conduct and dissemination of observational studies, with the common aim of </a:t>
            </a:r>
            <a:r>
              <a:rPr lang="en-CA" b="1" dirty="0" err="1">
                <a:solidFill>
                  <a:schemeClr val="accent1">
                    <a:lumMod val="50000"/>
                  </a:schemeClr>
                </a:solidFill>
              </a:rPr>
              <a:t>STrengthening</a:t>
            </a:r>
            <a:r>
              <a:rPr lang="en-CA" b="1" dirty="0">
                <a:solidFill>
                  <a:schemeClr val="accent1">
                    <a:lumMod val="50000"/>
                  </a:schemeClr>
                </a:solidFill>
              </a:rPr>
              <a:t> the Reporting of </a:t>
            </a:r>
            <a:r>
              <a:rPr lang="en-CA" b="1" dirty="0" err="1">
                <a:solidFill>
                  <a:schemeClr val="accent1">
                    <a:lumMod val="50000"/>
                  </a:schemeClr>
                </a:solidFill>
              </a:rPr>
              <a:t>OBservational</a:t>
            </a:r>
            <a:r>
              <a:rPr lang="en-CA" b="1" dirty="0">
                <a:solidFill>
                  <a:schemeClr val="accent1">
                    <a:lumMod val="50000"/>
                  </a:schemeClr>
                </a:solidFill>
              </a:rPr>
              <a:t> studies in Epidemiology.</a:t>
            </a:r>
            <a:r>
              <a:rPr lang="en-CA" dirty="0">
                <a:solidFill>
                  <a:schemeClr val="accent1">
                    <a:lumMod val="50000"/>
                  </a:schemeClr>
                </a:solidFill>
              </a:rPr>
              <a:t> Similar to CONSORT but adapted to observational studies</a:t>
            </a:r>
          </a:p>
          <a:p>
            <a:endParaRPr lang="en-CA" dirty="0">
              <a:solidFill>
                <a:schemeClr val="accent1">
                  <a:lumMod val="50000"/>
                </a:schemeClr>
              </a:solidFill>
            </a:endParaRPr>
          </a:p>
          <a:p>
            <a:r>
              <a:rPr lang="en-CA" dirty="0">
                <a:solidFill>
                  <a:schemeClr val="accent1">
                    <a:lumMod val="50000"/>
                  </a:schemeClr>
                </a:solidFill>
              </a:rPr>
              <a:t>Endorsed by most reputable journals and required by many top journals</a:t>
            </a:r>
          </a:p>
          <a:p>
            <a:endParaRPr lang="en-CA" dirty="0">
              <a:solidFill>
                <a:schemeClr val="accent1">
                  <a:lumMod val="50000"/>
                </a:schemeClr>
              </a:solidFill>
            </a:endParaRPr>
          </a:p>
          <a:p>
            <a:r>
              <a:rPr lang="en-CA" dirty="0">
                <a:solidFill>
                  <a:schemeClr val="accent1">
                    <a:lumMod val="50000"/>
                  </a:schemeClr>
                </a:solidFill>
              </a:rPr>
              <a:t>Provides a checklist of items that should be included in reports of observational studies (should be checked BEFORE embarking on an observational study)</a:t>
            </a:r>
          </a:p>
        </p:txBody>
      </p:sp>
      <p:sp>
        <p:nvSpPr>
          <p:cNvPr id="5" name="Rectangle 4"/>
          <p:cNvSpPr/>
          <p:nvPr/>
        </p:nvSpPr>
        <p:spPr>
          <a:xfrm>
            <a:off x="152400" y="6488668"/>
            <a:ext cx="8382000" cy="307777"/>
          </a:xfrm>
          <a:prstGeom prst="rect">
            <a:avLst/>
          </a:prstGeom>
        </p:spPr>
        <p:txBody>
          <a:bodyPr wrap="square">
            <a:spAutoFit/>
          </a:bodyPr>
          <a:lstStyle/>
          <a:p>
            <a:r>
              <a:rPr lang="en-CA" sz="1400" dirty="0">
                <a:solidFill>
                  <a:schemeClr val="bg1">
                    <a:lumMod val="65000"/>
                  </a:schemeClr>
                </a:solidFill>
              </a:rPr>
              <a:t>http://www.strobe-statement.org/pdf/index.php?id=available-checklists</a:t>
            </a:r>
          </a:p>
        </p:txBody>
      </p:sp>
      <p:sp>
        <p:nvSpPr>
          <p:cNvPr id="3" name="Rectangle 2"/>
          <p:cNvSpPr/>
          <p:nvPr/>
        </p:nvSpPr>
        <p:spPr>
          <a:xfrm>
            <a:off x="247650" y="5819656"/>
            <a:ext cx="8572500" cy="646331"/>
          </a:xfrm>
          <a:prstGeom prst="rect">
            <a:avLst/>
          </a:prstGeom>
        </p:spPr>
        <p:txBody>
          <a:bodyPr wrap="square">
            <a:spAutoFit/>
          </a:bodyPr>
          <a:lstStyle/>
          <a:p>
            <a:r>
              <a:rPr lang="en-CA" b="1" dirty="0">
                <a:solidFill>
                  <a:schemeClr val="accent3">
                    <a:lumMod val="50000"/>
                  </a:schemeClr>
                </a:solidFill>
              </a:rPr>
              <a:t>It is something you will also want to use for your PATH  548L presentation if you are doing an observational human study.</a:t>
            </a:r>
          </a:p>
        </p:txBody>
      </p:sp>
    </p:spTree>
    <p:extLst>
      <p:ext uri="{BB962C8B-B14F-4D97-AF65-F5344CB8AC3E}">
        <p14:creationId xmlns:p14="http://schemas.microsoft.com/office/powerpoint/2010/main" val="311656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r>
              <a:rPr lang="en-US" sz="2800" dirty="0"/>
              <a:t>− checklist </a:t>
            </a:r>
            <a:endParaRPr lang="en-US" sz="3200" dirty="0"/>
          </a:p>
        </p:txBody>
      </p:sp>
      <p:sp>
        <p:nvSpPr>
          <p:cNvPr id="5" name="TextBox 4"/>
          <p:cNvSpPr txBox="1"/>
          <p:nvPr/>
        </p:nvSpPr>
        <p:spPr>
          <a:xfrm>
            <a:off x="304800" y="1676400"/>
            <a:ext cx="8545918" cy="4524315"/>
          </a:xfrm>
          <a:prstGeom prst="rect">
            <a:avLst/>
          </a:prstGeom>
          <a:noFill/>
        </p:spPr>
        <p:txBody>
          <a:bodyPr wrap="square" rtlCol="0">
            <a:spAutoFit/>
          </a:bodyPr>
          <a:lstStyle/>
          <a:p>
            <a:r>
              <a:rPr lang="en-CA" b="1" dirty="0">
                <a:solidFill>
                  <a:schemeClr val="accent1">
                    <a:lumMod val="50000"/>
                  </a:schemeClr>
                </a:solidFill>
              </a:rPr>
              <a:t>Item 1 (Title and abstract): </a:t>
            </a:r>
            <a:r>
              <a:rPr lang="en-US" dirty="0">
                <a:solidFill>
                  <a:schemeClr val="accent1">
                    <a:lumMod val="50000"/>
                  </a:schemeClr>
                </a:solidFill>
              </a:rPr>
              <a:t>Indicate the study’s design with a commonly used term in the title or the abstract, provide in the abstract an informative and balanced summary of what was done and what was found</a:t>
            </a:r>
          </a:p>
          <a:p>
            <a:endParaRPr lang="en-CA" dirty="0">
              <a:solidFill>
                <a:schemeClr val="accent1">
                  <a:lumMod val="50000"/>
                </a:schemeClr>
              </a:solidFill>
            </a:endParaRPr>
          </a:p>
          <a:p>
            <a:r>
              <a:rPr lang="en-CA" b="1" dirty="0">
                <a:solidFill>
                  <a:schemeClr val="accent1">
                    <a:lumMod val="50000"/>
                  </a:schemeClr>
                </a:solidFill>
              </a:rPr>
              <a:t>Item 2 (Background/ rationale): </a:t>
            </a:r>
            <a:r>
              <a:rPr lang="en-US" dirty="0">
                <a:solidFill>
                  <a:schemeClr val="accent1">
                    <a:lumMod val="50000"/>
                  </a:schemeClr>
                </a:solidFill>
              </a:rPr>
              <a:t>Explain the scientific background and rationale for the investigation being reported</a:t>
            </a:r>
          </a:p>
          <a:p>
            <a:endParaRPr lang="en-CA" dirty="0">
              <a:solidFill>
                <a:schemeClr val="accent1">
                  <a:lumMod val="50000"/>
                </a:schemeClr>
              </a:solidFill>
            </a:endParaRPr>
          </a:p>
          <a:p>
            <a:r>
              <a:rPr lang="en-CA" b="1" dirty="0">
                <a:solidFill>
                  <a:schemeClr val="accent1">
                    <a:lumMod val="50000"/>
                  </a:schemeClr>
                </a:solidFill>
              </a:rPr>
              <a:t>Item 3 (Objectives): </a:t>
            </a:r>
            <a:r>
              <a:rPr lang="en-US" dirty="0">
                <a:solidFill>
                  <a:schemeClr val="accent1">
                    <a:lumMod val="50000"/>
                  </a:schemeClr>
                </a:solidFill>
              </a:rPr>
              <a:t>State specific objectives, including any </a:t>
            </a:r>
            <a:r>
              <a:rPr lang="en-US" u="sng" dirty="0">
                <a:solidFill>
                  <a:schemeClr val="accent1">
                    <a:lumMod val="50000"/>
                  </a:schemeClr>
                </a:solidFill>
              </a:rPr>
              <a:t>pre-specified hypotheses</a:t>
            </a:r>
          </a:p>
          <a:p>
            <a:endParaRPr lang="en-CA" dirty="0">
              <a:solidFill>
                <a:schemeClr val="accent1">
                  <a:lumMod val="50000"/>
                </a:schemeClr>
              </a:solidFill>
            </a:endParaRPr>
          </a:p>
          <a:p>
            <a:r>
              <a:rPr lang="en-CA" b="1" dirty="0">
                <a:solidFill>
                  <a:schemeClr val="accent1">
                    <a:lumMod val="50000"/>
                  </a:schemeClr>
                </a:solidFill>
              </a:rPr>
              <a:t>Item 4 (Study design): </a:t>
            </a:r>
            <a:r>
              <a:rPr lang="en-GB" dirty="0">
                <a:solidFill>
                  <a:schemeClr val="accent1">
                    <a:lumMod val="50000"/>
                  </a:schemeClr>
                </a:solidFill>
              </a:rPr>
              <a:t>Present key elements of study design early in the paper </a:t>
            </a:r>
            <a:r>
              <a:rPr lang="en-GB" i="1" dirty="0">
                <a:solidFill>
                  <a:schemeClr val="accent1">
                    <a:lumMod val="50000"/>
                  </a:schemeClr>
                </a:solidFill>
              </a:rPr>
              <a:t>(cohort study, cross-sectional, prospective vs. retrospective, etc.)</a:t>
            </a:r>
            <a:endParaRPr lang="en-CA" i="1" dirty="0">
              <a:solidFill>
                <a:schemeClr val="accent1">
                  <a:lumMod val="50000"/>
                </a:schemeClr>
              </a:solidFill>
            </a:endParaRPr>
          </a:p>
          <a:p>
            <a:endParaRPr lang="en-CA" dirty="0">
              <a:solidFill>
                <a:schemeClr val="accent1">
                  <a:lumMod val="50000"/>
                </a:schemeClr>
              </a:solidFill>
            </a:endParaRPr>
          </a:p>
          <a:p>
            <a:r>
              <a:rPr lang="en-CA" b="1" dirty="0">
                <a:solidFill>
                  <a:schemeClr val="accent1">
                    <a:lumMod val="50000"/>
                  </a:schemeClr>
                </a:solidFill>
              </a:rPr>
              <a:t>Item 5 (Setting): </a:t>
            </a:r>
            <a:r>
              <a:rPr lang="en-CA" dirty="0">
                <a:solidFill>
                  <a:schemeClr val="accent1">
                    <a:lumMod val="50000"/>
                  </a:schemeClr>
                </a:solidFill>
              </a:rPr>
              <a:t>Describe the setting, locations, and relevant dates, including periods of recruitment, exposure, follow-up, and data collection</a:t>
            </a:r>
          </a:p>
          <a:p>
            <a:endParaRPr lang="en-CA" dirty="0">
              <a:solidFill>
                <a:schemeClr val="accent1">
                  <a:lumMod val="50000"/>
                </a:schemeClr>
              </a:solidFill>
            </a:endParaRPr>
          </a:p>
          <a:p>
            <a:endParaRPr lang="en-CA" dirty="0">
              <a:solidFill>
                <a:schemeClr val="accent1">
                  <a:lumMod val="50000"/>
                </a:schemeClr>
              </a:solidFill>
            </a:endParaRPr>
          </a:p>
        </p:txBody>
      </p:sp>
      <p:sp>
        <p:nvSpPr>
          <p:cNvPr id="6" name="Rectangle 5"/>
          <p:cNvSpPr/>
          <p:nvPr/>
        </p:nvSpPr>
        <p:spPr>
          <a:xfrm>
            <a:off x="23037" y="6484918"/>
            <a:ext cx="8686800" cy="307777"/>
          </a:xfrm>
          <a:prstGeom prst="rect">
            <a:avLst/>
          </a:prstGeom>
        </p:spPr>
        <p:txBody>
          <a:bodyPr wrap="square">
            <a:spAutoFit/>
          </a:bodyPr>
          <a:lstStyle/>
          <a:p>
            <a:r>
              <a:rPr lang="en-CA" sz="1400" dirty="0">
                <a:solidFill>
                  <a:schemeClr val="bg1">
                    <a:lumMod val="65000"/>
                  </a:schemeClr>
                </a:solidFill>
              </a:rPr>
              <a:t>http://www.strobe-statement.org/fileadmin/Strobe/uploads/checklists/STROBE_checklist_v4_combined.pdf</a:t>
            </a:r>
          </a:p>
        </p:txBody>
      </p:sp>
    </p:spTree>
    <p:extLst>
      <p:ext uri="{BB962C8B-B14F-4D97-AF65-F5344CB8AC3E}">
        <p14:creationId xmlns:p14="http://schemas.microsoft.com/office/powerpoint/2010/main" val="38737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r>
              <a:rPr lang="en-US" sz="2800" dirty="0"/>
              <a:t>− checklist </a:t>
            </a:r>
            <a:endParaRPr lang="en-US" sz="3200" dirty="0"/>
          </a:p>
        </p:txBody>
      </p:sp>
      <p:sp>
        <p:nvSpPr>
          <p:cNvPr id="5" name="TextBox 4"/>
          <p:cNvSpPr txBox="1"/>
          <p:nvPr/>
        </p:nvSpPr>
        <p:spPr>
          <a:xfrm>
            <a:off x="299041" y="1260902"/>
            <a:ext cx="8545918" cy="4801314"/>
          </a:xfrm>
          <a:prstGeom prst="rect">
            <a:avLst/>
          </a:prstGeom>
          <a:noFill/>
        </p:spPr>
        <p:txBody>
          <a:bodyPr wrap="square" rtlCol="0">
            <a:spAutoFit/>
          </a:bodyPr>
          <a:lstStyle/>
          <a:p>
            <a:endParaRPr lang="en-CA" dirty="0">
              <a:solidFill>
                <a:schemeClr val="accent1">
                  <a:lumMod val="50000"/>
                </a:schemeClr>
              </a:solidFill>
            </a:endParaRPr>
          </a:p>
          <a:p>
            <a:r>
              <a:rPr lang="en-CA" b="1" dirty="0">
                <a:solidFill>
                  <a:schemeClr val="accent1">
                    <a:lumMod val="50000"/>
                  </a:schemeClr>
                </a:solidFill>
              </a:rPr>
              <a:t>Item 6 (Participants): </a:t>
            </a:r>
            <a:r>
              <a:rPr lang="en-CA" dirty="0">
                <a:solidFill>
                  <a:schemeClr val="accent1">
                    <a:lumMod val="50000"/>
                  </a:schemeClr>
                </a:solidFill>
              </a:rPr>
              <a:t>Give the eligibility criteria, and the source and methods of selection of participants. If case-control study, give the rationale for choice of cases and controls. If a matched study, give matching criteria and number of controls per case</a:t>
            </a:r>
          </a:p>
          <a:p>
            <a:endParaRPr lang="en-CA" dirty="0">
              <a:solidFill>
                <a:schemeClr val="accent1">
                  <a:lumMod val="50000"/>
                </a:schemeClr>
              </a:solidFill>
            </a:endParaRPr>
          </a:p>
          <a:p>
            <a:r>
              <a:rPr lang="en-CA" b="1" dirty="0">
                <a:solidFill>
                  <a:srgbClr val="C00000"/>
                </a:solidFill>
              </a:rPr>
              <a:t>Item 7 (Variables): </a:t>
            </a:r>
            <a:r>
              <a:rPr lang="en-CA" dirty="0">
                <a:solidFill>
                  <a:srgbClr val="C00000"/>
                </a:solidFill>
              </a:rPr>
              <a:t>Clearly define all outcomes, exposures, predictors, potential confounders, and effect modifiers. Give diagnostic criteria, if applicable</a:t>
            </a:r>
          </a:p>
          <a:p>
            <a:endParaRPr lang="en-CA" dirty="0">
              <a:solidFill>
                <a:schemeClr val="accent1">
                  <a:lumMod val="50000"/>
                </a:schemeClr>
              </a:solidFill>
            </a:endParaRPr>
          </a:p>
          <a:p>
            <a:r>
              <a:rPr lang="en-CA" b="1" dirty="0">
                <a:solidFill>
                  <a:schemeClr val="accent1">
                    <a:lumMod val="50000"/>
                  </a:schemeClr>
                </a:solidFill>
              </a:rPr>
              <a:t>Item 9 (Bias): </a:t>
            </a:r>
            <a:r>
              <a:rPr lang="en-CA" dirty="0">
                <a:solidFill>
                  <a:schemeClr val="accent1">
                    <a:lumMod val="50000"/>
                  </a:schemeClr>
                </a:solidFill>
              </a:rPr>
              <a:t>Describe any efforts to address potential sources of bias</a:t>
            </a:r>
          </a:p>
          <a:p>
            <a:endParaRPr lang="en-CA" dirty="0">
              <a:solidFill>
                <a:schemeClr val="accent1">
                  <a:lumMod val="50000"/>
                </a:schemeClr>
              </a:solidFill>
            </a:endParaRPr>
          </a:p>
          <a:p>
            <a:r>
              <a:rPr lang="en-CA" b="1" dirty="0">
                <a:solidFill>
                  <a:schemeClr val="accent1">
                    <a:lumMod val="50000"/>
                  </a:schemeClr>
                </a:solidFill>
              </a:rPr>
              <a:t>Item 10 (Study size): </a:t>
            </a:r>
            <a:r>
              <a:rPr lang="en-CA" dirty="0">
                <a:solidFill>
                  <a:schemeClr val="accent1">
                    <a:lumMod val="50000"/>
                  </a:schemeClr>
                </a:solidFill>
              </a:rPr>
              <a:t>Explain how the study size was arrived at</a:t>
            </a:r>
          </a:p>
          <a:p>
            <a:endParaRPr lang="en-CA" dirty="0">
              <a:solidFill>
                <a:schemeClr val="accent1">
                  <a:lumMod val="50000"/>
                </a:schemeClr>
              </a:solidFill>
            </a:endParaRPr>
          </a:p>
          <a:p>
            <a:r>
              <a:rPr lang="en-CA" b="1" dirty="0">
                <a:solidFill>
                  <a:schemeClr val="accent1">
                    <a:lumMod val="50000"/>
                  </a:schemeClr>
                </a:solidFill>
              </a:rPr>
              <a:t>Item 11 (Quantitative variables): </a:t>
            </a:r>
            <a:r>
              <a:rPr lang="en-CA" dirty="0">
                <a:solidFill>
                  <a:schemeClr val="accent1">
                    <a:lumMod val="50000"/>
                  </a:schemeClr>
                </a:solidFill>
              </a:rPr>
              <a:t>Explain how quantitative variables were handled in the analyses. If applicable, describe which groupings were chosen and why</a:t>
            </a:r>
          </a:p>
          <a:p>
            <a:endParaRPr lang="en-CA" dirty="0">
              <a:solidFill>
                <a:schemeClr val="accent1">
                  <a:lumMod val="50000"/>
                </a:schemeClr>
              </a:solidFill>
            </a:endParaRPr>
          </a:p>
          <a:p>
            <a:endParaRPr lang="en-CA" dirty="0">
              <a:solidFill>
                <a:schemeClr val="accent1">
                  <a:lumMod val="50000"/>
                </a:schemeClr>
              </a:solidFill>
            </a:endParaRPr>
          </a:p>
          <a:p>
            <a:endParaRPr lang="en-CA" dirty="0">
              <a:solidFill>
                <a:schemeClr val="accent1">
                  <a:lumMod val="50000"/>
                </a:schemeClr>
              </a:solidFill>
            </a:endParaRPr>
          </a:p>
        </p:txBody>
      </p:sp>
      <p:sp>
        <p:nvSpPr>
          <p:cNvPr id="7" name="Rectangle 6"/>
          <p:cNvSpPr/>
          <p:nvPr/>
        </p:nvSpPr>
        <p:spPr>
          <a:xfrm>
            <a:off x="23037" y="6484918"/>
            <a:ext cx="8686800" cy="307777"/>
          </a:xfrm>
          <a:prstGeom prst="rect">
            <a:avLst/>
          </a:prstGeom>
        </p:spPr>
        <p:txBody>
          <a:bodyPr wrap="square">
            <a:spAutoFit/>
          </a:bodyPr>
          <a:lstStyle/>
          <a:p>
            <a:r>
              <a:rPr lang="en-CA" sz="1400" dirty="0">
                <a:solidFill>
                  <a:schemeClr val="bg1">
                    <a:lumMod val="65000"/>
                  </a:schemeClr>
                </a:solidFill>
              </a:rPr>
              <a:t>http://www.strobe-statement.org/fileadmin/Strobe/uploads/checklists/STROBE_checklist_v4_combined.pdf</a:t>
            </a:r>
          </a:p>
        </p:txBody>
      </p:sp>
    </p:spTree>
    <p:extLst>
      <p:ext uri="{BB962C8B-B14F-4D97-AF65-F5344CB8AC3E}">
        <p14:creationId xmlns:p14="http://schemas.microsoft.com/office/powerpoint/2010/main" val="69710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1219200"/>
            <a:ext cx="8610600" cy="4801314"/>
          </a:xfrm>
          <a:prstGeom prst="rect">
            <a:avLst/>
          </a:prstGeom>
        </p:spPr>
        <p:txBody>
          <a:bodyPr wrap="square">
            <a:spAutoFit/>
          </a:bodyPr>
          <a:lstStyle/>
          <a:p>
            <a:r>
              <a:rPr lang="en-CA" b="1" dirty="0">
                <a:solidFill>
                  <a:schemeClr val="accent1">
                    <a:lumMod val="50000"/>
                  </a:schemeClr>
                </a:solidFill>
              </a:rPr>
              <a:t>Item 12 (Statistical methods): </a:t>
            </a:r>
          </a:p>
          <a:p>
            <a:r>
              <a:rPr lang="en-CA" dirty="0">
                <a:solidFill>
                  <a:schemeClr val="accent1">
                    <a:lumMod val="50000"/>
                  </a:schemeClr>
                </a:solidFill>
              </a:rPr>
              <a:t>(a) Describe all statistical methods, including those used to control for confounding</a:t>
            </a:r>
          </a:p>
          <a:p>
            <a:r>
              <a:rPr lang="en-CA" dirty="0">
                <a:solidFill>
                  <a:schemeClr val="accent1">
                    <a:lumMod val="50000"/>
                  </a:schemeClr>
                </a:solidFill>
              </a:rPr>
              <a:t>(b) Describe any methods used to examine subgroups and interactions</a:t>
            </a:r>
          </a:p>
          <a:p>
            <a:r>
              <a:rPr lang="en-CA" dirty="0">
                <a:solidFill>
                  <a:schemeClr val="accent1">
                    <a:lumMod val="50000"/>
                  </a:schemeClr>
                </a:solidFill>
              </a:rPr>
              <a:t>(c) Explain how missing data were addressed</a:t>
            </a:r>
          </a:p>
          <a:p>
            <a:r>
              <a:rPr lang="en-CA" dirty="0">
                <a:solidFill>
                  <a:schemeClr val="accent1">
                    <a:lumMod val="50000"/>
                  </a:schemeClr>
                </a:solidFill>
              </a:rPr>
              <a:t>(d) Cohort study—If applicable, explain how loss to follow-up was addressed</a:t>
            </a:r>
          </a:p>
          <a:p>
            <a:r>
              <a:rPr lang="en-CA" dirty="0">
                <a:solidFill>
                  <a:schemeClr val="accent1">
                    <a:lumMod val="50000"/>
                  </a:schemeClr>
                </a:solidFill>
              </a:rPr>
              <a:t>      Case-control study—If applicable, explain how matching of cases and controls was</a:t>
            </a:r>
          </a:p>
          <a:p>
            <a:r>
              <a:rPr lang="en-CA" dirty="0">
                <a:solidFill>
                  <a:schemeClr val="accent1">
                    <a:lumMod val="50000"/>
                  </a:schemeClr>
                </a:solidFill>
              </a:rPr>
              <a:t>                                            addressed</a:t>
            </a:r>
          </a:p>
          <a:p>
            <a:r>
              <a:rPr lang="en-CA" dirty="0">
                <a:solidFill>
                  <a:schemeClr val="accent1">
                    <a:lumMod val="50000"/>
                  </a:schemeClr>
                </a:solidFill>
              </a:rPr>
              <a:t>      Cross-sectional study—If applicable, describe analytical methods taking account of</a:t>
            </a:r>
          </a:p>
          <a:p>
            <a:r>
              <a:rPr lang="en-CA" dirty="0">
                <a:solidFill>
                  <a:schemeClr val="accent1">
                    <a:lumMod val="50000"/>
                  </a:schemeClr>
                </a:solidFill>
              </a:rPr>
              <a:t>                                                sampling strategy</a:t>
            </a:r>
          </a:p>
          <a:p>
            <a:r>
              <a:rPr lang="en-CA" dirty="0">
                <a:solidFill>
                  <a:schemeClr val="accent1">
                    <a:lumMod val="50000"/>
                  </a:schemeClr>
                </a:solidFill>
              </a:rPr>
              <a:t>(e) Describe any sensitivity analyses</a:t>
            </a:r>
          </a:p>
          <a:p>
            <a:endParaRPr lang="en-CA" dirty="0">
              <a:solidFill>
                <a:schemeClr val="accent1">
                  <a:lumMod val="50000"/>
                </a:schemeClr>
              </a:solidFill>
            </a:endParaRPr>
          </a:p>
          <a:p>
            <a:r>
              <a:rPr lang="en-CA" b="1" dirty="0">
                <a:solidFill>
                  <a:schemeClr val="accent1">
                    <a:lumMod val="50000"/>
                  </a:schemeClr>
                </a:solidFill>
              </a:rPr>
              <a:t>Item 13 (Participants):</a:t>
            </a:r>
          </a:p>
          <a:p>
            <a:r>
              <a:rPr lang="en-CA" dirty="0">
                <a:solidFill>
                  <a:schemeClr val="accent1">
                    <a:lumMod val="50000"/>
                  </a:schemeClr>
                </a:solidFill>
              </a:rPr>
              <a:t>(a) Report numbers of individuals at each stage of study—e.g. numbers potentially eligible,</a:t>
            </a:r>
          </a:p>
          <a:p>
            <a:r>
              <a:rPr lang="en-CA" dirty="0">
                <a:solidFill>
                  <a:schemeClr val="accent1">
                    <a:lumMod val="50000"/>
                  </a:schemeClr>
                </a:solidFill>
              </a:rPr>
              <a:t>      examined for eligibility, confirmed eligible, included in the study, completing follow-up,    </a:t>
            </a:r>
            <a:br>
              <a:rPr lang="en-CA" dirty="0">
                <a:solidFill>
                  <a:schemeClr val="accent1">
                    <a:lumMod val="50000"/>
                  </a:schemeClr>
                </a:solidFill>
              </a:rPr>
            </a:br>
            <a:r>
              <a:rPr lang="en-CA" dirty="0">
                <a:solidFill>
                  <a:schemeClr val="accent1">
                    <a:lumMod val="50000"/>
                  </a:schemeClr>
                </a:solidFill>
              </a:rPr>
              <a:t>      and analysed</a:t>
            </a:r>
          </a:p>
          <a:p>
            <a:r>
              <a:rPr lang="en-CA" dirty="0">
                <a:solidFill>
                  <a:schemeClr val="accent1">
                    <a:lumMod val="50000"/>
                  </a:schemeClr>
                </a:solidFill>
              </a:rPr>
              <a:t>(b) Give reasons for non-participation at each stage</a:t>
            </a:r>
          </a:p>
          <a:p>
            <a:r>
              <a:rPr lang="en-CA" dirty="0">
                <a:solidFill>
                  <a:schemeClr val="accent1">
                    <a:lumMod val="50000"/>
                  </a:schemeClr>
                </a:solidFill>
              </a:rPr>
              <a:t>(c) Consider use of a flow diagram</a:t>
            </a:r>
          </a:p>
        </p:txBody>
      </p:sp>
      <p:sp>
        <p:nvSpPr>
          <p:cNvPr id="4" name="Rectangle 3"/>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r>
              <a:rPr lang="en-US" sz="2800" dirty="0"/>
              <a:t>− checklist </a:t>
            </a:r>
            <a:endParaRPr lang="en-US" sz="3200" dirty="0"/>
          </a:p>
        </p:txBody>
      </p:sp>
      <p:sp>
        <p:nvSpPr>
          <p:cNvPr id="5" name="Rectangle 4"/>
          <p:cNvSpPr/>
          <p:nvPr/>
        </p:nvSpPr>
        <p:spPr>
          <a:xfrm>
            <a:off x="23037" y="6484918"/>
            <a:ext cx="8686800" cy="307777"/>
          </a:xfrm>
          <a:prstGeom prst="rect">
            <a:avLst/>
          </a:prstGeom>
        </p:spPr>
        <p:txBody>
          <a:bodyPr wrap="square">
            <a:spAutoFit/>
          </a:bodyPr>
          <a:lstStyle/>
          <a:p>
            <a:r>
              <a:rPr lang="en-CA" sz="1400" dirty="0">
                <a:solidFill>
                  <a:schemeClr val="bg1">
                    <a:lumMod val="65000"/>
                  </a:schemeClr>
                </a:solidFill>
              </a:rPr>
              <a:t>http://www.strobe-statement.org/fileadmin/Strobe/uploads/checklists/STROBE_checklist_v4_combined.pdf</a:t>
            </a:r>
          </a:p>
        </p:txBody>
      </p:sp>
    </p:spTree>
    <p:extLst>
      <p:ext uri="{BB962C8B-B14F-4D97-AF65-F5344CB8AC3E}">
        <p14:creationId xmlns:p14="http://schemas.microsoft.com/office/powerpoint/2010/main" val="44490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0" y="228600"/>
            <a:ext cx="4667250" cy="6400800"/>
          </a:xfrm>
          <a:prstGeom prst="rect">
            <a:avLst/>
          </a:prstGeom>
        </p:spPr>
      </p:pic>
      <p:sp>
        <p:nvSpPr>
          <p:cNvPr id="3" name="Rectangle 2"/>
          <p:cNvSpPr/>
          <p:nvPr/>
        </p:nvSpPr>
        <p:spPr>
          <a:xfrm>
            <a:off x="4648200" y="6506289"/>
            <a:ext cx="4572000" cy="246221"/>
          </a:xfrm>
          <a:prstGeom prst="rect">
            <a:avLst/>
          </a:prstGeom>
        </p:spPr>
        <p:txBody>
          <a:bodyPr>
            <a:spAutoFit/>
          </a:bodyPr>
          <a:lstStyle/>
          <a:p>
            <a:r>
              <a:rPr lang="en-US" sz="1000" dirty="0">
                <a:solidFill>
                  <a:schemeClr val="bg1">
                    <a:lumMod val="65000"/>
                  </a:schemeClr>
                </a:solidFill>
                <a:hlinkClick r:id="rId3"/>
              </a:rPr>
              <a:t>https://journals.plos.org/plosmedicine/article?id=10.1371/journal.pmed.0040297</a:t>
            </a:r>
            <a:endParaRPr lang="en-US" sz="1000" dirty="0">
              <a:solidFill>
                <a:schemeClr val="bg1">
                  <a:lumMod val="65000"/>
                </a:schemeClr>
              </a:solidFill>
            </a:endParaRPr>
          </a:p>
        </p:txBody>
      </p:sp>
    </p:spTree>
    <p:extLst>
      <p:ext uri="{BB962C8B-B14F-4D97-AF65-F5344CB8AC3E}">
        <p14:creationId xmlns:p14="http://schemas.microsoft.com/office/powerpoint/2010/main" val="698783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38200" y="228600"/>
            <a:ext cx="1879260" cy="10081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Non-pregnant women and girls &gt;12 enrolled in CARMA (Dec 2008 – Aug 2017)</a:t>
            </a:r>
          </a:p>
          <a:p>
            <a:pPr algn="ctr"/>
            <a:r>
              <a:rPr lang="en-CA" sz="1100" dirty="0"/>
              <a:t>328 HIV+, 318 HIV- </a:t>
            </a:r>
          </a:p>
        </p:txBody>
      </p:sp>
      <p:cxnSp>
        <p:nvCxnSpPr>
          <p:cNvPr id="5" name="Straight Arrow Connector 4"/>
          <p:cNvCxnSpPr>
            <a:cxnSpLocks/>
            <a:stCxn id="4" idx="2"/>
            <a:endCxn id="6" idx="0"/>
          </p:cNvCxnSpPr>
          <p:nvPr/>
        </p:nvCxnSpPr>
        <p:spPr>
          <a:xfrm>
            <a:off x="1777830" y="1236712"/>
            <a:ext cx="0" cy="792088"/>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6" name="Rounded Rectangle 5"/>
          <p:cNvSpPr/>
          <p:nvPr/>
        </p:nvSpPr>
        <p:spPr>
          <a:xfrm>
            <a:off x="1093754" y="2028800"/>
            <a:ext cx="1368152" cy="10081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Participants with blood specimens for ≥1 visit</a:t>
            </a:r>
          </a:p>
          <a:p>
            <a:pPr algn="ctr"/>
            <a:r>
              <a:rPr lang="en-CA" sz="1100" dirty="0"/>
              <a:t>327 HIV+, 318 HIV- </a:t>
            </a:r>
          </a:p>
        </p:txBody>
      </p:sp>
      <p:sp>
        <p:nvSpPr>
          <p:cNvPr id="7" name="Rounded Rectangle 6"/>
          <p:cNvSpPr/>
          <p:nvPr/>
        </p:nvSpPr>
        <p:spPr>
          <a:xfrm>
            <a:off x="2866686" y="1220254"/>
            <a:ext cx="1828800" cy="82809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No blood collected</a:t>
            </a:r>
          </a:p>
          <a:p>
            <a:pPr algn="ctr"/>
            <a:r>
              <a:rPr lang="en-CA" sz="1100" dirty="0"/>
              <a:t>Excluded 1 HIV+</a:t>
            </a:r>
          </a:p>
        </p:txBody>
      </p:sp>
      <p:cxnSp>
        <p:nvCxnSpPr>
          <p:cNvPr id="8" name="Straight Arrow Connector 7"/>
          <p:cNvCxnSpPr>
            <a:endCxn id="7" idx="1"/>
          </p:cNvCxnSpPr>
          <p:nvPr/>
        </p:nvCxnSpPr>
        <p:spPr>
          <a:xfrm>
            <a:off x="1782075" y="1634299"/>
            <a:ext cx="1084611" cy="1"/>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a:stCxn id="6" idx="2"/>
            <a:endCxn id="10" idx="0"/>
          </p:cNvCxnSpPr>
          <p:nvPr/>
        </p:nvCxnSpPr>
        <p:spPr>
          <a:xfrm>
            <a:off x="1777830" y="3036912"/>
            <a:ext cx="0" cy="792000"/>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10" name="Rounded Rectangle 9"/>
          <p:cNvSpPr/>
          <p:nvPr/>
        </p:nvSpPr>
        <p:spPr>
          <a:xfrm>
            <a:off x="1093754" y="3828912"/>
            <a:ext cx="1368152" cy="1008112"/>
          </a:xfrm>
          <a:prstGeom prst="roundRect">
            <a:avLst/>
          </a:prstGeom>
          <a:solidFill>
            <a:srgbClr val="E6E6E6"/>
          </a:solidFill>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Participants included in cross-sectional analyses</a:t>
            </a:r>
          </a:p>
          <a:p>
            <a:pPr algn="ctr"/>
            <a:r>
              <a:rPr lang="en-CA" sz="1100" dirty="0"/>
              <a:t>312 HIV+, 300 HIV-</a:t>
            </a:r>
          </a:p>
        </p:txBody>
      </p:sp>
      <p:sp>
        <p:nvSpPr>
          <p:cNvPr id="11" name="Rounded Rectangle 10"/>
          <p:cNvSpPr/>
          <p:nvPr/>
        </p:nvSpPr>
        <p:spPr>
          <a:xfrm>
            <a:off x="2866686" y="3018865"/>
            <a:ext cx="1828800" cy="82809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Missing essential demographic or clinical data</a:t>
            </a:r>
          </a:p>
          <a:p>
            <a:pPr algn="ctr"/>
            <a:r>
              <a:rPr lang="en-CA" sz="1100" dirty="0"/>
              <a:t>Excluded 15 HIV+, 18 HIV-</a:t>
            </a:r>
          </a:p>
        </p:txBody>
      </p:sp>
      <p:cxnSp>
        <p:nvCxnSpPr>
          <p:cNvPr id="12" name="Straight Arrow Connector 11"/>
          <p:cNvCxnSpPr>
            <a:endCxn id="11" idx="1"/>
          </p:cNvCxnSpPr>
          <p:nvPr/>
        </p:nvCxnSpPr>
        <p:spPr>
          <a:xfrm>
            <a:off x="1786686" y="3432911"/>
            <a:ext cx="1080000" cy="0"/>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10" idx="2"/>
            <a:endCxn id="14" idx="0"/>
          </p:cNvCxnSpPr>
          <p:nvPr/>
        </p:nvCxnSpPr>
        <p:spPr>
          <a:xfrm>
            <a:off x="1777830" y="4837024"/>
            <a:ext cx="0" cy="811573"/>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14" name="Rounded Rectangle 13"/>
          <p:cNvSpPr/>
          <p:nvPr/>
        </p:nvSpPr>
        <p:spPr>
          <a:xfrm>
            <a:off x="1093754" y="5648597"/>
            <a:ext cx="1368152" cy="1008112"/>
          </a:xfrm>
          <a:prstGeom prst="roundRect">
            <a:avLst/>
          </a:prstGeom>
          <a:solidFill>
            <a:srgbClr val="E6E6E6"/>
          </a:solidFill>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Participants included in longitudinal analyses</a:t>
            </a:r>
          </a:p>
          <a:p>
            <a:pPr algn="ctr"/>
            <a:r>
              <a:rPr lang="en-CA" sz="1100" dirty="0"/>
              <a:t>228 HIV+, 68 HIV-</a:t>
            </a:r>
          </a:p>
        </p:txBody>
      </p:sp>
      <p:sp>
        <p:nvSpPr>
          <p:cNvPr id="15" name="Rounded Rectangle 14"/>
          <p:cNvSpPr/>
          <p:nvPr/>
        </p:nvSpPr>
        <p:spPr>
          <a:xfrm>
            <a:off x="2866686" y="4820505"/>
            <a:ext cx="1828800" cy="82809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spcAft>
                <a:spcPts val="600"/>
              </a:spcAft>
            </a:pPr>
            <a:r>
              <a:rPr lang="en-CA" sz="1100" dirty="0"/>
              <a:t>&lt;2 visits that were ≥1 year apart</a:t>
            </a:r>
          </a:p>
          <a:p>
            <a:pPr algn="ctr"/>
            <a:r>
              <a:rPr lang="en-CA" sz="1100" dirty="0"/>
              <a:t>Excluded 84 HIV+, 232 HIV-</a:t>
            </a:r>
          </a:p>
        </p:txBody>
      </p:sp>
      <p:cxnSp>
        <p:nvCxnSpPr>
          <p:cNvPr id="16" name="Straight Arrow Connector 15"/>
          <p:cNvCxnSpPr>
            <a:endCxn id="15" idx="1"/>
          </p:cNvCxnSpPr>
          <p:nvPr/>
        </p:nvCxnSpPr>
        <p:spPr>
          <a:xfrm>
            <a:off x="1786686" y="5234550"/>
            <a:ext cx="1080000" cy="1"/>
          </a:xfrm>
          <a:prstGeom prst="straightConnector1">
            <a:avLst/>
          </a:prstGeom>
          <a:ln w="19050">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6858000" y="6502820"/>
            <a:ext cx="2134559" cy="307777"/>
          </a:xfrm>
          <a:prstGeom prst="rect">
            <a:avLst/>
          </a:prstGeom>
          <a:noFill/>
        </p:spPr>
        <p:txBody>
          <a:bodyPr wrap="none" rtlCol="0">
            <a:spAutoFit/>
          </a:bodyPr>
          <a:lstStyle/>
          <a:p>
            <a:r>
              <a:rPr lang="en-US" sz="1400" dirty="0">
                <a:solidFill>
                  <a:schemeClr val="bg1">
                    <a:lumMod val="65000"/>
                  </a:schemeClr>
                </a:solidFill>
              </a:rPr>
              <a:t>Hsieh AYY et al., submitted</a:t>
            </a:r>
          </a:p>
        </p:txBody>
      </p:sp>
      <p:sp>
        <p:nvSpPr>
          <p:cNvPr id="18" name="Rectangle 17"/>
          <p:cNvSpPr/>
          <p:nvPr/>
        </p:nvSpPr>
        <p:spPr>
          <a:xfrm>
            <a:off x="3066650" y="5856489"/>
            <a:ext cx="3257671" cy="646331"/>
          </a:xfrm>
          <a:prstGeom prst="rect">
            <a:avLst/>
          </a:prstGeom>
        </p:spPr>
        <p:txBody>
          <a:bodyPr wrap="square">
            <a:spAutoFit/>
          </a:bodyPr>
          <a:lstStyle/>
          <a:p>
            <a:r>
              <a:rPr lang="en-US" dirty="0"/>
              <a:t>Figure S1. Study participant selection schematic. </a:t>
            </a:r>
          </a:p>
        </p:txBody>
      </p:sp>
    </p:spTree>
    <p:extLst>
      <p:ext uri="{BB962C8B-B14F-4D97-AF65-F5344CB8AC3E}">
        <p14:creationId xmlns:p14="http://schemas.microsoft.com/office/powerpoint/2010/main" val="3050526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1219200"/>
            <a:ext cx="8763000" cy="4801314"/>
          </a:xfrm>
          <a:prstGeom prst="rect">
            <a:avLst/>
          </a:prstGeom>
        </p:spPr>
        <p:txBody>
          <a:bodyPr wrap="square">
            <a:spAutoFit/>
          </a:bodyPr>
          <a:lstStyle/>
          <a:p>
            <a:r>
              <a:rPr lang="en-CA" b="1" dirty="0">
                <a:solidFill>
                  <a:schemeClr val="accent1">
                    <a:lumMod val="50000"/>
                  </a:schemeClr>
                </a:solidFill>
              </a:rPr>
              <a:t>Item 14 (Descriptive data):</a:t>
            </a:r>
          </a:p>
          <a:p>
            <a:r>
              <a:rPr lang="en-CA" dirty="0">
                <a:solidFill>
                  <a:schemeClr val="accent1">
                    <a:lumMod val="50000"/>
                  </a:schemeClr>
                </a:solidFill>
              </a:rPr>
              <a:t>(a) Give characteristics of study participants (e.g. demographic, clinical, social) and </a:t>
            </a:r>
            <a:br>
              <a:rPr lang="en-CA" dirty="0">
                <a:solidFill>
                  <a:schemeClr val="accent1">
                    <a:lumMod val="50000"/>
                  </a:schemeClr>
                </a:solidFill>
              </a:rPr>
            </a:br>
            <a:r>
              <a:rPr lang="en-CA" dirty="0">
                <a:solidFill>
                  <a:schemeClr val="accent1">
                    <a:lumMod val="50000"/>
                  </a:schemeClr>
                </a:solidFill>
              </a:rPr>
              <a:t>      information on exposures and potential confounders</a:t>
            </a:r>
          </a:p>
          <a:p>
            <a:r>
              <a:rPr lang="en-CA" dirty="0">
                <a:solidFill>
                  <a:schemeClr val="accent1">
                    <a:lumMod val="50000"/>
                  </a:schemeClr>
                </a:solidFill>
              </a:rPr>
              <a:t>(b) Indicate number of participants with missing data for each variable of interest</a:t>
            </a:r>
          </a:p>
          <a:p>
            <a:r>
              <a:rPr lang="en-CA" dirty="0">
                <a:solidFill>
                  <a:schemeClr val="accent1">
                    <a:lumMod val="50000"/>
                  </a:schemeClr>
                </a:solidFill>
              </a:rPr>
              <a:t>(c) Cohort study—Summarise follow-up time (e.g., average and total amount)</a:t>
            </a:r>
          </a:p>
          <a:p>
            <a:endParaRPr lang="en-CA" dirty="0">
              <a:solidFill>
                <a:schemeClr val="accent1">
                  <a:lumMod val="50000"/>
                </a:schemeClr>
              </a:solidFill>
            </a:endParaRPr>
          </a:p>
          <a:p>
            <a:r>
              <a:rPr lang="en-CA" b="1" dirty="0">
                <a:solidFill>
                  <a:schemeClr val="accent1">
                    <a:lumMod val="50000"/>
                  </a:schemeClr>
                </a:solidFill>
              </a:rPr>
              <a:t>Item 16 (Main results):</a:t>
            </a:r>
          </a:p>
          <a:p>
            <a:r>
              <a:rPr lang="en-CA" dirty="0">
                <a:solidFill>
                  <a:schemeClr val="accent1">
                    <a:lumMod val="50000"/>
                  </a:schemeClr>
                </a:solidFill>
              </a:rPr>
              <a:t>(a) Give unadjusted estimates and, if applicable, confounder-adjusted estimates and their</a:t>
            </a:r>
          </a:p>
          <a:p>
            <a:r>
              <a:rPr lang="en-CA" dirty="0">
                <a:solidFill>
                  <a:schemeClr val="accent1">
                    <a:lumMod val="50000"/>
                  </a:schemeClr>
                </a:solidFill>
              </a:rPr>
              <a:t>      precision (e.g., 95% CI). Make clear which confounders were adjusted for and why they </a:t>
            </a:r>
            <a:br>
              <a:rPr lang="en-CA" dirty="0">
                <a:solidFill>
                  <a:schemeClr val="accent1">
                    <a:lumMod val="50000"/>
                  </a:schemeClr>
                </a:solidFill>
              </a:rPr>
            </a:br>
            <a:r>
              <a:rPr lang="en-CA" dirty="0">
                <a:solidFill>
                  <a:schemeClr val="accent1">
                    <a:lumMod val="50000"/>
                  </a:schemeClr>
                </a:solidFill>
              </a:rPr>
              <a:t>      were included</a:t>
            </a:r>
          </a:p>
          <a:p>
            <a:r>
              <a:rPr lang="en-CA" dirty="0">
                <a:solidFill>
                  <a:schemeClr val="accent1">
                    <a:lumMod val="50000"/>
                  </a:schemeClr>
                </a:solidFill>
              </a:rPr>
              <a:t>(b) Report category boundaries when continuous variables were categorized</a:t>
            </a:r>
          </a:p>
          <a:p>
            <a:r>
              <a:rPr lang="en-CA" dirty="0">
                <a:solidFill>
                  <a:schemeClr val="accent1">
                    <a:lumMod val="50000"/>
                  </a:schemeClr>
                </a:solidFill>
              </a:rPr>
              <a:t>(c) If relevant, consider translating estimates of relative risk into absolute risk for a </a:t>
            </a:r>
            <a:br>
              <a:rPr lang="en-CA" dirty="0">
                <a:solidFill>
                  <a:schemeClr val="accent1">
                    <a:lumMod val="50000"/>
                  </a:schemeClr>
                </a:solidFill>
              </a:rPr>
            </a:br>
            <a:r>
              <a:rPr lang="en-CA" dirty="0">
                <a:solidFill>
                  <a:schemeClr val="accent1">
                    <a:lumMod val="50000"/>
                  </a:schemeClr>
                </a:solidFill>
              </a:rPr>
              <a:t>      meaningful time period</a:t>
            </a:r>
          </a:p>
          <a:p>
            <a:endParaRPr lang="en-CA" dirty="0">
              <a:solidFill>
                <a:schemeClr val="accent1">
                  <a:lumMod val="50000"/>
                </a:schemeClr>
              </a:solidFill>
            </a:endParaRPr>
          </a:p>
          <a:p>
            <a:r>
              <a:rPr lang="en-CA" b="1" dirty="0">
                <a:solidFill>
                  <a:schemeClr val="accent1">
                    <a:lumMod val="50000"/>
                  </a:schemeClr>
                </a:solidFill>
              </a:rPr>
              <a:t>Item 17 (Other analyses): </a:t>
            </a:r>
            <a:r>
              <a:rPr lang="en-CA" dirty="0">
                <a:solidFill>
                  <a:schemeClr val="accent1">
                    <a:lumMod val="50000"/>
                  </a:schemeClr>
                </a:solidFill>
              </a:rPr>
              <a:t>Report other analyses done—e.g. analyses of subgroups and interactions, and sensitivity analyses</a:t>
            </a:r>
          </a:p>
          <a:p>
            <a:endParaRPr lang="en-CA" dirty="0">
              <a:solidFill>
                <a:schemeClr val="accent1">
                  <a:lumMod val="50000"/>
                </a:schemeClr>
              </a:solidFill>
            </a:endParaRPr>
          </a:p>
        </p:txBody>
      </p:sp>
      <p:sp>
        <p:nvSpPr>
          <p:cNvPr id="4" name="Rectangle 3"/>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r>
              <a:rPr lang="en-US" sz="2800" dirty="0"/>
              <a:t>− checklist </a:t>
            </a:r>
            <a:endParaRPr lang="en-US" sz="3200" dirty="0"/>
          </a:p>
        </p:txBody>
      </p:sp>
      <p:sp>
        <p:nvSpPr>
          <p:cNvPr id="5" name="Rectangle 4"/>
          <p:cNvSpPr/>
          <p:nvPr/>
        </p:nvSpPr>
        <p:spPr>
          <a:xfrm>
            <a:off x="23037" y="6484918"/>
            <a:ext cx="8686800" cy="307777"/>
          </a:xfrm>
          <a:prstGeom prst="rect">
            <a:avLst/>
          </a:prstGeom>
        </p:spPr>
        <p:txBody>
          <a:bodyPr wrap="square">
            <a:spAutoFit/>
          </a:bodyPr>
          <a:lstStyle/>
          <a:p>
            <a:r>
              <a:rPr lang="en-CA" sz="1400" dirty="0">
                <a:solidFill>
                  <a:schemeClr val="bg1">
                    <a:lumMod val="65000"/>
                  </a:schemeClr>
                </a:solidFill>
              </a:rPr>
              <a:t>http://www.strobe-statement.org/fileadmin/Strobe/uploads/checklists/STROBE_checklist_v4_combined.pdf</a:t>
            </a:r>
          </a:p>
        </p:txBody>
      </p:sp>
    </p:spTree>
    <p:extLst>
      <p:ext uri="{BB962C8B-B14F-4D97-AF65-F5344CB8AC3E}">
        <p14:creationId xmlns:p14="http://schemas.microsoft.com/office/powerpoint/2010/main" val="129482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STROBE statement </a:t>
            </a:r>
            <a:r>
              <a:rPr lang="en-US" sz="2800" dirty="0"/>
              <a:t>− checklist </a:t>
            </a:r>
            <a:endParaRPr lang="en-US" sz="3200" dirty="0"/>
          </a:p>
        </p:txBody>
      </p:sp>
      <p:sp>
        <p:nvSpPr>
          <p:cNvPr id="4" name="TextBox 3"/>
          <p:cNvSpPr txBox="1"/>
          <p:nvPr/>
        </p:nvSpPr>
        <p:spPr>
          <a:xfrm>
            <a:off x="304800" y="1219200"/>
            <a:ext cx="8534400" cy="3416320"/>
          </a:xfrm>
          <a:prstGeom prst="rect">
            <a:avLst/>
          </a:prstGeom>
          <a:noFill/>
        </p:spPr>
        <p:txBody>
          <a:bodyPr wrap="square" rtlCol="0">
            <a:spAutoFit/>
          </a:bodyPr>
          <a:lstStyle/>
          <a:p>
            <a:r>
              <a:rPr lang="en-CA" b="1" dirty="0">
                <a:solidFill>
                  <a:schemeClr val="accent1">
                    <a:lumMod val="50000"/>
                  </a:schemeClr>
                </a:solidFill>
              </a:rPr>
              <a:t>Item 19 (Limitations): </a:t>
            </a:r>
            <a:r>
              <a:rPr lang="en-CA" dirty="0">
                <a:solidFill>
                  <a:schemeClr val="accent1">
                    <a:lumMod val="50000"/>
                  </a:schemeClr>
                </a:solidFill>
              </a:rPr>
              <a:t>Discuss limitations of the study, taking into account sources of potential bias or imprecision. Discuss both direction and magnitude of any potential bias</a:t>
            </a:r>
          </a:p>
          <a:p>
            <a:endParaRPr lang="en-CA" b="1" dirty="0">
              <a:solidFill>
                <a:schemeClr val="accent1">
                  <a:lumMod val="50000"/>
                </a:schemeClr>
              </a:solidFill>
            </a:endParaRPr>
          </a:p>
          <a:p>
            <a:r>
              <a:rPr lang="en-CA" b="1" dirty="0">
                <a:solidFill>
                  <a:schemeClr val="accent1">
                    <a:lumMod val="50000"/>
                  </a:schemeClr>
                </a:solidFill>
              </a:rPr>
              <a:t>Item 20 (Interpretation): </a:t>
            </a:r>
            <a:r>
              <a:rPr lang="en-CA" dirty="0">
                <a:solidFill>
                  <a:schemeClr val="accent1">
                    <a:lumMod val="50000"/>
                  </a:schemeClr>
                </a:solidFill>
              </a:rPr>
              <a:t>Give a cautious overall interpretation of results considering objectives, limitations, multiplicity of analyses, results from similar studies, and other relevant evidence</a:t>
            </a:r>
          </a:p>
          <a:p>
            <a:endParaRPr lang="en-CA" dirty="0">
              <a:solidFill>
                <a:schemeClr val="accent1">
                  <a:lumMod val="50000"/>
                </a:schemeClr>
              </a:solidFill>
            </a:endParaRPr>
          </a:p>
          <a:p>
            <a:r>
              <a:rPr lang="en-CA" b="1" dirty="0">
                <a:solidFill>
                  <a:schemeClr val="accent1">
                    <a:lumMod val="50000"/>
                  </a:schemeClr>
                </a:solidFill>
              </a:rPr>
              <a:t>Item 21 (</a:t>
            </a:r>
            <a:r>
              <a:rPr lang="en-CA" b="1" dirty="0" err="1">
                <a:solidFill>
                  <a:schemeClr val="accent1">
                    <a:lumMod val="50000"/>
                  </a:schemeClr>
                </a:solidFill>
              </a:rPr>
              <a:t>Generalisability</a:t>
            </a:r>
            <a:r>
              <a:rPr lang="en-CA" b="1" dirty="0">
                <a:solidFill>
                  <a:schemeClr val="accent1">
                    <a:lumMod val="50000"/>
                  </a:schemeClr>
                </a:solidFill>
              </a:rPr>
              <a:t>): </a:t>
            </a:r>
            <a:r>
              <a:rPr lang="en-CA" dirty="0">
                <a:solidFill>
                  <a:schemeClr val="accent1">
                    <a:lumMod val="50000"/>
                  </a:schemeClr>
                </a:solidFill>
              </a:rPr>
              <a:t>Discuss the </a:t>
            </a:r>
            <a:r>
              <a:rPr lang="en-CA" dirty="0" err="1">
                <a:solidFill>
                  <a:schemeClr val="accent1">
                    <a:lumMod val="50000"/>
                  </a:schemeClr>
                </a:solidFill>
              </a:rPr>
              <a:t>generalisability</a:t>
            </a:r>
            <a:r>
              <a:rPr lang="en-CA" dirty="0">
                <a:solidFill>
                  <a:schemeClr val="accent1">
                    <a:lumMod val="50000"/>
                  </a:schemeClr>
                </a:solidFill>
              </a:rPr>
              <a:t> (external validity) of the study results</a:t>
            </a:r>
          </a:p>
          <a:p>
            <a:endParaRPr lang="en-CA" dirty="0">
              <a:solidFill>
                <a:schemeClr val="accent1">
                  <a:lumMod val="50000"/>
                </a:schemeClr>
              </a:solidFill>
            </a:endParaRPr>
          </a:p>
          <a:p>
            <a:r>
              <a:rPr lang="en-CA" b="1" dirty="0">
                <a:solidFill>
                  <a:schemeClr val="accent1">
                    <a:lumMod val="50000"/>
                  </a:schemeClr>
                </a:solidFill>
              </a:rPr>
              <a:t>Item 22 (Funding): </a:t>
            </a:r>
            <a:r>
              <a:rPr lang="en-CA" dirty="0">
                <a:solidFill>
                  <a:schemeClr val="accent1">
                    <a:lumMod val="50000"/>
                  </a:schemeClr>
                </a:solidFill>
              </a:rPr>
              <a:t>Give the source of funding and the role of the funders for the present study and, if applicable, for the original study on which the present article is based</a:t>
            </a:r>
          </a:p>
        </p:txBody>
      </p:sp>
      <p:sp>
        <p:nvSpPr>
          <p:cNvPr id="2" name="Rectangle 1"/>
          <p:cNvSpPr/>
          <p:nvPr/>
        </p:nvSpPr>
        <p:spPr>
          <a:xfrm>
            <a:off x="723900" y="5486400"/>
            <a:ext cx="7696200" cy="646331"/>
          </a:xfrm>
          <a:prstGeom prst="rect">
            <a:avLst/>
          </a:prstGeom>
        </p:spPr>
        <p:txBody>
          <a:bodyPr wrap="square">
            <a:spAutoFit/>
          </a:bodyPr>
          <a:lstStyle/>
          <a:p>
            <a:pPr marL="285750" indent="-285750">
              <a:buClr>
                <a:schemeClr val="accent1">
                  <a:lumMod val="75000"/>
                </a:schemeClr>
              </a:buClr>
              <a:buSzPct val="120000"/>
              <a:buFont typeface="Wingdings" panose="05000000000000000000" pitchFamily="2" charset="2"/>
              <a:buChar char="§"/>
            </a:pPr>
            <a:r>
              <a:rPr lang="en-US" dirty="0">
                <a:solidFill>
                  <a:schemeClr val="accent1">
                    <a:lumMod val="50000"/>
                  </a:schemeClr>
                </a:solidFill>
              </a:rPr>
              <a:t>Good idea to mention in your cover letter to the Journal Editor that you followed a given guideline</a:t>
            </a:r>
          </a:p>
        </p:txBody>
      </p:sp>
      <p:sp>
        <p:nvSpPr>
          <p:cNvPr id="5" name="Rectangle 4"/>
          <p:cNvSpPr/>
          <p:nvPr/>
        </p:nvSpPr>
        <p:spPr>
          <a:xfrm>
            <a:off x="23037" y="6484918"/>
            <a:ext cx="8686800" cy="307777"/>
          </a:xfrm>
          <a:prstGeom prst="rect">
            <a:avLst/>
          </a:prstGeom>
        </p:spPr>
        <p:txBody>
          <a:bodyPr wrap="square">
            <a:spAutoFit/>
          </a:bodyPr>
          <a:lstStyle/>
          <a:p>
            <a:r>
              <a:rPr lang="en-CA" sz="1400" dirty="0">
                <a:solidFill>
                  <a:schemeClr val="bg1">
                    <a:lumMod val="65000"/>
                  </a:schemeClr>
                </a:solidFill>
              </a:rPr>
              <a:t>http://www.strobe-statement.org/fileadmin/Strobe/uploads/checklists/STROBE_checklist_v4_combined.pdf</a:t>
            </a:r>
          </a:p>
        </p:txBody>
      </p:sp>
    </p:spTree>
    <p:extLst>
      <p:ext uri="{BB962C8B-B14F-4D97-AF65-F5344CB8AC3E}">
        <p14:creationId xmlns:p14="http://schemas.microsoft.com/office/powerpoint/2010/main" val="415820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ARRIVE guidelines </a:t>
            </a:r>
            <a:r>
              <a:rPr lang="en-US" sz="2800" dirty="0"/>
              <a:t>− checklist </a:t>
            </a:r>
            <a:endParaRPr lang="en-US" sz="3200" dirty="0"/>
          </a:p>
        </p:txBody>
      </p:sp>
      <p:sp>
        <p:nvSpPr>
          <p:cNvPr id="3" name="TextBox 2"/>
          <p:cNvSpPr txBox="1"/>
          <p:nvPr/>
        </p:nvSpPr>
        <p:spPr>
          <a:xfrm>
            <a:off x="164432" y="1864619"/>
            <a:ext cx="8545918" cy="3970318"/>
          </a:xfrm>
          <a:prstGeom prst="rect">
            <a:avLst/>
          </a:prstGeom>
          <a:noFill/>
        </p:spPr>
        <p:txBody>
          <a:bodyPr wrap="square" rtlCol="0">
            <a:spAutoFit/>
          </a:bodyPr>
          <a:lstStyle/>
          <a:p>
            <a:r>
              <a:rPr lang="en-CA" b="1" dirty="0">
                <a:solidFill>
                  <a:schemeClr val="accent1">
                    <a:lumMod val="50000"/>
                  </a:schemeClr>
                </a:solidFill>
              </a:rPr>
              <a:t>Items 1-4 similar to STROBE</a:t>
            </a:r>
          </a:p>
          <a:p>
            <a:endParaRPr lang="en-CA" dirty="0">
              <a:solidFill>
                <a:schemeClr val="accent1">
                  <a:lumMod val="50000"/>
                </a:schemeClr>
              </a:solidFill>
            </a:endParaRPr>
          </a:p>
          <a:p>
            <a:r>
              <a:rPr lang="en-CA" b="1" dirty="0">
                <a:solidFill>
                  <a:schemeClr val="accent1">
                    <a:lumMod val="50000"/>
                  </a:schemeClr>
                </a:solidFill>
              </a:rPr>
              <a:t>Item 5 (Ethical statement): </a:t>
            </a:r>
            <a:r>
              <a:rPr lang="en-US" dirty="0">
                <a:solidFill>
                  <a:schemeClr val="accent1">
                    <a:lumMod val="50000"/>
                  </a:schemeClr>
                </a:solidFill>
              </a:rPr>
              <a:t>Indicate the nature of the ethical review permissions</a:t>
            </a:r>
          </a:p>
          <a:p>
            <a:endParaRPr lang="en-CA" dirty="0">
              <a:solidFill>
                <a:schemeClr val="accent1">
                  <a:lumMod val="50000"/>
                </a:schemeClr>
              </a:solidFill>
            </a:endParaRPr>
          </a:p>
          <a:p>
            <a:r>
              <a:rPr lang="en-CA" b="1" dirty="0">
                <a:solidFill>
                  <a:schemeClr val="accent1">
                    <a:lumMod val="50000"/>
                  </a:schemeClr>
                </a:solidFill>
              </a:rPr>
              <a:t>Item 6 (Study design): </a:t>
            </a:r>
            <a:r>
              <a:rPr lang="en-US" dirty="0">
                <a:solidFill>
                  <a:schemeClr val="accent1">
                    <a:lumMod val="50000"/>
                  </a:schemeClr>
                </a:solidFill>
              </a:rPr>
              <a:t>For each experiment, give brief details of the study design including:</a:t>
            </a:r>
          </a:p>
          <a:p>
            <a:r>
              <a:rPr lang="en-US" dirty="0">
                <a:solidFill>
                  <a:schemeClr val="accent1">
                    <a:lumMod val="50000"/>
                  </a:schemeClr>
                </a:solidFill>
              </a:rPr>
              <a:t>	a. The number of experimental and control groups.</a:t>
            </a:r>
          </a:p>
          <a:p>
            <a:r>
              <a:rPr lang="en-US" dirty="0">
                <a:solidFill>
                  <a:schemeClr val="accent1">
                    <a:lumMod val="50000"/>
                  </a:schemeClr>
                </a:solidFill>
              </a:rPr>
              <a:t>	b. Any steps taken to minimize the effects of subjective bias when allocating 	animals to treatment (e.g. randomization procedure) and when assessing 	results (e.g. if done, describe who was blinded and when).</a:t>
            </a:r>
          </a:p>
          <a:p>
            <a:r>
              <a:rPr lang="en-US" dirty="0">
                <a:solidFill>
                  <a:schemeClr val="accent1">
                    <a:lumMod val="50000"/>
                  </a:schemeClr>
                </a:solidFill>
              </a:rPr>
              <a:t>	c. The experimental unit (e.g. a single animal, group or cage of animals).</a:t>
            </a:r>
          </a:p>
          <a:p>
            <a:endParaRPr lang="en-US" dirty="0">
              <a:solidFill>
                <a:schemeClr val="accent1">
                  <a:lumMod val="50000"/>
                </a:schemeClr>
              </a:solidFill>
            </a:endParaRPr>
          </a:p>
          <a:p>
            <a:r>
              <a:rPr lang="en-US" dirty="0">
                <a:solidFill>
                  <a:schemeClr val="accent1">
                    <a:lumMod val="50000"/>
                  </a:schemeClr>
                </a:solidFill>
              </a:rPr>
              <a:t>A time-line diagram or flow chart can be useful</a:t>
            </a:r>
          </a:p>
          <a:p>
            <a:endParaRPr lang="en-CA" dirty="0">
              <a:solidFill>
                <a:schemeClr val="accent1">
                  <a:lumMod val="50000"/>
                </a:schemeClr>
              </a:solidFill>
            </a:endParaRPr>
          </a:p>
        </p:txBody>
      </p:sp>
      <p:sp>
        <p:nvSpPr>
          <p:cNvPr id="4" name="Rectangle 3"/>
          <p:cNvSpPr/>
          <p:nvPr/>
        </p:nvSpPr>
        <p:spPr>
          <a:xfrm>
            <a:off x="152400" y="954187"/>
            <a:ext cx="8763000" cy="369332"/>
          </a:xfrm>
          <a:prstGeom prst="rect">
            <a:avLst/>
          </a:prstGeom>
        </p:spPr>
        <p:txBody>
          <a:bodyPr wrap="square">
            <a:spAutoFit/>
          </a:bodyPr>
          <a:lstStyle/>
          <a:p>
            <a:r>
              <a:rPr lang="en-US" b="1" dirty="0">
                <a:solidFill>
                  <a:schemeClr val="accent1">
                    <a:lumMod val="50000"/>
                  </a:schemeClr>
                </a:solidFill>
              </a:rPr>
              <a:t>The ARRIVE Guidelines Checklist </a:t>
            </a:r>
            <a:r>
              <a:rPr lang="en-US" b="1" dirty="0">
                <a:solidFill>
                  <a:schemeClr val="accent1">
                    <a:lumMod val="50000"/>
                  </a:schemeClr>
                </a:solidFill>
                <a:highlight>
                  <a:srgbClr val="FFFF00"/>
                </a:highlight>
              </a:rPr>
              <a:t>Animal Research</a:t>
            </a:r>
            <a:r>
              <a:rPr lang="en-US" b="1" dirty="0">
                <a:solidFill>
                  <a:schemeClr val="accent1">
                    <a:lumMod val="50000"/>
                  </a:schemeClr>
                </a:solidFill>
              </a:rPr>
              <a:t>: Reporting In Vivo Experiments </a:t>
            </a:r>
          </a:p>
        </p:txBody>
      </p:sp>
      <p:sp>
        <p:nvSpPr>
          <p:cNvPr id="5" name="Rectangle 4"/>
          <p:cNvSpPr/>
          <p:nvPr/>
        </p:nvSpPr>
        <p:spPr>
          <a:xfrm>
            <a:off x="152400" y="6584358"/>
            <a:ext cx="8553939" cy="261610"/>
          </a:xfrm>
          <a:prstGeom prst="rect">
            <a:avLst/>
          </a:prstGeom>
        </p:spPr>
        <p:txBody>
          <a:bodyPr wrap="square">
            <a:spAutoFit/>
          </a:bodyPr>
          <a:lstStyle/>
          <a:p>
            <a:r>
              <a:rPr lang="en-US" sz="1100" dirty="0">
                <a:hlinkClick r:id="rId2"/>
              </a:rPr>
              <a:t>https://www.nc3rs.org.uk/sites/default/files/documents/Guidelines/NC3Rs%20ARRIVE%20Guidelines%20Checklist%20%28fillable%29.pdf</a:t>
            </a:r>
            <a:endParaRPr lang="en-US" sz="1100" dirty="0"/>
          </a:p>
        </p:txBody>
      </p:sp>
    </p:spTree>
    <p:extLst>
      <p:ext uri="{BB962C8B-B14F-4D97-AF65-F5344CB8AC3E}">
        <p14:creationId xmlns:p14="http://schemas.microsoft.com/office/powerpoint/2010/main" val="345258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ARRIVE guidelines </a:t>
            </a:r>
            <a:r>
              <a:rPr lang="en-US" sz="2800" dirty="0"/>
              <a:t>− checklist </a:t>
            </a:r>
            <a:endParaRPr lang="en-US" sz="3200" dirty="0"/>
          </a:p>
        </p:txBody>
      </p:sp>
      <p:sp>
        <p:nvSpPr>
          <p:cNvPr id="3" name="TextBox 2"/>
          <p:cNvSpPr txBox="1"/>
          <p:nvPr/>
        </p:nvSpPr>
        <p:spPr>
          <a:xfrm>
            <a:off x="152400" y="1143000"/>
            <a:ext cx="8545918" cy="3139321"/>
          </a:xfrm>
          <a:prstGeom prst="rect">
            <a:avLst/>
          </a:prstGeom>
          <a:noFill/>
        </p:spPr>
        <p:txBody>
          <a:bodyPr wrap="square" rtlCol="0">
            <a:spAutoFit/>
          </a:bodyPr>
          <a:lstStyle/>
          <a:p>
            <a:r>
              <a:rPr lang="en-CA" b="1" dirty="0">
                <a:solidFill>
                  <a:schemeClr val="accent1">
                    <a:lumMod val="50000"/>
                  </a:schemeClr>
                </a:solidFill>
              </a:rPr>
              <a:t>Item 7 (Experimental procedures): </a:t>
            </a:r>
            <a:r>
              <a:rPr lang="en-CA" dirty="0">
                <a:solidFill>
                  <a:schemeClr val="accent1">
                    <a:lumMod val="50000"/>
                  </a:schemeClr>
                </a:solidFill>
              </a:rPr>
              <a:t>For each experiment, </a:t>
            </a:r>
            <a:r>
              <a:rPr lang="en-US" dirty="0">
                <a:solidFill>
                  <a:schemeClr val="accent1">
                    <a:lumMod val="50000"/>
                  </a:schemeClr>
                </a:solidFill>
              </a:rPr>
              <a:t>provide precise details of all procedures carried out</a:t>
            </a:r>
          </a:p>
          <a:p>
            <a:r>
              <a:rPr lang="en-US" dirty="0">
                <a:solidFill>
                  <a:schemeClr val="accent1">
                    <a:lumMod val="50000"/>
                  </a:schemeClr>
                </a:solidFill>
              </a:rPr>
              <a:t>	a. How (e.g. drug formulation and dose, site and route of administration, 	</a:t>
            </a:r>
            <a:r>
              <a:rPr lang="en-US" dirty="0" err="1">
                <a:solidFill>
                  <a:schemeClr val="accent1">
                    <a:lumMod val="50000"/>
                  </a:schemeClr>
                </a:solidFill>
              </a:rPr>
              <a:t>anaesthesia</a:t>
            </a:r>
            <a:r>
              <a:rPr lang="en-US" dirty="0">
                <a:solidFill>
                  <a:schemeClr val="accent1">
                    <a:lumMod val="50000"/>
                  </a:schemeClr>
                </a:solidFill>
              </a:rPr>
              <a:t> and analgesia used, surgical procedure, method of euthanasia). 	Provide details of any specialized equipment used</a:t>
            </a:r>
          </a:p>
          <a:p>
            <a:r>
              <a:rPr lang="en-US" dirty="0">
                <a:solidFill>
                  <a:schemeClr val="accent1">
                    <a:lumMod val="50000"/>
                  </a:schemeClr>
                </a:solidFill>
              </a:rPr>
              <a:t>	b. When (e.g. time of day)</a:t>
            </a:r>
          </a:p>
          <a:p>
            <a:r>
              <a:rPr lang="en-US" dirty="0">
                <a:solidFill>
                  <a:schemeClr val="accent1">
                    <a:lumMod val="50000"/>
                  </a:schemeClr>
                </a:solidFill>
              </a:rPr>
              <a:t>	c. Where (e.g. home cage, laboratory, water maze)</a:t>
            </a:r>
          </a:p>
          <a:p>
            <a:r>
              <a:rPr lang="en-US" dirty="0">
                <a:solidFill>
                  <a:schemeClr val="accent1">
                    <a:lumMod val="50000"/>
                  </a:schemeClr>
                </a:solidFill>
              </a:rPr>
              <a:t>	d. Why (e.g. rationale for choice of specific </a:t>
            </a:r>
            <a:r>
              <a:rPr lang="en-US" dirty="0" err="1">
                <a:solidFill>
                  <a:schemeClr val="accent1">
                    <a:lumMod val="50000"/>
                  </a:schemeClr>
                </a:solidFill>
              </a:rPr>
              <a:t>anaesthetic</a:t>
            </a:r>
            <a:r>
              <a:rPr lang="en-US" dirty="0">
                <a:solidFill>
                  <a:schemeClr val="accent1">
                    <a:lumMod val="50000"/>
                  </a:schemeClr>
                </a:solidFill>
              </a:rPr>
              <a:t>, route of administration, 	drug dose used).</a:t>
            </a:r>
          </a:p>
          <a:p>
            <a:endParaRPr lang="en-CA" dirty="0">
              <a:solidFill>
                <a:schemeClr val="accent1">
                  <a:lumMod val="50000"/>
                </a:schemeClr>
              </a:solidFill>
            </a:endParaRPr>
          </a:p>
          <a:p>
            <a:endParaRPr lang="en-CA" dirty="0">
              <a:solidFill>
                <a:schemeClr val="accent1">
                  <a:lumMod val="50000"/>
                </a:schemeClr>
              </a:solidFill>
            </a:endParaRPr>
          </a:p>
        </p:txBody>
      </p:sp>
      <p:sp>
        <p:nvSpPr>
          <p:cNvPr id="5" name="Rectangle 4"/>
          <p:cNvSpPr/>
          <p:nvPr/>
        </p:nvSpPr>
        <p:spPr>
          <a:xfrm>
            <a:off x="152400" y="4097655"/>
            <a:ext cx="8991600" cy="1754326"/>
          </a:xfrm>
          <a:prstGeom prst="rect">
            <a:avLst/>
          </a:prstGeom>
        </p:spPr>
        <p:txBody>
          <a:bodyPr wrap="square">
            <a:spAutoFit/>
          </a:bodyPr>
          <a:lstStyle/>
          <a:p>
            <a:r>
              <a:rPr lang="en-CA" b="1" dirty="0">
                <a:solidFill>
                  <a:schemeClr val="accent1">
                    <a:lumMod val="50000"/>
                  </a:schemeClr>
                </a:solidFill>
              </a:rPr>
              <a:t>Item 8 (Experimental animals):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Provide details of the animals used, including species, strain, sex, developmental 	stage and weight </a:t>
            </a:r>
            <a:br>
              <a:rPr lang="en-US" dirty="0">
                <a:solidFill>
                  <a:schemeClr val="accent1">
                    <a:lumMod val="50000"/>
                  </a:schemeClr>
                </a:solidFill>
              </a:rPr>
            </a:br>
            <a:r>
              <a:rPr lang="en-US" dirty="0">
                <a:solidFill>
                  <a:schemeClr val="accent1">
                    <a:lumMod val="50000"/>
                  </a:schemeClr>
                </a:solidFill>
              </a:rPr>
              <a:t>	b. Provide further relevant information such as the source of animals, international 	strain nomenclature, genetic modification status (e.g. knock-out or transgenic), 	genotype, health/immune status, drug or test naïve, previous procedures, etc.</a:t>
            </a:r>
            <a:r>
              <a:rPr lang="en-CA" dirty="0">
                <a:solidFill>
                  <a:schemeClr val="accent1">
                    <a:lumMod val="50000"/>
                  </a:schemeClr>
                </a:solidFill>
              </a:rPr>
              <a:t> </a:t>
            </a:r>
            <a:endParaRPr lang="en-US" dirty="0">
              <a:solidFill>
                <a:schemeClr val="accent1">
                  <a:lumMod val="50000"/>
                </a:schemeClr>
              </a:solidFill>
            </a:endParaRPr>
          </a:p>
        </p:txBody>
      </p:sp>
      <p:sp>
        <p:nvSpPr>
          <p:cNvPr id="6" name="Rectangle 5"/>
          <p:cNvSpPr/>
          <p:nvPr/>
        </p:nvSpPr>
        <p:spPr>
          <a:xfrm>
            <a:off x="152400" y="6584358"/>
            <a:ext cx="8553939" cy="261610"/>
          </a:xfrm>
          <a:prstGeom prst="rect">
            <a:avLst/>
          </a:prstGeom>
        </p:spPr>
        <p:txBody>
          <a:bodyPr wrap="square">
            <a:spAutoFit/>
          </a:bodyPr>
          <a:lstStyle/>
          <a:p>
            <a:r>
              <a:rPr lang="en-US" sz="1100" dirty="0">
                <a:hlinkClick r:id="rId2"/>
              </a:rPr>
              <a:t>https://www.nc3rs.org.uk/sites/default/files/documents/Guidelines/NC3Rs%20ARRIVE%20Guidelines%20Checklist%20%28fillable%29.pdf</a:t>
            </a:r>
            <a:endParaRPr lang="en-US" sz="1100" dirty="0"/>
          </a:p>
        </p:txBody>
      </p:sp>
    </p:spTree>
    <p:extLst>
      <p:ext uri="{BB962C8B-B14F-4D97-AF65-F5344CB8AC3E}">
        <p14:creationId xmlns:p14="http://schemas.microsoft.com/office/powerpoint/2010/main" val="1882456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ARRIVE guidelines </a:t>
            </a:r>
            <a:r>
              <a:rPr lang="en-US" sz="2800" dirty="0"/>
              <a:t>− checklist </a:t>
            </a:r>
            <a:endParaRPr lang="en-US" sz="3200" dirty="0"/>
          </a:p>
        </p:txBody>
      </p:sp>
      <p:sp>
        <p:nvSpPr>
          <p:cNvPr id="3" name="TextBox 2"/>
          <p:cNvSpPr txBox="1"/>
          <p:nvPr/>
        </p:nvSpPr>
        <p:spPr>
          <a:xfrm>
            <a:off x="152400" y="1066800"/>
            <a:ext cx="8545918" cy="2308324"/>
          </a:xfrm>
          <a:prstGeom prst="rect">
            <a:avLst/>
          </a:prstGeom>
          <a:noFill/>
        </p:spPr>
        <p:txBody>
          <a:bodyPr wrap="square" rtlCol="0">
            <a:spAutoFit/>
          </a:bodyPr>
          <a:lstStyle/>
          <a:p>
            <a:r>
              <a:rPr lang="en-CA" b="1" dirty="0">
                <a:solidFill>
                  <a:schemeClr val="accent1">
                    <a:lumMod val="50000"/>
                  </a:schemeClr>
                </a:solidFill>
              </a:rPr>
              <a:t>Item 9 (Housing and husbandry): </a:t>
            </a:r>
            <a:r>
              <a:rPr lang="en-CA" dirty="0">
                <a:solidFill>
                  <a:schemeClr val="accent1">
                    <a:lumMod val="50000"/>
                  </a:schemeClr>
                </a:solidFill>
              </a:rPr>
              <a:t>P</a:t>
            </a:r>
            <a:r>
              <a:rPr lang="en-US" dirty="0" err="1">
                <a:solidFill>
                  <a:schemeClr val="accent1">
                    <a:lumMod val="50000"/>
                  </a:schemeClr>
                </a:solidFill>
              </a:rPr>
              <a:t>rovide</a:t>
            </a:r>
            <a:r>
              <a:rPr lang="en-US" dirty="0">
                <a:solidFill>
                  <a:schemeClr val="accent1">
                    <a:lumMod val="50000"/>
                  </a:schemeClr>
                </a:solidFill>
              </a:rPr>
              <a:t> details of:</a:t>
            </a:r>
          </a:p>
          <a:p>
            <a:r>
              <a:rPr lang="en-US" dirty="0">
                <a:solidFill>
                  <a:schemeClr val="accent1">
                    <a:lumMod val="50000"/>
                  </a:schemeClr>
                </a:solidFill>
              </a:rPr>
              <a:t>	a. Housing (type of facility e.g. specific pathogen free [SPF]; type of cage or 	housing; bedding material; number of cage companions; tank shape and 	material etc. for fish)</a:t>
            </a:r>
          </a:p>
          <a:p>
            <a:r>
              <a:rPr lang="en-US" dirty="0">
                <a:solidFill>
                  <a:schemeClr val="accent1">
                    <a:lumMod val="50000"/>
                  </a:schemeClr>
                </a:solidFill>
              </a:rPr>
              <a:t>	b. Husbandry conditions (e.g. breeding </a:t>
            </a:r>
            <a:r>
              <a:rPr lang="en-US" dirty="0" err="1">
                <a:solidFill>
                  <a:schemeClr val="accent1">
                    <a:lumMod val="50000"/>
                  </a:schemeClr>
                </a:solidFill>
              </a:rPr>
              <a:t>programme</a:t>
            </a:r>
            <a:r>
              <a:rPr lang="en-US" dirty="0">
                <a:solidFill>
                  <a:schemeClr val="accent1">
                    <a:lumMod val="50000"/>
                  </a:schemeClr>
                </a:solidFill>
              </a:rPr>
              <a:t>, light/dark cycle, 	temperature, quality of water etc. </a:t>
            </a:r>
          </a:p>
          <a:p>
            <a:r>
              <a:rPr lang="en-US" dirty="0">
                <a:solidFill>
                  <a:schemeClr val="accent1">
                    <a:lumMod val="50000"/>
                  </a:schemeClr>
                </a:solidFill>
              </a:rPr>
              <a:t>	c. Welfare-related assessments and interventions that were carried out prior to, 	during, or after the experiment.</a:t>
            </a:r>
            <a:endParaRPr lang="en-CA" dirty="0">
              <a:solidFill>
                <a:schemeClr val="accent1">
                  <a:lumMod val="50000"/>
                </a:schemeClr>
              </a:solidFill>
            </a:endParaRPr>
          </a:p>
        </p:txBody>
      </p:sp>
      <p:sp>
        <p:nvSpPr>
          <p:cNvPr id="5" name="Rectangle 4"/>
          <p:cNvSpPr/>
          <p:nvPr/>
        </p:nvSpPr>
        <p:spPr>
          <a:xfrm>
            <a:off x="152400" y="3505200"/>
            <a:ext cx="8991600" cy="1477328"/>
          </a:xfrm>
          <a:prstGeom prst="rect">
            <a:avLst/>
          </a:prstGeom>
        </p:spPr>
        <p:txBody>
          <a:bodyPr wrap="square">
            <a:spAutoFit/>
          </a:bodyPr>
          <a:lstStyle/>
          <a:p>
            <a:r>
              <a:rPr lang="en-CA" b="1" dirty="0">
                <a:solidFill>
                  <a:schemeClr val="accent1">
                    <a:lumMod val="50000"/>
                  </a:schemeClr>
                </a:solidFill>
              </a:rPr>
              <a:t>Items 10 (Sample size):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Specify the total number of animals used in each experiment, and the number of 	animals in each experimental group</a:t>
            </a:r>
          </a:p>
          <a:p>
            <a:r>
              <a:rPr lang="en-US" dirty="0">
                <a:solidFill>
                  <a:schemeClr val="accent1">
                    <a:lumMod val="50000"/>
                  </a:schemeClr>
                </a:solidFill>
              </a:rPr>
              <a:t>	b. Explain how the number of animals was arrived at</a:t>
            </a:r>
          </a:p>
          <a:p>
            <a:r>
              <a:rPr lang="en-US" dirty="0">
                <a:solidFill>
                  <a:schemeClr val="accent1">
                    <a:lumMod val="50000"/>
                  </a:schemeClr>
                </a:solidFill>
              </a:rPr>
              <a:t>	c. Indicate the number of independent replications of each experiment, if relevant.</a:t>
            </a:r>
          </a:p>
        </p:txBody>
      </p:sp>
      <p:sp>
        <p:nvSpPr>
          <p:cNvPr id="6" name="Rectangle 5"/>
          <p:cNvSpPr/>
          <p:nvPr/>
        </p:nvSpPr>
        <p:spPr>
          <a:xfrm>
            <a:off x="140368" y="5112604"/>
            <a:ext cx="8991600" cy="1477328"/>
          </a:xfrm>
          <a:prstGeom prst="rect">
            <a:avLst/>
          </a:prstGeom>
        </p:spPr>
        <p:txBody>
          <a:bodyPr wrap="square">
            <a:spAutoFit/>
          </a:bodyPr>
          <a:lstStyle/>
          <a:p>
            <a:r>
              <a:rPr lang="en-CA" b="1" dirty="0">
                <a:solidFill>
                  <a:schemeClr val="accent1">
                    <a:lumMod val="50000"/>
                  </a:schemeClr>
                </a:solidFill>
              </a:rPr>
              <a:t>Items 11 (Allocating animals to experimental groups):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Give full details of how animals were allocated to experimental groups, including 	</a:t>
            </a:r>
            <a:r>
              <a:rPr lang="en-US" dirty="0" err="1">
                <a:solidFill>
                  <a:schemeClr val="accent1">
                    <a:lumMod val="50000"/>
                  </a:schemeClr>
                </a:solidFill>
              </a:rPr>
              <a:t>randomisation</a:t>
            </a:r>
            <a:r>
              <a:rPr lang="en-US" dirty="0">
                <a:solidFill>
                  <a:schemeClr val="accent1">
                    <a:lumMod val="50000"/>
                  </a:schemeClr>
                </a:solidFill>
              </a:rPr>
              <a:t> or matching if done.</a:t>
            </a:r>
          </a:p>
          <a:p>
            <a:r>
              <a:rPr lang="en-US" dirty="0">
                <a:solidFill>
                  <a:schemeClr val="accent1">
                    <a:lumMod val="50000"/>
                  </a:schemeClr>
                </a:solidFill>
              </a:rPr>
              <a:t>	b. Describe the order in which the animals in the different experimental groups were 	treated and assessed</a:t>
            </a:r>
          </a:p>
        </p:txBody>
      </p:sp>
      <p:sp>
        <p:nvSpPr>
          <p:cNvPr id="7" name="Rectangle 6"/>
          <p:cNvSpPr/>
          <p:nvPr/>
        </p:nvSpPr>
        <p:spPr>
          <a:xfrm>
            <a:off x="152400" y="6584358"/>
            <a:ext cx="8553939" cy="261610"/>
          </a:xfrm>
          <a:prstGeom prst="rect">
            <a:avLst/>
          </a:prstGeom>
        </p:spPr>
        <p:txBody>
          <a:bodyPr wrap="square">
            <a:spAutoFit/>
          </a:bodyPr>
          <a:lstStyle/>
          <a:p>
            <a:r>
              <a:rPr lang="en-US" sz="1100" dirty="0">
                <a:hlinkClick r:id="rId2"/>
              </a:rPr>
              <a:t>https://www.nc3rs.org.uk/sites/default/files/documents/Guidelines/NC3Rs%20ARRIVE%20Guidelines%20Checklist%20%28fillable%29.pdf</a:t>
            </a:r>
            <a:endParaRPr lang="en-US" sz="1100" dirty="0"/>
          </a:p>
        </p:txBody>
      </p:sp>
    </p:spTree>
    <p:extLst>
      <p:ext uri="{BB962C8B-B14F-4D97-AF65-F5344CB8AC3E}">
        <p14:creationId xmlns:p14="http://schemas.microsoft.com/office/powerpoint/2010/main" val="307529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ARRIVE guidelines </a:t>
            </a:r>
            <a:r>
              <a:rPr lang="en-US" sz="2800" dirty="0"/>
              <a:t>− checklist </a:t>
            </a:r>
            <a:endParaRPr lang="en-US" sz="3200" dirty="0"/>
          </a:p>
        </p:txBody>
      </p:sp>
      <p:sp>
        <p:nvSpPr>
          <p:cNvPr id="3" name="TextBox 2"/>
          <p:cNvSpPr txBox="1"/>
          <p:nvPr/>
        </p:nvSpPr>
        <p:spPr>
          <a:xfrm>
            <a:off x="140368" y="1066800"/>
            <a:ext cx="8545918" cy="923330"/>
          </a:xfrm>
          <a:prstGeom prst="rect">
            <a:avLst/>
          </a:prstGeom>
          <a:noFill/>
        </p:spPr>
        <p:txBody>
          <a:bodyPr wrap="square" rtlCol="0">
            <a:spAutoFit/>
          </a:bodyPr>
          <a:lstStyle/>
          <a:p>
            <a:r>
              <a:rPr lang="en-CA" b="1" dirty="0">
                <a:solidFill>
                  <a:schemeClr val="accent1">
                    <a:lumMod val="50000"/>
                  </a:schemeClr>
                </a:solidFill>
              </a:rPr>
              <a:t>Items 12 (Experimental outcomes): </a:t>
            </a:r>
            <a:r>
              <a:rPr lang="en-US" dirty="0">
                <a:solidFill>
                  <a:schemeClr val="accent1">
                    <a:lumMod val="50000"/>
                  </a:schemeClr>
                </a:solidFill>
              </a:rPr>
              <a:t>Clearly define the primary and secondary experimental outcomes assessed (e.g. cell death, molecular markers, </a:t>
            </a:r>
            <a:r>
              <a:rPr lang="en-US" dirty="0" err="1">
                <a:solidFill>
                  <a:schemeClr val="accent1">
                    <a:lumMod val="50000"/>
                  </a:schemeClr>
                </a:solidFill>
              </a:rPr>
              <a:t>behavioural</a:t>
            </a:r>
            <a:r>
              <a:rPr lang="en-US" dirty="0">
                <a:solidFill>
                  <a:schemeClr val="accent1">
                    <a:lumMod val="50000"/>
                  </a:schemeClr>
                </a:solidFill>
              </a:rPr>
              <a:t> changes)</a:t>
            </a:r>
            <a:endParaRPr lang="en-CA" dirty="0">
              <a:solidFill>
                <a:schemeClr val="accent1">
                  <a:lumMod val="50000"/>
                </a:schemeClr>
              </a:solidFill>
            </a:endParaRPr>
          </a:p>
        </p:txBody>
      </p:sp>
      <p:sp>
        <p:nvSpPr>
          <p:cNvPr id="5" name="Rectangle 4"/>
          <p:cNvSpPr/>
          <p:nvPr/>
        </p:nvSpPr>
        <p:spPr>
          <a:xfrm>
            <a:off x="140368" y="2159038"/>
            <a:ext cx="8991600" cy="1754326"/>
          </a:xfrm>
          <a:prstGeom prst="rect">
            <a:avLst/>
          </a:prstGeom>
        </p:spPr>
        <p:txBody>
          <a:bodyPr wrap="square">
            <a:spAutoFit/>
          </a:bodyPr>
          <a:lstStyle/>
          <a:p>
            <a:r>
              <a:rPr lang="en-CA" b="1" dirty="0">
                <a:solidFill>
                  <a:schemeClr val="accent1">
                    <a:lumMod val="50000"/>
                  </a:schemeClr>
                </a:solidFill>
              </a:rPr>
              <a:t>Items 13 (Statistical methods):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Provide details of the statistical methods used for each analysis</a:t>
            </a:r>
            <a:br>
              <a:rPr lang="en-US" dirty="0">
                <a:solidFill>
                  <a:schemeClr val="accent1">
                    <a:lumMod val="50000"/>
                  </a:schemeClr>
                </a:solidFill>
              </a:rPr>
            </a:br>
            <a:r>
              <a:rPr lang="en-US" dirty="0">
                <a:solidFill>
                  <a:schemeClr val="accent1">
                    <a:lumMod val="50000"/>
                  </a:schemeClr>
                </a:solidFill>
              </a:rPr>
              <a:t>	b. Specify the unit of analysis for each dataset (e.g. single animal, group of animals, 	single neuron)</a:t>
            </a:r>
            <a:br>
              <a:rPr lang="en-US" dirty="0">
                <a:solidFill>
                  <a:schemeClr val="accent1">
                    <a:lumMod val="50000"/>
                  </a:schemeClr>
                </a:solidFill>
              </a:rPr>
            </a:br>
            <a:r>
              <a:rPr lang="en-US" dirty="0">
                <a:solidFill>
                  <a:schemeClr val="accent1">
                    <a:lumMod val="50000"/>
                  </a:schemeClr>
                </a:solidFill>
              </a:rPr>
              <a:t>	c. Describe any methods used to assess whether the data met the assumptions of 	the statistical approach.</a:t>
            </a:r>
          </a:p>
        </p:txBody>
      </p:sp>
      <p:sp>
        <p:nvSpPr>
          <p:cNvPr id="6" name="Rectangle 5"/>
          <p:cNvSpPr/>
          <p:nvPr/>
        </p:nvSpPr>
        <p:spPr>
          <a:xfrm>
            <a:off x="140368" y="4238217"/>
            <a:ext cx="8991600" cy="923330"/>
          </a:xfrm>
          <a:prstGeom prst="rect">
            <a:avLst/>
          </a:prstGeom>
        </p:spPr>
        <p:txBody>
          <a:bodyPr wrap="square">
            <a:spAutoFit/>
          </a:bodyPr>
          <a:lstStyle/>
          <a:p>
            <a:r>
              <a:rPr lang="en-CA" b="1" dirty="0">
                <a:solidFill>
                  <a:schemeClr val="accent1">
                    <a:lumMod val="50000"/>
                  </a:schemeClr>
                </a:solidFill>
              </a:rPr>
              <a:t>Items 14 (Baseline data): </a:t>
            </a:r>
            <a:r>
              <a:rPr lang="en-US" dirty="0">
                <a:solidFill>
                  <a:schemeClr val="accent1">
                    <a:lumMod val="50000"/>
                  </a:schemeClr>
                </a:solidFill>
              </a:rPr>
              <a:t>For each experimental group, report relevant characteristics and health status of animals (e.g. weight, microbiological status, and drug or test naïve) prior to treatment or testing. (This information can often be tabulated).</a:t>
            </a:r>
          </a:p>
        </p:txBody>
      </p:sp>
      <p:sp>
        <p:nvSpPr>
          <p:cNvPr id="7" name="Rectangle 6"/>
          <p:cNvSpPr/>
          <p:nvPr/>
        </p:nvSpPr>
        <p:spPr>
          <a:xfrm>
            <a:off x="140368" y="5330454"/>
            <a:ext cx="8991600" cy="1200329"/>
          </a:xfrm>
          <a:prstGeom prst="rect">
            <a:avLst/>
          </a:prstGeom>
        </p:spPr>
        <p:txBody>
          <a:bodyPr wrap="square">
            <a:spAutoFit/>
          </a:bodyPr>
          <a:lstStyle/>
          <a:p>
            <a:r>
              <a:rPr lang="en-CA" b="1" dirty="0">
                <a:solidFill>
                  <a:schemeClr val="accent1">
                    <a:lumMod val="50000"/>
                  </a:schemeClr>
                </a:solidFill>
              </a:rPr>
              <a:t>Item 15 (Numbers analyzed):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Report the number of animals in each group included in each analysis. Report 	absolute numbers (e.g. 10/20, not 50%)</a:t>
            </a:r>
          </a:p>
          <a:p>
            <a:r>
              <a:rPr lang="en-US" dirty="0">
                <a:solidFill>
                  <a:schemeClr val="accent1">
                    <a:lumMod val="50000"/>
                  </a:schemeClr>
                </a:solidFill>
              </a:rPr>
              <a:t>	b. If any animals or data were not included in the analysis, explain why.</a:t>
            </a:r>
          </a:p>
        </p:txBody>
      </p:sp>
      <p:sp>
        <p:nvSpPr>
          <p:cNvPr id="8" name="Rectangle 7"/>
          <p:cNvSpPr/>
          <p:nvPr/>
        </p:nvSpPr>
        <p:spPr>
          <a:xfrm>
            <a:off x="152400" y="6584358"/>
            <a:ext cx="8553939" cy="261610"/>
          </a:xfrm>
          <a:prstGeom prst="rect">
            <a:avLst/>
          </a:prstGeom>
        </p:spPr>
        <p:txBody>
          <a:bodyPr wrap="square">
            <a:spAutoFit/>
          </a:bodyPr>
          <a:lstStyle/>
          <a:p>
            <a:r>
              <a:rPr lang="en-US" sz="1100" dirty="0">
                <a:hlinkClick r:id="rId2"/>
              </a:rPr>
              <a:t>https://www.nc3rs.org.uk/sites/default/files/documents/Guidelines/NC3Rs%20ARRIVE%20Guidelines%20Checklist%20%28fillable%29.pdf</a:t>
            </a:r>
            <a:endParaRPr lang="en-US" sz="1100" dirty="0"/>
          </a:p>
        </p:txBody>
      </p:sp>
    </p:spTree>
    <p:extLst>
      <p:ext uri="{BB962C8B-B14F-4D97-AF65-F5344CB8AC3E}">
        <p14:creationId xmlns:p14="http://schemas.microsoft.com/office/powerpoint/2010/main" val="236889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ARRIVE guidelines </a:t>
            </a:r>
            <a:r>
              <a:rPr lang="en-US" sz="2800" dirty="0"/>
              <a:t>− checklist </a:t>
            </a:r>
            <a:endParaRPr lang="en-US" sz="3200" dirty="0"/>
          </a:p>
        </p:txBody>
      </p:sp>
      <p:sp>
        <p:nvSpPr>
          <p:cNvPr id="3" name="TextBox 2"/>
          <p:cNvSpPr txBox="1"/>
          <p:nvPr/>
        </p:nvSpPr>
        <p:spPr>
          <a:xfrm>
            <a:off x="196516" y="990600"/>
            <a:ext cx="8545918" cy="646331"/>
          </a:xfrm>
          <a:prstGeom prst="rect">
            <a:avLst/>
          </a:prstGeom>
          <a:noFill/>
        </p:spPr>
        <p:txBody>
          <a:bodyPr wrap="square" rtlCol="0">
            <a:spAutoFit/>
          </a:bodyPr>
          <a:lstStyle/>
          <a:p>
            <a:r>
              <a:rPr lang="en-CA" b="1" dirty="0">
                <a:solidFill>
                  <a:schemeClr val="accent1">
                    <a:lumMod val="50000"/>
                  </a:schemeClr>
                </a:solidFill>
              </a:rPr>
              <a:t>Items 16 (Outcomes and estimation): </a:t>
            </a:r>
            <a:r>
              <a:rPr lang="en-US" dirty="0">
                <a:solidFill>
                  <a:schemeClr val="accent1">
                    <a:lumMod val="50000"/>
                  </a:schemeClr>
                </a:solidFill>
              </a:rPr>
              <a:t>Report the results for each analysis carried out, with a measure of precision (e.g. SEM or confidence interval).</a:t>
            </a:r>
            <a:endParaRPr lang="en-CA" dirty="0">
              <a:solidFill>
                <a:schemeClr val="accent1">
                  <a:lumMod val="50000"/>
                </a:schemeClr>
              </a:solidFill>
            </a:endParaRPr>
          </a:p>
        </p:txBody>
      </p:sp>
      <p:sp>
        <p:nvSpPr>
          <p:cNvPr id="5" name="Rectangle 4"/>
          <p:cNvSpPr/>
          <p:nvPr/>
        </p:nvSpPr>
        <p:spPr>
          <a:xfrm>
            <a:off x="156410" y="1782331"/>
            <a:ext cx="8991600" cy="1200329"/>
          </a:xfrm>
          <a:prstGeom prst="rect">
            <a:avLst/>
          </a:prstGeom>
        </p:spPr>
        <p:txBody>
          <a:bodyPr wrap="square">
            <a:spAutoFit/>
          </a:bodyPr>
          <a:lstStyle/>
          <a:p>
            <a:r>
              <a:rPr lang="en-CA" b="1" dirty="0">
                <a:solidFill>
                  <a:schemeClr val="accent1">
                    <a:lumMod val="50000"/>
                  </a:schemeClr>
                </a:solidFill>
              </a:rPr>
              <a:t>Items 17 (Adverse events): </a:t>
            </a:r>
            <a:br>
              <a:rPr lang="en-CA" b="1" dirty="0">
                <a:solidFill>
                  <a:schemeClr val="accent1">
                    <a:lumMod val="50000"/>
                  </a:schemeClr>
                </a:solidFill>
              </a:rPr>
            </a:br>
            <a:r>
              <a:rPr lang="en-CA" b="1" dirty="0">
                <a:solidFill>
                  <a:schemeClr val="accent1">
                    <a:lumMod val="50000"/>
                  </a:schemeClr>
                </a:solidFill>
              </a:rPr>
              <a:t>	</a:t>
            </a:r>
            <a:r>
              <a:rPr lang="en-US" dirty="0">
                <a:solidFill>
                  <a:schemeClr val="accent1">
                    <a:lumMod val="50000"/>
                  </a:schemeClr>
                </a:solidFill>
              </a:rPr>
              <a:t>a. Give details of all important adverse events in each experimental group</a:t>
            </a:r>
            <a:br>
              <a:rPr lang="en-US" dirty="0">
                <a:solidFill>
                  <a:schemeClr val="accent1">
                    <a:lumMod val="50000"/>
                  </a:schemeClr>
                </a:solidFill>
              </a:rPr>
            </a:br>
            <a:r>
              <a:rPr lang="en-US" dirty="0">
                <a:solidFill>
                  <a:schemeClr val="accent1">
                    <a:lumMod val="50000"/>
                  </a:schemeClr>
                </a:solidFill>
              </a:rPr>
              <a:t>	b. Describe any modifications to the experimental protocols made to reduce adverse 	events.</a:t>
            </a:r>
          </a:p>
        </p:txBody>
      </p:sp>
      <p:sp>
        <p:nvSpPr>
          <p:cNvPr id="6" name="Rectangle 5"/>
          <p:cNvSpPr/>
          <p:nvPr/>
        </p:nvSpPr>
        <p:spPr>
          <a:xfrm>
            <a:off x="184484" y="3085752"/>
            <a:ext cx="8991600" cy="2031325"/>
          </a:xfrm>
          <a:prstGeom prst="rect">
            <a:avLst/>
          </a:prstGeom>
        </p:spPr>
        <p:txBody>
          <a:bodyPr wrap="square">
            <a:spAutoFit/>
          </a:bodyPr>
          <a:lstStyle/>
          <a:p>
            <a:r>
              <a:rPr lang="en-CA" b="1" dirty="0">
                <a:solidFill>
                  <a:schemeClr val="accent1">
                    <a:lumMod val="50000"/>
                  </a:schemeClr>
                </a:solidFill>
              </a:rPr>
              <a:t>Items 18 (Interpretation/scientific implications): </a:t>
            </a:r>
          </a:p>
          <a:p>
            <a:r>
              <a:rPr lang="en-CA" b="1" dirty="0">
                <a:solidFill>
                  <a:schemeClr val="accent1">
                    <a:lumMod val="50000"/>
                  </a:schemeClr>
                </a:solidFill>
              </a:rPr>
              <a:t>	</a:t>
            </a:r>
            <a:r>
              <a:rPr lang="en-US" dirty="0">
                <a:solidFill>
                  <a:schemeClr val="accent1">
                    <a:lumMod val="50000"/>
                  </a:schemeClr>
                </a:solidFill>
              </a:rPr>
              <a:t>a. Interpret the results, taking into account the study objectives and hypotheses, 	current theory and other relevant studies in the literature</a:t>
            </a:r>
          </a:p>
          <a:p>
            <a:r>
              <a:rPr lang="en-US" dirty="0">
                <a:solidFill>
                  <a:schemeClr val="accent1">
                    <a:lumMod val="50000"/>
                  </a:schemeClr>
                </a:solidFill>
              </a:rPr>
              <a:t>	b. Comment on the study limitations including any potential sources of bias, any 	limitations of the animal model, and the imprecision associated with the results</a:t>
            </a:r>
            <a:br>
              <a:rPr lang="en-US" dirty="0">
                <a:solidFill>
                  <a:schemeClr val="accent1">
                    <a:lumMod val="50000"/>
                  </a:schemeClr>
                </a:solidFill>
              </a:rPr>
            </a:br>
            <a:r>
              <a:rPr lang="en-US" dirty="0">
                <a:solidFill>
                  <a:schemeClr val="accent1">
                    <a:lumMod val="50000"/>
                  </a:schemeClr>
                </a:solidFill>
              </a:rPr>
              <a:t>	c. Describe any implications of your experimental methods or findings for the 	replacement, refinement or reduction (the 3Rs) of the use of animals in research.</a:t>
            </a:r>
          </a:p>
        </p:txBody>
      </p:sp>
      <p:sp>
        <p:nvSpPr>
          <p:cNvPr id="7" name="Rectangle 6"/>
          <p:cNvSpPr/>
          <p:nvPr/>
        </p:nvSpPr>
        <p:spPr>
          <a:xfrm>
            <a:off x="184484" y="5160567"/>
            <a:ext cx="8991600" cy="923330"/>
          </a:xfrm>
          <a:prstGeom prst="rect">
            <a:avLst/>
          </a:prstGeom>
        </p:spPr>
        <p:txBody>
          <a:bodyPr wrap="square">
            <a:spAutoFit/>
          </a:bodyPr>
          <a:lstStyle/>
          <a:p>
            <a:r>
              <a:rPr lang="en-CA" b="1" dirty="0">
                <a:solidFill>
                  <a:schemeClr val="accent1">
                    <a:lumMod val="50000"/>
                  </a:schemeClr>
                </a:solidFill>
              </a:rPr>
              <a:t>Item 19 (</a:t>
            </a:r>
            <a:r>
              <a:rPr lang="en-US" b="1" dirty="0" err="1">
                <a:solidFill>
                  <a:schemeClr val="accent1">
                    <a:lumMod val="50000"/>
                  </a:schemeClr>
                </a:solidFill>
              </a:rPr>
              <a:t>Generalisability</a:t>
            </a:r>
            <a:r>
              <a:rPr lang="en-US" b="1" dirty="0">
                <a:solidFill>
                  <a:schemeClr val="accent1">
                    <a:lumMod val="50000"/>
                  </a:schemeClr>
                </a:solidFill>
              </a:rPr>
              <a:t>/ translation</a:t>
            </a:r>
            <a:r>
              <a:rPr lang="en-CA" b="1" dirty="0">
                <a:solidFill>
                  <a:schemeClr val="accent1">
                    <a:lumMod val="50000"/>
                  </a:schemeClr>
                </a:solidFill>
              </a:rPr>
              <a:t>): </a:t>
            </a:r>
            <a:r>
              <a:rPr lang="en-US" dirty="0">
                <a:solidFill>
                  <a:schemeClr val="accent1">
                    <a:lumMod val="50000"/>
                  </a:schemeClr>
                </a:solidFill>
              </a:rPr>
              <a:t>Comment on whether, and how, the findings of this study are likely to translate to other species or systems, including any relevance to human biology.</a:t>
            </a:r>
            <a:r>
              <a:rPr lang="en-CA" b="1" dirty="0">
                <a:solidFill>
                  <a:schemeClr val="accent1">
                    <a:lumMod val="50000"/>
                  </a:schemeClr>
                </a:solidFill>
              </a:rPr>
              <a:t>	</a:t>
            </a:r>
            <a:endParaRPr lang="en-US" dirty="0">
              <a:solidFill>
                <a:schemeClr val="accent1">
                  <a:lumMod val="50000"/>
                </a:schemeClr>
              </a:solidFill>
            </a:endParaRPr>
          </a:p>
        </p:txBody>
      </p:sp>
      <p:sp>
        <p:nvSpPr>
          <p:cNvPr id="8" name="Rectangle 7"/>
          <p:cNvSpPr/>
          <p:nvPr/>
        </p:nvSpPr>
        <p:spPr>
          <a:xfrm>
            <a:off x="184484" y="6127387"/>
            <a:ext cx="8991600" cy="369332"/>
          </a:xfrm>
          <a:prstGeom prst="rect">
            <a:avLst/>
          </a:prstGeom>
        </p:spPr>
        <p:txBody>
          <a:bodyPr wrap="square">
            <a:spAutoFit/>
          </a:bodyPr>
          <a:lstStyle/>
          <a:p>
            <a:r>
              <a:rPr lang="en-CA" b="1" dirty="0">
                <a:solidFill>
                  <a:schemeClr val="accent1">
                    <a:lumMod val="50000"/>
                  </a:schemeClr>
                </a:solidFill>
              </a:rPr>
              <a:t>Item 20 (</a:t>
            </a:r>
            <a:r>
              <a:rPr lang="en-US" b="1" dirty="0">
                <a:solidFill>
                  <a:schemeClr val="accent1">
                    <a:lumMod val="50000"/>
                  </a:schemeClr>
                </a:solidFill>
              </a:rPr>
              <a:t>Funding</a:t>
            </a:r>
            <a:r>
              <a:rPr lang="en-CA" b="1" dirty="0">
                <a:solidFill>
                  <a:schemeClr val="accent1">
                    <a:lumMod val="50000"/>
                  </a:schemeClr>
                </a:solidFill>
              </a:rPr>
              <a:t>): </a:t>
            </a:r>
            <a:r>
              <a:rPr lang="en-CA" dirty="0">
                <a:solidFill>
                  <a:schemeClr val="accent1">
                    <a:lumMod val="50000"/>
                  </a:schemeClr>
                </a:solidFill>
              </a:rPr>
              <a:t>Report all funding sources</a:t>
            </a:r>
            <a:r>
              <a:rPr lang="en-CA" b="1" dirty="0">
                <a:solidFill>
                  <a:schemeClr val="accent1">
                    <a:lumMod val="50000"/>
                  </a:schemeClr>
                </a:solidFill>
              </a:rPr>
              <a:t>	</a:t>
            </a:r>
            <a:endParaRPr lang="en-US" dirty="0">
              <a:solidFill>
                <a:schemeClr val="accent1">
                  <a:lumMod val="50000"/>
                </a:schemeClr>
              </a:solidFill>
            </a:endParaRPr>
          </a:p>
        </p:txBody>
      </p:sp>
      <p:sp>
        <p:nvSpPr>
          <p:cNvPr id="9" name="Rectangle 8"/>
          <p:cNvSpPr/>
          <p:nvPr/>
        </p:nvSpPr>
        <p:spPr>
          <a:xfrm>
            <a:off x="152400" y="6584358"/>
            <a:ext cx="8553939" cy="261610"/>
          </a:xfrm>
          <a:prstGeom prst="rect">
            <a:avLst/>
          </a:prstGeom>
        </p:spPr>
        <p:txBody>
          <a:bodyPr wrap="square">
            <a:spAutoFit/>
          </a:bodyPr>
          <a:lstStyle/>
          <a:p>
            <a:r>
              <a:rPr lang="en-US" sz="1100" dirty="0">
                <a:hlinkClick r:id="rId3"/>
              </a:rPr>
              <a:t>https://www.nc3rs.org.uk/sites/default/files/documents/Guidelines/NC3Rs%20ARRIVE%20Guidelines%20Checklist%20%28fillable%29.pdf</a:t>
            </a:r>
            <a:endParaRPr lang="en-US" sz="1100" dirty="0"/>
          </a:p>
        </p:txBody>
      </p:sp>
    </p:spTree>
    <p:extLst>
      <p:ext uri="{BB962C8B-B14F-4D97-AF65-F5344CB8AC3E}">
        <p14:creationId xmlns:p14="http://schemas.microsoft.com/office/powerpoint/2010/main" val="413637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966" y="0"/>
            <a:ext cx="15392400" cy="865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Other guidelines: qPCR studies</a:t>
            </a:r>
          </a:p>
        </p:txBody>
      </p:sp>
      <p:sp>
        <p:nvSpPr>
          <p:cNvPr id="4" name="Rectangle 3"/>
          <p:cNvSpPr/>
          <p:nvPr/>
        </p:nvSpPr>
        <p:spPr>
          <a:xfrm>
            <a:off x="838200" y="4114800"/>
            <a:ext cx="7239000" cy="411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691" y="4138448"/>
            <a:ext cx="653001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1542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0"/>
            <a:ext cx="9296400" cy="2546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Other guidelines: </a:t>
            </a:r>
            <a:r>
              <a:rPr lang="en-US" sz="3200" b="1" dirty="0" err="1"/>
              <a:t>tumour</a:t>
            </a:r>
            <a:r>
              <a:rPr lang="en-US" sz="3200" b="1" dirty="0"/>
              <a:t> marker studies</a:t>
            </a:r>
          </a:p>
        </p:txBody>
      </p:sp>
    </p:spTree>
    <p:extLst>
      <p:ext uri="{BB962C8B-B14F-4D97-AF65-F5344CB8AC3E}">
        <p14:creationId xmlns:p14="http://schemas.microsoft.com/office/powerpoint/2010/main" val="2387611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4000" t="18889" r="14000" b="33111"/>
          <a:stretch/>
        </p:blipFill>
        <p:spPr>
          <a:xfrm>
            <a:off x="0" y="2057400"/>
            <a:ext cx="9220200" cy="3457575"/>
          </a:xfrm>
          <a:prstGeom prst="rect">
            <a:avLst/>
          </a:prstGeom>
        </p:spPr>
      </p:pic>
      <p:sp>
        <p:nvSpPr>
          <p:cNvPr id="4" name="Rectangle 3"/>
          <p:cNvSpPr/>
          <p:nvPr/>
        </p:nvSpPr>
        <p:spPr>
          <a:xfrm>
            <a:off x="0" y="0"/>
            <a:ext cx="9144000" cy="83820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3200" b="1" dirty="0"/>
              <a:t>Other guidelines: Genetic association studies</a:t>
            </a:r>
          </a:p>
        </p:txBody>
      </p:sp>
    </p:spTree>
    <p:extLst>
      <p:ext uri="{BB962C8B-B14F-4D97-AF65-F5344CB8AC3E}">
        <p14:creationId xmlns:p14="http://schemas.microsoft.com/office/powerpoint/2010/main" val="2862000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54" y="149240"/>
            <a:ext cx="8935453" cy="6524863"/>
          </a:xfrm>
          <a:prstGeom prst="rect">
            <a:avLst/>
          </a:prstGeom>
        </p:spPr>
        <p:txBody>
          <a:bodyPr wrap="square">
            <a:spAutoFit/>
          </a:bodyPr>
          <a:lstStyle/>
          <a:p>
            <a:pPr marL="457200" marR="0">
              <a:lnSpc>
                <a:spcPct val="115000"/>
              </a:lnSpc>
              <a:spcBef>
                <a:spcPts val="0"/>
              </a:spcBef>
              <a:spcAft>
                <a:spcPts val="1000"/>
              </a:spcAft>
              <a:tabLst>
                <a:tab pos="514350" algn="l"/>
              </a:tabLst>
            </a:pPr>
            <a:r>
              <a:rPr lang="en-US" sz="1600" dirty="0">
                <a:solidFill>
                  <a:srgbClr val="000000"/>
                </a:solidFill>
                <a:uFill>
                  <a:solidFill>
                    <a:srgbClr val="000000"/>
                  </a:solidFill>
                </a:uFill>
                <a:latin typeface="Calibri" panose="020F0502020204030204" pitchFamily="34" charset="0"/>
                <a:ea typeface="Arial Unicode MS"/>
                <a:cs typeface="Arial Unicode MS"/>
              </a:rPr>
              <a:t>Mann CJ. Observational research methods. Research design II: cohort, cross sectional, and case-control studies. BMJ (2003) </a:t>
            </a:r>
            <a:r>
              <a:rPr lang="en-US" sz="1600" dirty="0" err="1">
                <a:solidFill>
                  <a:srgbClr val="000000"/>
                </a:solidFill>
                <a:uFill>
                  <a:solidFill>
                    <a:srgbClr val="000000"/>
                  </a:solidFill>
                </a:uFill>
                <a:latin typeface="Calibri" panose="020F0502020204030204" pitchFamily="34" charset="0"/>
                <a:ea typeface="Arial Unicode MS"/>
                <a:cs typeface="Arial Unicode MS"/>
              </a:rPr>
              <a:t>Emerg</a:t>
            </a:r>
            <a:r>
              <a:rPr lang="en-US" sz="1600" dirty="0">
                <a:solidFill>
                  <a:srgbClr val="000000"/>
                </a:solidFill>
                <a:uFill>
                  <a:solidFill>
                    <a:srgbClr val="000000"/>
                  </a:solidFill>
                </a:uFill>
                <a:latin typeface="Calibri" panose="020F0502020204030204" pitchFamily="34" charset="0"/>
                <a:ea typeface="Arial Unicode MS"/>
                <a:cs typeface="Arial Unicode MS"/>
              </a:rPr>
              <a:t> Med J 20:54 </a:t>
            </a:r>
            <a:r>
              <a:rPr lang="en-US" sz="1600" u="sng" dirty="0">
                <a:solidFill>
                  <a:srgbClr val="0000FF"/>
                </a:solidFill>
                <a:uFill>
                  <a:solidFill>
                    <a:srgbClr val="0000FF"/>
                  </a:solidFill>
                </a:uFill>
                <a:latin typeface="Calibri" panose="020F0502020204030204" pitchFamily="34" charset="0"/>
                <a:ea typeface="Arial Unicode MS"/>
                <a:cs typeface="Arial Unicode MS"/>
                <a:hlinkClick r:id="rId2"/>
              </a:rPr>
              <a:t>https://emj.bmj.com/content/emermed/20/1/54.full.pdf</a:t>
            </a:r>
            <a:r>
              <a:rPr lang="en-US" sz="1600" dirty="0">
                <a:solidFill>
                  <a:srgbClr val="000000"/>
                </a:solidFill>
                <a:uFill>
                  <a:solidFill>
                    <a:srgbClr val="000000"/>
                  </a:solidFill>
                </a:uFill>
                <a:latin typeface="Calibri" panose="020F0502020204030204" pitchFamily="34" charset="0"/>
                <a:ea typeface="Arial Unicode MS"/>
                <a:cs typeface="Arial Unicode MS"/>
              </a:rPr>
              <a:t> </a:t>
            </a:r>
          </a:p>
          <a:p>
            <a:pPr marL="457200" marR="0">
              <a:lnSpc>
                <a:spcPct val="115000"/>
              </a:lnSpc>
              <a:spcBef>
                <a:spcPts val="0"/>
              </a:spcBef>
              <a:spcAft>
                <a:spcPts val="1000"/>
              </a:spcAft>
              <a:tabLst>
                <a:tab pos="514350" algn="l"/>
              </a:tabLst>
            </a:pPr>
            <a:r>
              <a:rPr lang="en-US" sz="1600" dirty="0" err="1">
                <a:solidFill>
                  <a:srgbClr val="000000"/>
                </a:solidFill>
                <a:uFill>
                  <a:solidFill>
                    <a:srgbClr val="000000"/>
                  </a:solidFill>
                </a:uFill>
                <a:latin typeface="Calibri" panose="020F0502020204030204" pitchFamily="34" charset="0"/>
                <a:ea typeface="Arial Unicode MS"/>
                <a:cs typeface="Arial Unicode MS"/>
              </a:rPr>
              <a:t>Festing</a:t>
            </a:r>
            <a:r>
              <a:rPr lang="en-US" sz="1600" dirty="0">
                <a:solidFill>
                  <a:srgbClr val="000000"/>
                </a:solidFill>
                <a:uFill>
                  <a:solidFill>
                    <a:srgbClr val="000000"/>
                  </a:solidFill>
                </a:uFill>
                <a:latin typeface="Calibri" panose="020F0502020204030204" pitchFamily="34" charset="0"/>
                <a:ea typeface="Arial Unicode MS"/>
                <a:cs typeface="Arial Unicode MS"/>
              </a:rPr>
              <a:t> MFW &amp; Altman DG. Guidelines for the design and statistical analysis of experiments using laboratory animals.  ILAR Journal (2002) 43(4): 244</a:t>
            </a:r>
            <a:br>
              <a:rPr lang="en-US" sz="1600" dirty="0">
                <a:solidFill>
                  <a:srgbClr val="000000"/>
                </a:solidFill>
                <a:uFill>
                  <a:solidFill>
                    <a:srgbClr val="000000"/>
                  </a:solidFill>
                </a:uFill>
                <a:latin typeface="Calibri" panose="020F0502020204030204" pitchFamily="34" charset="0"/>
                <a:ea typeface="Arial Unicode MS"/>
                <a:cs typeface="Arial Unicode MS"/>
              </a:rPr>
            </a:br>
            <a:r>
              <a:rPr lang="en-US" sz="1600" u="sng" dirty="0">
                <a:solidFill>
                  <a:srgbClr val="000000"/>
                </a:solidFill>
                <a:uFill>
                  <a:solidFill>
                    <a:srgbClr val="000000"/>
                  </a:solidFill>
                </a:uFill>
                <a:latin typeface="Calibri" panose="020F0502020204030204" pitchFamily="34" charset="0"/>
                <a:ea typeface="Arial Unicode MS"/>
                <a:cs typeface="Arial Unicode MS"/>
                <a:hlinkClick r:id="rId3"/>
              </a:rPr>
              <a:t>http://ilarjournal.oxfordjournals.org/content/43/4/244.full.pdf</a:t>
            </a:r>
            <a:endParaRPr lang="en-US" sz="1600" dirty="0">
              <a:solidFill>
                <a:srgbClr val="000000"/>
              </a:solidFill>
              <a:uFill>
                <a:solidFill>
                  <a:srgbClr val="000000"/>
                </a:solidFill>
              </a:uFill>
              <a:latin typeface="Calibri" panose="020F0502020204030204" pitchFamily="34" charset="0"/>
              <a:ea typeface="Arial Unicode MS"/>
              <a:cs typeface="Arial Unicode MS"/>
            </a:endParaRPr>
          </a:p>
          <a:p>
            <a:pPr marL="457200" marR="0">
              <a:lnSpc>
                <a:spcPct val="115000"/>
              </a:lnSpc>
              <a:spcBef>
                <a:spcPts val="0"/>
              </a:spcBef>
              <a:spcAft>
                <a:spcPts val="1000"/>
              </a:spcAft>
              <a:tabLst>
                <a:tab pos="514350" algn="l"/>
              </a:tabLst>
            </a:pPr>
            <a:r>
              <a:rPr lang="en-US" sz="1600" dirty="0" err="1">
                <a:solidFill>
                  <a:srgbClr val="000000"/>
                </a:solidFill>
                <a:uFill>
                  <a:solidFill>
                    <a:srgbClr val="000000"/>
                  </a:solidFill>
                </a:uFill>
                <a:latin typeface="Calibri" panose="020F0502020204030204" pitchFamily="34" charset="0"/>
                <a:ea typeface="Arial Unicode MS"/>
                <a:cs typeface="Arial Unicode MS"/>
              </a:rPr>
              <a:t>Sibbald</a:t>
            </a:r>
            <a:r>
              <a:rPr lang="en-US" sz="1600" dirty="0">
                <a:solidFill>
                  <a:srgbClr val="000000"/>
                </a:solidFill>
                <a:uFill>
                  <a:solidFill>
                    <a:srgbClr val="000000"/>
                  </a:solidFill>
                </a:uFill>
                <a:latin typeface="Calibri" panose="020F0502020204030204" pitchFamily="34" charset="0"/>
                <a:ea typeface="Arial Unicode MS"/>
                <a:cs typeface="Arial Unicode MS"/>
              </a:rPr>
              <a:t> B et al., Understanding controlled trials: Why are </a:t>
            </a:r>
            <a:r>
              <a:rPr lang="en-US" sz="1600" dirty="0" err="1">
                <a:solidFill>
                  <a:srgbClr val="000000"/>
                </a:solidFill>
                <a:uFill>
                  <a:solidFill>
                    <a:srgbClr val="000000"/>
                  </a:solidFill>
                </a:uFill>
                <a:latin typeface="Calibri" panose="020F0502020204030204" pitchFamily="34" charset="0"/>
                <a:ea typeface="Arial Unicode MS"/>
                <a:cs typeface="Arial Unicode MS"/>
              </a:rPr>
              <a:t>randomised</a:t>
            </a:r>
            <a:r>
              <a:rPr lang="en-US" sz="1600" dirty="0">
                <a:solidFill>
                  <a:srgbClr val="000000"/>
                </a:solidFill>
                <a:uFill>
                  <a:solidFill>
                    <a:srgbClr val="000000"/>
                  </a:solidFill>
                </a:uFill>
                <a:latin typeface="Calibri" panose="020F0502020204030204" pitchFamily="34" charset="0"/>
                <a:ea typeface="Arial Unicode MS"/>
                <a:cs typeface="Arial Unicode MS"/>
              </a:rPr>
              <a:t> controlled trials important? BMJ (1998) 316:201 </a:t>
            </a:r>
            <a:r>
              <a:rPr lang="en-US" sz="1600" u="sng" dirty="0">
                <a:solidFill>
                  <a:srgbClr val="0000FF"/>
                </a:solidFill>
                <a:uFill>
                  <a:solidFill>
                    <a:srgbClr val="0000FF"/>
                  </a:solidFill>
                </a:uFill>
                <a:latin typeface="Calibri" panose="020F0502020204030204" pitchFamily="34" charset="0"/>
                <a:ea typeface="Arial Unicode MS"/>
                <a:cs typeface="Arial Unicode MS"/>
                <a:hlinkClick r:id="rId4"/>
              </a:rPr>
              <a:t>http://www.ncbi.nlm.nih.gov/pmc/articles/PMC2665449/pdf/9468688.pdf</a:t>
            </a:r>
            <a:r>
              <a:rPr lang="en-US" sz="1600" dirty="0">
                <a:solidFill>
                  <a:srgbClr val="000000"/>
                </a:solidFill>
                <a:uFill>
                  <a:solidFill>
                    <a:srgbClr val="000000"/>
                  </a:solidFill>
                </a:uFill>
                <a:latin typeface="Calibri" panose="020F0502020204030204" pitchFamily="34" charset="0"/>
                <a:ea typeface="Arial Unicode MS"/>
                <a:cs typeface="Arial Unicode MS"/>
              </a:rPr>
              <a:t> </a:t>
            </a:r>
          </a:p>
          <a:p>
            <a:pPr marL="457200" marR="0">
              <a:lnSpc>
                <a:spcPct val="115000"/>
              </a:lnSpc>
              <a:spcBef>
                <a:spcPts val="0"/>
              </a:spcBef>
              <a:spcAft>
                <a:spcPts val="1000"/>
              </a:spcAft>
              <a:tabLst>
                <a:tab pos="514350" algn="l"/>
              </a:tabLst>
            </a:pPr>
            <a:r>
              <a:rPr lang="en-US" sz="1600" dirty="0">
                <a:solidFill>
                  <a:srgbClr val="000000"/>
                </a:solidFill>
                <a:uFill>
                  <a:solidFill>
                    <a:srgbClr val="000000"/>
                  </a:solidFill>
                </a:uFill>
                <a:latin typeface="Calibri" panose="020F0502020204030204" pitchFamily="34" charset="0"/>
                <a:ea typeface="Arial Unicode MS"/>
                <a:cs typeface="Arial Unicode MS"/>
              </a:rPr>
              <a:t>Lecture on RCT at International HIV conference (CROI 2014) by Dr. Richard J. Hayes, Studying Multiple Interventions: Factorial Designs and Other Approaches (</a:t>
            </a:r>
            <a:r>
              <a:rPr lang="en-US" sz="1600" dirty="0" err="1">
                <a:solidFill>
                  <a:srgbClr val="000000"/>
                </a:solidFill>
                <a:uFill>
                  <a:solidFill>
                    <a:srgbClr val="000000"/>
                  </a:solidFill>
                </a:uFill>
                <a:latin typeface="Calibri" panose="020F0502020204030204" pitchFamily="34" charset="0"/>
                <a:ea typeface="Arial Unicode MS"/>
                <a:cs typeface="Arial Unicode MS"/>
              </a:rPr>
              <a:t>tenofovir</a:t>
            </a:r>
            <a:r>
              <a:rPr lang="en-US" sz="1600" dirty="0">
                <a:solidFill>
                  <a:srgbClr val="000000"/>
                </a:solidFill>
                <a:uFill>
                  <a:solidFill>
                    <a:srgbClr val="000000"/>
                  </a:solidFill>
                </a:uFill>
                <a:latin typeface="Calibri" panose="020F0502020204030204" pitchFamily="34" charset="0"/>
                <a:ea typeface="Arial Unicode MS"/>
                <a:cs typeface="Arial Unicode MS"/>
              </a:rPr>
              <a:t> and </a:t>
            </a:r>
            <a:r>
              <a:rPr lang="en-US" sz="1600" dirty="0" err="1">
                <a:solidFill>
                  <a:srgbClr val="000000"/>
                </a:solidFill>
                <a:uFill>
                  <a:solidFill>
                    <a:srgbClr val="000000"/>
                  </a:solidFill>
                </a:uFill>
                <a:latin typeface="Calibri" panose="020F0502020204030204" pitchFamily="34" charset="0"/>
                <a:ea typeface="Arial Unicode MS"/>
                <a:cs typeface="Arial Unicode MS"/>
              </a:rPr>
              <a:t>Truvada</a:t>
            </a:r>
            <a:r>
              <a:rPr lang="en-US" sz="1600" dirty="0">
                <a:solidFill>
                  <a:srgbClr val="000000"/>
                </a:solidFill>
                <a:uFill>
                  <a:solidFill>
                    <a:srgbClr val="000000"/>
                  </a:solidFill>
                </a:uFill>
                <a:latin typeface="Calibri" panose="020F0502020204030204" pitchFamily="34" charset="0"/>
                <a:ea typeface="Arial Unicode MS"/>
                <a:cs typeface="Arial Unicode MS"/>
              </a:rPr>
              <a:t> are HIV drugs, TB is tuberculosis) </a:t>
            </a:r>
            <a:r>
              <a:rPr lang="en-US" sz="1600" u="sng" dirty="0">
                <a:solidFill>
                  <a:srgbClr val="0000FF"/>
                </a:solidFill>
                <a:uFill>
                  <a:solidFill>
                    <a:srgbClr val="0000FF"/>
                  </a:solidFill>
                </a:uFill>
                <a:latin typeface="Calibri" panose="020F0502020204030204" pitchFamily="34" charset="0"/>
                <a:ea typeface="Arial Unicode MS"/>
                <a:cs typeface="Arial Unicode MS"/>
                <a:hlinkClick r:id="rId5"/>
              </a:rPr>
              <a:t>http://www.croiwebcasts.org/console/player/22018?mediaType=audio&amp;</a:t>
            </a:r>
            <a:endParaRPr lang="en-US" sz="1600" dirty="0">
              <a:solidFill>
                <a:srgbClr val="000000"/>
              </a:solidFill>
              <a:uFill>
                <a:solidFill>
                  <a:srgbClr val="000000"/>
                </a:solidFill>
              </a:uFill>
              <a:latin typeface="Calibri" panose="020F0502020204030204" pitchFamily="34" charset="0"/>
              <a:ea typeface="Arial Unicode MS"/>
              <a:cs typeface="Arial Unicode MS"/>
            </a:endParaRPr>
          </a:p>
          <a:p>
            <a:pPr marL="457200" marR="0">
              <a:lnSpc>
                <a:spcPct val="115000"/>
              </a:lnSpc>
              <a:spcBef>
                <a:spcPts val="0"/>
              </a:spcBef>
              <a:spcAft>
                <a:spcPts val="1000"/>
              </a:spcAft>
              <a:tabLst>
                <a:tab pos="457200" algn="l"/>
              </a:tabLst>
            </a:pPr>
            <a:r>
              <a:rPr lang="en-US" sz="1600" dirty="0" err="1">
                <a:solidFill>
                  <a:srgbClr val="000000"/>
                </a:solidFill>
                <a:uFill>
                  <a:solidFill>
                    <a:srgbClr val="000000"/>
                  </a:solidFill>
                </a:uFill>
                <a:latin typeface="Calibri" panose="020F0502020204030204" pitchFamily="34" charset="0"/>
                <a:ea typeface="Arial Unicode MS"/>
                <a:cs typeface="Arial Unicode MS"/>
              </a:rPr>
              <a:t>Heyland</a:t>
            </a:r>
            <a:r>
              <a:rPr lang="en-US" sz="1600" dirty="0">
                <a:solidFill>
                  <a:srgbClr val="000000"/>
                </a:solidFill>
                <a:uFill>
                  <a:solidFill>
                    <a:srgbClr val="000000"/>
                  </a:solidFill>
                </a:uFill>
                <a:latin typeface="Calibri" panose="020F0502020204030204" pitchFamily="34" charset="0"/>
                <a:ea typeface="Arial Unicode MS"/>
                <a:cs typeface="Arial Unicode MS"/>
              </a:rPr>
              <a:t> et al. Glutamine and antioxidants in critically ill patients </a:t>
            </a:r>
            <a:r>
              <a:rPr lang="en-US" sz="1600" u="sng" dirty="0">
                <a:solidFill>
                  <a:srgbClr val="0000FF"/>
                </a:solidFill>
                <a:uFill>
                  <a:solidFill>
                    <a:srgbClr val="0000FF"/>
                  </a:solidFill>
                </a:uFill>
                <a:latin typeface="Calibri" panose="020F0502020204030204" pitchFamily="34" charset="0"/>
                <a:ea typeface="Arial Unicode MS"/>
                <a:cs typeface="Arial Unicode MS"/>
                <a:hlinkClick r:id="rId6"/>
              </a:rPr>
              <a:t>http://www.nejm.org/doi/pdf/10.1056/NEJMoa1212722</a:t>
            </a:r>
            <a:br>
              <a:rPr lang="en-US" sz="1600" dirty="0">
                <a:solidFill>
                  <a:srgbClr val="000000"/>
                </a:solidFill>
                <a:uFill>
                  <a:solidFill>
                    <a:srgbClr val="000000"/>
                  </a:solidFill>
                </a:uFill>
                <a:latin typeface="Calibri" panose="020F0502020204030204" pitchFamily="34" charset="0"/>
                <a:ea typeface="Arial Unicode MS"/>
                <a:cs typeface="Arial Unicode MS"/>
              </a:rPr>
            </a:br>
            <a:br>
              <a:rPr lang="en-US" sz="1600" dirty="0">
                <a:solidFill>
                  <a:srgbClr val="000000"/>
                </a:solidFill>
                <a:uFill>
                  <a:solidFill>
                    <a:srgbClr val="000000"/>
                  </a:solidFill>
                </a:uFill>
                <a:latin typeface="Calibri" panose="020F0502020204030204" pitchFamily="34" charset="0"/>
                <a:ea typeface="Arial Unicode MS"/>
                <a:cs typeface="Arial Unicode MS"/>
              </a:rPr>
            </a:br>
            <a:r>
              <a:rPr lang="en-US" sz="1600" dirty="0">
                <a:solidFill>
                  <a:srgbClr val="000000"/>
                </a:solidFill>
                <a:uFill>
                  <a:solidFill>
                    <a:srgbClr val="000000"/>
                  </a:solidFill>
                </a:uFill>
                <a:latin typeface="Calibri" panose="020F0502020204030204" pitchFamily="34" charset="0"/>
                <a:ea typeface="Arial Unicode MS"/>
                <a:cs typeface="Arial Unicode MS"/>
              </a:rPr>
              <a:t>EQUATOR network (Enhancing the </a:t>
            </a:r>
            <a:r>
              <a:rPr lang="en-US" sz="1600" dirty="0" err="1">
                <a:solidFill>
                  <a:srgbClr val="000000"/>
                </a:solidFill>
                <a:uFill>
                  <a:solidFill>
                    <a:srgbClr val="000000"/>
                  </a:solidFill>
                </a:uFill>
                <a:latin typeface="Calibri" panose="020F0502020204030204" pitchFamily="34" charset="0"/>
                <a:ea typeface="Arial Unicode MS"/>
                <a:cs typeface="Arial Unicode MS"/>
              </a:rPr>
              <a:t>QUAlity</a:t>
            </a:r>
            <a:r>
              <a:rPr lang="en-US" sz="1600" dirty="0">
                <a:solidFill>
                  <a:srgbClr val="000000"/>
                </a:solidFill>
                <a:uFill>
                  <a:solidFill>
                    <a:srgbClr val="000000"/>
                  </a:solidFill>
                </a:uFill>
                <a:latin typeface="Calibri" panose="020F0502020204030204" pitchFamily="34" charset="0"/>
                <a:ea typeface="Arial Unicode MS"/>
                <a:cs typeface="Arial Unicode MS"/>
              </a:rPr>
              <a:t> and Transparency Of health Research </a:t>
            </a:r>
            <a:r>
              <a:rPr lang="en-US" sz="1600" u="sng" dirty="0">
                <a:solidFill>
                  <a:srgbClr val="0000FF"/>
                </a:solidFill>
                <a:uFill>
                  <a:solidFill>
                    <a:srgbClr val="0000FF"/>
                  </a:solidFill>
                </a:uFill>
                <a:latin typeface="Calibri" panose="020F0502020204030204" pitchFamily="34" charset="0"/>
                <a:ea typeface="Arial Unicode MS"/>
                <a:cs typeface="Arial Unicode MS"/>
                <a:hlinkClick r:id="rId7"/>
              </a:rPr>
              <a:t>http://www.equator-network.org/reporting-guidelines/stard/</a:t>
            </a:r>
            <a:endParaRPr lang="en-US" sz="1600" dirty="0">
              <a:solidFill>
                <a:srgbClr val="000000"/>
              </a:solidFill>
              <a:uFill>
                <a:solidFill>
                  <a:srgbClr val="000000"/>
                </a:solidFill>
              </a:uFill>
              <a:latin typeface="Calibri" panose="020F0502020204030204" pitchFamily="34" charset="0"/>
              <a:ea typeface="Arial Unicode MS"/>
              <a:cs typeface="Arial Unicode MS"/>
            </a:endParaRPr>
          </a:p>
          <a:p>
            <a:pPr marL="457200" marR="0">
              <a:lnSpc>
                <a:spcPct val="115000"/>
              </a:lnSpc>
              <a:spcBef>
                <a:spcPts val="0"/>
              </a:spcBef>
              <a:spcAft>
                <a:spcPts val="1000"/>
              </a:spcAft>
              <a:tabLst>
                <a:tab pos="514350" algn="l"/>
              </a:tabLst>
            </a:pPr>
            <a:r>
              <a:rPr lang="en-US" sz="1600" dirty="0" err="1">
                <a:solidFill>
                  <a:srgbClr val="000000"/>
                </a:solidFill>
                <a:uFill>
                  <a:solidFill>
                    <a:srgbClr val="000000"/>
                  </a:solidFill>
                </a:uFill>
                <a:latin typeface="Calibri" panose="020F0502020204030204" pitchFamily="34" charset="0"/>
                <a:ea typeface="Arial Unicode MS"/>
                <a:cs typeface="Arial Unicode MS"/>
              </a:rPr>
              <a:t>Hooijmans</a:t>
            </a:r>
            <a:r>
              <a:rPr lang="en-US" sz="1600" dirty="0">
                <a:solidFill>
                  <a:srgbClr val="000000"/>
                </a:solidFill>
                <a:uFill>
                  <a:solidFill>
                    <a:srgbClr val="000000"/>
                  </a:solidFill>
                </a:uFill>
                <a:latin typeface="Calibri" panose="020F0502020204030204" pitchFamily="34" charset="0"/>
                <a:ea typeface="Arial Unicode MS"/>
                <a:cs typeface="Arial Unicode MS"/>
              </a:rPr>
              <a:t> CR et al., A Gold Standard Publication Checklist to Improve the Quality of Animal Studies, to Fully Integrate the Three </a:t>
            </a:r>
            <a:r>
              <a:rPr lang="en-US" sz="1600" dirty="0" err="1">
                <a:solidFill>
                  <a:srgbClr val="000000"/>
                </a:solidFill>
                <a:uFill>
                  <a:solidFill>
                    <a:srgbClr val="000000"/>
                  </a:solidFill>
                </a:uFill>
                <a:latin typeface="Calibri" panose="020F0502020204030204" pitchFamily="34" charset="0"/>
                <a:ea typeface="Arial Unicode MS"/>
                <a:cs typeface="Arial Unicode MS"/>
              </a:rPr>
              <a:t>Rs</a:t>
            </a:r>
            <a:r>
              <a:rPr lang="en-US" sz="1600" dirty="0">
                <a:solidFill>
                  <a:srgbClr val="000000"/>
                </a:solidFill>
                <a:uFill>
                  <a:solidFill>
                    <a:srgbClr val="000000"/>
                  </a:solidFill>
                </a:uFill>
                <a:latin typeface="Calibri" panose="020F0502020204030204" pitchFamily="34" charset="0"/>
                <a:ea typeface="Arial Unicode MS"/>
                <a:cs typeface="Arial Unicode MS"/>
              </a:rPr>
              <a:t>, and to Make Systematic Reviews More Feasible. (2010) ATLA 38:167</a:t>
            </a:r>
          </a:p>
          <a:p>
            <a:pPr marL="457200" marR="0">
              <a:lnSpc>
                <a:spcPct val="115000"/>
              </a:lnSpc>
              <a:spcBef>
                <a:spcPts val="0"/>
              </a:spcBef>
              <a:spcAft>
                <a:spcPts val="1000"/>
              </a:spcAft>
              <a:tabLst>
                <a:tab pos="457200" algn="l"/>
              </a:tabLst>
            </a:pPr>
            <a:r>
              <a:rPr lang="en-US" sz="1600" dirty="0">
                <a:solidFill>
                  <a:srgbClr val="000000"/>
                </a:solidFill>
                <a:uFill>
                  <a:solidFill>
                    <a:srgbClr val="000000"/>
                  </a:solidFill>
                </a:uFill>
                <a:latin typeface="Calibri" panose="020F0502020204030204" pitchFamily="34" charset="0"/>
                <a:ea typeface="Arial Unicode MS"/>
                <a:cs typeface="Arial Unicode MS"/>
              </a:rPr>
              <a:t>Shaw et al. Use of factorial designs to optimize animal experiments and reduce animal use. (2002) ILAR Journal 43(4): 223 </a:t>
            </a:r>
            <a:r>
              <a:rPr lang="en-US" sz="1600" u="sng" dirty="0">
                <a:solidFill>
                  <a:srgbClr val="0000FF"/>
                </a:solidFill>
                <a:uFill>
                  <a:solidFill>
                    <a:srgbClr val="0000FF"/>
                  </a:solidFill>
                </a:uFill>
                <a:latin typeface="Calibri" panose="020F0502020204030204" pitchFamily="34" charset="0"/>
                <a:ea typeface="Arial Unicode MS"/>
                <a:cs typeface="Arial Unicode MS"/>
              </a:rPr>
              <a:t>http://ilarjournal.oxfordjournals.org/content/43/4/223.full.pdf</a:t>
            </a:r>
            <a:endParaRPr lang="en-US" sz="1600" dirty="0">
              <a:solidFill>
                <a:srgbClr val="000000"/>
              </a:solidFill>
              <a:uFill>
                <a:solidFill>
                  <a:srgbClr val="000000"/>
                </a:solidFill>
              </a:uFill>
              <a:latin typeface="Calibri" panose="020F0502020204030204" pitchFamily="34" charset="0"/>
              <a:ea typeface="Arial Unicode MS"/>
              <a:cs typeface="Arial Unicode MS"/>
            </a:endParaRPr>
          </a:p>
        </p:txBody>
      </p:sp>
    </p:spTree>
    <p:extLst>
      <p:ext uri="{BB962C8B-B14F-4D97-AF65-F5344CB8AC3E}">
        <p14:creationId xmlns:p14="http://schemas.microsoft.com/office/powerpoint/2010/main" val="18895961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4c23228f-991d-4831-bedd-0e724cfa7f3d"/>
  <p:tag name="SLIDO_EVENT_SECTION_UUID" val="d37cdcf7-9a88-41d2-bf2f-e66f9c21363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11938</TotalTime>
  <Words>5347</Words>
  <Application>Microsoft Office PowerPoint</Application>
  <PresentationFormat>On-screen Show (4:3)</PresentationFormat>
  <Paragraphs>497</Paragraphs>
  <Slides>48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Arial Unicode MS</vt:lpstr>
      <vt:lpstr>Calibri</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hcote</dc:creator>
  <cp:lastModifiedBy>Cote, Helene</cp:lastModifiedBy>
  <cp:revision>849</cp:revision>
  <dcterms:created xsi:type="dcterms:W3CDTF">2014-05-06T16:36:15Z</dcterms:created>
  <dcterms:modified xsi:type="dcterms:W3CDTF">2026-05-14T00:48:12Z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1.5.3.3511</vt:lpwstr>
  </property>
</Properties>
</file>