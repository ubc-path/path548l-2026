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45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3.xml" ContentType="application/vnd.openxmlformats-officedocument.drawingml.chart+xml"/>
  <Override PartName="/ppt/charts/chart8.xml" ContentType="application/vnd.openxmlformats-officedocument.drawingml.chart+xml"/>
  <Override PartName="/ppt/charts/chart12.xml" ContentType="application/vnd.openxmlformats-officedocument.drawingml.chart+xml"/>
  <Override PartName="/ppt/charts/chart7.xml" ContentType="application/vnd.openxmlformats-officedocument.drawingml.chart+xml"/>
  <Override PartName="/ppt/charts/chart11.xml" ContentType="application/vnd.openxmlformats-officedocument.drawingml.chart+xml"/>
  <Override PartName="/ppt/charts/chart6.xml" ContentType="application/vnd.openxmlformats-officedocument.drawingml.chart+xml"/>
  <Override PartName="/ppt/charts/chart10.xml" ContentType="application/vnd.openxmlformats-officedocument.drawingml.chart+xml"/>
  <Override PartName="/ppt/charts/chart4.xml" ContentType="application/vnd.openxmlformats-officedocument.drawingml.chart+xml"/>
  <Override PartName="/ppt/charts/chart21.xml" ContentType="application/vnd.openxmlformats-officedocument.drawingml.chart+xml"/>
  <Override PartName="/ppt/charts/chart19.xml" ContentType="application/vnd.openxmlformats-officedocument.drawingml.chart+xml"/>
  <Override PartName="/ppt/charts/chart1.xml" ContentType="application/vnd.openxmlformats-officedocument.drawingml.chart+xml"/>
  <Override PartName="/ppt/charts/chart3.xml" ContentType="application/vnd.openxmlformats-officedocument.drawingml.chart+xml"/>
  <Override PartName="/ppt/charts/chart20.xml" ContentType="application/vnd.openxmlformats-officedocument.drawingml.chart+xml"/>
  <Override PartName="/ppt/charts/chart18.xml" ContentType="application/vnd.openxmlformats-officedocument.drawingml.chart+xml"/>
  <Override PartName="/ppt/charts/chart17.xml" ContentType="application/vnd.openxmlformats-officedocument.drawingml.chart+xml"/>
  <Override PartName="/ppt/charts/chart16.xml" ContentType="application/vnd.openxmlformats-officedocument.drawingml.chart+xml"/>
  <Override PartName="/ppt/charts/chart15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5.xml" ContentType="application/vnd.openxmlformats-officedocument.drawingml.chart+xml"/>
  <Override PartName="/ppt/notesSlides/_rels/notesSlide4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0.xml.rels" ContentType="application/vnd.openxmlformats-package.relationships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</p:sldIdLst>
  <p:sldSz cx="9693275" cy="7040563"/>
  <p:notesSz cx="9236075" cy="701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186524424480629"/>
          <c:y val="0.187528762080074"/>
          <c:w val="0.763840539023021"/>
          <c:h val="0.615508513575702"/>
        </c:manualLayout>
      </c:layout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JEG 200mM</c:v>
                </c:pt>
              </c:strCache>
            </c:strRef>
          </c:tx>
          <c:spPr>
            <a:solidFill>
              <a:srgbClr val="000080"/>
            </a:solidFill>
            <a:ln w="28440">
              <a:noFill/>
            </a:ln>
          </c:spPr>
          <c:marker>
            <c:symbol val="diamond"/>
            <c:size val="5"/>
            <c:spPr>
              <a:solidFill>
                <a:srgbClr val="000080"/>
              </a:solidFill>
            </c:spPr>
          </c:marker>
          <c:dLbls>
            <c:txPr>
              <a:bodyPr wrap="square"/>
              <a:lstStyle/>
              <a:p>
                <a:pPr>
                  <a:defRPr b="0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11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</c:numCache>
            </c:numRef>
          </c:xVal>
          <c:yVal>
            <c:numRef>
              <c:f>0</c:f>
              <c:numCache>
                <c:formatCode>_(* #,##0_);_(* \(#,##0\);_(* \-??_);_(@_)</c:formatCode>
                <c:ptCount val="111"/>
                <c:pt idx="0">
                  <c:v>100250</c:v>
                </c:pt>
                <c:pt idx="1">
                  <c:v>101500</c:v>
                </c:pt>
                <c:pt idx="2">
                  <c:v>90600</c:v>
                </c:pt>
                <c:pt idx="3">
                  <c:v>128000</c:v>
                </c:pt>
                <c:pt idx="5">
                  <c:v>92000</c:v>
                </c:pt>
                <c:pt idx="6">
                  <c:v>85350</c:v>
                </c:pt>
                <c:pt idx="8">
                  <c:v>105500</c:v>
                </c:pt>
                <c:pt idx="9">
                  <c:v>112000</c:v>
                </c:pt>
                <c:pt idx="10">
                  <c:v>85800</c:v>
                </c:pt>
                <c:pt idx="11">
                  <c:v>103000</c:v>
                </c:pt>
                <c:pt idx="12">
                  <c:v>83100</c:v>
                </c:pt>
                <c:pt idx="13">
                  <c:v>83000</c:v>
                </c:pt>
                <c:pt idx="14">
                  <c:v>109000</c:v>
                </c:pt>
                <c:pt idx="15">
                  <c:v>87400</c:v>
                </c:pt>
                <c:pt idx="16">
                  <c:v>81400</c:v>
                </c:pt>
                <c:pt idx="17">
                  <c:v>89100</c:v>
                </c:pt>
                <c:pt idx="18">
                  <c:v>102000</c:v>
                </c:pt>
                <c:pt idx="19">
                  <c:v>153000</c:v>
                </c:pt>
                <c:pt idx="20">
                  <c:v>95500</c:v>
                </c:pt>
                <c:pt idx="21">
                  <c:v>112000</c:v>
                </c:pt>
                <c:pt idx="22">
                  <c:v>160000</c:v>
                </c:pt>
                <c:pt idx="23">
                  <c:v>143000</c:v>
                </c:pt>
                <c:pt idx="28">
                  <c:v>90900</c:v>
                </c:pt>
                <c:pt idx="29">
                  <c:v>94900</c:v>
                </c:pt>
                <c:pt idx="30">
                  <c:v>95900</c:v>
                </c:pt>
                <c:pt idx="31">
                  <c:v>99000</c:v>
                </c:pt>
                <c:pt idx="32">
                  <c:v>121000</c:v>
                </c:pt>
                <c:pt idx="33">
                  <c:v>99100</c:v>
                </c:pt>
                <c:pt idx="34">
                  <c:v>96700</c:v>
                </c:pt>
                <c:pt idx="35">
                  <c:v>78600</c:v>
                </c:pt>
                <c:pt idx="36">
                  <c:v>83400</c:v>
                </c:pt>
                <c:pt idx="37">
                  <c:v>70100</c:v>
                </c:pt>
                <c:pt idx="40">
                  <c:v>199000</c:v>
                </c:pt>
                <c:pt idx="41">
                  <c:v>185000</c:v>
                </c:pt>
                <c:pt idx="42">
                  <c:v>109000</c:v>
                </c:pt>
                <c:pt idx="43">
                  <c:v>93800</c:v>
                </c:pt>
                <c:pt idx="44">
                  <c:v>83100</c:v>
                </c:pt>
                <c:pt idx="45">
                  <c:v>78300</c:v>
                </c:pt>
                <c:pt idx="46">
                  <c:v>64000</c:v>
                </c:pt>
                <c:pt idx="47">
                  <c:v>71700</c:v>
                </c:pt>
                <c:pt idx="48">
                  <c:v>65800</c:v>
                </c:pt>
                <c:pt idx="49">
                  <c:v>72100</c:v>
                </c:pt>
                <c:pt idx="50">
                  <c:v>65600</c:v>
                </c:pt>
                <c:pt idx="51">
                  <c:v>72000</c:v>
                </c:pt>
                <c:pt idx="52">
                  <c:v>86900</c:v>
                </c:pt>
                <c:pt idx="53">
                  <c:v>87500</c:v>
                </c:pt>
                <c:pt idx="58">
                  <c:v>65500</c:v>
                </c:pt>
                <c:pt idx="62">
                  <c:v>93900</c:v>
                </c:pt>
                <c:pt idx="63">
                  <c:v>96400</c:v>
                </c:pt>
                <c:pt idx="70">
                  <c:v>67550</c:v>
                </c:pt>
                <c:pt idx="75">
                  <c:v>83200</c:v>
                </c:pt>
                <c:pt idx="76">
                  <c:v>86850</c:v>
                </c:pt>
                <c:pt idx="77">
                  <c:v>119500</c:v>
                </c:pt>
                <c:pt idx="80">
                  <c:v>109200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avg</c:v>
                </c:pt>
              </c:strCache>
            </c:strRef>
          </c:tx>
          <c:spPr>
            <a:solidFill>
              <a:srgbClr val="ff00ff"/>
            </a:solidFill>
            <a:ln w="28440">
              <a:noFill/>
            </a:ln>
          </c:spPr>
          <c:marker>
            <c:symbol val="square"/>
            <c:size val="6"/>
            <c:spPr>
              <a:solidFill>
                <a:srgbClr val="ff00ff"/>
              </a:solidFill>
            </c:spPr>
          </c:marker>
          <c:dLbls>
            <c:txPr>
              <a:bodyPr wrap="square"/>
              <a:lstStyle/>
              <a:p>
                <a:pPr>
                  <a:defRPr b="0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111"/>
                <c:pt idx="0">
                  <c:v>0</c:v>
                </c:pt>
              </c:numCache>
            </c:numRef>
          </c:xVal>
          <c:yVal>
            <c:numRef>
              <c:f>2</c:f>
              <c:numCache>
                <c:formatCode>_(* #,##0_);_(* \(#,##0\);_(* \-??_);_(@_)</c:formatCode>
                <c:ptCount val="111"/>
                <c:pt idx="0">
                  <c:v>97925.9259259259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highest accepted</c:v>
                </c:pt>
              </c:strCache>
            </c:strRef>
          </c:tx>
          <c:spPr>
            <a:solidFill>
              <a:srgbClr val="ffff00"/>
            </a:solidFill>
            <a:ln w="28440">
              <a:noFill/>
            </a:ln>
          </c:spPr>
          <c:marker>
            <c:symbol val="x"/>
            <c:size val="6"/>
            <c:spPr>
              <a:solidFill>
                <a:srgbClr val="ffff00"/>
              </a:solidFill>
            </c:spPr>
          </c:marker>
          <c:dLbls>
            <c:txPr>
              <a:bodyPr wrap="square"/>
              <a:lstStyle/>
              <a:p>
                <a:pPr>
                  <a:defRPr b="0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111"/>
                <c:pt idx="0">
                  <c:v>0</c:v>
                </c:pt>
              </c:numCache>
            </c:numRef>
          </c:xVal>
          <c:yVal>
            <c:numRef>
              <c:f>4</c:f>
              <c:numCache>
                <c:formatCode>_(* #,##0_);_(* \(#,##0\);_(* \-??_);_(@_)</c:formatCode>
                <c:ptCount val="111"/>
                <c:pt idx="0">
                  <c:v>153330.927882328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lowest accepted</c:v>
                </c:pt>
              </c:strCache>
            </c:strRef>
          </c:tx>
          <c:spPr>
            <a:solidFill>
              <a:srgbClr val="00ffff"/>
            </a:solidFill>
            <a:ln w="28440">
              <a:noFill/>
            </a:ln>
          </c:spPr>
          <c:marker>
            <c:symbol val="square"/>
            <c:size val="6"/>
            <c:spPr>
              <a:solidFill>
                <a:srgbClr val="00ffff"/>
              </a:solidFill>
            </c:spPr>
          </c:marker>
          <c:dLbls>
            <c:txPr>
              <a:bodyPr wrap="square"/>
              <a:lstStyle/>
              <a:p>
                <a:pPr>
                  <a:defRPr b="0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111"/>
                <c:pt idx="0">
                  <c:v>0</c:v>
                </c:pt>
              </c:numCache>
            </c:numRef>
          </c:xVal>
          <c:yVal>
            <c:numRef>
              <c:f>6</c:f>
              <c:numCache>
                <c:formatCode>_(* #,##0_);_(* \(#,##0\);_(* \-??_);_(@_)</c:formatCode>
                <c:ptCount val="111"/>
                <c:pt idx="0">
                  <c:v>42520.9239695235</c:v>
                </c:pt>
              </c:numCache>
            </c:numRef>
          </c:yVal>
          <c:smooth val="0"/>
        </c:ser>
        <c:axId val="21276446"/>
        <c:axId val="4720599"/>
      </c:scatterChart>
      <c:valAx>
        <c:axId val="21276446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"/>
                    <a:ea typeface="Arial"/>
                  </a:rPr>
                  <a:t>LC Run</a:t>
                </a:r>
              </a:p>
            </c:rich>
          </c:tx>
          <c:layout>
            <c:manualLayout>
              <c:xMode val="edge"/>
              <c:yMode val="edge"/>
              <c:x val="0.525828186412128"/>
              <c:y val="0.887367694431661"/>
            </c:manualLayout>
          </c:layout>
          <c:overlay val="0"/>
          <c:spPr>
            <a:noFill/>
            <a:ln w="2556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3240">
            <a:solidFill>
              <a:srgbClr val="000000"/>
            </a:solidFill>
            <a:round/>
          </a:ln>
        </c:spPr>
        <c:txPr>
          <a:bodyPr/>
          <a:lstStyle/>
          <a:p>
            <a:pPr>
              <a:defRPr b="0" sz="800" spc="-1" strike="noStrike">
                <a:solidFill>
                  <a:srgbClr val="000000"/>
                </a:solidFill>
                <a:latin typeface="Arial"/>
                <a:ea typeface="Arial"/>
              </a:defRPr>
            </a:pPr>
          </a:p>
        </c:txPr>
        <c:crossAx val="4720599"/>
        <c:crosses val="autoZero"/>
        <c:crossBetween val="midCat"/>
      </c:valAx>
      <c:valAx>
        <c:axId val="4720599"/>
        <c:scaling>
          <c:orientation val="minMax"/>
        </c:scaling>
        <c:delete val="0"/>
        <c:axPos val="l"/>
        <c:majorGridlines>
          <c:spPr>
            <a:ln w="3240">
              <a:solidFill>
                <a:srgbClr val="000000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1" lang="en-US" sz="800" spc="-1" strike="noStrike">
                    <a:solidFill>
                      <a:srgbClr val="000000"/>
                    </a:solidFill>
                    <a:latin typeface="Arial"/>
                    <a:ea typeface="Arial"/>
                  </a:defRPr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"/>
                    <a:ea typeface="Arial"/>
                  </a:rPr>
                  <a:t>LC Value</a:t>
                </a:r>
              </a:p>
            </c:rich>
          </c:tx>
          <c:layout>
            <c:manualLayout>
              <c:xMode val="edge"/>
              <c:yMode val="edge"/>
              <c:x val="0.0317237507018529"/>
              <c:y val="0.412333179935573"/>
            </c:manualLayout>
          </c:layout>
          <c:overlay val="0"/>
          <c:spPr>
            <a:noFill/>
            <a:ln w="25560">
              <a:noFill/>
            </a:ln>
          </c:spPr>
        </c:title>
        <c:numFmt formatCode="_(* #,##0_);_(* \(#,##0\);_(* \-??_);_(@_)" sourceLinked="0"/>
        <c:majorTickMark val="out"/>
        <c:minorTickMark val="none"/>
        <c:tickLblPos val="nextTo"/>
        <c:spPr>
          <a:ln w="3240">
            <a:solidFill>
              <a:srgbClr val="000000"/>
            </a:solidFill>
            <a:round/>
          </a:ln>
        </c:spPr>
        <c:txPr>
          <a:bodyPr/>
          <a:lstStyle/>
          <a:p>
            <a:pPr>
              <a:defRPr b="0" sz="800" spc="-1" strike="noStrike">
                <a:solidFill>
                  <a:srgbClr val="000000"/>
                </a:solidFill>
                <a:latin typeface="Arial"/>
                <a:ea typeface="Arial"/>
              </a:defRPr>
            </a:pPr>
          </a:p>
        </c:txPr>
        <c:crossAx val="21276446"/>
        <c:crosses val="autoZero"/>
        <c:crossBetween val="midCat"/>
      </c:valAx>
      <c:spPr>
        <a:solidFill>
          <a:srgbClr val="ffffff"/>
        </a:solidFill>
        <a:ln w="12600">
          <a:solidFill>
            <a:srgbClr val="808080"/>
          </a:solidFill>
          <a:round/>
        </a:ln>
      </c:spPr>
    </c:plotArea>
    <c:plotVisOnly val="1"/>
    <c:dispBlanksAs val="gap"/>
  </c:chart>
  <c:spPr>
    <a:solidFill>
      <a:srgbClr val="ffffff"/>
    </a:solidFill>
    <a:ln w="3240">
      <a:solidFill>
        <a:srgbClr val="000000"/>
      </a:solidFill>
      <a:round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0" sz="1800" spc="-1" strike="noStrike">
                <a:solidFill>
                  <a:srgbClr val="000000"/>
                </a:solidFill>
                <a:latin typeface="Calibri"/>
              </a:rPr>
              <a:t>#1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#1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axId val="65336721"/>
        <c:axId val="83280969"/>
      </c:scatterChart>
      <c:valAx>
        <c:axId val="65336721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83280969"/>
        <c:crosses val="autoZero"/>
        <c:crossBetween val="midCat"/>
      </c:valAx>
      <c:valAx>
        <c:axId val="83280969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5336721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0" sz="1800" spc="-1" strike="noStrike">
                <a:solidFill>
                  <a:srgbClr val="000000"/>
                </a:solidFill>
                <a:latin typeface="Calibri"/>
              </a:rPr>
              <a:t>#2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c00000"/>
            </a:solidFill>
            <a:ln w="28440">
              <a:solidFill>
                <a:srgbClr val="c00000"/>
              </a:solidFill>
              <a:round/>
            </a:ln>
          </c:spPr>
          <c:marker>
            <c:symbol val="square"/>
            <c:size val="7"/>
            <c:spPr>
              <a:solidFill>
                <a:srgbClr val="c00000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10</c:v>
                </c:pt>
              </c:numCache>
            </c:numRef>
          </c:yVal>
          <c:smooth val="0"/>
        </c:ser>
        <c:axId val="56660213"/>
        <c:axId val="66211154"/>
      </c:scatterChart>
      <c:valAx>
        <c:axId val="56660213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6211154"/>
        <c:crosses val="autoZero"/>
        <c:crossBetween val="midCat"/>
      </c:valAx>
      <c:valAx>
        <c:axId val="66211154"/>
        <c:scaling>
          <c:orientation val="minMax"/>
          <c:max val="12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6660213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0" sz="1800" spc="-1" strike="noStrike">
                <a:solidFill>
                  <a:srgbClr val="000000"/>
                </a:solidFill>
                <a:latin typeface="Calibri"/>
              </a:rPr>
              <a:t>#3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77933c"/>
            </a:solidFill>
            <a:ln w="28440">
              <a:solidFill>
                <a:srgbClr val="77933c"/>
              </a:solidFill>
              <a:round/>
            </a:ln>
          </c:spPr>
          <c:marker>
            <c:symbol val="triangle"/>
            <c:size val="7"/>
            <c:spPr>
              <a:solidFill>
                <a:srgbClr val="77933c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33</c:v>
                </c:pt>
              </c:numCache>
            </c:numRef>
          </c:yVal>
          <c:smooth val="0"/>
        </c:ser>
        <c:axId val="37639377"/>
        <c:axId val="40124390"/>
      </c:scatterChart>
      <c:valAx>
        <c:axId val="37639377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0124390"/>
        <c:crosses val="autoZero"/>
        <c:crossBetween val="midCat"/>
      </c:valAx>
      <c:valAx>
        <c:axId val="40124390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37639377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0" sz="1800" spc="-1" strike="noStrike">
                <a:solidFill>
                  <a:srgbClr val="000000"/>
                </a:solidFill>
                <a:latin typeface="Calibri"/>
              </a:rPr>
              <a:t>#4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604a7b"/>
            </a:solidFill>
            <a:ln w="28440">
              <a:solidFill>
                <a:srgbClr val="604a7b"/>
              </a:solidFill>
              <a:round/>
            </a:ln>
          </c:spPr>
          <c:marker>
            <c:symbol val="diamond"/>
            <c:size val="7"/>
            <c:spPr>
              <a:solidFill>
                <a:srgbClr val="604a7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25</c:v>
                </c:pt>
              </c:numCache>
            </c:numRef>
          </c:yVal>
          <c:smooth val="0"/>
        </c:ser>
        <c:axId val="56686129"/>
        <c:axId val="67493462"/>
      </c:scatterChart>
      <c:valAx>
        <c:axId val="56686129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7493462"/>
        <c:crosses val="autoZero"/>
        <c:crossBetween val="midCat"/>
      </c:valAx>
      <c:valAx>
        <c:axId val="6749346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6686129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4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mean  SD (n = 4)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raw data</c:v>
                </c:pt>
              </c:strCache>
            </c:strRef>
          </c:tx>
          <c:spPr>
            <a:solidFill>
              <a:srgbClr val="254061"/>
            </a:solidFill>
            <a:ln w="28440">
              <a:solidFill>
                <a:srgbClr val="254061"/>
              </a:solidFill>
              <a:round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both"/>
            <c:errValType val="cust"/>
            <c:noEndCap val="0"/>
            <c:plus>
              <c:numRef>
                <c:f>2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9.25112605758528</c:v>
                  </c:pt>
                  <c:pt idx="2">
                    <c:v>9.60468635614929</c:v>
                  </c:pt>
                </c:numCache>
              </c:numRef>
            </c:plus>
            <c:minus>
              <c:numRef>
                <c:f>3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9.25112605758528</c:v>
                  </c:pt>
                  <c:pt idx="2">
                    <c:v>9.60468635614929</c:v>
                  </c:pt>
                </c:numCache>
              </c:numRef>
            </c:min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0.0</c:formatCode>
                <c:ptCount val="3"/>
                <c:pt idx="0">
                  <c:v>11.25</c:v>
                </c:pt>
                <c:pt idx="1">
                  <c:v>18.25</c:v>
                </c:pt>
                <c:pt idx="2">
                  <c:v>23.25</c:v>
                </c:pt>
              </c:numCache>
            </c:numRef>
          </c:yVal>
          <c:smooth val="0"/>
        </c:ser>
        <c:axId val="50381905"/>
        <c:axId val="50895507"/>
      </c:scatterChart>
      <c:valAx>
        <c:axId val="50381905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0895507"/>
        <c:crosses val="autoZero"/>
        <c:crossBetween val="midCat"/>
      </c:valAx>
      <c:valAx>
        <c:axId val="50895507"/>
        <c:scaling>
          <c:orientation val="minMax"/>
        </c:scaling>
        <c:delete val="0"/>
        <c:axPos val="l"/>
        <c:numFmt formatCode="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0381905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#1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10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33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7d5fa0"/>
            </a:solidFill>
            <a:ln w="28440">
              <a:solidFill>
                <a:srgbClr val="7d5fa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6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25</c:v>
                </c:pt>
              </c:numCache>
            </c:numRef>
          </c:yVal>
          <c:smooth val="0"/>
        </c:ser>
        <c:axId val="57730537"/>
        <c:axId val="71758771"/>
      </c:scatterChart>
      <c:valAx>
        <c:axId val="57730537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71758771"/>
        <c:crosses val="autoZero"/>
        <c:crossBetween val="midCat"/>
      </c:valAx>
      <c:valAx>
        <c:axId val="7175877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7730537"/>
        <c:crosses val="autoZero"/>
        <c:crossBetween val="midCat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0.784349593495935"/>
          <c:y val="0.322716535433071"/>
          <c:w val="0.16280487804878"/>
          <c:h val="0.354566929133858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Fold change over baseline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#1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2.5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1</c:v>
                </c:pt>
                <c:pt idx="1">
                  <c:v>1.6</c:v>
                </c:pt>
                <c:pt idx="2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4</c:f>
              <c:numCache>
                <c:formatCode>General</c:formatCode>
                <c:ptCount val="3"/>
                <c:pt idx="0">
                  <c:v>1</c:v>
                </c:pt>
                <c:pt idx="1">
                  <c:v>1.5</c:v>
                </c:pt>
                <c:pt idx="2">
                  <c:v>1.65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7d5fa0"/>
            </a:solidFill>
            <a:ln w="28440">
              <a:solidFill>
                <a:srgbClr val="7d5fa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6</c:f>
              <c:numCache>
                <c:formatCode>General</c:formatCode>
                <c:ptCount val="3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</c:numCache>
            </c:numRef>
          </c:yVal>
          <c:smooth val="0"/>
        </c:ser>
        <c:axId val="63730865"/>
        <c:axId val="42379751"/>
      </c:scatterChart>
      <c:valAx>
        <c:axId val="63730865"/>
        <c:scaling>
          <c:orientation val="minMax"/>
          <c:max val="30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2379751"/>
        <c:crosses val="autoZero"/>
        <c:crossBetween val="midCat"/>
      </c:valAx>
      <c:valAx>
        <c:axId val="42379751"/>
        <c:scaling>
          <c:orientation val="minMax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3730865"/>
        <c:crosses val="autoZero"/>
        <c:crossBetween val="midCat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0.653958333333334"/>
          <c:y val="0.48401097590074"/>
          <c:w val="0.166875"/>
          <c:h val="0.365311381531854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#1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yVal>
          <c:smooth val="0"/>
        </c:ser>
        <c:axId val="14333983"/>
        <c:axId val="18743797"/>
      </c:scatterChart>
      <c:valAx>
        <c:axId val="14333983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8743797"/>
        <c:crosses val="autoZero"/>
        <c:crossBetween val="midCat"/>
      </c:valAx>
      <c:valAx>
        <c:axId val="18743797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4333983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#2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c00000"/>
            </a:solidFill>
            <a:ln w="28440">
              <a:solidFill>
                <a:srgbClr val="c00000"/>
              </a:solidFill>
              <a:round/>
            </a:ln>
          </c:spPr>
          <c:marker>
            <c:symbol val="square"/>
            <c:size val="7"/>
            <c:spPr>
              <a:solidFill>
                <a:srgbClr val="c00000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yVal>
          <c:smooth val="0"/>
        </c:ser>
        <c:axId val="47093667"/>
        <c:axId val="97626427"/>
      </c:scatterChart>
      <c:valAx>
        <c:axId val="47093667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97626427"/>
        <c:crosses val="autoZero"/>
        <c:crossBetween val="midCat"/>
      </c:valAx>
      <c:valAx>
        <c:axId val="97626427"/>
        <c:scaling>
          <c:orientation val="minMax"/>
          <c:max val="12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7093667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#3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77933c"/>
            </a:solidFill>
            <a:ln w="28440">
              <a:solidFill>
                <a:srgbClr val="77933c"/>
              </a:solidFill>
              <a:round/>
            </a:ln>
          </c:spPr>
          <c:marker>
            <c:symbol val="triangle"/>
            <c:size val="7"/>
            <c:spPr>
              <a:solidFill>
                <a:srgbClr val="77933c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33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20</c:v>
                </c:pt>
                <c:pt idx="1">
                  <c:v>20</c:v>
                </c:pt>
                <c:pt idx="2">
                  <c:v>20</c:v>
                </c:pt>
              </c:numCache>
            </c:numRef>
          </c:yVal>
          <c:smooth val="0"/>
        </c:ser>
        <c:axId val="17200738"/>
        <c:axId val="63934911"/>
      </c:scatterChart>
      <c:valAx>
        <c:axId val="17200738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3934911"/>
        <c:crosses val="autoZero"/>
        <c:crossBetween val="midCat"/>
      </c:valAx>
      <c:valAx>
        <c:axId val="63934911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7200738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#4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604a7b"/>
            </a:solidFill>
            <a:ln w="28440">
              <a:solidFill>
                <a:srgbClr val="604a7b"/>
              </a:solidFill>
              <a:round/>
            </a:ln>
          </c:spPr>
          <c:marker>
            <c:symbol val="diamond"/>
            <c:size val="7"/>
            <c:spPr>
              <a:solidFill>
                <a:srgbClr val="604a7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yVal>
          <c:smooth val="0"/>
        </c:ser>
        <c:axId val="7916805"/>
        <c:axId val="28586152"/>
      </c:scatterChart>
      <c:valAx>
        <c:axId val="7916805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28586152"/>
        <c:crosses val="autoZero"/>
        <c:crossBetween val="midCat"/>
      </c:valAx>
      <c:valAx>
        <c:axId val="285861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7916805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6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600" spc="-1" strike="noStrike">
                <a:solidFill>
                  <a:srgbClr val="000000"/>
                </a:solidFill>
                <a:latin typeface="Calibri"/>
              </a:rPr>
              <a:t>fold change over control
mean  SD (n = 4)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raw data</c:v>
                </c:pt>
              </c:strCache>
            </c:strRef>
          </c:tx>
          <c:spPr>
            <a:solidFill>
              <a:srgbClr val="254061"/>
            </a:solidFill>
            <a:ln w="28440">
              <a:noFill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both"/>
            <c:errValType val="cust"/>
            <c:noEndCap val="0"/>
            <c:plus>
              <c:numRef>
                <c:f>2</c:f>
                <c:numCache>
                  <c:formatCode>General</c:formatCode>
                  <c:ptCount val="3"/>
                  <c:pt idx="0">
                    <c:v>0</c:v>
                  </c:pt>
                  <c:pt idx="1">
                    <c:v>0.238047614284763</c:v>
                  </c:pt>
                  <c:pt idx="2">
                    <c:v>0.415080313513742</c:v>
                  </c:pt>
                </c:numCache>
              </c:numRef>
            </c:plus>
            <c:minus>
              <c:numRef>
                <c:f>3</c:f>
                <c:numCache>
                  <c:formatCode>General</c:formatCode>
                  <c:ptCount val="3"/>
                  <c:pt idx="0">
                    <c:v>0</c:v>
                  </c:pt>
                  <c:pt idx="1">
                    <c:v>0.238047614284763</c:v>
                  </c:pt>
                  <c:pt idx="2">
                    <c:v>0.415080313513742</c:v>
                  </c:pt>
                </c:numCache>
              </c:numRef>
            </c:min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0.0</c:formatCode>
                <c:ptCount val="3"/>
                <c:pt idx="0">
                  <c:v>1</c:v>
                </c:pt>
                <c:pt idx="1">
                  <c:v>1.65</c:v>
                </c:pt>
                <c:pt idx="2">
                  <c:v>2.1625</c:v>
                </c:pt>
              </c:numCache>
            </c:numRef>
          </c:yVal>
          <c:smooth val="0"/>
        </c:ser>
        <c:axId val="95712163"/>
        <c:axId val="74984847"/>
      </c:scatterChart>
      <c:valAx>
        <c:axId val="95712163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74984847"/>
        <c:crosses val="autoZero"/>
        <c:crossBetween val="midCat"/>
        <c:majorUnit val="10"/>
      </c:valAx>
      <c:valAx>
        <c:axId val="74984847"/>
        <c:scaling>
          <c:orientation val="minMax"/>
        </c:scaling>
        <c:delete val="0"/>
        <c:axPos val="l"/>
        <c:numFmt formatCode="0.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95712163"/>
        <c:crosses val="autoZero"/>
        <c:crossBetween val="midCat"/>
        <c:majorUnit val="0.5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raw data
mean  SD (n = 4)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raw data</c:v>
                </c:pt>
              </c:strCache>
            </c:strRef>
          </c:tx>
          <c:spPr>
            <a:solidFill>
              <a:srgbClr val="254061"/>
            </a:solidFill>
            <a:ln w="28440">
              <a:solidFill>
                <a:srgbClr val="254061"/>
              </a:solidFill>
              <a:round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plus"/>
            <c:errValType val="cust"/>
            <c:noEndCap val="0"/>
            <c:plus>
              <c:numRef>
                <c:f>2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9.25112605758528</c:v>
                  </c:pt>
                  <c:pt idx="2">
                    <c:v>9.60468635614929</c:v>
                  </c:pt>
                </c:numCache>
              </c:numRef>
            </c:pl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0.0</c:formatCode>
                <c:ptCount val="3"/>
                <c:pt idx="0">
                  <c:v>11.25</c:v>
                </c:pt>
                <c:pt idx="1">
                  <c:v>18.25</c:v>
                </c:pt>
                <c:pt idx="2">
                  <c:v>23.25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3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minus"/>
            <c:errValType val="cust"/>
            <c:noEndCap val="0"/>
            <c:minus>
              <c:numRef>
                <c:f>5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6.29152869605896</c:v>
                  </c:pt>
                  <c:pt idx="2">
                    <c:v>6.29152869605896</c:v>
                  </c:pt>
                </c:numCache>
              </c:numRef>
            </c:min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3</c:f>
              <c:numCache>
                <c:formatCode>0.0</c:formatCode>
                <c:ptCount val="3"/>
                <c:pt idx="0">
                  <c:v>11.25</c:v>
                </c:pt>
                <c:pt idx="1">
                  <c:v>11.25</c:v>
                </c:pt>
                <c:pt idx="2">
                  <c:v>11.25</c:v>
                </c:pt>
              </c:numCache>
            </c:numRef>
          </c:yVal>
          <c:smooth val="0"/>
        </c:ser>
        <c:axId val="56710537"/>
        <c:axId val="11752062"/>
      </c:scatterChart>
      <c:valAx>
        <c:axId val="56710537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1752062"/>
        <c:crosses val="autoZero"/>
        <c:crossBetween val="midCat"/>
      </c:valAx>
      <c:valAx>
        <c:axId val="11752062"/>
        <c:scaling>
          <c:orientation val="minMax"/>
        </c:scaling>
        <c:delete val="0"/>
        <c:axPos val="l"/>
        <c:numFmt formatCode="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6710537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#1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10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33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7d5fa0"/>
            </a:solidFill>
            <a:ln w="28440">
              <a:solidFill>
                <a:srgbClr val="7d5fa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6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25</c:v>
                </c:pt>
              </c:numCache>
            </c:numRef>
          </c:yVal>
          <c:smooth val="0"/>
        </c:ser>
        <c:axId val="32068458"/>
        <c:axId val="11817222"/>
      </c:scatterChart>
      <c:valAx>
        <c:axId val="32068458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1817222"/>
        <c:crosses val="autoZero"/>
        <c:crossBetween val="midCat"/>
      </c:valAx>
      <c:valAx>
        <c:axId val="1181722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32068458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#1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marker>
            <c:symbol val="circle"/>
            <c:size val="7"/>
            <c:spPr>
              <a:solidFill>
                <a:srgbClr val="4a7ebb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#2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10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#3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33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#4</c:v>
                </c:pt>
              </c:strCache>
            </c:strRef>
          </c:tx>
          <c:spPr>
            <a:solidFill>
              <a:srgbClr val="7d5fa0"/>
            </a:solidFill>
            <a:ln w="28440">
              <a:solidFill>
                <a:srgbClr val="7d5fa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6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25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label 8</c:f>
              <c:strCache>
                <c:ptCount val="1"/>
                <c:pt idx="0">
                  <c:v>#5</c:v>
                </c:pt>
              </c:strCache>
            </c:strRef>
          </c:tx>
          <c:spPr>
            <a:solidFill>
              <a:srgbClr val="46aac4"/>
            </a:solidFill>
            <a:ln w="28440">
              <a:solidFill>
                <a:srgbClr val="46aac4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9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8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30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label 10</c:f>
              <c:strCache>
                <c:ptCount val="1"/>
                <c:pt idx="0">
                  <c:v>#6</c:v>
                </c:pt>
              </c:strCache>
            </c:strRef>
          </c:tx>
          <c:spPr>
            <a:solidFill>
              <a:srgbClr val="f59240"/>
            </a:solidFill>
            <a:ln w="28440">
              <a:solidFill>
                <a:srgbClr val="f5924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10</c:f>
              <c:numCache>
                <c:formatCode>General</c:formatCode>
                <c:ptCount val="3"/>
                <c:pt idx="0">
                  <c:v>8</c:v>
                </c:pt>
                <c:pt idx="1">
                  <c:v>13</c:v>
                </c:pt>
                <c:pt idx="2">
                  <c:v>18</c:v>
                </c:pt>
              </c:numCache>
            </c:numRef>
          </c:yVal>
          <c:smooth val="0"/>
        </c:ser>
        <c:axId val="97365984"/>
        <c:axId val="14720722"/>
      </c:scatterChart>
      <c:valAx>
        <c:axId val="97365984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4720722"/>
        <c:crosses val="autoZero"/>
        <c:crossBetween val="midCat"/>
      </c:valAx>
      <c:valAx>
        <c:axId val="1472072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97365984"/>
        <c:crosses val="autoZero"/>
        <c:crossBetween val="midCat"/>
      </c:valAx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raw data (n=4)
mean  SD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raw data</c:v>
                </c:pt>
              </c:strCache>
            </c:strRef>
          </c:tx>
          <c:spPr>
            <a:solidFill>
              <a:srgbClr val="254061"/>
            </a:solidFill>
            <a:ln w="28440">
              <a:solidFill>
                <a:srgbClr val="254061"/>
              </a:solidFill>
              <a:round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both"/>
            <c:errValType val="cust"/>
            <c:noEndCap val="0"/>
            <c:plus>
              <c:numRef>
                <c:f>2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9.25112605758528</c:v>
                  </c:pt>
                  <c:pt idx="2">
                    <c:v>9.60468635614931</c:v>
                  </c:pt>
                </c:numCache>
              </c:numRef>
            </c:plus>
            <c:minus>
              <c:numRef>
                <c:f>3</c:f>
                <c:numCache>
                  <c:formatCode>General</c:formatCode>
                  <c:ptCount val="3"/>
                  <c:pt idx="0">
                    <c:v>6.29152869605896</c:v>
                  </c:pt>
                  <c:pt idx="1">
                    <c:v>9.25112605758528</c:v>
                  </c:pt>
                  <c:pt idx="2">
                    <c:v>9.60468635614931</c:v>
                  </c:pt>
                </c:numCache>
              </c:numRef>
            </c:min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0.0</c:formatCode>
                <c:ptCount val="3"/>
                <c:pt idx="0">
                  <c:v>11.25</c:v>
                </c:pt>
                <c:pt idx="1">
                  <c:v>18.25</c:v>
                </c:pt>
                <c:pt idx="2">
                  <c:v>23.25</c:v>
                </c:pt>
              </c:numCache>
            </c:numRef>
          </c:yVal>
          <c:smooth val="0"/>
        </c:ser>
        <c:axId val="74942448"/>
        <c:axId val="42265133"/>
      </c:scatterChart>
      <c:valAx>
        <c:axId val="74942448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2265133"/>
        <c:crosses val="autoZero"/>
        <c:crossBetween val="midCat"/>
      </c:valAx>
      <c:valAx>
        <c:axId val="42265133"/>
        <c:scaling>
          <c:orientation val="minMax"/>
        </c:scaling>
        <c:delete val="0"/>
        <c:axPos val="l"/>
        <c:numFmt formatCode="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74942448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lang="en-US" sz="1800" spc="-1" strike="noStrike">
                <a:solidFill>
                  <a:srgbClr val="000000"/>
                </a:solidFill>
                <a:latin typeface="Calibri"/>
              </a:defRPr>
            </a:pPr>
            <a:r>
              <a:rPr b="1" lang="en-US" sz="1800" spc="-1" strike="noStrike">
                <a:solidFill>
                  <a:srgbClr val="000000"/>
                </a:solidFill>
                <a:latin typeface="Calibri"/>
              </a:rPr>
              <a:t>raw data (n=6)
mean  SD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raw data</c:v>
                </c:pt>
              </c:strCache>
            </c:strRef>
          </c:tx>
          <c:spPr>
            <a:solidFill>
              <a:srgbClr val="254061"/>
            </a:solidFill>
            <a:ln w="28440">
              <a:solidFill>
                <a:srgbClr val="254061"/>
              </a:solidFill>
              <a:round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errBars>
            <c:errDir val="y"/>
            <c:errBarType val="both"/>
            <c:errValType val="cust"/>
            <c:noEndCap val="0"/>
            <c:plus>
              <c:numRef>
                <c:f>2</c:f>
                <c:numCache>
                  <c:formatCode>General</c:formatCode>
                  <c:ptCount val="3"/>
                  <c:pt idx="0">
                    <c:v>5.35412613473634</c:v>
                  </c:pt>
                  <c:pt idx="1">
                    <c:v>8.11788149704096</c:v>
                  </c:pt>
                  <c:pt idx="2">
                    <c:v>8.36062198643139</c:v>
                  </c:pt>
                </c:numCache>
              </c:numRef>
            </c:plus>
            <c:minus>
              <c:numRef>
                <c:f>3</c:f>
                <c:numCache>
                  <c:formatCode>General</c:formatCode>
                  <c:ptCount val="3"/>
                  <c:pt idx="0">
                    <c:v>5.35412613473634</c:v>
                  </c:pt>
                  <c:pt idx="1">
                    <c:v>8.11788149704096</c:v>
                  </c:pt>
                  <c:pt idx="2">
                    <c:v>8.36062198643139</c:v>
                  </c:pt>
                </c:numCache>
              </c:numRef>
            </c:minus>
            <c:spPr>
              <a:ln w="9360">
                <a:solidFill>
                  <a:srgbClr val="000000"/>
                </a:solidFill>
                <a:round/>
              </a:ln>
            </c:spPr>
          </c:errBar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0.0</c:formatCode>
                <c:ptCount val="3"/>
                <c:pt idx="0">
                  <c:v>11.3333333333333</c:v>
                </c:pt>
                <c:pt idx="1">
                  <c:v>18.5</c:v>
                </c:pt>
                <c:pt idx="2">
                  <c:v>23.5</c:v>
                </c:pt>
              </c:numCache>
            </c:numRef>
          </c:yVal>
          <c:smooth val="0"/>
        </c:ser>
        <c:axId val="62595792"/>
        <c:axId val="75600817"/>
      </c:scatterChart>
      <c:valAx>
        <c:axId val="62595792"/>
        <c:scaling>
          <c:orientation val="minMax"/>
          <c:max val="30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75600817"/>
        <c:crosses val="autoZero"/>
        <c:crossBetween val="midCat"/>
      </c:valAx>
      <c:valAx>
        <c:axId val="75600817"/>
        <c:scaling>
          <c:orientation val="minMax"/>
        </c:scaling>
        <c:delete val="0"/>
        <c:axPos val="l"/>
        <c:numFmt formatCode="0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2595792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dose 0</c:v>
                </c:pt>
              </c:strCache>
            </c:strRef>
          </c:tx>
          <c:spPr>
            <a:solidFill>
              <a:srgbClr val="4a7ebb"/>
            </a:solidFill>
            <a:ln w="28440">
              <a:solidFill>
                <a:srgbClr val="4a7ebb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dose 0.5X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label 4</c:f>
              <c:strCache>
                <c:ptCount val="1"/>
                <c:pt idx="0">
                  <c:v>dose 1X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5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25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label 6</c:f>
              <c:strCache>
                <c:ptCount val="1"/>
                <c:pt idx="0">
                  <c:v>dose 2X</c:v>
                </c:pt>
              </c:strCache>
            </c:strRef>
          </c:tx>
          <c:spPr>
            <a:solidFill>
              <a:srgbClr val="7d5fa0"/>
            </a:solidFill>
            <a:ln w="28440">
              <a:solidFill>
                <a:srgbClr val="7d5fa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7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6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label 8</c:f>
              <c:strCache>
                <c:ptCount val="1"/>
                <c:pt idx="0">
                  <c:v>dose 4X</c:v>
                </c:pt>
              </c:strCache>
            </c:strRef>
          </c:tx>
          <c:spPr>
            <a:solidFill>
              <a:srgbClr val="46aac4"/>
            </a:solidFill>
            <a:ln w="28440">
              <a:solidFill>
                <a:srgbClr val="46aac4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9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8</c:f>
              <c:numCache>
                <c:formatCode>General</c:formatCode>
                <c:ptCount val="3"/>
                <c:pt idx="0">
                  <c:v>10</c:v>
                </c:pt>
                <c:pt idx="1">
                  <c:v>35</c:v>
                </c:pt>
                <c:pt idx="2">
                  <c:v>45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label 10</c:f>
              <c:strCache>
                <c:ptCount val="1"/>
                <c:pt idx="0">
                  <c:v>dose 10X</c:v>
                </c:pt>
              </c:strCache>
            </c:strRef>
          </c:tx>
          <c:spPr>
            <a:solidFill>
              <a:srgbClr val="f59240"/>
            </a:solidFill>
            <a:ln w="28440">
              <a:solidFill>
                <a:srgbClr val="f59240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11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30</c:v>
                </c:pt>
              </c:numCache>
            </c:numRef>
          </c:xVal>
          <c:yVal>
            <c:numRef>
              <c:f>10</c:f>
              <c:numCache>
                <c:formatCode>General</c:formatCode>
                <c:ptCount val="3"/>
                <c:pt idx="0">
                  <c:v>10</c:v>
                </c:pt>
                <c:pt idx="1">
                  <c:v>50</c:v>
                </c:pt>
                <c:pt idx="2">
                  <c:v>50</c:v>
                </c:pt>
              </c:numCache>
            </c:numRef>
          </c:yVal>
          <c:smooth val="0"/>
        </c:ser>
        <c:axId val="59602410"/>
        <c:axId val="97306260"/>
      </c:scatterChart>
      <c:valAx>
        <c:axId val="59602410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Days in culture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97306260"/>
        <c:crosses val="autoZero"/>
        <c:crossBetween val="midCat"/>
      </c:valAx>
      <c:valAx>
        <c:axId val="97306260"/>
        <c:scaling>
          <c:orientation val="minMax"/>
        </c:scaling>
        <c:delete val="0"/>
        <c:axPos val="l"/>
        <c:title>
          <c:tx>
            <c:rich>
              <a:bodyPr vert="wordArtVert"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X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59602410"/>
        <c:crosses val="autoZero"/>
        <c:crossBetween val="midCat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0.651305555555556"/>
          <c:y val="0.24884842519685"/>
          <c:w val="0.193138888888889"/>
          <c:h val="0.502303149606299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day 10</c:v>
                </c:pt>
              </c:strCache>
            </c:strRef>
          </c:tx>
          <c:spPr>
            <a:solidFill>
              <a:srgbClr val="be4b48"/>
            </a:solidFill>
            <a:ln w="28440">
              <a:solidFill>
                <a:srgbClr val="be4b48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6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6"/>
                <c:pt idx="0">
                  <c:v>10</c:v>
                </c:pt>
                <c:pt idx="1">
                  <c:v>12</c:v>
                </c:pt>
                <c:pt idx="2">
                  <c:v>20</c:v>
                </c:pt>
                <c:pt idx="3">
                  <c:v>30</c:v>
                </c:pt>
                <c:pt idx="4">
                  <c:v>35</c:v>
                </c:pt>
                <c:pt idx="5">
                  <c:v>50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label 2</c:f>
              <c:strCache>
                <c:ptCount val="1"/>
                <c:pt idx="0">
                  <c:v>day 30</c:v>
                </c:pt>
              </c:strCache>
            </c:strRef>
          </c:tx>
          <c:spPr>
            <a:solidFill>
              <a:srgbClr val="98b855"/>
            </a:solidFill>
            <a:ln w="28440">
              <a:solidFill>
                <a:srgbClr val="98b85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3</c:f>
              <c:numCache>
                <c:formatCode>General</c:formatCode>
                <c:ptCount val="6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10</c:v>
                </c:pt>
              </c:numCache>
            </c:numRef>
          </c:xVal>
          <c:yVal>
            <c:numRef>
              <c:f>2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25</c:v>
                </c:pt>
                <c:pt idx="3">
                  <c:v>40</c:v>
                </c:pt>
                <c:pt idx="4">
                  <c:v>45</c:v>
                </c:pt>
                <c:pt idx="5">
                  <c:v>50</c:v>
                </c:pt>
              </c:numCache>
            </c:numRef>
          </c:yVal>
          <c:smooth val="0"/>
        </c:ser>
        <c:axId val="17575072"/>
        <c:axId val="6069268"/>
      </c:scatterChart>
      <c:valAx>
        <c:axId val="1757507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treatment concentration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069268"/>
        <c:crosses val="autoZero"/>
        <c:crossBetween val="midCat"/>
      </c:valAx>
      <c:valAx>
        <c:axId val="6069268"/>
        <c:scaling>
          <c:orientation val="minMax"/>
        </c:scaling>
        <c:delete val="0"/>
        <c:axPos val="l"/>
        <c:title>
          <c:tx>
            <c:rich>
              <a:bodyPr vert="wordArtVert" rot="0"/>
              <a:lstStyle/>
              <a:p>
                <a:pPr>
                  <a:defRPr b="1" lang="en-US" sz="10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000" spc="-1" strike="noStrike">
                    <a:solidFill>
                      <a:srgbClr val="000000"/>
                    </a:solidFill>
                    <a:latin typeface="Calibri"/>
                  </a:rPr>
                  <a:t>X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17575072"/>
        <c:crosses val="autoZero"/>
        <c:crossBetween val="midCat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0.508416666666666"/>
          <c:y val="0.407023549139691"/>
          <c:w val="0.195773195876289"/>
          <c:h val="0.1674343832021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rgbClr val="254061"/>
            </a:solidFill>
            <a:ln w="28440">
              <a:noFill/>
            </a:ln>
          </c:spPr>
          <c:marker>
            <c:symbol val="circle"/>
            <c:size val="7"/>
            <c:spPr>
              <a:solidFill>
                <a:srgbClr val="254061"/>
              </a:solidFill>
            </c:spPr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xVal>
          <c:yVal>
            <c:numRef>
              <c:f>0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11</c:v>
                </c:pt>
                <c:pt idx="6">
                  <c:v>11.3</c:v>
                </c:pt>
                <c:pt idx="7">
                  <c:v>11.4</c:v>
                </c:pt>
                <c:pt idx="8">
                  <c:v>11.4</c:v>
                </c:pt>
                <c:pt idx="9">
                  <c:v>11.45</c:v>
                </c:pt>
              </c:numCache>
            </c:numRef>
          </c:yVal>
          <c:smooth val="0"/>
        </c:ser>
        <c:axId val="47003909"/>
        <c:axId val="69098477"/>
      </c:scatterChart>
      <c:valAx>
        <c:axId val="47003909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1" lang="en-US" sz="11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100" spc="-1" strike="noStrike">
                    <a:solidFill>
                      <a:srgbClr val="000000"/>
                    </a:solidFill>
                    <a:latin typeface="Calibri"/>
                  </a:rPr>
                  <a:t>Amount of protein loaded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69098477"/>
        <c:crosses val="autoZero"/>
        <c:crossBetween val="midCat"/>
      </c:valAx>
      <c:valAx>
        <c:axId val="69098477"/>
        <c:scaling>
          <c:orientation val="minMax"/>
        </c:scaling>
        <c:delete val="0"/>
        <c:axPos val="l"/>
        <c:title>
          <c:tx>
            <c:rich>
              <a:bodyPr rot="-5400000"/>
              <a:lstStyle/>
              <a:p>
                <a:pPr>
                  <a:defRPr b="1" lang="en-US" sz="1100" spc="-1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b="1" lang="en-US" sz="1100" spc="-1" strike="noStrike">
                    <a:solidFill>
                      <a:srgbClr val="000000"/>
                    </a:solidFill>
                    <a:latin typeface="Calibri"/>
                  </a:rPr>
                  <a:t>Band intensity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</a:defRPr>
            </a:pPr>
          </a:p>
        </c:txPr>
        <c:crossAx val="47003909"/>
        <c:crosses val="autoZero"/>
        <c:crossBetween val="midCat"/>
      </c:valAx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CA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C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C9956E8-45CF-4626-9E5A-A3754D8E0E29}" type="slidenum">
              <a:rPr b="0" lang="en-CA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CA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sldImg"/>
          </p:nvPr>
        </p:nvSpPr>
        <p:spPr>
          <a:xfrm>
            <a:off x="2808360" y="527040"/>
            <a:ext cx="3619080" cy="2628720"/>
          </a:xfrm>
          <a:prstGeom prst="rect">
            <a:avLst/>
          </a:prstGeom>
          <a:ln w="0">
            <a:noFill/>
          </a:ln>
        </p:spPr>
      </p:sp>
      <p:sp>
        <p:nvSpPr>
          <p:cNvPr id="927" name="PlaceHolder 2"/>
          <p:cNvSpPr>
            <a:spLocks noGrp="1"/>
          </p:cNvSpPr>
          <p:nvPr>
            <p:ph type="body"/>
          </p:nvPr>
        </p:nvSpPr>
        <p:spPr>
          <a:xfrm>
            <a:off x="923760" y="3330000"/>
            <a:ext cx="7388640" cy="315432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t">
            <a:normAutofit/>
          </a:bodyPr>
          <a:p>
            <a:pPr marL="216000" indent="-216000">
              <a:buNone/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PlaceHolder 3"/>
          <p:cNvSpPr>
            <a:spLocks noGrp="1"/>
          </p:cNvSpPr>
          <p:nvPr>
            <p:ph type="sldNum" idx="41"/>
          </p:nvPr>
        </p:nvSpPr>
        <p:spPr>
          <a:xfrm>
            <a:off x="5231520" y="6658560"/>
            <a:ext cx="4001760" cy="35028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b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C586861A-4C93-4274-9039-DBB2FE85B1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CA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 type="sldImg"/>
          </p:nvPr>
        </p:nvSpPr>
        <p:spPr>
          <a:xfrm>
            <a:off x="2808360" y="527040"/>
            <a:ext cx="3619080" cy="2628720"/>
          </a:xfrm>
          <a:prstGeom prst="rect">
            <a:avLst/>
          </a:prstGeom>
          <a:ln w="0">
            <a:noFill/>
          </a:ln>
        </p:spPr>
      </p:sp>
      <p:sp>
        <p:nvSpPr>
          <p:cNvPr id="930" name="PlaceHolder 2"/>
          <p:cNvSpPr>
            <a:spLocks noGrp="1"/>
          </p:cNvSpPr>
          <p:nvPr>
            <p:ph type="body"/>
          </p:nvPr>
        </p:nvSpPr>
        <p:spPr>
          <a:xfrm>
            <a:off x="923760" y="3330000"/>
            <a:ext cx="7388640" cy="315432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t">
            <a:noAutofit/>
          </a:bodyPr>
          <a:p>
            <a:pPr marL="216000" indent="-216000">
              <a:buNone/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PlaceHolder 3"/>
          <p:cNvSpPr>
            <a:spLocks noGrp="1"/>
          </p:cNvSpPr>
          <p:nvPr>
            <p:ph type="sldNum" idx="42"/>
          </p:nvPr>
        </p:nvSpPr>
        <p:spPr>
          <a:xfrm>
            <a:off x="5231520" y="6658560"/>
            <a:ext cx="4001760" cy="35028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b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6177AA5D-B3FF-439C-A6B2-6A4F54E2875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CA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sldImg"/>
          </p:nvPr>
        </p:nvSpPr>
        <p:spPr>
          <a:xfrm>
            <a:off x="2808360" y="527040"/>
            <a:ext cx="3619080" cy="2628720"/>
          </a:xfrm>
          <a:prstGeom prst="rect">
            <a:avLst/>
          </a:prstGeom>
          <a:ln w="0">
            <a:noFill/>
          </a:ln>
        </p:spPr>
      </p:sp>
      <p:sp>
        <p:nvSpPr>
          <p:cNvPr id="933" name="PlaceHolder 2"/>
          <p:cNvSpPr>
            <a:spLocks noGrp="1"/>
          </p:cNvSpPr>
          <p:nvPr>
            <p:ph type="body"/>
          </p:nvPr>
        </p:nvSpPr>
        <p:spPr>
          <a:xfrm>
            <a:off x="923760" y="3330000"/>
            <a:ext cx="7388640" cy="315432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t">
            <a:normAutofit/>
          </a:bodyPr>
          <a:p>
            <a:pPr marL="216000" indent="-216000">
              <a:buNone/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PlaceHolder 3"/>
          <p:cNvSpPr>
            <a:spLocks noGrp="1"/>
          </p:cNvSpPr>
          <p:nvPr>
            <p:ph type="sldNum" idx="43"/>
          </p:nvPr>
        </p:nvSpPr>
        <p:spPr>
          <a:xfrm>
            <a:off x="5231520" y="6658560"/>
            <a:ext cx="4001760" cy="350280"/>
          </a:xfrm>
          <a:prstGeom prst="rect">
            <a:avLst/>
          </a:prstGeom>
          <a:noFill/>
          <a:ln w="0">
            <a:noFill/>
          </a:ln>
        </p:spPr>
        <p:txBody>
          <a:bodyPr lIns="91800" rIns="91800" tIns="46080" bIns="46080" anchor="b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C18A92C3-C773-486F-BBE7-E742F55354E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CA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84560" y="280800"/>
            <a:ext cx="8723520" cy="117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84560" y="1647360"/>
            <a:ext cx="872352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C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CCCC6C-14FA-4743-960D-DA6EAD3993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C108BAF-5C5C-4AE4-A580-D173876FD5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7C663DA-CE89-464A-93F6-2D37F1413D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84560" y="280800"/>
            <a:ext cx="8723520" cy="117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84560" y="1647360"/>
            <a:ext cx="872352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DB7452E-8236-43E5-90A5-98DEAB8EC5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3F851D6-CF97-49F4-8832-14FABE5E9C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84560" y="280800"/>
            <a:ext cx="8723520" cy="117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84560" y="1647360"/>
            <a:ext cx="425700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954680" y="1647360"/>
            <a:ext cx="425700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D420EC1-D2E3-4A1F-A212-5EEBB92EC1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B7F1AB59-1A48-465F-AD66-956025ECCC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84560" y="280800"/>
            <a:ext cx="8723520" cy="117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8FFB2C1-F804-4B69-825B-11EBAB0032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C4D02EE-936B-420F-A096-62D28C6024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C24CE28-B82D-49FB-B6D5-798EBA5D08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B1C643A6-1A78-482C-953F-002115A70E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26840" y="2187000"/>
            <a:ext cx="8238960" cy="15087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8E90D5E6-4DEB-49F3-A5FB-6108C6D8029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84560" y="1647360"/>
            <a:ext cx="872352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84560" y="281880"/>
            <a:ext cx="8723520" cy="11732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84560" y="1642680"/>
            <a:ext cx="8723520" cy="46461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 vert="eaVer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6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3ACCA080-927E-4C73-81A9-1EEDBCB0B3C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027560" y="281880"/>
            <a:ext cx="2180520" cy="60069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 vert="eaVert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84560" y="281880"/>
            <a:ext cx="6381000" cy="60069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 vert="eaVer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6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04ACB8D0-F7F1-4EFE-B7DD-DC43A188722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84560" y="281880"/>
            <a:ext cx="8723520" cy="11732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84560" y="1642680"/>
            <a:ext cx="8723520" cy="46461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6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D9966FF4-7808-4F50-B786-8CC513A21C6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65720" y="4524120"/>
            <a:ext cx="8238960" cy="139788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indent="0" defTabSz="956160">
              <a:lnSpc>
                <a:spcPct val="100000"/>
              </a:lnSpc>
              <a:buNone/>
            </a:pPr>
            <a:r>
              <a:rPr b="1" lang="en-US" sz="42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65720" y="2984040"/>
            <a:ext cx="8238960" cy="153972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b">
            <a:noAutofit/>
          </a:bodyPr>
          <a:p>
            <a:pPr indent="0" defTabSz="956160">
              <a:lnSpc>
                <a:spcPct val="100000"/>
              </a:lnSpc>
              <a:spcBef>
                <a:spcPts val="420"/>
              </a:spcBef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9CCC25E8-CB57-4B36-8D83-A373303D131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84560" y="281880"/>
            <a:ext cx="8723520" cy="11732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84560" y="1642680"/>
            <a:ext cx="4280760" cy="46461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927320" y="1642680"/>
            <a:ext cx="4280760" cy="464616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76FFF543-01C3-46E9-AB71-8C5BD698F3F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84560" y="281880"/>
            <a:ext cx="8723520" cy="11732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84560" y="1576080"/>
            <a:ext cx="4282560" cy="65628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b">
            <a:noAutofit/>
          </a:bodyPr>
          <a:p>
            <a:pPr indent="0" defTabSz="95616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1" lang="en-US" sz="2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84560" y="2232720"/>
            <a:ext cx="4282560" cy="405612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924080" y="1576080"/>
            <a:ext cx="4284360" cy="65628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b">
            <a:noAutofit/>
          </a:bodyPr>
          <a:p>
            <a:pPr indent="0" defTabSz="956160">
              <a:lnSpc>
                <a:spcPct val="100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b="1" lang="en-US" sz="2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924080" y="2232720"/>
            <a:ext cx="4284360" cy="405612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38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7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7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F2ADD2E0-D731-4AF7-BAC1-BCECB9D177B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84560" y="281880"/>
            <a:ext cx="8723520" cy="11732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p>
            <a:pPr indent="0" algn="ctr" defTabSz="956160">
              <a:lnSpc>
                <a:spcPct val="100000"/>
              </a:lnSpc>
              <a:buNone/>
            </a:pPr>
            <a:r>
              <a:rPr b="0" lang="en-US" sz="46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AA73E6EB-4629-4A8C-93AA-CDDB700C90B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0C0A07DB-2097-471C-A52D-F5823857CDC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title"/>
          </p:nvPr>
        </p:nvSpPr>
        <p:spPr>
          <a:xfrm>
            <a:off x="484560" y="280800"/>
            <a:ext cx="8723520" cy="117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84560" y="1647360"/>
            <a:ext cx="8723520" cy="40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84560" y="280440"/>
            <a:ext cx="3188520" cy="119268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b">
            <a:noAutofit/>
          </a:bodyPr>
          <a:p>
            <a:pPr indent="0" defTabSz="956160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3789720" y="280440"/>
            <a:ext cx="5418360" cy="6008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marL="358560" indent="-358560" defTabSz="956160">
              <a:lnSpc>
                <a:spcPct val="100000"/>
              </a:lnSpc>
              <a:spcBef>
                <a:spcPts val="6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776880" indent="-298800" defTabSz="956160">
              <a:lnSpc>
                <a:spcPct val="100000"/>
              </a:lnSpc>
              <a:spcBef>
                <a:spcPts val="58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9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900" spc="-1" strike="noStrike">
              <a:solidFill>
                <a:schemeClr val="dk1"/>
              </a:solidFill>
              <a:latin typeface="Calibri"/>
            </a:endParaRPr>
          </a:p>
          <a:p>
            <a:pPr lvl="2" marL="1195200" indent="-239040" defTabSz="95616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5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500" spc="-1" strike="noStrike">
              <a:solidFill>
                <a:schemeClr val="dk1"/>
              </a:solidFill>
              <a:latin typeface="Calibri"/>
            </a:endParaRPr>
          </a:p>
          <a:p>
            <a:pPr lvl="3" marL="167328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  <a:p>
            <a:pPr lvl="4" marL="2151360" indent="-239040" defTabSz="956160">
              <a:lnSpc>
                <a:spcPct val="100000"/>
              </a:lnSpc>
              <a:spcBef>
                <a:spcPts val="4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1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84560" y="1473480"/>
            <a:ext cx="3188520" cy="481572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indent="0" defTabSz="9561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8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29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0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C3F7FE84-8B5C-4BD7-986C-7D8E1914A38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900080" y="4928400"/>
            <a:ext cx="5815440" cy="581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b">
            <a:noAutofit/>
          </a:bodyPr>
          <a:p>
            <a:pPr indent="0" defTabSz="956160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1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1900080" y="628920"/>
            <a:ext cx="5815440" cy="422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3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1900080" y="5510160"/>
            <a:ext cx="5815440" cy="82584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t">
            <a:noAutofit/>
          </a:bodyPr>
          <a:p>
            <a:pPr indent="0" defTabSz="956160">
              <a:lnSpc>
                <a:spcPct val="100000"/>
              </a:lnSpc>
              <a:spcBef>
                <a:spcPts val="300"/>
              </a:spcBef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48456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ct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ctr" defTabSz="956160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&lt;footer&gt;</a:t>
            </a:r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37E849CD-F6DF-462D-A12A-53220A83600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chart" Target="../charts/chart8.xml"/><Relationship Id="rId8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Relationship Id="rId6" Type="http://schemas.openxmlformats.org/officeDocument/2006/relationships/chart" Target="../charts/chart14.xml"/><Relationship Id="rId7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Relationship Id="rId5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chart" Target="../charts/chart20.xml"/><Relationship Id="rId3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21.xml"/><Relationship Id="rId3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hyperlink" Target="http://www.3rs-reduction.co.uk/assets/applets/Festing_Altman.pdf" TargetMode="External"/><Relationship Id="rId2" Type="http://schemas.openxmlformats.org/officeDocument/2006/relationships/hyperlink" Target="file:///C:/Documents%20and%20Settings/hcote/My%20Documents/Downloads/Hoojimans%20FINAL.pdf" TargetMode="External"/><Relationship Id="rId3" Type="http://schemas.openxmlformats.org/officeDocument/2006/relationships/hyperlink" Target="https://controls.engin.umich.edu/wiki/index.php/Design_of_experiments_via_factorial_designs" TargetMode="External"/><Relationship Id="rId4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"/>
          <p:cNvSpPr/>
          <p:nvPr/>
        </p:nvSpPr>
        <p:spPr>
          <a:xfrm>
            <a:off x="0" y="289440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r>
              <a:rPr b="1" lang="en-US" sz="2500" spc="-1" strike="noStrike">
                <a:solidFill>
                  <a:schemeClr val="lt1"/>
                </a:solidFill>
                <a:latin typeface="Calibri"/>
              </a:rPr>
              <a:t>Experimental study design considerations</a:t>
            </a:r>
            <a:endParaRPr b="0" lang="en-CA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438840" y="2072520"/>
            <a:ext cx="12816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376092"/>
                </a:solidFill>
                <a:latin typeface="Calibri"/>
              </a:rPr>
              <a:t>Module 7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8D9164-12A2-4D34-B885-283E25F28D33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F64AAAD-5435-4271-87A6-0DC97A97395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0CDA5FBD-DBFB-4827-B640-0E12CF6042A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1E8D835E-E9CD-4927-9D51-E6B8EAAF6A5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F2C78BB-B1F4-4045-8AB8-FC2F01D8D81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F461EE55-9D36-4C03-A5F5-8DDC8C8023E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2151981-AB64-48A6-9857-C2C7F4E2A33A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16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Lecture objectives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17"/>
          <p:cNvSpPr/>
          <p:nvPr/>
        </p:nvSpPr>
        <p:spPr>
          <a:xfrm>
            <a:off x="323280" y="1095120"/>
            <a:ext cx="8714160" cy="43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Become familiar with the factors to consider before starting in vitro, cell culture, or animal studies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Recognize the importance of power and how it influences the study design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br>
              <a:rPr sz="2100"/>
            </a:b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36AF27D-5EF9-4AAE-B259-9D19D5607161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2A443A19-FAC8-4F91-A00E-77A13BAFD30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190F365-B398-4517-BB3F-E35FFF5679E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ABA00DF-CB4D-4192-82B6-4B8C7805CDA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8CDA66E-5C1F-4816-AA61-300A08C5810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91E1CF83-1B54-4685-AE6A-10E9631792B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3C07CF9-D8E5-48B2-94B4-5E1B50F806E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Rectangle 16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Lecture: Study design consideration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323280" y="1095120"/>
            <a:ext cx="9369720" cy="781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Start with a research question, then consider: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Type of research/model (in vitro, cultured cells, animals, humans)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Study population and study sample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Study sample’s characteristic that you want to measure/study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Assays/methods that you will use to investigate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Number of replicate assays, sample size (independent or biological replicates)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Statistical analyses you will use to answer your research question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br>
              <a:rPr sz="2100"/>
            </a:b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39CB3A4-B09B-4E0A-AB8C-665903C5EF9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0173EAB7-3589-4C9E-AF90-F436891D64B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FFA422C-CB3F-43FC-912D-2B35708AA09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201B325-9D54-4236-8F6E-7A98E5FD1C4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EB9054E-7B43-4C20-8FF6-4AA32B07550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2A1334E-AB79-44CC-9E69-6BE70E83188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06A95CC-31F8-4545-82AE-3CB9FC99680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D4F10BF-DB1B-41C4-89B7-DE510BD69FA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17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18"/>
          <p:cNvSpPr/>
          <p:nvPr/>
        </p:nvSpPr>
        <p:spPr>
          <a:xfrm>
            <a:off x="323280" y="1095120"/>
            <a:ext cx="9208080" cy="65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Research question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Examples: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Effect of a drug on a disease outcome?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Investigation of what signaling pathway is turned on by…?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Could a test be a biomarker for a given disease?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What are the risk factors associated with a given </a:t>
            </a:r>
            <a:br>
              <a:rPr sz="2500"/>
            </a:b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disease/diagnostic/outcome?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Exploratory (pilot) or confirmatory? are you “looking” for a potential signal or are testing a hypothesis?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lvl="1" marL="95616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Char char="-"/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It’s OK to explore in order to “generate hypotheses”, as long as you don’t treat the exploration as a confirmatory study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95616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Char char="-"/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Often don’t have enough information to go straight into the big study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956160" indent="-478080" defTabSz="956160">
              <a:lnSpc>
                <a:spcPct val="100000"/>
              </a:lnSpc>
              <a:buClr>
                <a:srgbClr val="376092"/>
              </a:buClr>
              <a:buFont typeface="OpenSymbol"/>
              <a:buChar char="-"/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Sometimes you feel you have enough info but not enough $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65444F9-FE6F-4273-9481-A7C0C0DFA2D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C48A2AEF-F970-4D80-830E-8D1A4E4F839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B58B09A0-F2D8-4EEC-B60A-DB4658CD123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6742DFF-5B9D-4ED3-8D0B-708F9B442D9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5D3E6C73-76C4-4676-8CFE-1236969EBDF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1B1A2220-F947-4A53-9696-8D778DF2D3B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C17B93ED-B9A7-4396-A074-9633CD75088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A32EA5F-37DD-4946-8937-1EC09A2A773A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1A444888-8A87-4DF8-B676-0C8A41401B9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9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pilot or exploratory study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20"/>
          <p:cNvSpPr/>
          <p:nvPr/>
        </p:nvSpPr>
        <p:spPr>
          <a:xfrm>
            <a:off x="161640" y="853200"/>
            <a:ext cx="9408960" cy="797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Exploratory, meant to generate data that will: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tell you if something is worth pursuing at all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hypothesis generating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is there any signal? You need to know before going further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serve as preliminary data in a grant application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small (= inexpensive) experiment that catches the attention of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                        reviewers, shows feasibility and convinces them that you should study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                        this in more detail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allow you to determine how you should do the “definitive” study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preliminary data to allow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sample size calculations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, to ensure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                       that the “definitive” study will be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powered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 answer the research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question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Size of exploratory study often dictated by feasibility (time and $)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290599B-6F29-4928-865E-E739604DA036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" dur="indefinite" restart="never" nodeType="tmRoot">
          <p:childTnLst>
            <p:seq>
              <p:cTn id="14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526F1EF8-1B28-4234-87F2-735E9749392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B645EBC6-BE68-4E02-A056-99DDB595817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F8C3D74-B9BB-4392-8BB3-2AAA71DB2B1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92D001D-5D94-4BF2-9C77-9205C0A15D5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004F7382-51B0-4BCA-AB18-0F543AD59F3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BC310DC-5DB3-415C-970A-1A2BC6B2006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0460D47-6632-4309-820B-7A6B39D44D8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CE4113BA-F859-4A95-A7AC-913A88CB3A9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C367ED7-DCF6-470B-B092-2B82A223B2E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Rectangle 21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pilot or exploratory study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22"/>
          <p:cNvSpPr/>
          <p:nvPr/>
        </p:nvSpPr>
        <p:spPr>
          <a:xfrm>
            <a:off x="161640" y="1095120"/>
            <a:ext cx="9369720" cy="54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Good time to refine your method/assay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Get information that will be needed by biostatistician and later for publication, to explain how you calculated your sample size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Questions you may want to answer at this stage: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What are the sources of variability, error, bias?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How feasible is my intended study? 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How long does it take? How $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How many replicates (assay/technical/independent) do I need?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D975C0F-77C2-4ED3-85FB-DC816B623D43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BC5F9E95-B4AD-472A-9AA9-A3333A4E6C8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CCA1CD0A-AEC6-4566-B9F6-3105C7000DD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F19731D4-9F28-47A2-AB65-507E8D01F4E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F0F61446-0F25-460E-BC0D-AF733D329DA5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1492285D-52A9-4978-9F45-EF6DEBED2F4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E873E3A-9288-411B-A014-A890A024551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155CD70-F454-48C4-B024-CF4C3379630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8039DA4-FB90-4881-95F7-3C48C292501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F267766-EDAE-4788-8F07-EACBA3FD2DD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98D8705-9C3E-4E25-A17F-5176C011D3B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ED2C00E-B98E-44A2-A10E-B857932E1F5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ectangle 25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Types of study/research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26"/>
          <p:cNvSpPr/>
          <p:nvPr/>
        </p:nvSpPr>
        <p:spPr>
          <a:xfrm>
            <a:off x="161640" y="1095120"/>
            <a:ext cx="9369720" cy="38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i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In vitro </a:t>
            </a: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experiments/assays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Cell culture model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Animal model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Humans/clinical samples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Isosceles Triangle 27"/>
          <p:cNvSpPr/>
          <p:nvPr/>
        </p:nvSpPr>
        <p:spPr>
          <a:xfrm>
            <a:off x="4618080" y="1310400"/>
            <a:ext cx="2064240" cy="2873880"/>
          </a:xfrm>
          <a:prstGeom prst="triangle">
            <a:avLst>
              <a:gd name="adj" fmla="val 50000"/>
            </a:avLst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30"/>
          <p:cNvSpPr/>
          <p:nvPr/>
        </p:nvSpPr>
        <p:spPr>
          <a:xfrm>
            <a:off x="426960" y="5120640"/>
            <a:ext cx="8838720" cy="24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i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In vitro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and cell culture experiments are usually shorter and can often deal with a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more complex study design (</a:t>
            </a:r>
            <a:r>
              <a:rPr b="0" i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e.g.,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varied exposures. Duration, etc.)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Animal studies have more sources of variability and human studies have the most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because of social determinants of health, genetics, environmental exposures, etc…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Isosceles Triangle 19"/>
          <p:cNvSpPr/>
          <p:nvPr/>
        </p:nvSpPr>
        <p:spPr>
          <a:xfrm flipV="1">
            <a:off x="6523200" y="1309320"/>
            <a:ext cx="2064240" cy="2873880"/>
          </a:xfrm>
          <a:prstGeom prst="triangle">
            <a:avLst>
              <a:gd name="adj" fmla="val 50000"/>
            </a:avLst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7"/>
          <p:cNvSpPr/>
          <p:nvPr/>
        </p:nvSpPr>
        <p:spPr>
          <a:xfrm>
            <a:off x="6824520" y="1539000"/>
            <a:ext cx="1526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lt1"/>
                </a:solidFill>
                <a:latin typeface="Calibri"/>
              </a:rPr>
              <a:t>Complexity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lt1"/>
                </a:solidFill>
                <a:latin typeface="Calibri"/>
              </a:rPr>
              <a:t>of the study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21"/>
          <p:cNvSpPr/>
          <p:nvPr/>
        </p:nvSpPr>
        <p:spPr>
          <a:xfrm>
            <a:off x="4937760" y="3596400"/>
            <a:ext cx="1295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lt1"/>
                </a:solidFill>
                <a:latin typeface="Calibri"/>
              </a:rPr>
              <a:t>Variability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54959F7-75E0-4840-8DE4-6CA77A72D985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Rectangle 4"/>
          <p:cNvSpPr/>
          <p:nvPr/>
        </p:nvSpPr>
        <p:spPr>
          <a:xfrm>
            <a:off x="242280" y="1173600"/>
            <a:ext cx="9450720" cy="54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47808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Types of replicates (example for cell culture study)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1. assay replicates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</a:t>
            </a:r>
            <a:r>
              <a:rPr b="0" i="1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e.g.,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same cell pellet assayed X times at the same time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2. experimental or technical replicates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</a:t>
            </a:r>
            <a:r>
              <a:rPr b="0" i="1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e.g.,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number of flask or well per group, done at the same time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3. independent replicates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experiments repeated on same cell line at another time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4. biological replicates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experiment repeated on a different cell line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50000"/>
              </a:lnSpc>
              <a:tabLst>
                <a:tab algn="l" pos="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4AF54A4-0124-4B3D-A306-7396BB33C02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0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Oval 11"/>
          <p:cNvSpPr/>
          <p:nvPr/>
        </p:nvSpPr>
        <p:spPr>
          <a:xfrm>
            <a:off x="3957840" y="26582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Oval 12"/>
          <p:cNvSpPr/>
          <p:nvPr/>
        </p:nvSpPr>
        <p:spPr>
          <a:xfrm>
            <a:off x="4425840" y="26582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Oval 13"/>
          <p:cNvSpPr/>
          <p:nvPr/>
        </p:nvSpPr>
        <p:spPr>
          <a:xfrm>
            <a:off x="4893840" y="26582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Oval 14"/>
          <p:cNvSpPr/>
          <p:nvPr/>
        </p:nvSpPr>
        <p:spPr>
          <a:xfrm>
            <a:off x="275436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Oval 15"/>
          <p:cNvSpPr/>
          <p:nvPr/>
        </p:nvSpPr>
        <p:spPr>
          <a:xfrm>
            <a:off x="322236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Oval 16"/>
          <p:cNvSpPr/>
          <p:nvPr/>
        </p:nvSpPr>
        <p:spPr>
          <a:xfrm>
            <a:off x="369036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Oval 17"/>
          <p:cNvSpPr/>
          <p:nvPr/>
        </p:nvSpPr>
        <p:spPr>
          <a:xfrm>
            <a:off x="409140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Oval 18"/>
          <p:cNvSpPr/>
          <p:nvPr/>
        </p:nvSpPr>
        <p:spPr>
          <a:xfrm>
            <a:off x="455940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Oval 19"/>
          <p:cNvSpPr/>
          <p:nvPr/>
        </p:nvSpPr>
        <p:spPr>
          <a:xfrm>
            <a:off x="502740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Oval 20"/>
          <p:cNvSpPr/>
          <p:nvPr/>
        </p:nvSpPr>
        <p:spPr>
          <a:xfrm>
            <a:off x="542844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Oval 21"/>
          <p:cNvSpPr/>
          <p:nvPr/>
        </p:nvSpPr>
        <p:spPr>
          <a:xfrm>
            <a:off x="589644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Oval 22"/>
          <p:cNvSpPr/>
          <p:nvPr/>
        </p:nvSpPr>
        <p:spPr>
          <a:xfrm>
            <a:off x="6364440" y="3545640"/>
            <a:ext cx="267120" cy="272520"/>
          </a:xfrm>
          <a:prstGeom prst="ellipse">
            <a:avLst/>
          </a:prstGeom>
          <a:solidFill>
            <a:srgbClr val="376092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" name="Left Brace 23"/>
          <p:cNvSpPr/>
          <p:nvPr/>
        </p:nvSpPr>
        <p:spPr>
          <a:xfrm rot="5400000">
            <a:off x="585972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6" name="Left Brace 24"/>
          <p:cNvSpPr/>
          <p:nvPr/>
        </p:nvSpPr>
        <p:spPr>
          <a:xfrm rot="5400000">
            <a:off x="452268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7" name="Left Brace 25"/>
          <p:cNvSpPr/>
          <p:nvPr/>
        </p:nvSpPr>
        <p:spPr>
          <a:xfrm rot="5400000">
            <a:off x="318564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8" name="Left Brace 26"/>
          <p:cNvSpPr/>
          <p:nvPr/>
        </p:nvSpPr>
        <p:spPr>
          <a:xfrm rot="5400000">
            <a:off x="4388760" y="1885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159" name="Straight Connector 27"/>
          <p:cNvCxnSpPr/>
          <p:nvPr/>
        </p:nvCxnSpPr>
        <p:spPr>
          <a:xfrm flipV="1">
            <a:off x="4702680" y="3009240"/>
            <a:ext cx="360" cy="13716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160" name="Straight Connector 28"/>
          <p:cNvCxnSpPr>
            <a:stCxn id="155" idx="1"/>
          </p:cNvCxnSpPr>
          <p:nvPr/>
        </p:nvCxnSpPr>
        <p:spPr>
          <a:xfrm flipH="1" flipV="1">
            <a:off x="5227560" y="2931120"/>
            <a:ext cx="803160" cy="20520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161" name="Straight Connector 29"/>
          <p:cNvCxnSpPr/>
          <p:nvPr/>
        </p:nvCxnSpPr>
        <p:spPr>
          <a:xfrm flipV="1">
            <a:off x="3355920" y="2999520"/>
            <a:ext cx="601920" cy="14688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sp>
        <p:nvSpPr>
          <p:cNvPr id="162" name="TextBox 30"/>
          <p:cNvSpPr/>
          <p:nvPr/>
        </p:nvSpPr>
        <p:spPr>
          <a:xfrm>
            <a:off x="7603200" y="1290600"/>
            <a:ext cx="1766520" cy="78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n=3 is minimum 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 generate error bars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Oval 31"/>
          <p:cNvSpPr/>
          <p:nvPr/>
        </p:nvSpPr>
        <p:spPr>
          <a:xfrm>
            <a:off x="4362120" y="140796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2"/>
          <p:cNvSpPr/>
          <p:nvPr/>
        </p:nvSpPr>
        <p:spPr>
          <a:xfrm>
            <a:off x="3810240" y="1017000"/>
            <a:ext cx="15368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Seeding 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119"/>
          <p:cNvSpPr/>
          <p:nvPr/>
        </p:nvSpPr>
        <p:spPr>
          <a:xfrm>
            <a:off x="5544720" y="2503440"/>
            <a:ext cx="220752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Flask or well (n=3)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6" name="Straight Connector 128"/>
          <p:cNvCxnSpPr/>
          <p:nvPr/>
        </p:nvCxnSpPr>
        <p:spPr>
          <a:xfrm>
            <a:off x="4568400" y="1919160"/>
            <a:ext cx="360" cy="39132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167" name="TextBox 129"/>
          <p:cNvSpPr/>
          <p:nvPr/>
        </p:nvSpPr>
        <p:spPr>
          <a:xfrm>
            <a:off x="1073880" y="2581560"/>
            <a:ext cx="238572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Technical replicates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130"/>
          <p:cNvSpPr/>
          <p:nvPr/>
        </p:nvSpPr>
        <p:spPr>
          <a:xfrm>
            <a:off x="6865920" y="3441960"/>
            <a:ext cx="250380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Each flask or well assayed 3 times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131"/>
          <p:cNvSpPr/>
          <p:nvPr/>
        </p:nvSpPr>
        <p:spPr>
          <a:xfrm>
            <a:off x="1380960" y="4798440"/>
            <a:ext cx="742788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To obtain </a:t>
            </a:r>
            <a:r>
              <a:rPr b="1" lang="en-US" sz="1900" spc="-1" strike="noStrike" u="sng">
                <a:solidFill>
                  <a:srgbClr val="c00000"/>
                </a:solidFill>
                <a:uFillTx/>
                <a:latin typeface="Calibri"/>
              </a:rPr>
              <a:t>independent</a:t>
            </a:r>
            <a:r>
              <a:rPr b="0" lang="en-US" sz="1900" spc="-1" strike="noStrike" u="sng">
                <a:solidFill>
                  <a:srgbClr val="c00000"/>
                </a:solidFill>
                <a:uFillTx/>
                <a:latin typeface="Calibri"/>
              </a:rPr>
              <a:t> </a:t>
            </a: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replicates, the whole thing should be repeated a minimum of 3+ additional times for each condition tested if you wish to report statistics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132"/>
          <p:cNvSpPr/>
          <p:nvPr/>
        </p:nvSpPr>
        <p:spPr>
          <a:xfrm>
            <a:off x="423000" y="3495600"/>
            <a:ext cx="198648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Assay replicates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1"/>
          <p:cNvSpPr/>
          <p:nvPr/>
        </p:nvSpPr>
        <p:spPr>
          <a:xfrm>
            <a:off x="4492080" y="4097160"/>
            <a:ext cx="66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n= 1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ED4BC0B-7828-4840-91B4-6426102CC06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430049B6-F559-4BA9-A431-404B229C3F7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2FF97F41-BBB8-4D3D-83B4-026D07FF79E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2EDAC4C2-A53D-4150-B16F-FFB1AAD05175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0883126-07CE-47F0-92E5-66204169BDF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31E9B12-3A63-49E5-A1B0-441F4F4D526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C9BDAD9-FB34-433F-B690-62C87264FEA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276B393-01BA-4E99-AAD0-D7D7CC80C59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ectangle 25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Oval 30"/>
          <p:cNvSpPr/>
          <p:nvPr/>
        </p:nvSpPr>
        <p:spPr>
          <a:xfrm>
            <a:off x="1688040" y="26582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Oval 31"/>
          <p:cNvSpPr/>
          <p:nvPr/>
        </p:nvSpPr>
        <p:spPr>
          <a:xfrm>
            <a:off x="2156040" y="26582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Oval 32"/>
          <p:cNvSpPr/>
          <p:nvPr/>
        </p:nvSpPr>
        <p:spPr>
          <a:xfrm>
            <a:off x="2624040" y="26582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Oval 33"/>
          <p:cNvSpPr/>
          <p:nvPr/>
        </p:nvSpPr>
        <p:spPr>
          <a:xfrm>
            <a:off x="484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Oval 34"/>
          <p:cNvSpPr/>
          <p:nvPr/>
        </p:nvSpPr>
        <p:spPr>
          <a:xfrm>
            <a:off x="952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Oval 35"/>
          <p:cNvSpPr/>
          <p:nvPr/>
        </p:nvSpPr>
        <p:spPr>
          <a:xfrm>
            <a:off x="1420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Oval 36"/>
          <p:cNvSpPr/>
          <p:nvPr/>
        </p:nvSpPr>
        <p:spPr>
          <a:xfrm>
            <a:off x="1821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Oval 37"/>
          <p:cNvSpPr/>
          <p:nvPr/>
        </p:nvSpPr>
        <p:spPr>
          <a:xfrm>
            <a:off x="2289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Oval 38"/>
          <p:cNvSpPr/>
          <p:nvPr/>
        </p:nvSpPr>
        <p:spPr>
          <a:xfrm>
            <a:off x="2757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Oval 39"/>
          <p:cNvSpPr/>
          <p:nvPr/>
        </p:nvSpPr>
        <p:spPr>
          <a:xfrm>
            <a:off x="3158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40"/>
          <p:cNvSpPr/>
          <p:nvPr/>
        </p:nvSpPr>
        <p:spPr>
          <a:xfrm>
            <a:off x="3626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Oval 41"/>
          <p:cNvSpPr/>
          <p:nvPr/>
        </p:nvSpPr>
        <p:spPr>
          <a:xfrm>
            <a:off x="4094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Left Brace 43"/>
          <p:cNvSpPr/>
          <p:nvPr/>
        </p:nvSpPr>
        <p:spPr>
          <a:xfrm rot="5400000">
            <a:off x="358992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4" name="Left Brace 44"/>
          <p:cNvSpPr/>
          <p:nvPr/>
        </p:nvSpPr>
        <p:spPr>
          <a:xfrm rot="5400000">
            <a:off x="225288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5" name="Left Brace 45"/>
          <p:cNvSpPr/>
          <p:nvPr/>
        </p:nvSpPr>
        <p:spPr>
          <a:xfrm rot="5400000">
            <a:off x="915840" y="2704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6" name="Left Brace 46"/>
          <p:cNvSpPr/>
          <p:nvPr/>
        </p:nvSpPr>
        <p:spPr>
          <a:xfrm rot="5400000">
            <a:off x="2118960" y="1885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197" name="Straight Connector 51"/>
          <p:cNvCxnSpPr/>
          <p:nvPr/>
        </p:nvCxnSpPr>
        <p:spPr>
          <a:xfrm flipV="1">
            <a:off x="2432880" y="3009240"/>
            <a:ext cx="360" cy="13716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198" name="Straight Connector 52"/>
          <p:cNvCxnSpPr>
            <a:stCxn id="193" idx="1"/>
          </p:cNvCxnSpPr>
          <p:nvPr/>
        </p:nvCxnSpPr>
        <p:spPr>
          <a:xfrm flipH="1" flipV="1">
            <a:off x="2958120" y="2931120"/>
            <a:ext cx="802800" cy="20520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199" name="Straight Connector 55"/>
          <p:cNvCxnSpPr/>
          <p:nvPr/>
        </p:nvCxnSpPr>
        <p:spPr>
          <a:xfrm flipV="1">
            <a:off x="1086120" y="2999520"/>
            <a:ext cx="601920" cy="14688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sp>
        <p:nvSpPr>
          <p:cNvPr id="200" name="Oval 58"/>
          <p:cNvSpPr/>
          <p:nvPr/>
        </p:nvSpPr>
        <p:spPr>
          <a:xfrm>
            <a:off x="4362120" y="140796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59"/>
          <p:cNvSpPr/>
          <p:nvPr/>
        </p:nvSpPr>
        <p:spPr>
          <a:xfrm>
            <a:off x="3377520" y="1017000"/>
            <a:ext cx="15368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Seeding 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Oval 85"/>
          <p:cNvSpPr/>
          <p:nvPr/>
        </p:nvSpPr>
        <p:spPr>
          <a:xfrm>
            <a:off x="6534720" y="26395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Oval 86"/>
          <p:cNvSpPr/>
          <p:nvPr/>
        </p:nvSpPr>
        <p:spPr>
          <a:xfrm>
            <a:off x="7002720" y="26395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Oval 87"/>
          <p:cNvSpPr/>
          <p:nvPr/>
        </p:nvSpPr>
        <p:spPr>
          <a:xfrm>
            <a:off x="7470360" y="26395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Oval 88"/>
          <p:cNvSpPr/>
          <p:nvPr/>
        </p:nvSpPr>
        <p:spPr>
          <a:xfrm>
            <a:off x="5331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Oval 89"/>
          <p:cNvSpPr/>
          <p:nvPr/>
        </p:nvSpPr>
        <p:spPr>
          <a:xfrm>
            <a:off x="5799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Oval 90"/>
          <p:cNvSpPr/>
          <p:nvPr/>
        </p:nvSpPr>
        <p:spPr>
          <a:xfrm>
            <a:off x="6267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Oval 91"/>
          <p:cNvSpPr/>
          <p:nvPr/>
        </p:nvSpPr>
        <p:spPr>
          <a:xfrm>
            <a:off x="6668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Oval 92"/>
          <p:cNvSpPr/>
          <p:nvPr/>
        </p:nvSpPr>
        <p:spPr>
          <a:xfrm>
            <a:off x="7136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Oval 93"/>
          <p:cNvSpPr/>
          <p:nvPr/>
        </p:nvSpPr>
        <p:spPr>
          <a:xfrm>
            <a:off x="7604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Oval 94"/>
          <p:cNvSpPr/>
          <p:nvPr/>
        </p:nvSpPr>
        <p:spPr>
          <a:xfrm>
            <a:off x="8005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Oval 95"/>
          <p:cNvSpPr/>
          <p:nvPr/>
        </p:nvSpPr>
        <p:spPr>
          <a:xfrm>
            <a:off x="8473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Oval 96"/>
          <p:cNvSpPr/>
          <p:nvPr/>
        </p:nvSpPr>
        <p:spPr>
          <a:xfrm>
            <a:off x="8941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Left Brace 97"/>
          <p:cNvSpPr/>
          <p:nvPr/>
        </p:nvSpPr>
        <p:spPr>
          <a:xfrm rot="5400000">
            <a:off x="8436240" y="268596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5" name="Left Brace 98"/>
          <p:cNvSpPr/>
          <p:nvPr/>
        </p:nvSpPr>
        <p:spPr>
          <a:xfrm rot="5400000">
            <a:off x="7099560" y="268596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6" name="Left Brace 99"/>
          <p:cNvSpPr/>
          <p:nvPr/>
        </p:nvSpPr>
        <p:spPr>
          <a:xfrm rot="5400000">
            <a:off x="5762520" y="268596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7" name="Left Brace 100"/>
          <p:cNvSpPr/>
          <p:nvPr/>
        </p:nvSpPr>
        <p:spPr>
          <a:xfrm rot="5400000">
            <a:off x="6965640" y="183744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218" name="Straight Connector 102"/>
          <p:cNvCxnSpPr/>
          <p:nvPr/>
        </p:nvCxnSpPr>
        <p:spPr>
          <a:xfrm flipV="1">
            <a:off x="7267680" y="2990520"/>
            <a:ext cx="360" cy="13680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219" name="Straight Connector 103"/>
          <p:cNvCxnSpPr>
            <a:stCxn id="214" idx="1"/>
          </p:cNvCxnSpPr>
          <p:nvPr/>
        </p:nvCxnSpPr>
        <p:spPr>
          <a:xfrm flipH="1" flipV="1">
            <a:off x="7804440" y="2912400"/>
            <a:ext cx="802800" cy="20520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220" name="Straight Connector 104"/>
          <p:cNvCxnSpPr/>
          <p:nvPr/>
        </p:nvCxnSpPr>
        <p:spPr>
          <a:xfrm flipV="1">
            <a:off x="5932800" y="2980440"/>
            <a:ext cx="601920" cy="146880"/>
          </a:xfrm>
          <a:prstGeom prst="straightConnector1">
            <a:avLst/>
          </a:prstGeom>
          <a:ln w="12700">
            <a:solidFill>
              <a:srgbClr val="4a7ebb"/>
            </a:solidFill>
            <a:round/>
          </a:ln>
        </p:spPr>
      </p:cxnSp>
      <p:cxnSp>
        <p:nvCxnSpPr>
          <p:cNvPr id="221" name="Straight Arrow Connector 106"/>
          <p:cNvCxnSpPr>
            <a:endCxn id="196" idx="1"/>
          </p:cNvCxnSpPr>
          <p:nvPr/>
        </p:nvCxnSpPr>
        <p:spPr>
          <a:xfrm flipH="1">
            <a:off x="2289600" y="1720800"/>
            <a:ext cx="1910880" cy="59652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222" name="Straight Arrow Connector 107"/>
          <p:cNvCxnSpPr>
            <a:endCxn id="217" idx="1"/>
          </p:cNvCxnSpPr>
          <p:nvPr/>
        </p:nvCxnSpPr>
        <p:spPr>
          <a:xfrm>
            <a:off x="4846320" y="1720800"/>
            <a:ext cx="2290320" cy="54828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223" name="TextBox 108"/>
          <p:cNvSpPr/>
          <p:nvPr/>
        </p:nvSpPr>
        <p:spPr>
          <a:xfrm>
            <a:off x="2533320" y="1564560"/>
            <a:ext cx="12474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+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09"/>
          <p:cNvSpPr/>
          <p:nvPr/>
        </p:nvSpPr>
        <p:spPr>
          <a:xfrm>
            <a:off x="4692960" y="1955880"/>
            <a:ext cx="137232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no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(vehicle)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5" name="Straight Arrow Connector 114"/>
          <p:cNvCxnSpPr/>
          <p:nvPr/>
        </p:nvCxnSpPr>
        <p:spPr>
          <a:xfrm>
            <a:off x="4927320" y="1642680"/>
            <a:ext cx="3796920" cy="6260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226" name="TextBox 115"/>
          <p:cNvSpPr/>
          <p:nvPr/>
        </p:nvSpPr>
        <p:spPr>
          <a:xfrm>
            <a:off x="6992280" y="1642680"/>
            <a:ext cx="101556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Medium?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16"/>
          <p:cNvSpPr/>
          <p:nvPr/>
        </p:nvSpPr>
        <p:spPr>
          <a:xfrm>
            <a:off x="5238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17"/>
          <p:cNvSpPr/>
          <p:nvPr/>
        </p:nvSpPr>
        <p:spPr>
          <a:xfrm>
            <a:off x="5710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118"/>
          <p:cNvSpPr/>
          <p:nvPr/>
        </p:nvSpPr>
        <p:spPr>
          <a:xfrm>
            <a:off x="6195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19"/>
          <p:cNvSpPr/>
          <p:nvPr/>
        </p:nvSpPr>
        <p:spPr>
          <a:xfrm>
            <a:off x="6599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20"/>
          <p:cNvSpPr/>
          <p:nvPr/>
        </p:nvSpPr>
        <p:spPr>
          <a:xfrm>
            <a:off x="7048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21"/>
          <p:cNvSpPr/>
          <p:nvPr/>
        </p:nvSpPr>
        <p:spPr>
          <a:xfrm>
            <a:off x="7521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22"/>
          <p:cNvSpPr/>
          <p:nvPr/>
        </p:nvSpPr>
        <p:spPr>
          <a:xfrm>
            <a:off x="7904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123"/>
          <p:cNvSpPr/>
          <p:nvPr/>
        </p:nvSpPr>
        <p:spPr>
          <a:xfrm>
            <a:off x="8376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24"/>
          <p:cNvSpPr/>
          <p:nvPr/>
        </p:nvSpPr>
        <p:spPr>
          <a:xfrm>
            <a:off x="8848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Left Brace 125"/>
          <p:cNvSpPr/>
          <p:nvPr/>
        </p:nvSpPr>
        <p:spPr>
          <a:xfrm flipV="1" rot="16200000">
            <a:off x="5762520" y="376380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7" name="TextBox 126"/>
          <p:cNvSpPr/>
          <p:nvPr/>
        </p:nvSpPr>
        <p:spPr>
          <a:xfrm>
            <a:off x="550044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37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Left Brace 128"/>
          <p:cNvSpPr/>
          <p:nvPr/>
        </p:nvSpPr>
        <p:spPr>
          <a:xfrm flipV="1" rot="16200000">
            <a:off x="7081200" y="379224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9" name="TextBox 129"/>
          <p:cNvSpPr/>
          <p:nvPr/>
        </p:nvSpPr>
        <p:spPr>
          <a:xfrm>
            <a:off x="694188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Left Brace 130"/>
          <p:cNvSpPr/>
          <p:nvPr/>
        </p:nvSpPr>
        <p:spPr>
          <a:xfrm flipV="1" rot="16200000">
            <a:off x="8436240" y="3820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1" name="TextBox 131"/>
          <p:cNvSpPr/>
          <p:nvPr/>
        </p:nvSpPr>
        <p:spPr>
          <a:xfrm>
            <a:off x="825516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33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Left Brace 132"/>
          <p:cNvSpPr/>
          <p:nvPr/>
        </p:nvSpPr>
        <p:spPr>
          <a:xfrm flipV="1" rot="16200000">
            <a:off x="7063920" y="3841200"/>
            <a:ext cx="492840" cy="266544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3" name="TextBox 133"/>
          <p:cNvSpPr/>
          <p:nvPr/>
        </p:nvSpPr>
        <p:spPr>
          <a:xfrm>
            <a:off x="6793920" y="5441400"/>
            <a:ext cx="2445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7 (n=3, CV ~18%)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166"/>
          <p:cNvSpPr/>
          <p:nvPr/>
        </p:nvSpPr>
        <p:spPr>
          <a:xfrm>
            <a:off x="396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41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67"/>
          <p:cNvSpPr/>
          <p:nvPr/>
        </p:nvSpPr>
        <p:spPr>
          <a:xfrm>
            <a:off x="868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40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168"/>
          <p:cNvSpPr/>
          <p:nvPr/>
        </p:nvSpPr>
        <p:spPr>
          <a:xfrm>
            <a:off x="1353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169"/>
          <p:cNvSpPr/>
          <p:nvPr/>
        </p:nvSpPr>
        <p:spPr>
          <a:xfrm>
            <a:off x="1757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48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170"/>
          <p:cNvSpPr/>
          <p:nvPr/>
        </p:nvSpPr>
        <p:spPr>
          <a:xfrm>
            <a:off x="2206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52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71"/>
          <p:cNvSpPr/>
          <p:nvPr/>
        </p:nvSpPr>
        <p:spPr>
          <a:xfrm>
            <a:off x="2679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72"/>
          <p:cNvSpPr/>
          <p:nvPr/>
        </p:nvSpPr>
        <p:spPr>
          <a:xfrm>
            <a:off x="30625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Box 173"/>
          <p:cNvSpPr/>
          <p:nvPr/>
        </p:nvSpPr>
        <p:spPr>
          <a:xfrm>
            <a:off x="3534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174"/>
          <p:cNvSpPr/>
          <p:nvPr/>
        </p:nvSpPr>
        <p:spPr>
          <a:xfrm>
            <a:off x="4006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Left Brace 175"/>
          <p:cNvSpPr/>
          <p:nvPr/>
        </p:nvSpPr>
        <p:spPr>
          <a:xfrm flipV="1" rot="16200000">
            <a:off x="920520" y="376380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4" name="TextBox 176"/>
          <p:cNvSpPr/>
          <p:nvPr/>
        </p:nvSpPr>
        <p:spPr>
          <a:xfrm>
            <a:off x="65880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40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1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Left Brace 177"/>
          <p:cNvSpPr/>
          <p:nvPr/>
        </p:nvSpPr>
        <p:spPr>
          <a:xfrm flipV="1" rot="16200000">
            <a:off x="2239200" y="379224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6" name="TextBox 178"/>
          <p:cNvSpPr/>
          <p:nvPr/>
        </p:nvSpPr>
        <p:spPr>
          <a:xfrm>
            <a:off x="209988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Left Brace 179"/>
          <p:cNvSpPr/>
          <p:nvPr/>
        </p:nvSpPr>
        <p:spPr>
          <a:xfrm flipV="1" rot="16200000">
            <a:off x="3594600" y="3820680"/>
            <a:ext cx="340920" cy="120312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8" name="TextBox 180"/>
          <p:cNvSpPr/>
          <p:nvPr/>
        </p:nvSpPr>
        <p:spPr>
          <a:xfrm>
            <a:off x="3413520" y="458100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Left Brace 181"/>
          <p:cNvSpPr/>
          <p:nvPr/>
        </p:nvSpPr>
        <p:spPr>
          <a:xfrm flipV="1" rot="16200000">
            <a:off x="2221920" y="3841200"/>
            <a:ext cx="492840" cy="2665440"/>
          </a:xfrm>
          <a:prstGeom prst="leftBrace">
            <a:avLst>
              <a:gd name="adj1" fmla="val 8333"/>
              <a:gd name="adj2" fmla="val 50000"/>
            </a:avLst>
          </a:prstGeom>
          <a:solidFill>
            <a:schemeClr val="bg1"/>
          </a:solidFill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0" name="TextBox 182"/>
          <p:cNvSpPr/>
          <p:nvPr/>
        </p:nvSpPr>
        <p:spPr>
          <a:xfrm>
            <a:off x="1981800" y="5441400"/>
            <a:ext cx="23900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5 (n=3, CV~11%)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1" name="Group 223"/>
          <p:cNvGrpSpPr/>
          <p:nvPr/>
        </p:nvGrpSpPr>
        <p:grpSpPr>
          <a:xfrm>
            <a:off x="1313640" y="2970360"/>
            <a:ext cx="7809480" cy="3912840"/>
            <a:chOff x="1313640" y="2970360"/>
            <a:chExt cx="7809480" cy="3912840"/>
          </a:xfrm>
        </p:grpSpPr>
        <p:grpSp>
          <p:nvGrpSpPr>
            <p:cNvPr id="262" name="Group 222"/>
            <p:cNvGrpSpPr/>
            <p:nvPr/>
          </p:nvGrpSpPr>
          <p:grpSpPr>
            <a:xfrm>
              <a:off x="6155640" y="2970360"/>
              <a:ext cx="2967480" cy="3912840"/>
              <a:chOff x="6155640" y="2970360"/>
              <a:chExt cx="2967480" cy="3912840"/>
            </a:xfrm>
          </p:grpSpPr>
          <p:cxnSp>
            <p:nvCxnSpPr>
              <p:cNvPr id="263" name="Straight Arrow Connector 137"/>
              <p:cNvCxnSpPr/>
              <p:nvPr/>
            </p:nvCxnSpPr>
            <p:spPr>
              <a:xfrm>
                <a:off x="634644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64" name="TextBox 138"/>
              <p:cNvSpPr/>
              <p:nvPr/>
            </p:nvSpPr>
            <p:spPr>
              <a:xfrm>
                <a:off x="615564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36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65" name="Straight Arrow Connector 139"/>
              <p:cNvCxnSpPr/>
              <p:nvPr/>
            </p:nvCxnSpPr>
            <p:spPr>
              <a:xfrm>
                <a:off x="722232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66" name="TextBox 140"/>
              <p:cNvSpPr/>
              <p:nvPr/>
            </p:nvSpPr>
            <p:spPr>
              <a:xfrm>
                <a:off x="703152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49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67" name="Straight Arrow Connector 141"/>
              <p:cNvCxnSpPr/>
              <p:nvPr/>
            </p:nvCxnSpPr>
            <p:spPr>
              <a:xfrm>
                <a:off x="809820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68" name="TextBox 142"/>
              <p:cNvSpPr/>
              <p:nvPr/>
            </p:nvSpPr>
            <p:spPr>
              <a:xfrm>
                <a:off x="790740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32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69" name="Left Brace 143"/>
              <p:cNvSpPr/>
              <p:nvPr/>
            </p:nvSpPr>
            <p:spPr>
              <a:xfrm flipV="1" rot="16200000">
                <a:off x="7090200" y="5545080"/>
                <a:ext cx="304200" cy="1724400"/>
              </a:xfrm>
              <a:prstGeom prst="leftBrace">
                <a:avLst>
                  <a:gd name="adj1" fmla="val 8333"/>
                  <a:gd name="adj2" fmla="val 50551"/>
                </a:avLst>
              </a:prstGeom>
              <a:solidFill>
                <a:schemeClr val="bg1"/>
              </a:solidFill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70" name="TextBox 144"/>
              <p:cNvSpPr/>
              <p:nvPr/>
            </p:nvSpPr>
            <p:spPr>
              <a:xfrm>
                <a:off x="6744600" y="6534360"/>
                <a:ext cx="237852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39 </a:t>
                </a:r>
                <a:r>
                  <a:rPr b="0" lang="en-US" sz="1700" spc="-1" strike="noStrike">
                    <a:solidFill>
                      <a:srgbClr val="c00000"/>
                    </a:solidFill>
                    <a:latin typeface="Symbol"/>
                  </a:rPr>
                  <a:t></a:t>
                </a: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 9 (n=3, CV~23%)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71" name="Straight Arrow Connector 146"/>
              <p:cNvCxnSpPr/>
              <p:nvPr/>
            </p:nvCxnSpPr>
            <p:spPr>
              <a:xfrm flipH="1">
                <a:off x="6327360" y="3048480"/>
                <a:ext cx="162000" cy="39168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cxnSp>
            <p:nvCxnSpPr>
              <p:cNvPr id="272" name="Straight Arrow Connector 148"/>
              <p:cNvCxnSpPr/>
              <p:nvPr/>
            </p:nvCxnSpPr>
            <p:spPr>
              <a:xfrm>
                <a:off x="7135200" y="2970360"/>
                <a:ext cx="360" cy="46980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cxnSp>
            <p:nvCxnSpPr>
              <p:cNvPr id="273" name="Straight Arrow Connector 152"/>
              <p:cNvCxnSpPr/>
              <p:nvPr/>
            </p:nvCxnSpPr>
            <p:spPr>
              <a:xfrm>
                <a:off x="7619760" y="2970360"/>
                <a:ext cx="331920" cy="4863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</p:grpSp>
        <p:grpSp>
          <p:nvGrpSpPr>
            <p:cNvPr id="274" name="Group 221"/>
            <p:cNvGrpSpPr/>
            <p:nvPr/>
          </p:nvGrpSpPr>
          <p:grpSpPr>
            <a:xfrm>
              <a:off x="1313640" y="2970360"/>
              <a:ext cx="2967480" cy="3912840"/>
              <a:chOff x="1313640" y="2970360"/>
              <a:chExt cx="2967480" cy="3912840"/>
            </a:xfrm>
          </p:grpSpPr>
          <p:cxnSp>
            <p:nvCxnSpPr>
              <p:cNvPr id="275" name="Straight Arrow Connector 183"/>
              <p:cNvCxnSpPr/>
              <p:nvPr/>
            </p:nvCxnSpPr>
            <p:spPr>
              <a:xfrm>
                <a:off x="150444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76" name="TextBox 184"/>
              <p:cNvSpPr/>
              <p:nvPr/>
            </p:nvSpPr>
            <p:spPr>
              <a:xfrm>
                <a:off x="131364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39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77" name="Straight Arrow Connector 185"/>
              <p:cNvCxnSpPr/>
              <p:nvPr/>
            </p:nvCxnSpPr>
            <p:spPr>
              <a:xfrm>
                <a:off x="238032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78" name="TextBox 186"/>
              <p:cNvSpPr/>
              <p:nvPr/>
            </p:nvSpPr>
            <p:spPr>
              <a:xfrm>
                <a:off x="218952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52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79" name="Straight Arrow Connector 187"/>
              <p:cNvCxnSpPr/>
              <p:nvPr/>
            </p:nvCxnSpPr>
            <p:spPr>
              <a:xfrm>
                <a:off x="3256200" y="4222080"/>
                <a:ext cx="360" cy="17211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sp>
            <p:nvSpPr>
              <p:cNvPr id="280" name="TextBox 188"/>
              <p:cNvSpPr/>
              <p:nvPr/>
            </p:nvSpPr>
            <p:spPr>
              <a:xfrm>
                <a:off x="3065400" y="5986800"/>
                <a:ext cx="42660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46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81" name="Left Brace 189"/>
              <p:cNvSpPr/>
              <p:nvPr/>
            </p:nvSpPr>
            <p:spPr>
              <a:xfrm flipV="1" rot="16200000">
                <a:off x="2248560" y="5545080"/>
                <a:ext cx="304200" cy="1724400"/>
              </a:xfrm>
              <a:prstGeom prst="leftBrace">
                <a:avLst>
                  <a:gd name="adj1" fmla="val 8333"/>
                  <a:gd name="adj2" fmla="val 50551"/>
                </a:avLst>
              </a:prstGeom>
              <a:solidFill>
                <a:schemeClr val="bg1"/>
              </a:solidFill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282" name="TextBox 190"/>
              <p:cNvSpPr/>
              <p:nvPr/>
            </p:nvSpPr>
            <p:spPr>
              <a:xfrm>
                <a:off x="1902600" y="6534360"/>
                <a:ext cx="2378520" cy="348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46 </a:t>
                </a:r>
                <a:r>
                  <a:rPr b="0" lang="en-US" sz="1700" spc="-1" strike="noStrike">
                    <a:solidFill>
                      <a:srgbClr val="c00000"/>
                    </a:solidFill>
                    <a:latin typeface="Symbol"/>
                  </a:rPr>
                  <a:t></a:t>
                </a:r>
                <a:r>
                  <a:rPr b="0" lang="en-US" sz="1700" spc="-1" strike="noStrike">
                    <a:solidFill>
                      <a:srgbClr val="c00000"/>
                    </a:solidFill>
                    <a:latin typeface="Calibri"/>
                  </a:rPr>
                  <a:t> 7 (n=3, CV~14%)</a:t>
                </a:r>
                <a:endParaRPr b="0" lang="en-CA" sz="17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cxnSp>
            <p:nvCxnSpPr>
              <p:cNvPr id="283" name="Straight Arrow Connector 192"/>
              <p:cNvCxnSpPr/>
              <p:nvPr/>
            </p:nvCxnSpPr>
            <p:spPr>
              <a:xfrm flipH="1">
                <a:off x="1561680" y="3048480"/>
                <a:ext cx="162000" cy="39168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cxnSp>
            <p:nvCxnSpPr>
              <p:cNvPr id="284" name="Straight Arrow Connector 193"/>
              <p:cNvCxnSpPr/>
              <p:nvPr/>
            </p:nvCxnSpPr>
            <p:spPr>
              <a:xfrm>
                <a:off x="2288520" y="2970360"/>
                <a:ext cx="81360" cy="46980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  <p:cxnSp>
            <p:nvCxnSpPr>
              <p:cNvPr id="285" name="Straight Arrow Connector 194"/>
              <p:cNvCxnSpPr/>
              <p:nvPr/>
            </p:nvCxnSpPr>
            <p:spPr>
              <a:xfrm>
                <a:off x="2854080" y="2970360"/>
                <a:ext cx="331920" cy="48636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round/>
                <a:tailEnd len="med" type="arrow" w="med"/>
              </a:ln>
            </p:spPr>
          </p:cxnSp>
        </p:grpSp>
      </p:grpSp>
      <p:sp>
        <p:nvSpPr>
          <p:cNvPr id="286" name="TextBox 127"/>
          <p:cNvSpPr/>
          <p:nvPr/>
        </p:nvSpPr>
        <p:spPr>
          <a:xfrm>
            <a:off x="3956760" y="2581560"/>
            <a:ext cx="157644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Flask or well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134"/>
          <p:cNvSpPr/>
          <p:nvPr/>
        </p:nvSpPr>
        <p:spPr>
          <a:xfrm>
            <a:off x="4489200" y="3520440"/>
            <a:ext cx="72288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Data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(3X)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2"/>
          <p:cNvSpPr/>
          <p:nvPr/>
        </p:nvSpPr>
        <p:spPr>
          <a:xfrm>
            <a:off x="4296240" y="4523040"/>
            <a:ext cx="1113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Assay CV?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135"/>
          <p:cNvSpPr/>
          <p:nvPr/>
        </p:nvSpPr>
        <p:spPr>
          <a:xfrm>
            <a:off x="4080240" y="4816440"/>
            <a:ext cx="1644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mean</a:t>
            </a: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 (range) CV= 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4.5 (2.5-5.7)%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136"/>
          <p:cNvSpPr/>
          <p:nvPr/>
        </p:nvSpPr>
        <p:spPr>
          <a:xfrm>
            <a:off x="4476960" y="6051600"/>
            <a:ext cx="133488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Where is the </a:t>
            </a:r>
            <a:br>
              <a:rPr sz="1400"/>
            </a:b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variability 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coming from?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" dur="indefinite" restart="never" nodeType="tmRoot">
          <p:childTnLst>
            <p:seq>
              <p:cTn id="40" dur="indefinite" nodeType="mainSeq">
                <p:childTnLst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42836BCD-9EBC-4A37-ADAB-C9681BBF606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B4FB103-8AAA-4725-A3D5-D1411130EB7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A3657CE-799B-4426-BAFA-B20CDADBF42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48FB8F03-1A70-4965-9293-01CDBC9E3BC2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85E6785-56C2-40F8-8F8B-EA2C7EDF0CE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E8869F1-1529-4FA5-92A9-6754C5F939B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096C81B3-8B0B-44AB-8F1B-73C34AC72E5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2E049036-47E0-4B96-9877-95F7657F856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83674CD-21EA-4486-A04F-A709B8F3E38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511B1EA-C4C2-437D-B0F7-30BA8888A0DC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338B0FD2-AD7B-48AC-AC97-C46A3011D2C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ectangle 17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Oval 21"/>
          <p:cNvSpPr/>
          <p:nvPr/>
        </p:nvSpPr>
        <p:spPr>
          <a:xfrm>
            <a:off x="484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Oval 22"/>
          <p:cNvSpPr/>
          <p:nvPr/>
        </p:nvSpPr>
        <p:spPr>
          <a:xfrm>
            <a:off x="952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Oval 23"/>
          <p:cNvSpPr/>
          <p:nvPr/>
        </p:nvSpPr>
        <p:spPr>
          <a:xfrm>
            <a:off x="1420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Oval 24"/>
          <p:cNvSpPr/>
          <p:nvPr/>
        </p:nvSpPr>
        <p:spPr>
          <a:xfrm>
            <a:off x="1821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Oval 25"/>
          <p:cNvSpPr/>
          <p:nvPr/>
        </p:nvSpPr>
        <p:spPr>
          <a:xfrm>
            <a:off x="2289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Oval 26"/>
          <p:cNvSpPr/>
          <p:nvPr/>
        </p:nvSpPr>
        <p:spPr>
          <a:xfrm>
            <a:off x="2757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Oval 27"/>
          <p:cNvSpPr/>
          <p:nvPr/>
        </p:nvSpPr>
        <p:spPr>
          <a:xfrm>
            <a:off x="3158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Oval 28"/>
          <p:cNvSpPr/>
          <p:nvPr/>
        </p:nvSpPr>
        <p:spPr>
          <a:xfrm>
            <a:off x="3626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Oval 29"/>
          <p:cNvSpPr/>
          <p:nvPr/>
        </p:nvSpPr>
        <p:spPr>
          <a:xfrm>
            <a:off x="4094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Oval 38"/>
          <p:cNvSpPr/>
          <p:nvPr/>
        </p:nvSpPr>
        <p:spPr>
          <a:xfrm>
            <a:off x="4362120" y="140796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39"/>
          <p:cNvSpPr/>
          <p:nvPr/>
        </p:nvSpPr>
        <p:spPr>
          <a:xfrm>
            <a:off x="3377520" y="1017000"/>
            <a:ext cx="15368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Seeding 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Oval 43"/>
          <p:cNvSpPr/>
          <p:nvPr/>
        </p:nvSpPr>
        <p:spPr>
          <a:xfrm>
            <a:off x="5331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Oval 44"/>
          <p:cNvSpPr/>
          <p:nvPr/>
        </p:nvSpPr>
        <p:spPr>
          <a:xfrm>
            <a:off x="5799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Oval 45"/>
          <p:cNvSpPr/>
          <p:nvPr/>
        </p:nvSpPr>
        <p:spPr>
          <a:xfrm>
            <a:off x="6267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Oval 46"/>
          <p:cNvSpPr/>
          <p:nvPr/>
        </p:nvSpPr>
        <p:spPr>
          <a:xfrm>
            <a:off x="6668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Oval 47"/>
          <p:cNvSpPr/>
          <p:nvPr/>
        </p:nvSpPr>
        <p:spPr>
          <a:xfrm>
            <a:off x="7136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Oval 48"/>
          <p:cNvSpPr/>
          <p:nvPr/>
        </p:nvSpPr>
        <p:spPr>
          <a:xfrm>
            <a:off x="7604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Oval 49"/>
          <p:cNvSpPr/>
          <p:nvPr/>
        </p:nvSpPr>
        <p:spPr>
          <a:xfrm>
            <a:off x="8005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Oval 50"/>
          <p:cNvSpPr/>
          <p:nvPr/>
        </p:nvSpPr>
        <p:spPr>
          <a:xfrm>
            <a:off x="8473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Oval 51"/>
          <p:cNvSpPr/>
          <p:nvPr/>
        </p:nvSpPr>
        <p:spPr>
          <a:xfrm>
            <a:off x="8941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323" name="Group 141"/>
          <p:cNvGrpSpPr/>
          <p:nvPr/>
        </p:nvGrpSpPr>
        <p:grpSpPr>
          <a:xfrm>
            <a:off x="484920" y="1720800"/>
            <a:ext cx="3877200" cy="1756080"/>
            <a:chOff x="484920" y="1720800"/>
            <a:chExt cx="3877200" cy="1756080"/>
          </a:xfrm>
        </p:grpSpPr>
        <p:grpSp>
          <p:nvGrpSpPr>
            <p:cNvPr id="324" name="Group 138"/>
            <p:cNvGrpSpPr/>
            <p:nvPr/>
          </p:nvGrpSpPr>
          <p:grpSpPr>
            <a:xfrm>
              <a:off x="484920" y="2316960"/>
              <a:ext cx="3877200" cy="1159920"/>
              <a:chOff x="484920" y="2316960"/>
              <a:chExt cx="3877200" cy="1159920"/>
            </a:xfrm>
          </p:grpSpPr>
          <p:sp>
            <p:nvSpPr>
              <p:cNvPr id="325" name="Oval 18"/>
              <p:cNvSpPr/>
              <p:nvPr/>
            </p:nvSpPr>
            <p:spPr>
              <a:xfrm>
                <a:off x="1688040" y="2658240"/>
                <a:ext cx="267120" cy="27252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326" name="Oval 19"/>
              <p:cNvSpPr/>
              <p:nvPr/>
            </p:nvSpPr>
            <p:spPr>
              <a:xfrm>
                <a:off x="2156040" y="2658240"/>
                <a:ext cx="267120" cy="27252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327" name="Oval 20"/>
              <p:cNvSpPr/>
              <p:nvPr/>
            </p:nvSpPr>
            <p:spPr>
              <a:xfrm>
                <a:off x="2624040" y="2658240"/>
                <a:ext cx="267120" cy="27252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328" name="Left Brace 30"/>
              <p:cNvSpPr/>
              <p:nvPr/>
            </p:nvSpPr>
            <p:spPr>
              <a:xfrm rot="5400000">
                <a:off x="3589920" y="2704680"/>
                <a:ext cx="340920" cy="1203120"/>
              </a:xfrm>
              <a:prstGeom prst="leftBrace">
                <a:avLst>
                  <a:gd name="adj1" fmla="val 8333"/>
                  <a:gd name="adj2" fmla="val 50000"/>
                </a:avLst>
              </a:prstGeom>
              <a:noFill/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29" name="Left Brace 31"/>
              <p:cNvSpPr/>
              <p:nvPr/>
            </p:nvSpPr>
            <p:spPr>
              <a:xfrm rot="5400000">
                <a:off x="2252880" y="2704680"/>
                <a:ext cx="340920" cy="1203120"/>
              </a:xfrm>
              <a:prstGeom prst="leftBrace">
                <a:avLst>
                  <a:gd name="adj1" fmla="val 8333"/>
                  <a:gd name="adj2" fmla="val 50000"/>
                </a:avLst>
              </a:prstGeom>
              <a:noFill/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30" name="Left Brace 32"/>
              <p:cNvSpPr/>
              <p:nvPr/>
            </p:nvSpPr>
            <p:spPr>
              <a:xfrm rot="5400000">
                <a:off x="915840" y="2704680"/>
                <a:ext cx="340920" cy="1203120"/>
              </a:xfrm>
              <a:prstGeom prst="leftBrace">
                <a:avLst>
                  <a:gd name="adj1" fmla="val 8333"/>
                  <a:gd name="adj2" fmla="val 50000"/>
                </a:avLst>
              </a:prstGeom>
              <a:noFill/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sp>
            <p:nvSpPr>
              <p:cNvPr id="331" name="Left Brace 33"/>
              <p:cNvSpPr/>
              <p:nvPr/>
            </p:nvSpPr>
            <p:spPr>
              <a:xfrm rot="5400000">
                <a:off x="2118960" y="1885680"/>
                <a:ext cx="340920" cy="1203120"/>
              </a:xfrm>
              <a:prstGeom prst="leftBrace">
                <a:avLst>
                  <a:gd name="adj1" fmla="val 8333"/>
                  <a:gd name="adj2" fmla="val 50000"/>
                </a:avLst>
              </a:prstGeom>
              <a:noFill/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cxnSp>
            <p:nvCxnSpPr>
              <p:cNvPr id="332" name="Straight Connector 34"/>
              <p:cNvCxnSpPr/>
              <p:nvPr/>
            </p:nvCxnSpPr>
            <p:spPr>
              <a:xfrm flipV="1">
                <a:off x="2432880" y="3009240"/>
                <a:ext cx="360" cy="13716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  <p:cxnSp>
            <p:nvCxnSpPr>
              <p:cNvPr id="333" name="Straight Connector 35"/>
              <p:cNvCxnSpPr/>
              <p:nvPr/>
            </p:nvCxnSpPr>
            <p:spPr>
              <a:xfrm flipH="1" flipV="1">
                <a:off x="2958120" y="2931120"/>
                <a:ext cx="802440" cy="20520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  <p:cxnSp>
            <p:nvCxnSpPr>
              <p:cNvPr id="334" name="Straight Connector 36"/>
              <p:cNvCxnSpPr/>
              <p:nvPr/>
            </p:nvCxnSpPr>
            <p:spPr>
              <a:xfrm flipV="1">
                <a:off x="1086120" y="2999520"/>
                <a:ext cx="601920" cy="14688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</p:grpSp>
        <p:cxnSp>
          <p:nvCxnSpPr>
            <p:cNvPr id="335" name="Straight Arrow Connector 59"/>
            <p:cNvCxnSpPr>
              <a:endCxn id="331" idx="1"/>
            </p:cNvCxnSpPr>
            <p:nvPr/>
          </p:nvCxnSpPr>
          <p:spPr>
            <a:xfrm flipH="1">
              <a:off x="2289600" y="1720800"/>
              <a:ext cx="1910880" cy="59652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</a:ln>
          </p:spPr>
        </p:cxnSp>
      </p:grpSp>
      <p:grpSp>
        <p:nvGrpSpPr>
          <p:cNvPr id="336" name="Group 142"/>
          <p:cNvGrpSpPr/>
          <p:nvPr/>
        </p:nvGrpSpPr>
        <p:grpSpPr>
          <a:xfrm>
            <a:off x="4846320" y="1720800"/>
            <a:ext cx="4362120" cy="1737360"/>
            <a:chOff x="4846320" y="1720800"/>
            <a:chExt cx="4362120" cy="1737360"/>
          </a:xfrm>
        </p:grpSpPr>
        <p:sp>
          <p:nvSpPr>
            <p:cNvPr id="337" name="Left Brace 52"/>
            <p:cNvSpPr/>
            <p:nvPr/>
          </p:nvSpPr>
          <p:spPr>
            <a:xfrm rot="5400000">
              <a:off x="8436240" y="268596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38" name="Left Brace 53"/>
            <p:cNvSpPr/>
            <p:nvPr/>
          </p:nvSpPr>
          <p:spPr>
            <a:xfrm rot="5400000">
              <a:off x="7099560" y="268596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39" name="Left Brace 54"/>
            <p:cNvSpPr/>
            <p:nvPr/>
          </p:nvSpPr>
          <p:spPr>
            <a:xfrm rot="5400000">
              <a:off x="5762520" y="268596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40" name="Left Brace 55"/>
            <p:cNvSpPr/>
            <p:nvPr/>
          </p:nvSpPr>
          <p:spPr>
            <a:xfrm rot="5400000">
              <a:off x="6965640" y="183744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grpSp>
          <p:nvGrpSpPr>
            <p:cNvPr id="341" name="Group 140"/>
            <p:cNvGrpSpPr/>
            <p:nvPr/>
          </p:nvGrpSpPr>
          <p:grpSpPr>
            <a:xfrm>
              <a:off x="4846320" y="1720800"/>
              <a:ext cx="3760560" cy="1406160"/>
              <a:chOff x="4846320" y="1720800"/>
              <a:chExt cx="3760560" cy="1406160"/>
            </a:xfrm>
          </p:grpSpPr>
          <p:sp>
            <p:nvSpPr>
              <p:cNvPr id="342" name="Oval 40"/>
              <p:cNvSpPr/>
              <p:nvPr/>
            </p:nvSpPr>
            <p:spPr>
              <a:xfrm>
                <a:off x="6534720" y="2639520"/>
                <a:ext cx="267120" cy="27252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343" name="Oval 41"/>
              <p:cNvSpPr/>
              <p:nvPr/>
            </p:nvSpPr>
            <p:spPr>
              <a:xfrm>
                <a:off x="7002720" y="2639520"/>
                <a:ext cx="267120" cy="27252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344" name="Oval 42"/>
              <p:cNvSpPr/>
              <p:nvPr/>
            </p:nvSpPr>
            <p:spPr>
              <a:xfrm>
                <a:off x="7470360" y="2639520"/>
                <a:ext cx="267120" cy="27252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4f81bd">
                    <a:lumMod val="75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cxnSp>
            <p:nvCxnSpPr>
              <p:cNvPr id="345" name="Straight Connector 56"/>
              <p:cNvCxnSpPr/>
              <p:nvPr/>
            </p:nvCxnSpPr>
            <p:spPr>
              <a:xfrm flipV="1">
                <a:off x="7267680" y="2990520"/>
                <a:ext cx="360" cy="13680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  <p:cxnSp>
            <p:nvCxnSpPr>
              <p:cNvPr id="346" name="Straight Connector 57"/>
              <p:cNvCxnSpPr/>
              <p:nvPr/>
            </p:nvCxnSpPr>
            <p:spPr>
              <a:xfrm flipH="1" flipV="1">
                <a:off x="7804440" y="2912400"/>
                <a:ext cx="802800" cy="20520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  <p:cxnSp>
            <p:nvCxnSpPr>
              <p:cNvPr id="347" name="Straight Connector 58"/>
              <p:cNvCxnSpPr/>
              <p:nvPr/>
            </p:nvCxnSpPr>
            <p:spPr>
              <a:xfrm flipV="1">
                <a:off x="5932800" y="2980440"/>
                <a:ext cx="601920" cy="146880"/>
              </a:xfrm>
              <a:prstGeom prst="straightConnector1">
                <a:avLst/>
              </a:prstGeom>
              <a:ln w="12700">
                <a:solidFill>
                  <a:srgbClr val="4a7ebb"/>
                </a:solidFill>
                <a:round/>
              </a:ln>
            </p:spPr>
          </p:cxnSp>
          <p:cxnSp>
            <p:nvCxnSpPr>
              <p:cNvPr id="348" name="Straight Arrow Connector 60"/>
              <p:cNvCxnSpPr/>
              <p:nvPr/>
            </p:nvCxnSpPr>
            <p:spPr>
              <a:xfrm>
                <a:off x="4846320" y="1720800"/>
                <a:ext cx="2289960" cy="547920"/>
              </a:xfrm>
              <a:prstGeom prst="straightConnector1">
                <a:avLst/>
              </a:prstGeom>
              <a:ln>
                <a:solidFill>
                  <a:srgbClr val="4a7ebb"/>
                </a:solidFill>
                <a:round/>
              </a:ln>
            </p:spPr>
          </p:cxnSp>
        </p:grpSp>
      </p:grpSp>
      <p:sp>
        <p:nvSpPr>
          <p:cNvPr id="349" name="TextBox 61"/>
          <p:cNvSpPr/>
          <p:nvPr/>
        </p:nvSpPr>
        <p:spPr>
          <a:xfrm>
            <a:off x="2533320" y="1564560"/>
            <a:ext cx="12474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+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62"/>
          <p:cNvSpPr/>
          <p:nvPr/>
        </p:nvSpPr>
        <p:spPr>
          <a:xfrm>
            <a:off x="4692960" y="1955880"/>
            <a:ext cx="137232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no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(vehicle)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51" name="Straight Arrow Connector 63"/>
          <p:cNvCxnSpPr/>
          <p:nvPr/>
        </p:nvCxnSpPr>
        <p:spPr>
          <a:xfrm>
            <a:off x="4927320" y="1642680"/>
            <a:ext cx="3796920" cy="6260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352" name="TextBox 64"/>
          <p:cNvSpPr/>
          <p:nvPr/>
        </p:nvSpPr>
        <p:spPr>
          <a:xfrm>
            <a:off x="6992280" y="1642680"/>
            <a:ext cx="101556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Medium?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65"/>
          <p:cNvSpPr/>
          <p:nvPr/>
        </p:nvSpPr>
        <p:spPr>
          <a:xfrm>
            <a:off x="5238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66"/>
          <p:cNvSpPr/>
          <p:nvPr/>
        </p:nvSpPr>
        <p:spPr>
          <a:xfrm>
            <a:off x="5710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67"/>
          <p:cNvSpPr/>
          <p:nvPr/>
        </p:nvSpPr>
        <p:spPr>
          <a:xfrm>
            <a:off x="6195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68"/>
          <p:cNvSpPr/>
          <p:nvPr/>
        </p:nvSpPr>
        <p:spPr>
          <a:xfrm>
            <a:off x="6599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69"/>
          <p:cNvSpPr/>
          <p:nvPr/>
        </p:nvSpPr>
        <p:spPr>
          <a:xfrm>
            <a:off x="7048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70"/>
          <p:cNvSpPr/>
          <p:nvPr/>
        </p:nvSpPr>
        <p:spPr>
          <a:xfrm>
            <a:off x="7521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71"/>
          <p:cNvSpPr/>
          <p:nvPr/>
        </p:nvSpPr>
        <p:spPr>
          <a:xfrm>
            <a:off x="7904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2"/>
          <p:cNvSpPr/>
          <p:nvPr/>
        </p:nvSpPr>
        <p:spPr>
          <a:xfrm>
            <a:off x="8376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73"/>
          <p:cNvSpPr/>
          <p:nvPr/>
        </p:nvSpPr>
        <p:spPr>
          <a:xfrm>
            <a:off x="8848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103"/>
          <p:cNvSpPr/>
          <p:nvPr/>
        </p:nvSpPr>
        <p:spPr>
          <a:xfrm>
            <a:off x="396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41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104"/>
          <p:cNvSpPr/>
          <p:nvPr/>
        </p:nvSpPr>
        <p:spPr>
          <a:xfrm>
            <a:off x="868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40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105"/>
          <p:cNvSpPr/>
          <p:nvPr/>
        </p:nvSpPr>
        <p:spPr>
          <a:xfrm>
            <a:off x="1353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106"/>
          <p:cNvSpPr/>
          <p:nvPr/>
        </p:nvSpPr>
        <p:spPr>
          <a:xfrm>
            <a:off x="1757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48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107"/>
          <p:cNvSpPr/>
          <p:nvPr/>
        </p:nvSpPr>
        <p:spPr>
          <a:xfrm>
            <a:off x="2206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52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108"/>
          <p:cNvSpPr/>
          <p:nvPr/>
        </p:nvSpPr>
        <p:spPr>
          <a:xfrm>
            <a:off x="2679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09"/>
          <p:cNvSpPr/>
          <p:nvPr/>
        </p:nvSpPr>
        <p:spPr>
          <a:xfrm>
            <a:off x="30625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110"/>
          <p:cNvSpPr/>
          <p:nvPr/>
        </p:nvSpPr>
        <p:spPr>
          <a:xfrm>
            <a:off x="3534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11"/>
          <p:cNvSpPr/>
          <p:nvPr/>
        </p:nvSpPr>
        <p:spPr>
          <a:xfrm>
            <a:off x="4006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71" name="Group 143"/>
          <p:cNvGrpSpPr/>
          <p:nvPr/>
        </p:nvGrpSpPr>
        <p:grpSpPr>
          <a:xfrm>
            <a:off x="489600" y="4195440"/>
            <a:ext cx="3877200" cy="1594800"/>
            <a:chOff x="489600" y="4195440"/>
            <a:chExt cx="3877200" cy="1594800"/>
          </a:xfrm>
        </p:grpSpPr>
        <p:sp>
          <p:nvSpPr>
            <p:cNvPr id="372" name="Left Brace 112"/>
            <p:cNvSpPr/>
            <p:nvPr/>
          </p:nvSpPr>
          <p:spPr>
            <a:xfrm flipV="1" rot="16200000">
              <a:off x="920520" y="376380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73" name="TextBox 113"/>
            <p:cNvSpPr/>
            <p:nvPr/>
          </p:nvSpPr>
          <p:spPr>
            <a:xfrm>
              <a:off x="66024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40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1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4" name="Left Brace 114"/>
            <p:cNvSpPr/>
            <p:nvPr/>
          </p:nvSpPr>
          <p:spPr>
            <a:xfrm flipV="1" rot="16200000">
              <a:off x="2239200" y="379224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75" name="TextBox 115"/>
            <p:cNvSpPr/>
            <p:nvPr/>
          </p:nvSpPr>
          <p:spPr>
            <a:xfrm>
              <a:off x="210132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49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3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" name="Left Brace 116"/>
            <p:cNvSpPr/>
            <p:nvPr/>
          </p:nvSpPr>
          <p:spPr>
            <a:xfrm flipV="1" rot="16200000">
              <a:off x="3594600" y="382068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77" name="TextBox 117"/>
            <p:cNvSpPr/>
            <p:nvPr/>
          </p:nvSpPr>
          <p:spPr>
            <a:xfrm>
              <a:off x="341496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44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2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8" name="Left Brace 118"/>
            <p:cNvSpPr/>
            <p:nvPr/>
          </p:nvSpPr>
          <p:spPr>
            <a:xfrm flipV="1" rot="16200000">
              <a:off x="2221920" y="3841200"/>
              <a:ext cx="492840" cy="266544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79" name="TextBox 119"/>
            <p:cNvSpPr/>
            <p:nvPr/>
          </p:nvSpPr>
          <p:spPr>
            <a:xfrm>
              <a:off x="2033280" y="54414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44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5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80" name="Group 144"/>
          <p:cNvGrpSpPr/>
          <p:nvPr/>
        </p:nvGrpSpPr>
        <p:grpSpPr>
          <a:xfrm>
            <a:off x="5331600" y="4195440"/>
            <a:ext cx="3876840" cy="1594800"/>
            <a:chOff x="5331600" y="4195440"/>
            <a:chExt cx="3876840" cy="1594800"/>
          </a:xfrm>
        </p:grpSpPr>
        <p:sp>
          <p:nvSpPr>
            <p:cNvPr id="381" name="Left Brace 74"/>
            <p:cNvSpPr/>
            <p:nvPr/>
          </p:nvSpPr>
          <p:spPr>
            <a:xfrm flipV="1" rot="16200000">
              <a:off x="5762520" y="376380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82" name="TextBox 75"/>
            <p:cNvSpPr/>
            <p:nvPr/>
          </p:nvSpPr>
          <p:spPr>
            <a:xfrm>
              <a:off x="550188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37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2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" name="Left Brace 76"/>
            <p:cNvSpPr/>
            <p:nvPr/>
          </p:nvSpPr>
          <p:spPr>
            <a:xfrm flipV="1" rot="16200000">
              <a:off x="7081200" y="379224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84" name="TextBox 77"/>
            <p:cNvSpPr/>
            <p:nvPr/>
          </p:nvSpPr>
          <p:spPr>
            <a:xfrm>
              <a:off x="694332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47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2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5" name="Left Brace 78"/>
            <p:cNvSpPr/>
            <p:nvPr/>
          </p:nvSpPr>
          <p:spPr>
            <a:xfrm flipV="1" rot="16200000">
              <a:off x="8436240" y="3820680"/>
              <a:ext cx="340920" cy="120312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86" name="TextBox 79"/>
            <p:cNvSpPr/>
            <p:nvPr/>
          </p:nvSpPr>
          <p:spPr>
            <a:xfrm>
              <a:off x="8256600" y="45810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33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2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7" name="Left Brace 80"/>
            <p:cNvSpPr/>
            <p:nvPr/>
          </p:nvSpPr>
          <p:spPr>
            <a:xfrm flipV="1" rot="16200000">
              <a:off x="7063920" y="3841200"/>
              <a:ext cx="492840" cy="2665440"/>
            </a:xfrm>
            <a:prstGeom prst="leftBrace">
              <a:avLst>
                <a:gd name="adj1" fmla="val 8333"/>
                <a:gd name="adj2" fmla="val 50000"/>
              </a:avLst>
            </a:prstGeom>
            <a:solidFill>
              <a:schemeClr val="bg1"/>
            </a:solidFill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388" name="TextBox 81"/>
            <p:cNvSpPr/>
            <p:nvPr/>
          </p:nvSpPr>
          <p:spPr>
            <a:xfrm>
              <a:off x="6875280" y="5441400"/>
              <a:ext cx="879120" cy="34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39 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Symbol"/>
                </a:rPr>
                <a:t></a:t>
              </a:r>
              <a:r>
                <a:rPr b="0" lang="en-US" sz="1700" spc="-1" strike="noStrike">
                  <a:solidFill>
                    <a:schemeClr val="accent1">
                      <a:lumMod val="50000"/>
                    </a:schemeClr>
                  </a:solidFill>
                  <a:latin typeface="Calibri"/>
                </a:rPr>
                <a:t> 7</a:t>
              </a:r>
              <a:endParaRPr b="0" lang="en-CA" sz="17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89" name="TextBox 146"/>
          <p:cNvSpPr/>
          <p:nvPr/>
        </p:nvSpPr>
        <p:spPr>
          <a:xfrm>
            <a:off x="2027160" y="589716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47"/>
          <p:cNvSpPr/>
          <p:nvPr/>
        </p:nvSpPr>
        <p:spPr>
          <a:xfrm>
            <a:off x="2023920" y="6362640"/>
            <a:ext cx="9468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 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153"/>
          <p:cNvSpPr/>
          <p:nvPr/>
        </p:nvSpPr>
        <p:spPr>
          <a:xfrm>
            <a:off x="6876000" y="589716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154"/>
          <p:cNvSpPr/>
          <p:nvPr/>
        </p:nvSpPr>
        <p:spPr>
          <a:xfrm>
            <a:off x="6873840" y="6319080"/>
            <a:ext cx="8906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3" name="Straight Arrow Connector 2"/>
          <p:cNvCxnSpPr>
            <a:stCxn id="379" idx="3"/>
            <a:endCxn id="388" idx="1"/>
          </p:cNvCxnSpPr>
          <p:nvPr/>
        </p:nvCxnSpPr>
        <p:spPr>
          <a:xfrm>
            <a:off x="2912400" y="5615640"/>
            <a:ext cx="3963240" cy="3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394" name="TextBox 4"/>
          <p:cNvSpPr/>
          <p:nvPr/>
        </p:nvSpPr>
        <p:spPr>
          <a:xfrm>
            <a:off x="3230280" y="5381280"/>
            <a:ext cx="3169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Would need n~</a:t>
            </a:r>
            <a:r>
              <a:rPr b="1" lang="en-US" sz="1200" spc="-1" strike="noStrike">
                <a:solidFill>
                  <a:srgbClr val="ff0000"/>
                </a:solidFill>
                <a:latin typeface="Calibri"/>
              </a:rPr>
              <a:t>32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to detect this difference</a:t>
            </a:r>
            <a:endParaRPr b="0" lang="en-CA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5" name="Straight Arrow Connector 120"/>
          <p:cNvCxnSpPr/>
          <p:nvPr/>
        </p:nvCxnSpPr>
        <p:spPr>
          <a:xfrm>
            <a:off x="2864880" y="6080040"/>
            <a:ext cx="4106160" cy="3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396" name="TextBox 121"/>
          <p:cNvSpPr/>
          <p:nvPr/>
        </p:nvSpPr>
        <p:spPr>
          <a:xfrm>
            <a:off x="3297600" y="5843160"/>
            <a:ext cx="308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Would need n=</a:t>
            </a:r>
            <a:r>
              <a:rPr b="1" lang="en-US" sz="1200" spc="-1" strike="noStrike">
                <a:solidFill>
                  <a:srgbClr val="ff0000"/>
                </a:solidFill>
                <a:latin typeface="Calibri"/>
              </a:rPr>
              <a:t>6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to detect this difference</a:t>
            </a:r>
            <a:endParaRPr b="0" lang="en-CA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97" name="Straight Arrow Connector 122"/>
          <p:cNvCxnSpPr/>
          <p:nvPr/>
        </p:nvCxnSpPr>
        <p:spPr>
          <a:xfrm>
            <a:off x="2840760" y="6532920"/>
            <a:ext cx="4106160" cy="3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398" name="TextBox 123"/>
          <p:cNvSpPr/>
          <p:nvPr/>
        </p:nvSpPr>
        <p:spPr>
          <a:xfrm>
            <a:off x="3273840" y="6296400"/>
            <a:ext cx="308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Would need n=</a:t>
            </a:r>
            <a:r>
              <a:rPr b="1" lang="en-US" sz="1200" spc="-1" strike="noStrike">
                <a:solidFill>
                  <a:srgbClr val="ff0000"/>
                </a:solidFill>
                <a:latin typeface="Calibri"/>
              </a:rPr>
              <a:t>3</a:t>
            </a:r>
            <a:r>
              <a:rPr b="0" lang="en-US" sz="1200" spc="-1" strike="noStrike">
                <a:solidFill>
                  <a:schemeClr val="dk1"/>
                </a:solidFill>
                <a:latin typeface="Calibri"/>
              </a:rPr>
              <a:t> to detect this difference</a:t>
            </a:r>
            <a:endParaRPr b="0" lang="en-CA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"/>
          <p:cNvSpPr/>
          <p:nvPr/>
        </p:nvSpPr>
        <p:spPr>
          <a:xfrm>
            <a:off x="254160" y="5579640"/>
            <a:ext cx="176256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For JASP: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Cohen’s delta = difference in means/SD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5" dur="indefinite" restart="never" nodeType="tmRoot">
          <p:childTnLst>
            <p:seq>
              <p:cTn id="46" dur="indefinite" nodeType="mainSeq">
                <p:childTnLst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1C868F1-ED01-4E19-860C-DFDB939A1AB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EA37292-C007-44E5-BD10-5549474BDBA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6B7EA54-9E6B-40C3-8986-896F4A6C273A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660824C-6730-4B1C-8982-35589511BDD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353AE7A-DFE9-44C1-9113-D60060F8F52F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5B1948B6-0BA2-4C6D-B14A-A5D0CD35567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F2610A4B-BA9A-4B12-A2E7-EBB3C0D6269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D742672E-8B48-4C02-8B75-4C31ED6862A5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lide Number Placeholder 2"/>
          <p:cNvSpPr/>
          <p:nvPr/>
        </p:nvSpPr>
        <p:spPr>
          <a:xfrm>
            <a:off x="735084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F36C55F7-E9C7-4388-A17D-E878DBE13D1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tangle 17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Oval 18"/>
          <p:cNvSpPr/>
          <p:nvPr/>
        </p:nvSpPr>
        <p:spPr>
          <a:xfrm>
            <a:off x="484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Oval 19"/>
          <p:cNvSpPr/>
          <p:nvPr/>
        </p:nvSpPr>
        <p:spPr>
          <a:xfrm>
            <a:off x="952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Oval 20"/>
          <p:cNvSpPr/>
          <p:nvPr/>
        </p:nvSpPr>
        <p:spPr>
          <a:xfrm>
            <a:off x="142056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Oval 21"/>
          <p:cNvSpPr/>
          <p:nvPr/>
        </p:nvSpPr>
        <p:spPr>
          <a:xfrm>
            <a:off x="1821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Oval 22"/>
          <p:cNvSpPr/>
          <p:nvPr/>
        </p:nvSpPr>
        <p:spPr>
          <a:xfrm>
            <a:off x="2289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Oval 23"/>
          <p:cNvSpPr/>
          <p:nvPr/>
        </p:nvSpPr>
        <p:spPr>
          <a:xfrm>
            <a:off x="275760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Oval 24"/>
          <p:cNvSpPr/>
          <p:nvPr/>
        </p:nvSpPr>
        <p:spPr>
          <a:xfrm>
            <a:off x="3158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7" name="Oval 25"/>
          <p:cNvSpPr/>
          <p:nvPr/>
        </p:nvSpPr>
        <p:spPr>
          <a:xfrm>
            <a:off x="3626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Oval 26"/>
          <p:cNvSpPr/>
          <p:nvPr/>
        </p:nvSpPr>
        <p:spPr>
          <a:xfrm>
            <a:off x="4094640" y="35456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Oval 28"/>
          <p:cNvSpPr/>
          <p:nvPr/>
        </p:nvSpPr>
        <p:spPr>
          <a:xfrm>
            <a:off x="4362120" y="140796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29"/>
          <p:cNvSpPr/>
          <p:nvPr/>
        </p:nvSpPr>
        <p:spPr>
          <a:xfrm>
            <a:off x="3377520" y="1017000"/>
            <a:ext cx="15368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Seeding 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Oval 30"/>
          <p:cNvSpPr/>
          <p:nvPr/>
        </p:nvSpPr>
        <p:spPr>
          <a:xfrm>
            <a:off x="5331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Oval 31"/>
          <p:cNvSpPr/>
          <p:nvPr/>
        </p:nvSpPr>
        <p:spPr>
          <a:xfrm>
            <a:off x="5799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Oval 32"/>
          <p:cNvSpPr/>
          <p:nvPr/>
        </p:nvSpPr>
        <p:spPr>
          <a:xfrm>
            <a:off x="626724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Oval 33"/>
          <p:cNvSpPr/>
          <p:nvPr/>
        </p:nvSpPr>
        <p:spPr>
          <a:xfrm>
            <a:off x="6668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Oval 34"/>
          <p:cNvSpPr/>
          <p:nvPr/>
        </p:nvSpPr>
        <p:spPr>
          <a:xfrm>
            <a:off x="7136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Oval 35"/>
          <p:cNvSpPr/>
          <p:nvPr/>
        </p:nvSpPr>
        <p:spPr>
          <a:xfrm>
            <a:off x="760428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7" name="Oval 36"/>
          <p:cNvSpPr/>
          <p:nvPr/>
        </p:nvSpPr>
        <p:spPr>
          <a:xfrm>
            <a:off x="8005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Oval 37"/>
          <p:cNvSpPr/>
          <p:nvPr/>
        </p:nvSpPr>
        <p:spPr>
          <a:xfrm>
            <a:off x="8473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Oval 38"/>
          <p:cNvSpPr/>
          <p:nvPr/>
        </p:nvSpPr>
        <p:spPr>
          <a:xfrm>
            <a:off x="8941320" y="3526920"/>
            <a:ext cx="267120" cy="27252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65"/>
          <p:cNvSpPr/>
          <p:nvPr/>
        </p:nvSpPr>
        <p:spPr>
          <a:xfrm>
            <a:off x="2442600" y="1955880"/>
            <a:ext cx="12474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+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66"/>
          <p:cNvSpPr/>
          <p:nvPr/>
        </p:nvSpPr>
        <p:spPr>
          <a:xfrm>
            <a:off x="6469920" y="2346840"/>
            <a:ext cx="137232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no treatment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(vehicle)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32" name="Straight Arrow Connector 67"/>
          <p:cNvCxnSpPr/>
          <p:nvPr/>
        </p:nvCxnSpPr>
        <p:spPr>
          <a:xfrm>
            <a:off x="4927320" y="1642680"/>
            <a:ext cx="3796920" cy="6260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433" name="TextBox 68"/>
          <p:cNvSpPr/>
          <p:nvPr/>
        </p:nvSpPr>
        <p:spPr>
          <a:xfrm>
            <a:off x="6992280" y="1642680"/>
            <a:ext cx="101556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Medium?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69"/>
          <p:cNvSpPr/>
          <p:nvPr/>
        </p:nvSpPr>
        <p:spPr>
          <a:xfrm>
            <a:off x="5238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70"/>
          <p:cNvSpPr/>
          <p:nvPr/>
        </p:nvSpPr>
        <p:spPr>
          <a:xfrm>
            <a:off x="5710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71"/>
          <p:cNvSpPr/>
          <p:nvPr/>
        </p:nvSpPr>
        <p:spPr>
          <a:xfrm>
            <a:off x="6195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72"/>
          <p:cNvSpPr/>
          <p:nvPr/>
        </p:nvSpPr>
        <p:spPr>
          <a:xfrm>
            <a:off x="6599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73"/>
          <p:cNvSpPr/>
          <p:nvPr/>
        </p:nvSpPr>
        <p:spPr>
          <a:xfrm>
            <a:off x="7048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74"/>
          <p:cNvSpPr/>
          <p:nvPr/>
        </p:nvSpPr>
        <p:spPr>
          <a:xfrm>
            <a:off x="7521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75"/>
          <p:cNvSpPr/>
          <p:nvPr/>
        </p:nvSpPr>
        <p:spPr>
          <a:xfrm>
            <a:off x="7904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76"/>
          <p:cNvSpPr/>
          <p:nvPr/>
        </p:nvSpPr>
        <p:spPr>
          <a:xfrm>
            <a:off x="8376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33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77"/>
          <p:cNvSpPr/>
          <p:nvPr/>
        </p:nvSpPr>
        <p:spPr>
          <a:xfrm>
            <a:off x="8848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78"/>
          <p:cNvSpPr/>
          <p:nvPr/>
        </p:nvSpPr>
        <p:spPr>
          <a:xfrm>
            <a:off x="3967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41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Box 79"/>
          <p:cNvSpPr/>
          <p:nvPr/>
        </p:nvSpPr>
        <p:spPr>
          <a:xfrm>
            <a:off x="8686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40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80"/>
          <p:cNvSpPr/>
          <p:nvPr/>
        </p:nvSpPr>
        <p:spPr>
          <a:xfrm>
            <a:off x="13532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81"/>
          <p:cNvSpPr/>
          <p:nvPr/>
        </p:nvSpPr>
        <p:spPr>
          <a:xfrm>
            <a:off x="175716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48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82"/>
          <p:cNvSpPr/>
          <p:nvPr/>
        </p:nvSpPr>
        <p:spPr>
          <a:xfrm>
            <a:off x="220644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52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83"/>
          <p:cNvSpPr/>
          <p:nvPr/>
        </p:nvSpPr>
        <p:spPr>
          <a:xfrm>
            <a:off x="2679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47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84"/>
          <p:cNvSpPr/>
          <p:nvPr/>
        </p:nvSpPr>
        <p:spPr>
          <a:xfrm>
            <a:off x="30625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46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85"/>
          <p:cNvSpPr/>
          <p:nvPr/>
        </p:nvSpPr>
        <p:spPr>
          <a:xfrm>
            <a:off x="353412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42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86"/>
          <p:cNvSpPr/>
          <p:nvPr/>
        </p:nvSpPr>
        <p:spPr>
          <a:xfrm>
            <a:off x="4006080" y="3911400"/>
            <a:ext cx="4381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45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Left Brace 110"/>
          <p:cNvSpPr/>
          <p:nvPr/>
        </p:nvSpPr>
        <p:spPr>
          <a:xfrm rot="5400000">
            <a:off x="2304360" y="1387440"/>
            <a:ext cx="318960" cy="39578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453" name="Straight Connector 112"/>
          <p:cNvCxnSpPr>
            <a:endCxn id="452" idx="1"/>
          </p:cNvCxnSpPr>
          <p:nvPr/>
        </p:nvCxnSpPr>
        <p:spPr>
          <a:xfrm flipH="1">
            <a:off x="2463480" y="1798920"/>
            <a:ext cx="1818000" cy="140868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454" name="Left Brace 114"/>
          <p:cNvSpPr/>
          <p:nvPr/>
        </p:nvSpPr>
        <p:spPr>
          <a:xfrm rot="5400000">
            <a:off x="7070040" y="1387440"/>
            <a:ext cx="318960" cy="39578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455" name="Straight Connector 116"/>
          <p:cNvCxnSpPr>
            <a:stCxn id="454" idx="1"/>
          </p:cNvCxnSpPr>
          <p:nvPr/>
        </p:nvCxnSpPr>
        <p:spPr>
          <a:xfrm flipH="1" flipV="1">
            <a:off x="4765680" y="1798920"/>
            <a:ext cx="2464200" cy="140868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456" name="Left Brace 117"/>
          <p:cNvSpPr/>
          <p:nvPr/>
        </p:nvSpPr>
        <p:spPr>
          <a:xfrm flipV="1" rot="16200000">
            <a:off x="2253240" y="2320200"/>
            <a:ext cx="318960" cy="39578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7" name="Left Brace 118"/>
          <p:cNvSpPr/>
          <p:nvPr/>
        </p:nvSpPr>
        <p:spPr>
          <a:xfrm flipV="1" rot="16200000">
            <a:off x="7131240" y="2326680"/>
            <a:ext cx="318960" cy="395784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8" name="TextBox 120"/>
          <p:cNvSpPr/>
          <p:nvPr/>
        </p:nvSpPr>
        <p:spPr>
          <a:xfrm>
            <a:off x="1917000" y="4537080"/>
            <a:ext cx="15138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4  (n=9)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121"/>
          <p:cNvSpPr/>
          <p:nvPr/>
        </p:nvSpPr>
        <p:spPr>
          <a:xfrm>
            <a:off x="1953360" y="5371200"/>
            <a:ext cx="14572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44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5 (n=3)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122"/>
          <p:cNvSpPr/>
          <p:nvPr/>
        </p:nvSpPr>
        <p:spPr>
          <a:xfrm>
            <a:off x="179640" y="5402520"/>
            <a:ext cx="209772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chemeClr val="dk1"/>
                </a:solidFill>
                <a:latin typeface="Calibri"/>
              </a:rPr>
              <a:t>Original study design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123"/>
          <p:cNvSpPr/>
          <p:nvPr/>
        </p:nvSpPr>
        <p:spPr>
          <a:xfrm>
            <a:off x="6504840" y="4537080"/>
            <a:ext cx="15138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6  (n=9)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124"/>
          <p:cNvSpPr/>
          <p:nvPr/>
        </p:nvSpPr>
        <p:spPr>
          <a:xfrm>
            <a:off x="6508440" y="5371200"/>
            <a:ext cx="14572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39 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</a:t>
            </a: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7 (n=3)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126"/>
          <p:cNvSpPr/>
          <p:nvPr/>
        </p:nvSpPr>
        <p:spPr>
          <a:xfrm>
            <a:off x="4003560" y="4359960"/>
            <a:ext cx="2679840" cy="116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 = 0.066 (Mann-Whitney)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 = 0.008 (Wilcoxon sign rank)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 = 0.049 (t-test)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4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 = 0.008 (paired t-test)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87"/>
          <p:cNvSpPr/>
          <p:nvPr/>
        </p:nvSpPr>
        <p:spPr>
          <a:xfrm>
            <a:off x="274680" y="5780520"/>
            <a:ext cx="95918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You may want to :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254061"/>
              </a:buClr>
              <a:buFont typeface="OpenSymbol"/>
              <a:buAutoNum type="arabicParenR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Optimize your experimental conditions to decrease variability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254061"/>
              </a:buClr>
              <a:buFont typeface="OpenSymbol"/>
              <a:buAutoNum type="arabicParenR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Increase your n where you need it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"/>
          <p:cNvSpPr/>
          <p:nvPr/>
        </p:nvSpPr>
        <p:spPr>
          <a:xfrm>
            <a:off x="3603240" y="5421600"/>
            <a:ext cx="2589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400" spc="-1" strike="noStrike">
                <a:solidFill>
                  <a:srgbClr val="376092"/>
                </a:solidFill>
                <a:latin typeface="Calibri"/>
              </a:rPr>
              <a:t>Would not reach significance</a:t>
            </a: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ectangle: Rounded Corners 2"/>
          <p:cNvSpPr/>
          <p:nvPr/>
        </p:nvSpPr>
        <p:spPr>
          <a:xfrm>
            <a:off x="4094640" y="4839480"/>
            <a:ext cx="1971720" cy="4341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" dur="indefinite" restart="never" nodeType="tmRoot">
          <p:childTnLst>
            <p:seq>
              <p:cTn id="60" dur="indefinite" nodeType="mainSeq">
                <p:childTnLst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3"/>
          <p:cNvSpPr/>
          <p:nvPr/>
        </p:nvSpPr>
        <p:spPr>
          <a:xfrm>
            <a:off x="323280" y="1005840"/>
            <a:ext cx="9127440" cy="21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Example: Mouse model of Huntington’s disease: HD+ vs. WT, young vs. old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(4 groups, n = 10-12 animal per group, many images per animal)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Objective: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 perform transmission electron microscopy (TEM) and do morphometric analyses of a) cell size, b) mitochondria number, and c) mitochondria size. </a:t>
            </a:r>
            <a:br>
              <a:rPr sz="1900"/>
            </a:b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Research question: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do these differ with disease or age?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9" name="Object 7" descr=""/>
          <p:cNvPicPr/>
          <p:nvPr/>
        </p:nvPicPr>
        <p:blipFill>
          <a:blip r:embed="rId1"/>
          <a:srcRect l="0" t="-124" r="-28" b="-175"/>
          <a:stretch/>
        </p:blipFill>
        <p:spPr>
          <a:xfrm>
            <a:off x="323280" y="3285720"/>
            <a:ext cx="4119120" cy="3598200"/>
          </a:xfrm>
          <a:prstGeom prst="rect">
            <a:avLst/>
          </a:prstGeom>
          <a:ln w="9525">
            <a:noFill/>
          </a:ln>
        </p:spPr>
      </p:pic>
      <p:sp>
        <p:nvSpPr>
          <p:cNvPr id="470" name="Rectangle 5"/>
          <p:cNvSpPr/>
          <p:nvPr/>
        </p:nvSpPr>
        <p:spPr>
          <a:xfrm>
            <a:off x="8352000" y="4053600"/>
            <a:ext cx="609120" cy="75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1320" bIns="3132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6"/>
          <p:cNvSpPr/>
          <p:nvPr/>
        </p:nvSpPr>
        <p:spPr>
          <a:xfrm>
            <a:off x="4705200" y="4389120"/>
            <a:ext cx="4482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Q1: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could be done to minimize bias? Not all cells look the same. Which one to measure?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7"/>
          <p:cNvSpPr/>
          <p:nvPr/>
        </p:nvSpPr>
        <p:spPr>
          <a:xfrm>
            <a:off x="4721760" y="3084120"/>
            <a:ext cx="451044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Obtained dozens of TEM images per animal, each containing many cells which each contain many mitochondria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3110297C-A6F8-447A-9936-5A2CC569A553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5" dur="indefinite" restart="never" nodeType="tmRoot">
          <p:childTnLst>
            <p:seq>
              <p:cTn id="66" dur="indefinite" nodeType="mainSeq">
                <p:childTnLst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4" name="Object 7" descr=""/>
          <p:cNvPicPr/>
          <p:nvPr/>
        </p:nvPicPr>
        <p:blipFill>
          <a:blip r:embed="rId1"/>
          <a:srcRect l="0" t="-124" r="-28" b="-175"/>
          <a:stretch/>
        </p:blipFill>
        <p:spPr>
          <a:xfrm>
            <a:off x="323280" y="3285720"/>
            <a:ext cx="4119120" cy="3598200"/>
          </a:xfrm>
          <a:prstGeom prst="rect">
            <a:avLst/>
          </a:prstGeom>
          <a:ln w="9525">
            <a:noFill/>
          </a:ln>
        </p:spPr>
      </p:pic>
      <p:sp>
        <p:nvSpPr>
          <p:cNvPr id="475" name="TextBox 4"/>
          <p:cNvSpPr/>
          <p:nvPr/>
        </p:nvSpPr>
        <p:spPr>
          <a:xfrm>
            <a:off x="4617360" y="2361600"/>
            <a:ext cx="46915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Q2: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How does one decide how many images or cells per animal (replicates) to analyze for each measure?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76" name="Group 20"/>
          <p:cNvGrpSpPr/>
          <p:nvPr/>
        </p:nvGrpSpPr>
        <p:grpSpPr>
          <a:xfrm>
            <a:off x="4518360" y="3425760"/>
            <a:ext cx="4758840" cy="2374920"/>
            <a:chOff x="4518360" y="3425760"/>
            <a:chExt cx="4758840" cy="2374920"/>
          </a:xfrm>
        </p:grpSpPr>
        <p:sp>
          <p:nvSpPr>
            <p:cNvPr id="477" name="TextBox 10"/>
            <p:cNvSpPr/>
            <p:nvPr/>
          </p:nvSpPr>
          <p:spPr>
            <a:xfrm>
              <a:off x="4518360" y="4224240"/>
              <a:ext cx="675000" cy="3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%CV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8" name="TextBox 12"/>
            <p:cNvSpPr/>
            <p:nvPr/>
          </p:nvSpPr>
          <p:spPr>
            <a:xfrm>
              <a:off x="4844160" y="5421600"/>
              <a:ext cx="4433040" cy="3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Number of images or cells per animal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9" name="Freeform 11"/>
            <p:cNvSpPr/>
            <p:nvPr/>
          </p:nvSpPr>
          <p:spPr>
            <a:xfrm>
              <a:off x="5300640" y="3506400"/>
              <a:ext cx="3519000" cy="1062720"/>
            </a:xfrm>
            <a:custGeom>
              <a:avLst/>
              <a:gdLst>
                <a:gd name="textAreaLeft" fmla="*/ 0 w 3519000"/>
                <a:gd name="textAreaRight" fmla="*/ 3519360 w 3519000"/>
                <a:gd name="textAreaTop" fmla="*/ 0 h 1062720"/>
                <a:gd name="textAreaBottom" fmla="*/ 1063080 h 1062720"/>
              </a:gdLst>
              <a:ahLst/>
              <a:rect l="textAreaLeft" t="textAreaTop" r="textAreaRight" b="textAreaBottom"/>
              <a:pathLst>
                <a:path w="3519377" h="1063256">
                  <a:moveTo>
                    <a:pt x="0" y="0"/>
                  </a:moveTo>
                  <a:cubicBezTo>
                    <a:pt x="7088" y="17721"/>
                    <a:pt x="14563" y="35292"/>
                    <a:pt x="21265" y="53163"/>
                  </a:cubicBezTo>
                  <a:cubicBezTo>
                    <a:pt x="25200" y="63657"/>
                    <a:pt x="26132" y="75450"/>
                    <a:pt x="31898" y="85060"/>
                  </a:cubicBezTo>
                  <a:cubicBezTo>
                    <a:pt x="37056" y="93656"/>
                    <a:pt x="46075" y="99237"/>
                    <a:pt x="53163" y="106326"/>
                  </a:cubicBezTo>
                  <a:cubicBezTo>
                    <a:pt x="75293" y="194842"/>
                    <a:pt x="48347" y="107324"/>
                    <a:pt x="85061" y="180754"/>
                  </a:cubicBezTo>
                  <a:cubicBezTo>
                    <a:pt x="90073" y="190778"/>
                    <a:pt x="90681" y="202627"/>
                    <a:pt x="95693" y="212651"/>
                  </a:cubicBezTo>
                  <a:cubicBezTo>
                    <a:pt x="101408" y="224081"/>
                    <a:pt x="110618" y="233454"/>
                    <a:pt x="116958" y="244549"/>
                  </a:cubicBezTo>
                  <a:cubicBezTo>
                    <a:pt x="124822" y="258311"/>
                    <a:pt x="129011" y="274181"/>
                    <a:pt x="138224" y="287079"/>
                  </a:cubicBezTo>
                  <a:cubicBezTo>
                    <a:pt x="146964" y="299315"/>
                    <a:pt x="160889" y="307108"/>
                    <a:pt x="170121" y="318977"/>
                  </a:cubicBezTo>
                  <a:cubicBezTo>
                    <a:pt x="185812" y="339151"/>
                    <a:pt x="198474" y="361507"/>
                    <a:pt x="212651" y="382772"/>
                  </a:cubicBezTo>
                  <a:cubicBezTo>
                    <a:pt x="218212" y="391113"/>
                    <a:pt x="226089" y="397775"/>
                    <a:pt x="233917" y="404037"/>
                  </a:cubicBezTo>
                  <a:cubicBezTo>
                    <a:pt x="254454" y="420466"/>
                    <a:pt x="284833" y="436491"/>
                    <a:pt x="308344" y="446567"/>
                  </a:cubicBezTo>
                  <a:cubicBezTo>
                    <a:pt x="318646" y="450982"/>
                    <a:pt x="329369" y="454482"/>
                    <a:pt x="340242" y="457200"/>
                  </a:cubicBezTo>
                  <a:cubicBezTo>
                    <a:pt x="423206" y="477942"/>
                    <a:pt x="473491" y="472544"/>
                    <a:pt x="574158" y="478465"/>
                  </a:cubicBezTo>
                  <a:cubicBezTo>
                    <a:pt x="581247" y="489098"/>
                    <a:pt x="589709" y="498933"/>
                    <a:pt x="595424" y="510363"/>
                  </a:cubicBezTo>
                  <a:cubicBezTo>
                    <a:pt x="647448" y="614410"/>
                    <a:pt x="588685" y="521521"/>
                    <a:pt x="637954" y="595423"/>
                  </a:cubicBezTo>
                  <a:cubicBezTo>
                    <a:pt x="657649" y="693902"/>
                    <a:pt x="632264" y="606732"/>
                    <a:pt x="680484" y="691116"/>
                  </a:cubicBezTo>
                  <a:cubicBezTo>
                    <a:pt x="686045" y="700847"/>
                    <a:pt x="686105" y="712989"/>
                    <a:pt x="691117" y="723014"/>
                  </a:cubicBezTo>
                  <a:cubicBezTo>
                    <a:pt x="696832" y="734444"/>
                    <a:pt x="705294" y="744279"/>
                    <a:pt x="712382" y="754912"/>
                  </a:cubicBezTo>
                  <a:cubicBezTo>
                    <a:pt x="723014" y="751368"/>
                    <a:pt x="734255" y="749291"/>
                    <a:pt x="744279" y="744279"/>
                  </a:cubicBezTo>
                  <a:cubicBezTo>
                    <a:pt x="755709" y="738564"/>
                    <a:pt x="763572" y="725115"/>
                    <a:pt x="776177" y="723014"/>
                  </a:cubicBezTo>
                  <a:cubicBezTo>
                    <a:pt x="787232" y="721172"/>
                    <a:pt x="797442" y="730103"/>
                    <a:pt x="808075" y="733647"/>
                  </a:cubicBezTo>
                  <a:cubicBezTo>
                    <a:pt x="811619" y="744279"/>
                    <a:pt x="812490" y="756219"/>
                    <a:pt x="818707" y="765544"/>
                  </a:cubicBezTo>
                  <a:cubicBezTo>
                    <a:pt x="842006" y="800492"/>
                    <a:pt x="853080" y="794188"/>
                    <a:pt x="882503" y="818707"/>
                  </a:cubicBezTo>
                  <a:cubicBezTo>
                    <a:pt x="894054" y="828333"/>
                    <a:pt x="900951" y="843880"/>
                    <a:pt x="914400" y="850605"/>
                  </a:cubicBezTo>
                  <a:cubicBezTo>
                    <a:pt x="944473" y="865642"/>
                    <a:pt x="1010093" y="882502"/>
                    <a:pt x="1010093" y="882502"/>
                  </a:cubicBezTo>
                  <a:cubicBezTo>
                    <a:pt x="1052623" y="878958"/>
                    <a:pt x="1095587" y="878886"/>
                    <a:pt x="1137684" y="871870"/>
                  </a:cubicBezTo>
                  <a:cubicBezTo>
                    <a:pt x="1159794" y="868185"/>
                    <a:pt x="1180214" y="857693"/>
                    <a:pt x="1201479" y="850605"/>
                  </a:cubicBezTo>
                  <a:lnTo>
                    <a:pt x="1233377" y="839972"/>
                  </a:lnTo>
                  <a:cubicBezTo>
                    <a:pt x="1244010" y="847060"/>
                    <a:pt x="1256239" y="852201"/>
                    <a:pt x="1265275" y="861237"/>
                  </a:cubicBezTo>
                  <a:cubicBezTo>
                    <a:pt x="1274311" y="870273"/>
                    <a:pt x="1276723" y="884954"/>
                    <a:pt x="1286540" y="893135"/>
                  </a:cubicBezTo>
                  <a:cubicBezTo>
                    <a:pt x="1298716" y="903282"/>
                    <a:pt x="1316390" y="904890"/>
                    <a:pt x="1329070" y="914400"/>
                  </a:cubicBezTo>
                  <a:cubicBezTo>
                    <a:pt x="1364289" y="940814"/>
                    <a:pt x="1365338" y="961840"/>
                    <a:pt x="1403498" y="978195"/>
                  </a:cubicBezTo>
                  <a:cubicBezTo>
                    <a:pt x="1416929" y="983951"/>
                    <a:pt x="1432345" y="983697"/>
                    <a:pt x="1446028" y="988828"/>
                  </a:cubicBezTo>
                  <a:cubicBezTo>
                    <a:pt x="1460869" y="994393"/>
                    <a:pt x="1474381" y="1003005"/>
                    <a:pt x="1488558" y="1010093"/>
                  </a:cubicBezTo>
                  <a:cubicBezTo>
                    <a:pt x="1559442" y="1006549"/>
                    <a:pt x="1630641" y="1007021"/>
                    <a:pt x="1701210" y="999460"/>
                  </a:cubicBezTo>
                  <a:cubicBezTo>
                    <a:pt x="1730270" y="996346"/>
                    <a:pt x="1757223" y="981422"/>
                    <a:pt x="1786270" y="978195"/>
                  </a:cubicBezTo>
                  <a:cubicBezTo>
                    <a:pt x="1832354" y="973075"/>
                    <a:pt x="1898022" y="967538"/>
                    <a:pt x="1945758" y="956930"/>
                  </a:cubicBezTo>
                  <a:cubicBezTo>
                    <a:pt x="1956699" y="954499"/>
                    <a:pt x="1967023" y="949842"/>
                    <a:pt x="1977656" y="946298"/>
                  </a:cubicBezTo>
                  <a:cubicBezTo>
                    <a:pt x="2006010" y="949842"/>
                    <a:pt x="2034777" y="950943"/>
                    <a:pt x="2062717" y="956930"/>
                  </a:cubicBezTo>
                  <a:cubicBezTo>
                    <a:pt x="2084635" y="961627"/>
                    <a:pt x="2105247" y="971107"/>
                    <a:pt x="2126512" y="978195"/>
                  </a:cubicBezTo>
                  <a:cubicBezTo>
                    <a:pt x="2156781" y="988285"/>
                    <a:pt x="2217300" y="998118"/>
                    <a:pt x="2243470" y="999460"/>
                  </a:cubicBezTo>
                  <a:cubicBezTo>
                    <a:pt x="2356790" y="1005271"/>
                    <a:pt x="2470298" y="1006549"/>
                    <a:pt x="2583712" y="1010093"/>
                  </a:cubicBezTo>
                  <a:cubicBezTo>
                    <a:pt x="2597889" y="1013637"/>
                    <a:pt x="2612245" y="1016527"/>
                    <a:pt x="2626242" y="1020726"/>
                  </a:cubicBezTo>
                  <a:cubicBezTo>
                    <a:pt x="2647712" y="1027167"/>
                    <a:pt x="2690038" y="1041991"/>
                    <a:pt x="2690038" y="1041991"/>
                  </a:cubicBezTo>
                  <a:cubicBezTo>
                    <a:pt x="2846693" y="1028936"/>
                    <a:pt x="2874878" y="1021180"/>
                    <a:pt x="3062177" y="1041991"/>
                  </a:cubicBezTo>
                  <a:cubicBezTo>
                    <a:pt x="3077930" y="1043741"/>
                    <a:pt x="3090530" y="1056168"/>
                    <a:pt x="3104707" y="1063256"/>
                  </a:cubicBezTo>
                  <a:cubicBezTo>
                    <a:pt x="3186223" y="1059712"/>
                    <a:pt x="3267870" y="1058436"/>
                    <a:pt x="3349256" y="1052623"/>
                  </a:cubicBezTo>
                  <a:cubicBezTo>
                    <a:pt x="3372171" y="1050986"/>
                    <a:pt x="3480150" y="1022558"/>
                    <a:pt x="3487479" y="1020726"/>
                  </a:cubicBezTo>
                  <a:cubicBezTo>
                    <a:pt x="3497794" y="1018147"/>
                    <a:pt x="3508744" y="1020726"/>
                    <a:pt x="3519377" y="1020726"/>
                  </a:cubicBezTo>
                </a:path>
              </a:pathLst>
            </a:custGeom>
            <a:noFill/>
            <a:ln>
              <a:solidFill>
                <a:srgbClr val="3a5f8b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cxnSp>
          <p:nvCxnSpPr>
            <p:cNvPr id="480" name="Straight Arrow Connector 14"/>
            <p:cNvCxnSpPr/>
            <p:nvPr/>
          </p:nvCxnSpPr>
          <p:spPr>
            <a:xfrm>
              <a:off x="6769800" y="4645800"/>
              <a:ext cx="360" cy="609120"/>
            </a:xfrm>
            <a:prstGeom prst="straightConnector1">
              <a:avLst/>
            </a:prstGeom>
            <a:ln w="57150">
              <a:solidFill>
                <a:srgbClr val="c00000"/>
              </a:solidFill>
              <a:round/>
              <a:tailEnd len="med" type="arrow" w="med"/>
            </a:ln>
          </p:spPr>
        </p:cxnSp>
        <p:cxnSp>
          <p:nvCxnSpPr>
            <p:cNvPr id="481" name="Straight Arrow Connector 17"/>
            <p:cNvCxnSpPr/>
            <p:nvPr/>
          </p:nvCxnSpPr>
          <p:spPr>
            <a:xfrm flipV="1">
              <a:off x="5169600" y="3425760"/>
              <a:ext cx="360" cy="1981440"/>
            </a:xfrm>
            <a:prstGeom prst="straightConnector1">
              <a:avLst/>
            </a:prstGeom>
            <a:ln w="28575">
              <a:solidFill>
                <a:srgbClr val="4a7ebb"/>
              </a:solidFill>
              <a:round/>
              <a:tailEnd len="med" type="arrow" w="med"/>
            </a:ln>
          </p:spPr>
        </p:cxnSp>
        <p:cxnSp>
          <p:nvCxnSpPr>
            <p:cNvPr id="482" name="Straight Arrow Connector 19"/>
            <p:cNvCxnSpPr/>
            <p:nvPr/>
          </p:nvCxnSpPr>
          <p:spPr>
            <a:xfrm>
              <a:off x="5169600" y="5406840"/>
              <a:ext cx="3429360" cy="360"/>
            </a:xfrm>
            <a:prstGeom prst="straightConnector1">
              <a:avLst/>
            </a:prstGeom>
            <a:ln w="28575">
              <a:solidFill>
                <a:srgbClr val="4a7ebb"/>
              </a:solidFill>
              <a:round/>
              <a:tailEnd len="med" type="arrow" w="med"/>
            </a:ln>
          </p:spPr>
        </p:cxnSp>
      </p:grpSp>
      <p:sp>
        <p:nvSpPr>
          <p:cNvPr id="483" name="Rectangle 5"/>
          <p:cNvSpPr/>
          <p:nvPr/>
        </p:nvSpPr>
        <p:spPr>
          <a:xfrm>
            <a:off x="8352000" y="4053600"/>
            <a:ext cx="609120" cy="759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31320" bIns="3132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Rectangle 6"/>
          <p:cNvSpPr/>
          <p:nvPr/>
        </p:nvSpPr>
        <p:spPr>
          <a:xfrm>
            <a:off x="322920" y="957240"/>
            <a:ext cx="8790480" cy="15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A1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: Use a grid to minimize selection bias, have a pre-determined plan.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Ideally, try to be blinded as to what you are assaying (e.g. treated vs. control), and try to randomize </a:t>
            </a:r>
            <a:br>
              <a:rPr sz="1900"/>
            </a:br>
            <a:r>
              <a:rPr b="1" lang="en-US" sz="1800" spc="-1" strike="noStrike">
                <a:solidFill>
                  <a:schemeClr val="accent3">
                    <a:lumMod val="50000"/>
                  </a:schemeClr>
                </a:solidFill>
                <a:latin typeface="Calibri"/>
              </a:rPr>
              <a:t>-&gt; It gives reviewers confidence when you can write that “all assays were conducted in a blinded and randomized fashion”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7"/>
          <p:cNvSpPr/>
          <p:nvPr/>
        </p:nvSpPr>
        <p:spPr>
          <a:xfrm>
            <a:off x="4794840" y="5967360"/>
            <a:ext cx="4523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The n may not be the same for cells and for mitochondria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477B939-C7AD-4615-BDF1-67A96902F602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1" dur="indefinite" restart="never" nodeType="tmRoot">
          <p:childTnLst>
            <p:seq>
              <p:cTn id="72" dur="indefinite" nodeType="mainSeq">
                <p:childTnLst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lide Number Placeholder 1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FA8E79B-90D3-4CC8-BDA9-015F3FB0EA33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ectangle 4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TextBox 5"/>
          <p:cNvSpPr/>
          <p:nvPr/>
        </p:nvSpPr>
        <p:spPr>
          <a:xfrm>
            <a:off x="323280" y="1041120"/>
            <a:ext cx="9127440" cy="12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My collaborator determined that analyzing 20 cells yielded the lowest stable CV on the cell size measure but because counting 20 cells was very time consuming, they analyzed only 3 animals in each of the 4 group (valuing accuracy)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9" name="Object 7" descr=""/>
          <p:cNvPicPr/>
          <p:nvPr/>
        </p:nvPicPr>
        <p:blipFill>
          <a:blip r:embed="rId1"/>
          <a:srcRect l="0" t="-124" r="-28" b="-175"/>
          <a:stretch/>
        </p:blipFill>
        <p:spPr>
          <a:xfrm>
            <a:off x="323280" y="3285720"/>
            <a:ext cx="4119120" cy="3598200"/>
          </a:xfrm>
          <a:prstGeom prst="rect">
            <a:avLst/>
          </a:prstGeom>
          <a:ln w="9525">
            <a:noFill/>
          </a:ln>
        </p:spPr>
      </p:pic>
      <p:sp>
        <p:nvSpPr>
          <p:cNvPr id="490" name="TextBox 7"/>
          <p:cNvSpPr/>
          <p:nvPr/>
        </p:nvSpPr>
        <p:spPr>
          <a:xfrm>
            <a:off x="282240" y="1985760"/>
            <a:ext cx="903924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Symbol" charset="2"/>
              <a:buChar char="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20 cells x 4 groups x 3 animals per group = 240 cells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Symbol" charset="2"/>
              <a:buChar char="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ended up comparing 4 groups of n = 3 → nothing reached significance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8"/>
          <p:cNvSpPr/>
          <p:nvPr/>
        </p:nvSpPr>
        <p:spPr>
          <a:xfrm>
            <a:off x="4370040" y="4605840"/>
            <a:ext cx="548316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indent="-216000" defTabSz="956160">
              <a:lnSpc>
                <a:spcPct val="100000"/>
              </a:lnSpc>
              <a:buClr>
                <a:srgbClr val="c00000"/>
              </a:buClr>
              <a:buFont typeface="Symbol" charset="2"/>
              <a:buChar char=""/>
            </a:pP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 </a:t>
            </a: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look at 6 cells, compare 4 groups of n = 10!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→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6 x 4 x 10 = 240 cells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Oval 9"/>
          <p:cNvSpPr/>
          <p:nvPr/>
        </p:nvSpPr>
        <p:spPr>
          <a:xfrm>
            <a:off x="4737600" y="2216520"/>
            <a:ext cx="1066320" cy="45684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Oval 10"/>
          <p:cNvSpPr/>
          <p:nvPr/>
        </p:nvSpPr>
        <p:spPr>
          <a:xfrm>
            <a:off x="6161040" y="5179680"/>
            <a:ext cx="1066320" cy="45684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11"/>
          <p:cNvSpPr/>
          <p:nvPr/>
        </p:nvSpPr>
        <p:spPr>
          <a:xfrm>
            <a:off x="5149800" y="4663440"/>
            <a:ext cx="242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dk1"/>
                </a:solidFill>
                <a:latin typeface="Calibri"/>
              </a:rPr>
              <a:t>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12"/>
          <p:cNvSpPr/>
          <p:nvPr/>
        </p:nvSpPr>
        <p:spPr>
          <a:xfrm>
            <a:off x="4473000" y="5839920"/>
            <a:ext cx="51508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Same amount of work, much more power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ectangle 2"/>
          <p:cNvSpPr/>
          <p:nvPr/>
        </p:nvSpPr>
        <p:spPr>
          <a:xfrm>
            <a:off x="4813920" y="3227400"/>
            <a:ext cx="4844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Q3: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may have been a better alternate study design?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ectangle 13"/>
          <p:cNvSpPr/>
          <p:nvPr/>
        </p:nvSpPr>
        <p:spPr>
          <a:xfrm>
            <a:off x="7437600" y="3749040"/>
            <a:ext cx="380520" cy="155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TextBox 14"/>
          <p:cNvSpPr/>
          <p:nvPr/>
        </p:nvSpPr>
        <p:spPr>
          <a:xfrm>
            <a:off x="4552560" y="6345720"/>
            <a:ext cx="4474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Entire summer wasted, no publication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D5EE04A-7FAA-42BC-937C-9655C50073E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9" dur="indefinite" restart="never" nodeType="tmRoot">
          <p:childTnLst>
            <p:seq>
              <p:cTn id="90" dur="indefinite" nodeType="mainSeq">
                <p:childTnLst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replicates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3"/>
          <p:cNvSpPr/>
          <p:nvPr/>
        </p:nvSpPr>
        <p:spPr>
          <a:xfrm>
            <a:off x="242280" y="1251720"/>
            <a:ext cx="8481240" cy="24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Need to balance variability in your measurement with having a sufficiently large sample size to have statistical power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 be able to do that, you need to have a good idea about the variability of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254061"/>
              </a:buClr>
              <a:buFont typeface="OpenSymbol"/>
              <a:buAutoNum type="arabicParenR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Your assay itself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254061"/>
              </a:buClr>
              <a:buFont typeface="OpenSymbol"/>
              <a:buAutoNum type="arabicParenR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Your sample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AE914E2-F8DD-4D81-96AF-4135C4ABBCDE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3"/>
          <p:cNvSpPr/>
          <p:nvPr/>
        </p:nvSpPr>
        <p:spPr>
          <a:xfrm>
            <a:off x="101880" y="1017000"/>
            <a:ext cx="27910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2500" spc="-1" strike="noStrike">
                <a:solidFill>
                  <a:srgbClr val="254061"/>
                </a:solidFill>
                <a:latin typeface="Calibri"/>
              </a:rPr>
              <a:t>Assay variability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Box 4"/>
          <p:cNvSpPr/>
          <p:nvPr/>
        </p:nvSpPr>
        <p:spPr>
          <a:xfrm>
            <a:off x="406440" y="1510200"/>
            <a:ext cx="8019360" cy="61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Intra-assay variability (CV):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On same day, repeat the assay on a given specimen ~10+ times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Calculate intra-assay %CV =  SD*100/mean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Ideally, intra-assay CV should be &lt;5%, or at least &lt;10%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If higher,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-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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the number of assay replicates in order to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%CV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- optimize the assay to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%CV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</a:t>
            </a: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Inter-assay variability (CV):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On different days, repeat the assay ~10+ independent times on one or two specimens (always using the exact same starting material)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Ideally, inter-assay CV should be &lt;10%, or at least &lt;15-20%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If higher,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- optimize the assay to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%CV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Inter-operator variability (CV):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different people can get different values…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	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Box 5"/>
          <p:cNvSpPr/>
          <p:nvPr/>
        </p:nvSpPr>
        <p:spPr>
          <a:xfrm>
            <a:off x="7063920" y="2221200"/>
            <a:ext cx="23619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Do you know your intra-assay CV?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6"/>
          <p:cNvSpPr/>
          <p:nvPr/>
        </p:nvSpPr>
        <p:spPr>
          <a:xfrm>
            <a:off x="8809200" y="4322520"/>
            <a:ext cx="399240" cy="11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TextBox 7"/>
          <p:cNvSpPr/>
          <p:nvPr/>
        </p:nvSpPr>
        <p:spPr>
          <a:xfrm>
            <a:off x="7245000" y="5051880"/>
            <a:ext cx="23619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Do you know your inter-assay CV?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ectangle 8"/>
          <p:cNvSpPr/>
          <p:nvPr/>
        </p:nvSpPr>
        <p:spPr>
          <a:xfrm>
            <a:off x="7120440" y="3028320"/>
            <a:ext cx="2166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can you do to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intra-assay CV?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tangle 9"/>
          <p:cNvSpPr/>
          <p:nvPr/>
        </p:nvSpPr>
        <p:spPr>
          <a:xfrm>
            <a:off x="7277760" y="5740920"/>
            <a:ext cx="21661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Q: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can you do to </a:t>
            </a:r>
            <a:r>
              <a:rPr b="0" lang="en-US" sz="1900" spc="-1" strike="noStrike">
                <a:solidFill>
                  <a:srgbClr val="254061"/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 inter-assay CV?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029B84D-59EB-4630-888F-A66D83F17737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3" dur="indefinite" restart="never" nodeType="tmRoot">
          <p:childTnLst>
            <p:seq>
              <p:cTn id="124" dur="indefinite" nodeType="mainSeq">
                <p:childTnLst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3"/>
          <p:cNvSpPr/>
          <p:nvPr/>
        </p:nvSpPr>
        <p:spPr>
          <a:xfrm>
            <a:off x="-198720" y="1158120"/>
            <a:ext cx="9549360" cy="54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2500" spc="-1" strike="noStrike">
                <a:solidFill>
                  <a:srgbClr val="254061"/>
                </a:solidFill>
                <a:latin typeface="Calibri"/>
              </a:rPr>
              <a:t>What are other potential sources of variability? 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Treatment variability (pipeting error, poorly calibrated pipets)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Cell density/confluency differences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Cell passage/cell stock or cell source difference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Time out of incubator or freezer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Expiry date and different lot# of reagents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Freeze-thawing/degradation of reagents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Time on trypsin?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Mycoplasma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Instrument fluctuation (lamp, well to well variability, T°)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Temperature in the lab (summer/winter)?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Extraction method?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  </a:t>
            </a:r>
            <a:r>
              <a:rPr b="0" lang="en-US" sz="2500" spc="-1" strike="noStrike">
                <a:solidFill>
                  <a:srgbClr val="254061"/>
                </a:solidFill>
                <a:latin typeface="Calibri"/>
              </a:rPr>
              <a:t>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FC67B54-6A9E-4ECA-A1CB-5D8FDAC4E2A3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3" dur="indefinite" restart="never" nodeType="tmRoot">
          <p:childTnLst>
            <p:seq>
              <p:cTn id="174" dur="indefinite" nodeType="mainSeq">
                <p:childTnLst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Num" idx="37"/>
          </p:nvPr>
        </p:nvSpPr>
        <p:spPr>
          <a:xfrm>
            <a:off x="6946920" y="665064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11498C2A-3229-4FE3-A5DE-560EF5556BF0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monitor 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Box 3"/>
          <p:cNvSpPr/>
          <p:nvPr/>
        </p:nvSpPr>
        <p:spPr>
          <a:xfrm>
            <a:off x="121320" y="901080"/>
            <a:ext cx="9450720" cy="32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Strongly consider using </a:t>
            </a:r>
            <a:r>
              <a:rPr b="1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internal controls (ICs)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Definition: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Large batch of specimen/preparation kept in small </a:t>
            </a:r>
            <a:r>
              <a:rPr b="1" lang="en-US" sz="21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</a:rPr>
              <a:t>one-time aliquots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, 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                 one of which is included in each run/assay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1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</a:rPr>
              <a:t>Keep track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of the value obtained for your internal control, and calculate you CV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(whole lab or each operator). May want to establish </a:t>
            </a:r>
            <a:r>
              <a:rPr b="1" i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 priori </a:t>
            </a: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criteria </a:t>
            </a:r>
            <a:r>
              <a:rPr b="0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for rejecting a run exclusion.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14" name="Group 18"/>
          <p:cNvGrpSpPr/>
          <p:nvPr/>
        </p:nvGrpSpPr>
        <p:grpSpPr>
          <a:xfrm>
            <a:off x="484560" y="3645360"/>
            <a:ext cx="6411240" cy="3128760"/>
            <a:chOff x="484560" y="3645360"/>
            <a:chExt cx="6411240" cy="3128760"/>
          </a:xfrm>
        </p:grpSpPr>
        <p:sp>
          <p:nvSpPr>
            <p:cNvPr id="515" name="Oval 10"/>
            <p:cNvSpPr/>
            <p:nvPr/>
          </p:nvSpPr>
          <p:spPr>
            <a:xfrm>
              <a:off x="3231000" y="4505760"/>
              <a:ext cx="322920" cy="390960"/>
            </a:xfrm>
            <a:prstGeom prst="ellipse">
              <a:avLst/>
            </a:prstGeom>
            <a:noFill/>
            <a:ln>
              <a:solidFill>
                <a:srgbClr val="ff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grpSp>
          <p:nvGrpSpPr>
            <p:cNvPr id="516" name="Group 14"/>
            <p:cNvGrpSpPr/>
            <p:nvPr/>
          </p:nvGrpSpPr>
          <p:grpSpPr>
            <a:xfrm>
              <a:off x="484560" y="3645360"/>
              <a:ext cx="6411240" cy="3128760"/>
              <a:chOff x="484560" y="3645360"/>
              <a:chExt cx="6411240" cy="3128760"/>
            </a:xfrm>
          </p:grpSpPr>
          <p:graphicFrame>
            <p:nvGraphicFramePr>
              <p:cNvPr id="517" name="Chart 4"/>
              <p:cNvGraphicFramePr/>
              <p:nvPr/>
            </p:nvGraphicFramePr>
            <p:xfrm>
              <a:off x="484560" y="3645360"/>
              <a:ext cx="6411240" cy="312876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"/>
              </a:graphicData>
            </a:graphic>
          </p:graphicFrame>
          <p:sp>
            <p:nvSpPr>
              <p:cNvPr id="518" name="TextBox 13"/>
              <p:cNvSpPr/>
              <p:nvPr/>
            </p:nvSpPr>
            <p:spPr>
              <a:xfrm rot="16200000">
                <a:off x="237600" y="4912200"/>
                <a:ext cx="1388520" cy="37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chemeClr val="dk1"/>
                    </a:solidFill>
                    <a:latin typeface="Calibri"/>
                  </a:rPr>
                  <a:t>Value of IC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519" name="Rectangle 12"/>
            <p:cNvSpPr/>
            <p:nvPr/>
          </p:nvSpPr>
          <p:spPr>
            <a:xfrm rot="16200000">
              <a:off x="354600" y="5011200"/>
              <a:ext cx="774720" cy="23652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grpSp>
          <p:nvGrpSpPr>
            <p:cNvPr id="520" name="Group 16"/>
            <p:cNvGrpSpPr/>
            <p:nvPr/>
          </p:nvGrpSpPr>
          <p:grpSpPr>
            <a:xfrm>
              <a:off x="2727720" y="6335640"/>
              <a:ext cx="2249280" cy="379080"/>
              <a:chOff x="2727720" y="6335640"/>
              <a:chExt cx="2249280" cy="379080"/>
            </a:xfrm>
          </p:grpSpPr>
          <p:sp>
            <p:nvSpPr>
              <p:cNvPr id="521" name="Rectangle 11"/>
              <p:cNvSpPr/>
              <p:nvPr/>
            </p:nvSpPr>
            <p:spPr>
              <a:xfrm>
                <a:off x="3715560" y="6392160"/>
                <a:ext cx="774720" cy="2365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522" name="TextBox 15"/>
              <p:cNvSpPr/>
              <p:nvPr/>
            </p:nvSpPr>
            <p:spPr>
              <a:xfrm>
                <a:off x="2727720" y="6335640"/>
                <a:ext cx="2249280" cy="37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chemeClr val="dk1"/>
                    </a:solidFill>
                    <a:latin typeface="Calibri"/>
                  </a:rPr>
                  <a:t>Assay run number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grpSp>
        <p:nvGrpSpPr>
          <p:cNvPr id="523" name="Group 17"/>
          <p:cNvGrpSpPr/>
          <p:nvPr/>
        </p:nvGrpSpPr>
        <p:grpSpPr>
          <a:xfrm>
            <a:off x="1615320" y="4740480"/>
            <a:ext cx="7093800" cy="1245600"/>
            <a:chOff x="1615320" y="4740480"/>
            <a:chExt cx="7093800" cy="1245600"/>
          </a:xfrm>
        </p:grpSpPr>
        <p:cxnSp>
          <p:nvCxnSpPr>
            <p:cNvPr id="524" name="Straight Connector 6"/>
            <p:cNvCxnSpPr/>
            <p:nvPr/>
          </p:nvCxnSpPr>
          <p:spPr>
            <a:xfrm>
              <a:off x="1696320" y="4975200"/>
              <a:ext cx="5492880" cy="360"/>
            </a:xfrm>
            <a:prstGeom prst="straightConnector1">
              <a:avLst/>
            </a:prstGeom>
            <a:ln w="28575">
              <a:solidFill>
                <a:srgbClr val="4a7ebb"/>
              </a:solidFill>
              <a:prstDash val="dash"/>
              <a:round/>
            </a:ln>
          </p:spPr>
        </p:cxnSp>
        <p:cxnSp>
          <p:nvCxnSpPr>
            <p:cNvPr id="525" name="Straight Connector 7"/>
            <p:cNvCxnSpPr/>
            <p:nvPr/>
          </p:nvCxnSpPr>
          <p:spPr>
            <a:xfrm>
              <a:off x="1615320" y="5835600"/>
              <a:ext cx="5493240" cy="360"/>
            </a:xfrm>
            <a:prstGeom prst="straightConnector1">
              <a:avLst/>
            </a:prstGeom>
            <a:ln w="28575">
              <a:solidFill>
                <a:srgbClr val="4a7ebb"/>
              </a:solidFill>
              <a:prstDash val="dash"/>
              <a:round/>
            </a:ln>
          </p:spPr>
        </p:cxnSp>
        <p:sp>
          <p:nvSpPr>
            <p:cNvPr id="526" name="TextBox 8"/>
            <p:cNvSpPr/>
            <p:nvPr/>
          </p:nvSpPr>
          <p:spPr>
            <a:xfrm>
              <a:off x="7109640" y="4740480"/>
              <a:ext cx="1599480" cy="38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5760" rIns="95760" tIns="47880" bIns="4788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chemeClr val="dk1"/>
                  </a:solidFill>
                  <a:latin typeface="Calibri"/>
                </a:rPr>
                <a:t>Mean + 2 SD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7" name="TextBox 9"/>
            <p:cNvSpPr/>
            <p:nvPr/>
          </p:nvSpPr>
          <p:spPr>
            <a:xfrm>
              <a:off x="7117920" y="5601240"/>
              <a:ext cx="1582560" cy="38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5760" rIns="95760" tIns="47880" bIns="4788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chemeClr val="dk1"/>
                  </a:solidFill>
                  <a:latin typeface="Calibri"/>
                </a:rPr>
                <a:t>Mean – 2 SD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28" name="Oval 19"/>
          <p:cNvSpPr/>
          <p:nvPr/>
        </p:nvSpPr>
        <p:spPr>
          <a:xfrm>
            <a:off x="3170160" y="4505760"/>
            <a:ext cx="459720" cy="36036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01" dur="indefinite" restart="never" nodeType="tmRoot">
          <p:childTnLst>
            <p:seq>
              <p:cTn id="202" dur="indefinite" nodeType="mainSeq">
                <p:childTnLst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internal control(s)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Box 4"/>
          <p:cNvSpPr/>
          <p:nvPr/>
        </p:nvSpPr>
        <p:spPr>
          <a:xfrm>
            <a:off x="323280" y="988920"/>
            <a:ext cx="9127440" cy="742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Examples of internal controls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Large amount of aliquoted material for any </a:t>
            </a:r>
            <a:r>
              <a:rPr b="1" i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in vitro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assay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Protein prep for ELISA, Western blots, protein assay (BCA)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Extract for enzymatic assay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Genomic DNA, cDNA, or plasmid  DNA for qPCR, sequencing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RNA for mRNA reverse transcription + qPCR, microarray, transcriptomics, etc.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Cells from a unique donor or culture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Pooled blood or plasma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Tissue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Ideally single-use = single freeze-thaw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Will act as a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canary in a coal mine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: often the first sign that something is “not right” with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the assay or experiment, something that a usual kit positive control would not reveal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95b3d7"/>
              </a:buClr>
              <a:buSzPct val="120000"/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Allows you to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monitor your variability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such as intra-assay, inter-assay, inter-operator,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inter-instrument, before and after maintenance, inter-site, etc… something often </a:t>
            </a:r>
            <a:br>
              <a:rPr sz="1900"/>
            </a:b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required by better journals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ED348D6-5452-4A0E-AD9A-6FFD47CD7530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blind validation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Box 3"/>
          <p:cNvSpPr/>
          <p:nvPr/>
        </p:nvSpPr>
        <p:spPr>
          <a:xfrm>
            <a:off x="388800" y="1463040"/>
            <a:ext cx="8915040" cy="53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50000"/>
              </a:lnSpc>
            </a:pPr>
            <a:r>
              <a:rPr b="0" lang="en-US" sz="2000" spc="-1" strike="noStrike">
                <a:solidFill>
                  <a:srgbClr val="254061"/>
                </a:solidFill>
                <a:latin typeface="Calibri"/>
              </a:rPr>
              <a:t>At the end of any “large experiment”, good idea to “validate” your data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50000"/>
              </a:lnSpc>
            </a:pP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50000"/>
              </a:lnSpc>
              <a:buClr>
                <a:srgbClr val="95b3d7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Select a subset of your sample (5 or 10% depending on your n)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50000"/>
              </a:lnSpc>
              <a:buClr>
                <a:srgbClr val="95b3d7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Ideally select randomly but could also select a broad range on purpose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50000"/>
              </a:lnSpc>
              <a:buClr>
                <a:srgbClr val="95b3d7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Repeat your measurement after blinding yourself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50000"/>
              </a:lnSpc>
              <a:buClr>
                <a:srgbClr val="95b3d7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Calculate your correlation (or do a Bland Altman plot although not a different assay)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50000"/>
              </a:lnSpc>
              <a:buClr>
                <a:srgbClr val="95b3d7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May want to decide ahead of time what would be acceptable criteria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5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5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Example: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We measure leukocyte telomere length on a cohort of 900 participants. At the end of it all, select 40 (convenient = 1 plate) for repeat.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5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1C74DC4-3C63-4628-B6BE-467F87471D6F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15" dur="indefinite" restart="never" nodeType="tmRoot">
          <p:childTnLst>
            <p:seq>
              <p:cTn id="216" dur="indefinite" nodeType="mainSeq">
                <p:childTnLst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inter-replicate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534" name="Chart 4"/>
          <p:cNvGraphicFramePr/>
          <p:nvPr/>
        </p:nvGraphicFramePr>
        <p:xfrm>
          <a:off x="323280" y="1584000"/>
          <a:ext cx="2170440" cy="2092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35" name="Chart 5"/>
          <p:cNvGraphicFramePr/>
          <p:nvPr/>
        </p:nvGraphicFramePr>
        <p:xfrm>
          <a:off x="2584800" y="1584000"/>
          <a:ext cx="2170440" cy="2092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6" name="Chart 6"/>
          <p:cNvGraphicFramePr/>
          <p:nvPr/>
        </p:nvGraphicFramePr>
        <p:xfrm>
          <a:off x="4766040" y="1584000"/>
          <a:ext cx="2170440" cy="2092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37" name="Chart 7"/>
          <p:cNvGraphicFramePr/>
          <p:nvPr/>
        </p:nvGraphicFramePr>
        <p:xfrm>
          <a:off x="6946920" y="1584000"/>
          <a:ext cx="2170440" cy="2092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38" name="TextBox 8"/>
          <p:cNvSpPr/>
          <p:nvPr/>
        </p:nvSpPr>
        <p:spPr>
          <a:xfrm>
            <a:off x="-383040" y="1017000"/>
            <a:ext cx="1010484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Example: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you treat cells for 30 days, hypothesized that X would increase with treatment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Repeated the longitudinal experiment 4 times = 4 independent replicates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39" name="Chart 12"/>
          <p:cNvGraphicFramePr/>
          <p:nvPr/>
        </p:nvGraphicFramePr>
        <p:xfrm>
          <a:off x="3715920" y="3754800"/>
          <a:ext cx="2826720" cy="281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40" name="TextBox 14"/>
          <p:cNvSpPr/>
          <p:nvPr/>
        </p:nvSpPr>
        <p:spPr>
          <a:xfrm>
            <a:off x="-173880" y="6492960"/>
            <a:ext cx="683892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Assumes that untreated culture does not change over time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15"/>
          <p:cNvSpPr/>
          <p:nvPr/>
        </p:nvSpPr>
        <p:spPr>
          <a:xfrm>
            <a:off x="155880" y="2346840"/>
            <a:ext cx="3312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X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42" name="Group 3"/>
          <p:cNvGrpSpPr/>
          <p:nvPr/>
        </p:nvGrpSpPr>
        <p:grpSpPr>
          <a:xfrm>
            <a:off x="155520" y="3911400"/>
            <a:ext cx="3560040" cy="2659320"/>
            <a:chOff x="155520" y="3911400"/>
            <a:chExt cx="3560040" cy="2659320"/>
          </a:xfrm>
        </p:grpSpPr>
        <p:graphicFrame>
          <p:nvGraphicFramePr>
            <p:cNvPr id="543" name="Chart 9"/>
            <p:cNvGraphicFramePr/>
            <p:nvPr/>
          </p:nvGraphicFramePr>
          <p:xfrm>
            <a:off x="403920" y="3911400"/>
            <a:ext cx="3311640" cy="26593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sp>
          <p:nvSpPr>
            <p:cNvPr id="544" name="TextBox 16"/>
            <p:cNvSpPr/>
            <p:nvPr/>
          </p:nvSpPr>
          <p:spPr>
            <a:xfrm>
              <a:off x="155520" y="4693680"/>
              <a:ext cx="331200" cy="38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5760" rIns="95760" tIns="47880" bIns="4788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X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45" name="Oval 17"/>
          <p:cNvSpPr/>
          <p:nvPr/>
        </p:nvSpPr>
        <p:spPr>
          <a:xfrm>
            <a:off x="323280" y="1799280"/>
            <a:ext cx="565200" cy="164232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Oval 18"/>
          <p:cNvSpPr/>
          <p:nvPr/>
        </p:nvSpPr>
        <p:spPr>
          <a:xfrm>
            <a:off x="2584800" y="1799280"/>
            <a:ext cx="565200" cy="164232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547" name="Chart 19"/>
          <p:cNvGraphicFramePr/>
          <p:nvPr/>
        </p:nvGraphicFramePr>
        <p:xfrm>
          <a:off x="6623640" y="3676680"/>
          <a:ext cx="3230640" cy="25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466334D-0056-4A99-9488-FDD937424420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1" dur="indefinite" restart="never" nodeType="tmRoot">
          <p:childTnLst>
            <p:seq>
              <p:cTn id="222" dur="indefinite" nodeType="mainSeq">
                <p:childTnLst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3" fill="hold">
                      <p:stCondLst>
                        <p:cond delay="indefinite"/>
                      </p:stCondLst>
                      <p:childTnLst>
                        <p:par>
                          <p:cTn id="234" fill="hold">
                            <p:stCondLst>
                              <p:cond delay="0"/>
                            </p:stCondLst>
                            <p:childTnLst>
                              <p:par>
                                <p:cTn id="2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fill="hold">
                      <p:stCondLst>
                        <p:cond delay="indefinite"/>
                      </p:stCondLst>
                      <p:childTnLst>
                        <p:par>
                          <p:cTn id="242" fill="hold">
                            <p:stCondLst>
                              <p:cond delay="0"/>
                            </p:stCondLst>
                            <p:childTnLst>
                              <p:par>
                                <p:cTn id="2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Rectangle 4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In vitro or 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inter-replicate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549" name="Chart 5"/>
          <p:cNvGraphicFramePr/>
          <p:nvPr/>
        </p:nvGraphicFramePr>
        <p:xfrm>
          <a:off x="295200" y="1545120"/>
          <a:ext cx="2127600" cy="213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50" name="Chart 6"/>
          <p:cNvGraphicFramePr/>
          <p:nvPr/>
        </p:nvGraphicFramePr>
        <p:xfrm>
          <a:off x="2637720" y="1545120"/>
          <a:ext cx="2052360" cy="213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51" name="Chart 7"/>
          <p:cNvGraphicFramePr/>
          <p:nvPr/>
        </p:nvGraphicFramePr>
        <p:xfrm>
          <a:off x="4927320" y="1545120"/>
          <a:ext cx="2127600" cy="213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52" name="Chart 8"/>
          <p:cNvGraphicFramePr/>
          <p:nvPr/>
        </p:nvGraphicFramePr>
        <p:xfrm>
          <a:off x="7108560" y="1545120"/>
          <a:ext cx="2127600" cy="213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3" name="TextBox 9"/>
          <p:cNvSpPr/>
          <p:nvPr/>
        </p:nvSpPr>
        <p:spPr>
          <a:xfrm>
            <a:off x="-122040" y="1095120"/>
            <a:ext cx="614232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Controls (untreated cultures) stay constant over time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1"/>
          <p:cNvSpPr/>
          <p:nvPr/>
        </p:nvSpPr>
        <p:spPr>
          <a:xfrm>
            <a:off x="7189200" y="3833280"/>
            <a:ext cx="2422800" cy="332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800" spc="-1" strike="noStrike">
                <a:solidFill>
                  <a:srgbClr val="254061"/>
                </a:solidFill>
                <a:latin typeface="Calibri"/>
              </a:rPr>
              <a:t>Fold change at 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800" spc="-1" strike="noStrike">
                <a:solidFill>
                  <a:srgbClr val="254061"/>
                </a:solidFill>
                <a:latin typeface="Calibri"/>
              </a:rPr>
              <a:t>0 vs. 30 days?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4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If control culture was not constant 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Symbol" charset="2"/>
              <a:buChar char=""/>
            </a:pP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 </a:t>
            </a: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could compare area under the curves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Symbol" charset="2"/>
              <a:buChar char=""/>
            </a:pP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 </a:t>
            </a: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could compare the </a:t>
            </a:r>
            <a:r>
              <a:rPr b="0" lang="en-US" sz="1800" spc="-1" strike="noStrike">
                <a:solidFill>
                  <a:srgbClr val="254061"/>
                </a:solidFill>
                <a:latin typeface="Symbol"/>
              </a:rPr>
              <a:t>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13"/>
          <p:cNvSpPr/>
          <p:nvPr/>
        </p:nvSpPr>
        <p:spPr>
          <a:xfrm>
            <a:off x="155880" y="4850280"/>
            <a:ext cx="3312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X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56" name="Group 15"/>
          <p:cNvGrpSpPr/>
          <p:nvPr/>
        </p:nvGrpSpPr>
        <p:grpSpPr>
          <a:xfrm>
            <a:off x="3473640" y="3598560"/>
            <a:ext cx="3472920" cy="2815920"/>
            <a:chOff x="3473640" y="3598560"/>
            <a:chExt cx="3472920" cy="2815920"/>
          </a:xfrm>
        </p:grpSpPr>
        <p:graphicFrame>
          <p:nvGraphicFramePr>
            <p:cNvPr id="557" name="Chart 10"/>
            <p:cNvGraphicFramePr/>
            <p:nvPr/>
          </p:nvGraphicFramePr>
          <p:xfrm>
            <a:off x="3958200" y="3598560"/>
            <a:ext cx="2988360" cy="28159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558" name="TextBox 14"/>
            <p:cNvSpPr/>
            <p:nvPr/>
          </p:nvSpPr>
          <p:spPr>
            <a:xfrm rot="16200000">
              <a:off x="2869200" y="4838400"/>
              <a:ext cx="17557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algn="ctr" defTabSz="956160">
                <a:lnSpc>
                  <a:spcPct val="100000"/>
                </a:lnSpc>
              </a:pPr>
              <a:r>
                <a:rPr b="0" lang="en-US" sz="1500" spc="-1" strike="noStrike">
                  <a:solidFill>
                    <a:srgbClr val="254061"/>
                  </a:solidFill>
                  <a:latin typeface="Calibri"/>
                </a:rPr>
                <a:t>Fold change in X </a:t>
              </a:r>
              <a:endParaRPr b="0" lang="en-CA" sz="15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56160">
                <a:lnSpc>
                  <a:spcPct val="100000"/>
                </a:lnSpc>
              </a:pPr>
              <a:r>
                <a:rPr b="0" lang="en-US" sz="1500" spc="-1" strike="noStrike">
                  <a:solidFill>
                    <a:srgbClr val="254061"/>
                  </a:solidFill>
                  <a:latin typeface="Calibri"/>
                </a:rPr>
                <a:t>relative to control</a:t>
              </a:r>
              <a:endParaRPr b="0" lang="en-CA" sz="15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559" name="Chart 16"/>
          <p:cNvGraphicFramePr/>
          <p:nvPr/>
        </p:nvGraphicFramePr>
        <p:xfrm>
          <a:off x="403920" y="3676680"/>
          <a:ext cx="2988360" cy="2659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CF9C0CB-67E9-41CB-A0CC-65676B5AA559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5" dur="indefinite" restart="never" nodeType="tmRoot">
          <p:childTnLst>
            <p:seq>
              <p:cTn id="246" dur="indefinite" nodeType="mainSeq">
                <p:childTnLst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7" fill="hold">
                      <p:stCondLst>
                        <p:cond delay="indefinite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In vitro or 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inter-replicate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3"/>
          <p:cNvSpPr/>
          <p:nvPr/>
        </p:nvSpPr>
        <p:spPr>
          <a:xfrm>
            <a:off x="-195480" y="1095120"/>
            <a:ext cx="744372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Or find a way to reduce baseline variability between replicates…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Or do a couple more replicates. For n=6,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62" name="Chart 4"/>
          <p:cNvGraphicFramePr/>
          <p:nvPr/>
        </p:nvGraphicFramePr>
        <p:xfrm>
          <a:off x="646200" y="1877400"/>
          <a:ext cx="3237840" cy="25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63" name="Chart 5"/>
          <p:cNvGraphicFramePr/>
          <p:nvPr/>
        </p:nvGraphicFramePr>
        <p:xfrm>
          <a:off x="4766040" y="1877400"/>
          <a:ext cx="3200400" cy="25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64" name="Straight Arrow Connector 7"/>
          <p:cNvCxnSpPr/>
          <p:nvPr/>
        </p:nvCxnSpPr>
        <p:spPr>
          <a:xfrm>
            <a:off x="4038840" y="2972520"/>
            <a:ext cx="646560" cy="360"/>
          </a:xfrm>
          <a:prstGeom prst="straightConnector1">
            <a:avLst/>
          </a:prstGeom>
          <a:ln w="57150"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565" name="TextBox 8"/>
          <p:cNvSpPr/>
          <p:nvPr/>
        </p:nvSpPr>
        <p:spPr>
          <a:xfrm>
            <a:off x="317520" y="2738160"/>
            <a:ext cx="3312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X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lide Number Placeholder 1"/>
          <p:cNvSpPr/>
          <p:nvPr/>
        </p:nvSpPr>
        <p:spPr>
          <a:xfrm>
            <a:off x="6946920" y="63691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F76599B-2187-41A5-A7CA-E0EFF53850B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67" name="Chart 16"/>
          <p:cNvGraphicFramePr/>
          <p:nvPr/>
        </p:nvGraphicFramePr>
        <p:xfrm>
          <a:off x="565560" y="4302720"/>
          <a:ext cx="2826720" cy="25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68" name="Chart 17"/>
          <p:cNvGraphicFramePr/>
          <p:nvPr/>
        </p:nvGraphicFramePr>
        <p:xfrm>
          <a:off x="4362120" y="4302720"/>
          <a:ext cx="2907720" cy="25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569" name="Straight Arrow Connector 18"/>
          <p:cNvCxnSpPr/>
          <p:nvPr/>
        </p:nvCxnSpPr>
        <p:spPr>
          <a:xfrm>
            <a:off x="3553920" y="5632200"/>
            <a:ext cx="646560" cy="360"/>
          </a:xfrm>
          <a:prstGeom prst="straightConnector1">
            <a:avLst/>
          </a:prstGeom>
          <a:ln w="57150"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570" name="TextBox 19"/>
          <p:cNvSpPr/>
          <p:nvPr/>
        </p:nvSpPr>
        <p:spPr>
          <a:xfrm>
            <a:off x="317520" y="5475960"/>
            <a:ext cx="3312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X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20"/>
          <p:cNvSpPr/>
          <p:nvPr/>
        </p:nvSpPr>
        <p:spPr>
          <a:xfrm>
            <a:off x="7269840" y="4224240"/>
            <a:ext cx="2422800" cy="183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0 vs. 30 days?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Not much changed except maybe the p value…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In vitro or 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inter-treatment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Box 3"/>
          <p:cNvSpPr/>
          <p:nvPr/>
        </p:nvSpPr>
        <p:spPr>
          <a:xfrm>
            <a:off x="198360" y="1005840"/>
            <a:ext cx="9067320" cy="618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So far this was inter-replicate variability on a single treatment.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But what if I have to test 3 or more different treatments?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How to differentiate between an effect due to my treatment versus one due to my inter-replicate variability? </a:t>
            </a: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→ blocking and randomization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What statistical test to use? t-test will involve many comparisons with multiple comparison adjustment which are costly  </a:t>
            </a: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→ one-way ANOVA (single factor which is the treatment), can add post-hoc Tukey test which will account for multiple comparisons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ANOVA: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Analysis of variance = assesses statistical significance of the differences among observed treatment means </a:t>
            </a: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based on whether their variance is larger than would be expected because of random variation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. If yes, systematic treatment effects are inferred.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Subject to the same assumptions as t-test: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-  randomly selected sample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- from normally distributed population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- with equal variance (that is not influenced by treatment)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(rule of thumb, ratio between SD &lt;2)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5AFFECC-2527-493E-8F7F-614979D939F9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inter-treatment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3"/>
          <p:cNvSpPr/>
          <p:nvPr/>
        </p:nvSpPr>
        <p:spPr>
          <a:xfrm>
            <a:off x="426960" y="1095120"/>
            <a:ext cx="8838720" cy="67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For any given experiment, you have: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00000"/>
              </a:lnSpc>
              <a:buClr>
                <a:srgbClr val="254061"/>
              </a:buClr>
              <a:buFont typeface="Arial"/>
              <a:buChar char="•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the within-group variance = experimental error (assay, manipulation, operator)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00000"/>
              </a:lnSpc>
              <a:buClr>
                <a:srgbClr val="254061"/>
              </a:buClr>
              <a:buFont typeface="Arial"/>
              <a:buChar char="•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the between group variance = hopefully your treatment effect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56160">
              <a:lnSpc>
                <a:spcPct val="100000"/>
              </a:lnSpc>
              <a:buClr>
                <a:srgbClr val="254061"/>
              </a:buClr>
              <a:buFont typeface="Arial"/>
              <a:buChar char="•"/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both influence your measure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Example: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You need to measure the difference between 3 treatments but your assay(s) done in triplicate require a lot of cells and you cannot start all your independent experiments with the same original aliquot of cells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Consequence? 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Likely that cells from different cultures will react slightly differently to your treatment owing to variation in 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cell passage #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cell concentration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growth rate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medium composition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cell stress, etc.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= nuisance variables that can confound the real effect you’re interested in.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 </a:t>
            </a:r>
            <a:r>
              <a:rPr b="1" lang="en-US" sz="1900" spc="-1" strike="noStrike">
                <a:solidFill>
                  <a:srgbClr val="c00000"/>
                </a:solidFill>
                <a:latin typeface="Calibri"/>
              </a:rPr>
              <a:t>What can you do?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80E5F3F-4D65-49A9-B63B-8E83C1E893AF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5" dur="indefinite" restart="never" nodeType="tmRoot">
          <p:childTnLst>
            <p:seq>
              <p:cTn id="276" dur="indefinite" nodeType="mainSeq">
                <p:childTnLst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lide Number Placeholder 1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A2412AF-04A8-4D8D-8E43-0E7D9522F59D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ectangle 3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inter-treatment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Oval 5"/>
          <p:cNvSpPr/>
          <p:nvPr/>
        </p:nvSpPr>
        <p:spPr>
          <a:xfrm>
            <a:off x="9133200" y="1620360"/>
            <a:ext cx="267120" cy="272520"/>
          </a:xfrm>
          <a:prstGeom prst="ellipse">
            <a:avLst/>
          </a:prstGeom>
          <a:noFill/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accent1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579" name="Oval 6"/>
          <p:cNvSpPr/>
          <p:nvPr/>
        </p:nvSpPr>
        <p:spPr>
          <a:xfrm>
            <a:off x="7531560" y="346320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Oval 7"/>
          <p:cNvSpPr/>
          <p:nvPr/>
        </p:nvSpPr>
        <p:spPr>
          <a:xfrm>
            <a:off x="7627320" y="379656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Oval 8"/>
          <p:cNvSpPr/>
          <p:nvPr/>
        </p:nvSpPr>
        <p:spPr>
          <a:xfrm>
            <a:off x="7452360" y="408528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2" name="Oval 9"/>
          <p:cNvSpPr/>
          <p:nvPr/>
        </p:nvSpPr>
        <p:spPr>
          <a:xfrm>
            <a:off x="7244280" y="576000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Oval 10"/>
          <p:cNvSpPr/>
          <p:nvPr/>
        </p:nvSpPr>
        <p:spPr>
          <a:xfrm>
            <a:off x="6850440" y="586548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Oval 11"/>
          <p:cNvSpPr/>
          <p:nvPr/>
        </p:nvSpPr>
        <p:spPr>
          <a:xfrm>
            <a:off x="6446880" y="579276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Oval 12"/>
          <p:cNvSpPr/>
          <p:nvPr/>
        </p:nvSpPr>
        <p:spPr>
          <a:xfrm>
            <a:off x="4474800" y="136656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6" name="TextBox 13"/>
          <p:cNvSpPr/>
          <p:nvPr/>
        </p:nvSpPr>
        <p:spPr>
          <a:xfrm>
            <a:off x="2952720" y="1316520"/>
            <a:ext cx="153684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Seeding 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14"/>
          <p:cNvSpPr/>
          <p:nvPr/>
        </p:nvSpPr>
        <p:spPr>
          <a:xfrm>
            <a:off x="426960" y="1310400"/>
            <a:ext cx="160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Freezer stock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88" name="Straight Arrow Connector 15"/>
          <p:cNvCxnSpPr/>
          <p:nvPr/>
        </p:nvCxnSpPr>
        <p:spPr>
          <a:xfrm>
            <a:off x="1930320" y="1512720"/>
            <a:ext cx="98964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589" name="Straight Arrow Connector 16"/>
          <p:cNvCxnSpPr/>
          <p:nvPr/>
        </p:nvCxnSpPr>
        <p:spPr>
          <a:xfrm>
            <a:off x="4958640" y="1495440"/>
            <a:ext cx="99000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590" name="TextBox 17"/>
          <p:cNvSpPr/>
          <p:nvPr/>
        </p:nvSpPr>
        <p:spPr>
          <a:xfrm>
            <a:off x="6015600" y="1310400"/>
            <a:ext cx="3402720" cy="16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6 independent replicates of 3 treatments done in triplicate = 54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Then 54 x 2 or 3 assays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Too much!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Oval 18"/>
          <p:cNvSpPr/>
          <p:nvPr/>
        </p:nvSpPr>
        <p:spPr>
          <a:xfrm>
            <a:off x="3654720" y="365580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19"/>
          <p:cNvSpPr/>
          <p:nvPr/>
        </p:nvSpPr>
        <p:spPr>
          <a:xfrm>
            <a:off x="3017520" y="3605760"/>
            <a:ext cx="6606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20"/>
          <p:cNvSpPr/>
          <p:nvPr/>
        </p:nvSpPr>
        <p:spPr>
          <a:xfrm>
            <a:off x="426960" y="3599640"/>
            <a:ext cx="160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Freezer stock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94" name="Straight Arrow Connector 21"/>
          <p:cNvCxnSpPr/>
          <p:nvPr/>
        </p:nvCxnSpPr>
        <p:spPr>
          <a:xfrm>
            <a:off x="1930320" y="3801960"/>
            <a:ext cx="98964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595" name="Straight Arrow Connector 22"/>
          <p:cNvCxnSpPr/>
          <p:nvPr/>
        </p:nvCxnSpPr>
        <p:spPr>
          <a:xfrm>
            <a:off x="4120560" y="3784680"/>
            <a:ext cx="98964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596" name="TextBox 23"/>
          <p:cNvSpPr/>
          <p:nvPr/>
        </p:nvSpPr>
        <p:spPr>
          <a:xfrm>
            <a:off x="5177520" y="3599640"/>
            <a:ext cx="34027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 freezer aliquots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97" name="Straight Arrow Connector 24"/>
          <p:cNvCxnSpPr/>
          <p:nvPr/>
        </p:nvCxnSpPr>
        <p:spPr>
          <a:xfrm flipV="1">
            <a:off x="6930720" y="3655440"/>
            <a:ext cx="49500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598" name="Straight Arrow Connector 25"/>
          <p:cNvCxnSpPr/>
          <p:nvPr/>
        </p:nvCxnSpPr>
        <p:spPr>
          <a:xfrm>
            <a:off x="6983640" y="3879000"/>
            <a:ext cx="54828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599" name="Straight Arrow Connector 26"/>
          <p:cNvCxnSpPr/>
          <p:nvPr/>
        </p:nvCxnSpPr>
        <p:spPr>
          <a:xfrm>
            <a:off x="6950880" y="3933000"/>
            <a:ext cx="480600" cy="152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00" name="Straight Arrow Connector 27"/>
          <p:cNvCxnSpPr/>
          <p:nvPr/>
        </p:nvCxnSpPr>
        <p:spPr>
          <a:xfrm flipV="1">
            <a:off x="7887600" y="3301200"/>
            <a:ext cx="49500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01" name="Straight Arrow Connector 28"/>
          <p:cNvCxnSpPr/>
          <p:nvPr/>
        </p:nvCxnSpPr>
        <p:spPr>
          <a:xfrm>
            <a:off x="7940880" y="3524760"/>
            <a:ext cx="54792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02" name="Straight Arrow Connector 29"/>
          <p:cNvCxnSpPr/>
          <p:nvPr/>
        </p:nvCxnSpPr>
        <p:spPr>
          <a:xfrm>
            <a:off x="7907760" y="3578400"/>
            <a:ext cx="480960" cy="15300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603" name="TextBox 30"/>
          <p:cNvSpPr/>
          <p:nvPr/>
        </p:nvSpPr>
        <p:spPr>
          <a:xfrm>
            <a:off x="274320" y="2758320"/>
            <a:ext cx="41724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What could you do to mitigate this?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Oval 31"/>
          <p:cNvSpPr/>
          <p:nvPr/>
        </p:nvSpPr>
        <p:spPr>
          <a:xfrm>
            <a:off x="7531560" y="483480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5" name="Oval 32"/>
          <p:cNvSpPr/>
          <p:nvPr/>
        </p:nvSpPr>
        <p:spPr>
          <a:xfrm>
            <a:off x="7627320" y="516816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Oval 33"/>
          <p:cNvSpPr/>
          <p:nvPr/>
        </p:nvSpPr>
        <p:spPr>
          <a:xfrm>
            <a:off x="7452360" y="545688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7" name="Oval 34"/>
          <p:cNvSpPr/>
          <p:nvPr/>
        </p:nvSpPr>
        <p:spPr>
          <a:xfrm>
            <a:off x="3654720" y="502740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TextBox 35"/>
          <p:cNvSpPr/>
          <p:nvPr/>
        </p:nvSpPr>
        <p:spPr>
          <a:xfrm>
            <a:off x="3017520" y="4977360"/>
            <a:ext cx="6606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36"/>
          <p:cNvSpPr/>
          <p:nvPr/>
        </p:nvSpPr>
        <p:spPr>
          <a:xfrm>
            <a:off x="426960" y="4971240"/>
            <a:ext cx="160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Freezer stock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10" name="Straight Arrow Connector 37"/>
          <p:cNvCxnSpPr/>
          <p:nvPr/>
        </p:nvCxnSpPr>
        <p:spPr>
          <a:xfrm>
            <a:off x="1930320" y="5173560"/>
            <a:ext cx="98964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1" name="Straight Arrow Connector 38"/>
          <p:cNvCxnSpPr/>
          <p:nvPr/>
        </p:nvCxnSpPr>
        <p:spPr>
          <a:xfrm>
            <a:off x="4120560" y="5156280"/>
            <a:ext cx="98964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612" name="TextBox 39"/>
          <p:cNvSpPr/>
          <p:nvPr/>
        </p:nvSpPr>
        <p:spPr>
          <a:xfrm>
            <a:off x="5177520" y="4971240"/>
            <a:ext cx="34027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6 freezer aliquots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13" name="Straight Arrow Connector 40"/>
          <p:cNvCxnSpPr/>
          <p:nvPr/>
        </p:nvCxnSpPr>
        <p:spPr>
          <a:xfrm flipV="1">
            <a:off x="6930720" y="5027040"/>
            <a:ext cx="49500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4" name="Straight Arrow Connector 41"/>
          <p:cNvCxnSpPr/>
          <p:nvPr/>
        </p:nvCxnSpPr>
        <p:spPr>
          <a:xfrm>
            <a:off x="6983640" y="5250600"/>
            <a:ext cx="54828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5" name="Straight Arrow Connector 42"/>
          <p:cNvCxnSpPr/>
          <p:nvPr/>
        </p:nvCxnSpPr>
        <p:spPr>
          <a:xfrm>
            <a:off x="6950880" y="5304600"/>
            <a:ext cx="480600" cy="152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6" name="Straight Arrow Connector 43"/>
          <p:cNvCxnSpPr/>
          <p:nvPr/>
        </p:nvCxnSpPr>
        <p:spPr>
          <a:xfrm flipV="1">
            <a:off x="7887600" y="4672800"/>
            <a:ext cx="49500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7" name="Straight Arrow Connector 44"/>
          <p:cNvCxnSpPr/>
          <p:nvPr/>
        </p:nvCxnSpPr>
        <p:spPr>
          <a:xfrm>
            <a:off x="7940880" y="4896360"/>
            <a:ext cx="54792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8" name="Straight Arrow Connector 45"/>
          <p:cNvCxnSpPr/>
          <p:nvPr/>
        </p:nvCxnSpPr>
        <p:spPr>
          <a:xfrm>
            <a:off x="7907760" y="4950000"/>
            <a:ext cx="480960" cy="15300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19" name="Straight Arrow Connector 46"/>
          <p:cNvCxnSpPr/>
          <p:nvPr/>
        </p:nvCxnSpPr>
        <p:spPr>
          <a:xfrm>
            <a:off x="6930720" y="5324400"/>
            <a:ext cx="53280" cy="40572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20" name="Straight Arrow Connector 47"/>
          <p:cNvCxnSpPr/>
          <p:nvPr/>
        </p:nvCxnSpPr>
        <p:spPr>
          <a:xfrm>
            <a:off x="6951600" y="5289840"/>
            <a:ext cx="306360" cy="4402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21" name="Straight Arrow Connector 48"/>
          <p:cNvCxnSpPr>
            <a:stCxn id="612" idx="2"/>
          </p:cNvCxnSpPr>
          <p:nvPr/>
        </p:nvCxnSpPr>
        <p:spPr>
          <a:xfrm flipH="1">
            <a:off x="6580440" y="5329440"/>
            <a:ext cx="298800" cy="4006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622" name="TextBox 49"/>
          <p:cNvSpPr/>
          <p:nvPr/>
        </p:nvSpPr>
        <p:spPr>
          <a:xfrm>
            <a:off x="338040" y="5730120"/>
            <a:ext cx="60195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800" spc="-1" strike="noStrike">
                <a:solidFill>
                  <a:srgbClr val="254061"/>
                </a:solidFill>
                <a:latin typeface="Calibri"/>
              </a:rPr>
              <a:t>Even if your measures shift in the various independent experiments, the relative differences between treatment within the same culture should remain the same. 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1800" spc="-1" strike="noStrike">
                <a:solidFill>
                  <a:srgbClr val="254061"/>
                </a:solidFill>
                <a:latin typeface="Calibri"/>
              </a:rPr>
              <a:t>Removes variability. This “blocking”  is similar to “pairing”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Oval 50"/>
          <p:cNvSpPr/>
          <p:nvPr/>
        </p:nvSpPr>
        <p:spPr>
          <a:xfrm>
            <a:off x="8521920" y="3139200"/>
            <a:ext cx="267120" cy="272520"/>
          </a:xfrm>
          <a:prstGeom prst="ellipse">
            <a:avLst/>
          </a:prstGeom>
          <a:solidFill>
            <a:srgbClr val="ffc000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4" name="Oval 51"/>
          <p:cNvSpPr/>
          <p:nvPr/>
        </p:nvSpPr>
        <p:spPr>
          <a:xfrm>
            <a:off x="8617680" y="3472560"/>
            <a:ext cx="267120" cy="27252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Oval 52"/>
          <p:cNvSpPr/>
          <p:nvPr/>
        </p:nvSpPr>
        <p:spPr>
          <a:xfrm>
            <a:off x="8442720" y="3761640"/>
            <a:ext cx="267120" cy="2725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6" name="Oval 53"/>
          <p:cNvSpPr/>
          <p:nvPr/>
        </p:nvSpPr>
        <p:spPr>
          <a:xfrm>
            <a:off x="8521920" y="4420080"/>
            <a:ext cx="267120" cy="272520"/>
          </a:xfrm>
          <a:prstGeom prst="ellipse">
            <a:avLst/>
          </a:prstGeom>
          <a:solidFill>
            <a:srgbClr val="ffc000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Oval 54"/>
          <p:cNvSpPr/>
          <p:nvPr/>
        </p:nvSpPr>
        <p:spPr>
          <a:xfrm>
            <a:off x="8617680" y="4753440"/>
            <a:ext cx="267120" cy="27252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Oval 55"/>
          <p:cNvSpPr/>
          <p:nvPr/>
        </p:nvSpPr>
        <p:spPr>
          <a:xfrm>
            <a:off x="8442720" y="5042520"/>
            <a:ext cx="267120" cy="2725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TextBox 56"/>
          <p:cNvSpPr/>
          <p:nvPr/>
        </p:nvSpPr>
        <p:spPr>
          <a:xfrm>
            <a:off x="8206920" y="5580720"/>
            <a:ext cx="1164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n=1/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Treatment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Same day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ectangle 60"/>
          <p:cNvSpPr/>
          <p:nvPr/>
        </p:nvSpPr>
        <p:spPr>
          <a:xfrm>
            <a:off x="8214840" y="2758320"/>
            <a:ext cx="1105560" cy="3767040"/>
          </a:xfrm>
          <a:prstGeom prst="rect">
            <a:avLst/>
          </a:prstGeom>
          <a:noFill/>
          <a:ln>
            <a:solidFill>
              <a:srgbClr val="3a5f8b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Right Brace 61"/>
          <p:cNvSpPr/>
          <p:nvPr/>
        </p:nvSpPr>
        <p:spPr>
          <a:xfrm rot="5400000">
            <a:off x="7197480" y="5690160"/>
            <a:ext cx="263520" cy="149688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2" name="TextBox 62"/>
          <p:cNvSpPr/>
          <p:nvPr/>
        </p:nvSpPr>
        <p:spPr>
          <a:xfrm>
            <a:off x="6483960" y="6612840"/>
            <a:ext cx="18180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6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Not at same time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FDBFA90-D135-4B14-845E-5D2A3847B2B2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9" dur="indefinite" restart="never" nodeType="tmRoot">
          <p:childTnLst>
            <p:seq>
              <p:cTn id="300" dur="indefinite" nodeType="mainSeq">
                <p:childTnLst>
                  <p:par>
                    <p:cTn id="301" fill="hold">
                      <p:stCondLst>
                        <p:cond delay="indefinite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5" fill="hold">
                      <p:stCondLst>
                        <p:cond delay="indefinite"/>
                      </p:stCondLst>
                      <p:childTnLst>
                        <p:par>
                          <p:cTn id="306" fill="hold">
                            <p:stCondLst>
                              <p:cond delay="0"/>
                            </p:stCondLst>
                            <p:childTnLst>
                              <p:par>
                                <p:cTn id="30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1" fill="hold">
                      <p:stCondLst>
                        <p:cond delay="indefinite"/>
                      </p:stCondLst>
                      <p:childTnLst>
                        <p:par>
                          <p:cTn id="402" fill="hold">
                            <p:stCondLst>
                              <p:cond delay="0"/>
                            </p:stCondLst>
                            <p:childTnLst>
                              <p:par>
                                <p:cTn id="4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Cell experiments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inter-treatment variability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Oval 84"/>
          <p:cNvSpPr/>
          <p:nvPr/>
        </p:nvSpPr>
        <p:spPr>
          <a:xfrm>
            <a:off x="7473240" y="240768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Oval 85"/>
          <p:cNvSpPr/>
          <p:nvPr/>
        </p:nvSpPr>
        <p:spPr>
          <a:xfrm>
            <a:off x="7569000" y="274104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Oval 86"/>
          <p:cNvSpPr/>
          <p:nvPr/>
        </p:nvSpPr>
        <p:spPr>
          <a:xfrm>
            <a:off x="7394040" y="3029760"/>
            <a:ext cx="267120" cy="2725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Oval 87"/>
          <p:cNvSpPr/>
          <p:nvPr/>
        </p:nvSpPr>
        <p:spPr>
          <a:xfrm>
            <a:off x="3596040" y="2600280"/>
            <a:ext cx="322920" cy="312480"/>
          </a:xfrm>
          <a:prstGeom prst="ellipse">
            <a:avLst/>
          </a:prstGeom>
          <a:solidFill>
            <a:schemeClr val="bg1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TextBox 88"/>
          <p:cNvSpPr/>
          <p:nvPr/>
        </p:nvSpPr>
        <p:spPr>
          <a:xfrm>
            <a:off x="2959200" y="2550240"/>
            <a:ext cx="66060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flask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89"/>
          <p:cNvSpPr/>
          <p:nvPr/>
        </p:nvSpPr>
        <p:spPr>
          <a:xfrm>
            <a:off x="368640" y="2544120"/>
            <a:ext cx="1604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Freezer stock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40" name="Straight Arrow Connector 90"/>
          <p:cNvCxnSpPr/>
          <p:nvPr/>
        </p:nvCxnSpPr>
        <p:spPr>
          <a:xfrm>
            <a:off x="1871640" y="2746440"/>
            <a:ext cx="99000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1" name="Straight Arrow Connector 91"/>
          <p:cNvCxnSpPr/>
          <p:nvPr/>
        </p:nvCxnSpPr>
        <p:spPr>
          <a:xfrm>
            <a:off x="4061880" y="2729160"/>
            <a:ext cx="99000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642" name="TextBox 92"/>
          <p:cNvSpPr/>
          <p:nvPr/>
        </p:nvSpPr>
        <p:spPr>
          <a:xfrm>
            <a:off x="5118840" y="2544120"/>
            <a:ext cx="340272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X freezer aliquots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43" name="Straight Arrow Connector 93"/>
          <p:cNvCxnSpPr/>
          <p:nvPr/>
        </p:nvCxnSpPr>
        <p:spPr>
          <a:xfrm flipV="1">
            <a:off x="6872040" y="2599920"/>
            <a:ext cx="49536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4" name="Straight Arrow Connector 94"/>
          <p:cNvCxnSpPr/>
          <p:nvPr/>
        </p:nvCxnSpPr>
        <p:spPr>
          <a:xfrm>
            <a:off x="6925320" y="2823480"/>
            <a:ext cx="54792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5" name="Straight Arrow Connector 95"/>
          <p:cNvCxnSpPr/>
          <p:nvPr/>
        </p:nvCxnSpPr>
        <p:spPr>
          <a:xfrm>
            <a:off x="6892560" y="2877120"/>
            <a:ext cx="480600" cy="15300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6" name="Straight Arrow Connector 96"/>
          <p:cNvCxnSpPr/>
          <p:nvPr/>
        </p:nvCxnSpPr>
        <p:spPr>
          <a:xfrm flipV="1">
            <a:off x="7829280" y="2245680"/>
            <a:ext cx="495000" cy="12348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7" name="Straight Arrow Connector 97"/>
          <p:cNvCxnSpPr/>
          <p:nvPr/>
        </p:nvCxnSpPr>
        <p:spPr>
          <a:xfrm>
            <a:off x="7882200" y="2469240"/>
            <a:ext cx="548280" cy="36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cxnSp>
        <p:nvCxnSpPr>
          <p:cNvPr id="648" name="Straight Arrow Connector 98"/>
          <p:cNvCxnSpPr/>
          <p:nvPr/>
        </p:nvCxnSpPr>
        <p:spPr>
          <a:xfrm>
            <a:off x="7849440" y="2522880"/>
            <a:ext cx="480600" cy="15300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arrow" w="med"/>
          </a:ln>
        </p:spPr>
      </p:cxnSp>
      <p:sp>
        <p:nvSpPr>
          <p:cNvPr id="649" name="Oval 99"/>
          <p:cNvSpPr/>
          <p:nvPr/>
        </p:nvSpPr>
        <p:spPr>
          <a:xfrm>
            <a:off x="8463600" y="2083680"/>
            <a:ext cx="267120" cy="272520"/>
          </a:xfrm>
          <a:prstGeom prst="ellipse">
            <a:avLst/>
          </a:prstGeom>
          <a:solidFill>
            <a:srgbClr val="ffc000"/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Oval 100"/>
          <p:cNvSpPr/>
          <p:nvPr/>
        </p:nvSpPr>
        <p:spPr>
          <a:xfrm>
            <a:off x="8559360" y="2417040"/>
            <a:ext cx="267120" cy="27252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1" name="Oval 101"/>
          <p:cNvSpPr/>
          <p:nvPr/>
        </p:nvSpPr>
        <p:spPr>
          <a:xfrm>
            <a:off x="8384400" y="2705760"/>
            <a:ext cx="267120" cy="2725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4f81bd">
                <a:lumMod val="75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652" name="Group 1024"/>
          <p:cNvGrpSpPr/>
          <p:nvPr/>
        </p:nvGrpSpPr>
        <p:grpSpPr>
          <a:xfrm>
            <a:off x="7110360" y="3363120"/>
            <a:ext cx="954000" cy="1046160"/>
            <a:chOff x="7110360" y="3363120"/>
            <a:chExt cx="954000" cy="1046160"/>
          </a:xfrm>
        </p:grpSpPr>
        <p:cxnSp>
          <p:nvCxnSpPr>
            <p:cNvPr id="653" name="Straight Arrow Connector 108"/>
            <p:cNvCxnSpPr/>
            <p:nvPr/>
          </p:nvCxnSpPr>
          <p:spPr>
            <a:xfrm>
              <a:off x="7555680" y="3363120"/>
              <a:ext cx="246960" cy="44640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cxnSp>
          <p:nvCxnSpPr>
            <p:cNvPr id="654" name="Straight Arrow Connector 109"/>
            <p:cNvCxnSpPr/>
            <p:nvPr/>
          </p:nvCxnSpPr>
          <p:spPr>
            <a:xfrm>
              <a:off x="7472520" y="3440160"/>
              <a:ext cx="141480" cy="52956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cxnSp>
          <p:nvCxnSpPr>
            <p:cNvPr id="655" name="Straight Arrow Connector 110"/>
            <p:cNvCxnSpPr/>
            <p:nvPr/>
          </p:nvCxnSpPr>
          <p:spPr>
            <a:xfrm flipH="1">
              <a:off x="7388640" y="3422160"/>
              <a:ext cx="23400" cy="50400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sp>
          <p:nvSpPr>
            <p:cNvPr id="656" name="Oval 111"/>
            <p:cNvSpPr/>
            <p:nvPr/>
          </p:nvSpPr>
          <p:spPr>
            <a:xfrm rot="4503000">
              <a:off x="7764480" y="3930120"/>
              <a:ext cx="267120" cy="27252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7" name="Oval 112"/>
            <p:cNvSpPr/>
            <p:nvPr/>
          </p:nvSpPr>
          <p:spPr>
            <a:xfrm rot="4503000">
              <a:off x="7467120" y="4108680"/>
              <a:ext cx="267120" cy="27252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58" name="Oval 113"/>
            <p:cNvSpPr/>
            <p:nvPr/>
          </p:nvSpPr>
          <p:spPr>
            <a:xfrm rot="4503000">
              <a:off x="7142760" y="4014000"/>
              <a:ext cx="267120" cy="27252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grpSp>
        <p:nvGrpSpPr>
          <p:cNvPr id="659" name="Group 1023"/>
          <p:cNvGrpSpPr/>
          <p:nvPr/>
        </p:nvGrpSpPr>
        <p:grpSpPr>
          <a:xfrm>
            <a:off x="7912080" y="2904840"/>
            <a:ext cx="927000" cy="1015200"/>
            <a:chOff x="7912080" y="2904840"/>
            <a:chExt cx="927000" cy="1015200"/>
          </a:xfrm>
        </p:grpSpPr>
        <p:cxnSp>
          <p:nvCxnSpPr>
            <p:cNvPr id="660" name="Straight Arrow Connector 120"/>
            <p:cNvCxnSpPr/>
            <p:nvPr/>
          </p:nvCxnSpPr>
          <p:spPr>
            <a:xfrm>
              <a:off x="8009640" y="2904840"/>
              <a:ext cx="431280" cy="27288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cxnSp>
          <p:nvCxnSpPr>
            <p:cNvPr id="661" name="Straight Arrow Connector 121"/>
            <p:cNvCxnSpPr/>
            <p:nvPr/>
          </p:nvCxnSpPr>
          <p:spPr>
            <a:xfrm>
              <a:off x="7974000" y="3012840"/>
              <a:ext cx="378720" cy="39600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cxnSp>
          <p:nvCxnSpPr>
            <p:cNvPr id="662" name="Straight Arrow Connector 122"/>
            <p:cNvCxnSpPr/>
            <p:nvPr/>
          </p:nvCxnSpPr>
          <p:spPr>
            <a:xfrm>
              <a:off x="7912080" y="3026160"/>
              <a:ext cx="222480" cy="452880"/>
            </a:xfrm>
            <a:prstGeom prst="straightConnector1">
              <a:avLst/>
            </a:prstGeom>
            <a:ln>
              <a:solidFill>
                <a:srgbClr val="4a7ebb"/>
              </a:solidFill>
              <a:round/>
              <a:tailEnd len="med" type="arrow" w="med"/>
            </a:ln>
          </p:spPr>
        </p:cxnSp>
        <p:sp>
          <p:nvSpPr>
            <p:cNvPr id="663" name="Oval 123"/>
            <p:cNvSpPr/>
            <p:nvPr/>
          </p:nvSpPr>
          <p:spPr>
            <a:xfrm rot="2775600">
              <a:off x="8514720" y="3220200"/>
              <a:ext cx="267120" cy="27252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64" name="Oval 124"/>
            <p:cNvSpPr/>
            <p:nvPr/>
          </p:nvSpPr>
          <p:spPr>
            <a:xfrm rot="2775600">
              <a:off x="8340120" y="3520080"/>
              <a:ext cx="267120" cy="27252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665" name="Oval 125"/>
            <p:cNvSpPr/>
            <p:nvPr/>
          </p:nvSpPr>
          <p:spPr>
            <a:xfrm rot="2775600">
              <a:off x="8010360" y="3593160"/>
              <a:ext cx="267120" cy="27252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rgbClr val="4f81bd">
                  <a:lumMod val="75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  <p:sp>
        <p:nvSpPr>
          <p:cNvPr id="666" name="TextBox 131"/>
          <p:cNvSpPr/>
          <p:nvPr/>
        </p:nvSpPr>
        <p:spPr>
          <a:xfrm>
            <a:off x="-126360" y="1346760"/>
            <a:ext cx="9148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Another possibility would be to do all your experiments completely randomized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Box 36"/>
          <p:cNvSpPr/>
          <p:nvPr/>
        </p:nvSpPr>
        <p:spPr>
          <a:xfrm>
            <a:off x="181440" y="3950280"/>
            <a:ext cx="5704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More complicated to keep track of and to explain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0554072-6899-4FC0-8000-49E7E9649493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Rectangle 8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</a:t>
            </a:r>
            <a:r>
              <a:rPr b="1" i="1" lang="en-US" sz="3300" spc="-1" strike="noStrike">
                <a:solidFill>
                  <a:schemeClr val="lt1"/>
                </a:solidFill>
                <a:latin typeface="Calibri"/>
              </a:rPr>
              <a:t>In vitro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or cell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Box 9"/>
          <p:cNvSpPr/>
          <p:nvPr/>
        </p:nvSpPr>
        <p:spPr>
          <a:xfrm>
            <a:off x="-161640" y="1251720"/>
            <a:ext cx="8022960" cy="24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To increase your ability to demonstrate that a treatment has an effect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inter-flask/well variability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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inter-experiment variability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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n per group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exploit blocking and/or randomization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time-response (more time points)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dose-response (several concentrations)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670" name="Chart 13"/>
          <p:cNvGraphicFramePr/>
          <p:nvPr/>
        </p:nvGraphicFramePr>
        <p:xfrm>
          <a:off x="426960" y="3672720"/>
          <a:ext cx="4571640" cy="2742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671" name="Chart 14"/>
          <p:cNvGraphicFramePr/>
          <p:nvPr/>
        </p:nvGraphicFramePr>
        <p:xfrm>
          <a:off x="4998960" y="3749040"/>
          <a:ext cx="3695400" cy="2742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BB30139-1C9C-4DF8-87FE-B3B3D081CF5D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sldNum" idx="38"/>
          </p:nvPr>
        </p:nvSpPr>
        <p:spPr>
          <a:xfrm>
            <a:off x="6946920" y="650916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3E692428-2025-4723-AA8E-3325A5063F6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TextBox 3"/>
          <p:cNvSpPr/>
          <p:nvPr/>
        </p:nvSpPr>
        <p:spPr>
          <a:xfrm>
            <a:off x="-295920" y="929520"/>
            <a:ext cx="819828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There is possible bias and variability at </a:t>
            </a:r>
            <a:r>
              <a:rPr b="1" lang="en-US" sz="1900" spc="-1" strike="noStrike" u="sng">
                <a:solidFill>
                  <a:srgbClr val="254061"/>
                </a:solidFill>
                <a:uFillTx/>
                <a:latin typeface="Calibri"/>
              </a:rPr>
              <a:t>each step</a:t>
            </a:r>
            <a:r>
              <a:rPr b="1" lang="en-US" sz="1900" spc="-1" strike="noStrike">
                <a:solidFill>
                  <a:srgbClr val="254061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of your methodology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75" name="Group 8"/>
          <p:cNvGrpSpPr/>
          <p:nvPr/>
        </p:nvGrpSpPr>
        <p:grpSpPr>
          <a:xfrm>
            <a:off x="3703680" y="1445760"/>
            <a:ext cx="1741680" cy="408240"/>
            <a:chOff x="3703680" y="1445760"/>
            <a:chExt cx="1741680" cy="408240"/>
          </a:xfrm>
        </p:grpSpPr>
        <p:sp>
          <p:nvSpPr>
            <p:cNvPr id="676" name="Rectangle 7"/>
            <p:cNvSpPr/>
            <p:nvPr/>
          </p:nvSpPr>
          <p:spPr>
            <a:xfrm>
              <a:off x="3796560" y="1463040"/>
              <a:ext cx="1524960" cy="3909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4f81bd">
                  <a:lumMod val="40000"/>
                  <a:lumOff val="60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rgbClr val="254061"/>
                </a:solidFill>
                <a:latin typeface="Calibri"/>
              </a:endParaRPr>
            </a:p>
          </p:txBody>
        </p:sp>
        <p:sp>
          <p:nvSpPr>
            <p:cNvPr id="677" name="TextBox 4"/>
            <p:cNvSpPr/>
            <p:nvPr/>
          </p:nvSpPr>
          <p:spPr>
            <a:xfrm>
              <a:off x="3703680" y="1445760"/>
              <a:ext cx="1741680" cy="3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Cells or tissue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78" name="TextBox 51"/>
          <p:cNvSpPr/>
          <p:nvPr/>
        </p:nvSpPr>
        <p:spPr>
          <a:xfrm>
            <a:off x="2027880" y="5938200"/>
            <a:ext cx="753696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rgbClr val="c00000"/>
                </a:solidFill>
                <a:latin typeface="Calibri"/>
              </a:rPr>
              <a:t>* Quantitation dependent on being in the linear range of assay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rgbClr val="c00000"/>
                </a:solidFill>
                <a:latin typeface="Calibri"/>
              </a:rPr>
              <a:t># Sequence may vary from one cell to another, platform   ^ affected by cell viability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79" name="Group 85"/>
          <p:cNvGrpSpPr/>
          <p:nvPr/>
        </p:nvGrpSpPr>
        <p:grpSpPr>
          <a:xfrm>
            <a:off x="2550600" y="2010240"/>
            <a:ext cx="1783080" cy="3193200"/>
            <a:chOff x="2550600" y="2010240"/>
            <a:chExt cx="1783080" cy="3193200"/>
          </a:xfrm>
        </p:grpSpPr>
        <p:cxnSp>
          <p:nvCxnSpPr>
            <p:cNvPr id="680" name="Straight Arrow Connector 58"/>
            <p:cNvCxnSpPr/>
            <p:nvPr/>
          </p:nvCxnSpPr>
          <p:spPr>
            <a:xfrm flipH="1">
              <a:off x="3627360" y="2010240"/>
              <a:ext cx="582120" cy="313200"/>
            </a:xfrm>
            <a:prstGeom prst="straightConnector1">
              <a:avLst/>
            </a:prstGeom>
            <a:ln w="28575">
              <a:solidFill>
                <a:srgbClr val="4f81bd">
                  <a:lumMod val="75000"/>
                </a:srgbClr>
              </a:solidFill>
              <a:round/>
              <a:tailEnd len="med" type="arrow" w="med"/>
            </a:ln>
          </p:spPr>
        </p:cxnSp>
        <p:grpSp>
          <p:nvGrpSpPr>
            <p:cNvPr id="681" name="Group 59"/>
            <p:cNvGrpSpPr/>
            <p:nvPr/>
          </p:nvGrpSpPr>
          <p:grpSpPr>
            <a:xfrm>
              <a:off x="2789280" y="2502000"/>
              <a:ext cx="1544400" cy="390960"/>
              <a:chOff x="2789280" y="2502000"/>
              <a:chExt cx="1544400" cy="390960"/>
            </a:xfrm>
          </p:grpSpPr>
          <p:sp>
            <p:nvSpPr>
              <p:cNvPr id="682" name="Rectangle 60"/>
              <p:cNvSpPr/>
              <p:nvPr/>
            </p:nvSpPr>
            <p:spPr>
              <a:xfrm>
                <a:off x="2789280" y="2502000"/>
                <a:ext cx="1524960" cy="39096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rgbClr val="4f81bd">
                    <a:lumMod val="40000"/>
                    <a:lumOff val="60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rgbClr val="254061"/>
                  </a:solidFill>
                  <a:latin typeface="Calibri"/>
                </a:endParaRPr>
              </a:p>
            </p:txBody>
          </p:sp>
          <p:sp>
            <p:nvSpPr>
              <p:cNvPr id="683" name="TextBox 61"/>
              <p:cNvSpPr/>
              <p:nvPr/>
            </p:nvSpPr>
            <p:spPr>
              <a:xfrm>
                <a:off x="2802240" y="2502000"/>
                <a:ext cx="1531440" cy="37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rgbClr val="254061"/>
                    </a:solidFill>
                    <a:latin typeface="Calibri"/>
                  </a:rPr>
                  <a:t>DNA extract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cxnSp>
          <p:nvCxnSpPr>
            <p:cNvPr id="684" name="Straight Arrow Connector 62"/>
            <p:cNvCxnSpPr/>
            <p:nvPr/>
          </p:nvCxnSpPr>
          <p:spPr>
            <a:xfrm>
              <a:off x="3500640" y="3008520"/>
              <a:ext cx="360" cy="313200"/>
            </a:xfrm>
            <a:prstGeom prst="straightConnector1">
              <a:avLst/>
            </a:prstGeom>
            <a:ln w="28575">
              <a:solidFill>
                <a:srgbClr val="4f81bd">
                  <a:lumMod val="75000"/>
                </a:srgbClr>
              </a:solidFill>
              <a:round/>
              <a:tailEnd len="med" type="arrow" w="med"/>
            </a:ln>
          </p:spPr>
        </p:cxnSp>
        <p:grpSp>
          <p:nvGrpSpPr>
            <p:cNvPr id="685" name="Group 64"/>
            <p:cNvGrpSpPr/>
            <p:nvPr/>
          </p:nvGrpSpPr>
          <p:grpSpPr>
            <a:xfrm>
              <a:off x="2763000" y="3416400"/>
              <a:ext cx="1485720" cy="391320"/>
              <a:chOff x="2763000" y="3416400"/>
              <a:chExt cx="1485720" cy="391320"/>
            </a:xfrm>
          </p:grpSpPr>
          <p:sp>
            <p:nvSpPr>
              <p:cNvPr id="686" name="Rectangle 65"/>
              <p:cNvSpPr/>
              <p:nvPr/>
            </p:nvSpPr>
            <p:spPr>
              <a:xfrm>
                <a:off x="2821680" y="3416400"/>
                <a:ext cx="1338840" cy="39096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rgbClr val="4f81bd">
                    <a:lumMod val="40000"/>
                    <a:lumOff val="60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rgbClr val="254061"/>
                  </a:solidFill>
                  <a:latin typeface="Calibri"/>
                </a:endParaRPr>
              </a:p>
            </p:txBody>
          </p:sp>
          <p:sp>
            <p:nvSpPr>
              <p:cNvPr id="687" name="TextBox 66"/>
              <p:cNvSpPr/>
              <p:nvPr/>
            </p:nvSpPr>
            <p:spPr>
              <a:xfrm>
                <a:off x="2763000" y="3428640"/>
                <a:ext cx="1485720" cy="37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rgbClr val="254061"/>
                    </a:solidFill>
                    <a:latin typeface="Calibri"/>
                  </a:rPr>
                  <a:t>sequencing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688" name="Right Brace 67"/>
            <p:cNvSpPr/>
            <p:nvPr/>
          </p:nvSpPr>
          <p:spPr>
            <a:xfrm rot="5400000">
              <a:off x="3300120" y="3342600"/>
              <a:ext cx="425160" cy="148716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689" name="TextBox 6"/>
            <p:cNvSpPr/>
            <p:nvPr/>
          </p:nvSpPr>
          <p:spPr>
            <a:xfrm>
              <a:off x="2835000" y="4382640"/>
              <a:ext cx="1374120" cy="82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Genetic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Study (DNA mutations)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0" name="TextBox 9"/>
            <p:cNvSpPr/>
            <p:nvPr/>
          </p:nvSpPr>
          <p:spPr>
            <a:xfrm>
              <a:off x="2550600" y="3340440"/>
              <a:ext cx="29412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400" spc="-1" strike="noStrike">
                  <a:solidFill>
                    <a:srgbClr val="c00000"/>
                  </a:solidFill>
                  <a:latin typeface="Calibri"/>
                </a:rPr>
                <a:t>#</a:t>
              </a:r>
              <a:endParaRPr b="0" lang="en-CA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91" name="Group 14"/>
          <p:cNvGrpSpPr/>
          <p:nvPr/>
        </p:nvGrpSpPr>
        <p:grpSpPr>
          <a:xfrm>
            <a:off x="4781880" y="2467800"/>
            <a:ext cx="2212560" cy="390960"/>
            <a:chOff x="4781880" y="2467800"/>
            <a:chExt cx="2212560" cy="390960"/>
          </a:xfrm>
        </p:grpSpPr>
        <p:sp>
          <p:nvSpPr>
            <p:cNvPr id="692" name="Rectangle 15"/>
            <p:cNvSpPr/>
            <p:nvPr/>
          </p:nvSpPr>
          <p:spPr>
            <a:xfrm>
              <a:off x="4781880" y="2467800"/>
              <a:ext cx="2212560" cy="3909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4f81bd">
                  <a:lumMod val="40000"/>
                  <a:lumOff val="60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rgbClr val="254061"/>
                </a:solidFill>
                <a:latin typeface="Calibri"/>
              </a:endParaRPr>
            </a:p>
          </p:txBody>
        </p:sp>
        <p:sp>
          <p:nvSpPr>
            <p:cNvPr id="693" name="TextBox 16"/>
            <p:cNvSpPr/>
            <p:nvPr/>
          </p:nvSpPr>
          <p:spPr>
            <a:xfrm>
              <a:off x="5135400" y="2476080"/>
              <a:ext cx="1505520" cy="37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RNA extract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4" name="Rectangle 18"/>
          <p:cNvSpPr/>
          <p:nvPr/>
        </p:nvSpPr>
        <p:spPr>
          <a:xfrm>
            <a:off x="4619160" y="3367080"/>
            <a:ext cx="916200" cy="7038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4f81bd">
                <a:lumMod val="40000"/>
                <a:lumOff val="6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rgbClr val="254061"/>
              </a:solidFill>
              <a:latin typeface="Calibri"/>
            </a:endParaRPr>
          </a:p>
        </p:txBody>
      </p:sp>
      <p:sp>
        <p:nvSpPr>
          <p:cNvPr id="695" name="TextBox 19"/>
          <p:cNvSpPr/>
          <p:nvPr/>
        </p:nvSpPr>
        <p:spPr>
          <a:xfrm>
            <a:off x="4587480" y="3376440"/>
            <a:ext cx="1017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Prepare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cDNA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ectangle 92"/>
          <p:cNvSpPr/>
          <p:nvPr/>
        </p:nvSpPr>
        <p:spPr>
          <a:xfrm>
            <a:off x="5656680" y="3377880"/>
            <a:ext cx="1032840" cy="7038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4f81bd">
                <a:lumMod val="40000"/>
                <a:lumOff val="6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rgbClr val="254061"/>
              </a:solidFill>
              <a:latin typeface="Calibri"/>
            </a:endParaRPr>
          </a:p>
        </p:txBody>
      </p:sp>
      <p:sp>
        <p:nvSpPr>
          <p:cNvPr id="697" name="TextBox 94"/>
          <p:cNvSpPr/>
          <p:nvPr/>
        </p:nvSpPr>
        <p:spPr>
          <a:xfrm>
            <a:off x="5582520" y="3341160"/>
            <a:ext cx="1190160" cy="115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RNA seq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/</a:t>
            </a: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microarray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ectangle 21"/>
          <p:cNvSpPr/>
          <p:nvPr/>
        </p:nvSpPr>
        <p:spPr>
          <a:xfrm>
            <a:off x="4565520" y="4621680"/>
            <a:ext cx="1049760" cy="3909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4f81bd">
                <a:lumMod val="40000"/>
                <a:lumOff val="6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rgbClr val="254061"/>
              </a:solidFill>
              <a:latin typeface="Calibri"/>
            </a:endParaRPr>
          </a:p>
        </p:txBody>
      </p:sp>
      <p:sp>
        <p:nvSpPr>
          <p:cNvPr id="699" name="TextBox 22"/>
          <p:cNvSpPr/>
          <p:nvPr/>
        </p:nvSpPr>
        <p:spPr>
          <a:xfrm>
            <a:off x="4712040" y="4609080"/>
            <a:ext cx="7740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254061"/>
                </a:solidFill>
                <a:latin typeface="Calibri"/>
              </a:rPr>
              <a:t>qPCR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24"/>
          <p:cNvSpPr/>
          <p:nvPr/>
        </p:nvSpPr>
        <p:spPr>
          <a:xfrm>
            <a:off x="3796560" y="5389560"/>
            <a:ext cx="393876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algn="ctr"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Gene  expression study 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0" lang="en-US" sz="1600" spc="-1" strike="noStrike">
                <a:solidFill>
                  <a:srgbClr val="254061"/>
                </a:solidFill>
                <a:latin typeface="Calibri"/>
              </a:rPr>
              <a:t>(mRNA  levels)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1" name="Group 35"/>
          <p:cNvGrpSpPr/>
          <p:nvPr/>
        </p:nvGrpSpPr>
        <p:grpSpPr>
          <a:xfrm>
            <a:off x="6607080" y="3383640"/>
            <a:ext cx="1289160" cy="703800"/>
            <a:chOff x="6607080" y="3383640"/>
            <a:chExt cx="1289160" cy="703800"/>
          </a:xfrm>
        </p:grpSpPr>
        <p:sp>
          <p:nvSpPr>
            <p:cNvPr id="702" name="Rectangle 36"/>
            <p:cNvSpPr/>
            <p:nvPr/>
          </p:nvSpPr>
          <p:spPr>
            <a:xfrm>
              <a:off x="6773040" y="3383640"/>
              <a:ext cx="945720" cy="7038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4f81bd">
                  <a:lumMod val="40000"/>
                  <a:lumOff val="60000"/>
                </a:srgbClr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rgbClr val="254061"/>
                </a:solidFill>
                <a:latin typeface="Calibri"/>
              </a:endParaRPr>
            </a:p>
          </p:txBody>
        </p:sp>
        <p:sp>
          <p:nvSpPr>
            <p:cNvPr id="703" name="TextBox 37"/>
            <p:cNvSpPr/>
            <p:nvPr/>
          </p:nvSpPr>
          <p:spPr>
            <a:xfrm>
              <a:off x="6607080" y="3388680"/>
              <a:ext cx="1289160" cy="66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algn="ctr"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Northern 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56160">
                <a:lnSpc>
                  <a:spcPct val="100000"/>
                </a:lnSpc>
              </a:pPr>
              <a:r>
                <a:rPr b="0" lang="en-US" sz="1900" spc="-1" strike="noStrike">
                  <a:solidFill>
                    <a:srgbClr val="254061"/>
                  </a:solidFill>
                  <a:latin typeface="Calibri"/>
                </a:rPr>
                <a:t>blot</a:t>
              </a:r>
              <a:endParaRPr b="0" lang="en-CA" sz="19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cxnSp>
        <p:nvCxnSpPr>
          <p:cNvPr id="704" name="Straight Arrow Connector 39"/>
          <p:cNvCxnSpPr/>
          <p:nvPr/>
        </p:nvCxnSpPr>
        <p:spPr>
          <a:xfrm>
            <a:off x="6012720" y="2922120"/>
            <a:ext cx="360" cy="418320"/>
          </a:xfrm>
          <a:prstGeom prst="straightConnector1">
            <a:avLst/>
          </a:prstGeom>
          <a:ln w="28575">
            <a:solidFill>
              <a:srgbClr val="4f81bd">
                <a:lumMod val="75000"/>
              </a:srgbClr>
            </a:solidFill>
            <a:round/>
            <a:tailEnd len="med" type="arrow" w="med"/>
          </a:ln>
        </p:spPr>
      </p:cxnSp>
      <p:cxnSp>
        <p:nvCxnSpPr>
          <p:cNvPr id="705" name="Straight Arrow Connector 40"/>
          <p:cNvCxnSpPr/>
          <p:nvPr/>
        </p:nvCxnSpPr>
        <p:spPr>
          <a:xfrm>
            <a:off x="5129280" y="4179240"/>
            <a:ext cx="360" cy="391680"/>
          </a:xfrm>
          <a:prstGeom prst="straightConnector1">
            <a:avLst/>
          </a:prstGeom>
          <a:ln w="28575">
            <a:solidFill>
              <a:srgbClr val="4f81bd">
                <a:lumMod val="75000"/>
              </a:srgbClr>
            </a:solidFill>
            <a:round/>
            <a:tailEnd len="med" type="arrow" w="med"/>
          </a:ln>
        </p:spPr>
      </p:cxnSp>
      <p:cxnSp>
        <p:nvCxnSpPr>
          <p:cNvPr id="706" name="Straight Arrow Connector 41"/>
          <p:cNvCxnSpPr/>
          <p:nvPr/>
        </p:nvCxnSpPr>
        <p:spPr>
          <a:xfrm>
            <a:off x="4998960" y="2949120"/>
            <a:ext cx="360" cy="313200"/>
          </a:xfrm>
          <a:prstGeom prst="straightConnector1">
            <a:avLst/>
          </a:prstGeom>
          <a:ln w="28575">
            <a:solidFill>
              <a:srgbClr val="4f81bd">
                <a:lumMod val="75000"/>
              </a:srgbClr>
            </a:solidFill>
            <a:round/>
            <a:tailEnd len="med" type="arrow" w="med"/>
          </a:ln>
        </p:spPr>
      </p:cxnSp>
      <p:cxnSp>
        <p:nvCxnSpPr>
          <p:cNvPr id="707" name="Straight Arrow Connector 46"/>
          <p:cNvCxnSpPr/>
          <p:nvPr/>
        </p:nvCxnSpPr>
        <p:spPr>
          <a:xfrm>
            <a:off x="4872960" y="1952280"/>
            <a:ext cx="728280" cy="429840"/>
          </a:xfrm>
          <a:prstGeom prst="straightConnector1">
            <a:avLst/>
          </a:prstGeom>
          <a:ln w="28575">
            <a:solidFill>
              <a:srgbClr val="4f81bd">
                <a:lumMod val="75000"/>
              </a:srgbClr>
            </a:solidFill>
            <a:round/>
            <a:tailEnd len="med" type="arrow" w="med"/>
          </a:ln>
        </p:spPr>
      </p:cxnSp>
      <p:sp>
        <p:nvSpPr>
          <p:cNvPr id="708" name="TextBox 47"/>
          <p:cNvSpPr/>
          <p:nvPr/>
        </p:nvSpPr>
        <p:spPr>
          <a:xfrm>
            <a:off x="4316760" y="1952280"/>
            <a:ext cx="128844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rgbClr val="c00000"/>
                </a:solidFill>
                <a:latin typeface="Calibri"/>
              </a:rPr>
              <a:t>RNA 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500" spc="-1" strike="noStrike">
                <a:solidFill>
                  <a:srgbClr val="c00000"/>
                </a:solidFill>
                <a:latin typeface="Calibri"/>
              </a:rPr>
              <a:t>degradation</a:t>
            </a:r>
            <a:endParaRPr b="0" lang="en-CA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53"/>
          <p:cNvSpPr/>
          <p:nvPr/>
        </p:nvSpPr>
        <p:spPr>
          <a:xfrm>
            <a:off x="7375320" y="3658320"/>
            <a:ext cx="39852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900" spc="-1" strike="noStrike">
                <a:solidFill>
                  <a:srgbClr val="c00000"/>
                </a:solidFill>
                <a:latin typeface="Calibri"/>
              </a:rPr>
              <a:t>*</a:t>
            </a:r>
            <a:endParaRPr b="0" lang="en-CA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4"/>
          <p:cNvSpPr/>
          <p:nvPr/>
        </p:nvSpPr>
        <p:spPr>
          <a:xfrm>
            <a:off x="4230360" y="4676040"/>
            <a:ext cx="39852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900" spc="-1" strike="noStrike">
                <a:solidFill>
                  <a:srgbClr val="c00000"/>
                </a:solidFill>
                <a:latin typeface="Calibri"/>
              </a:rPr>
              <a:t>*</a:t>
            </a:r>
            <a:endParaRPr b="0" lang="en-CA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ight Brace 70"/>
          <p:cNvSpPr/>
          <p:nvPr/>
        </p:nvSpPr>
        <p:spPr>
          <a:xfrm flipH="1" rot="16200000">
            <a:off x="5800320" y="3672720"/>
            <a:ext cx="460800" cy="311652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4a7ebb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712" name="Straight Arrow Connector 91"/>
          <p:cNvCxnSpPr/>
          <p:nvPr/>
        </p:nvCxnSpPr>
        <p:spPr>
          <a:xfrm>
            <a:off x="6827760" y="2922120"/>
            <a:ext cx="360" cy="418320"/>
          </a:xfrm>
          <a:prstGeom prst="straightConnector1">
            <a:avLst/>
          </a:prstGeom>
          <a:ln w="28575">
            <a:solidFill>
              <a:srgbClr val="4f81bd">
                <a:lumMod val="75000"/>
              </a:srgbClr>
            </a:solidFill>
            <a:round/>
            <a:tailEnd len="med" type="arrow" w="med"/>
          </a:ln>
        </p:spPr>
      </p:cxnSp>
      <p:grpSp>
        <p:nvGrpSpPr>
          <p:cNvPr id="713" name="Group 87"/>
          <p:cNvGrpSpPr/>
          <p:nvPr/>
        </p:nvGrpSpPr>
        <p:grpSpPr>
          <a:xfrm>
            <a:off x="5400000" y="1929960"/>
            <a:ext cx="4180320" cy="4465080"/>
            <a:chOff x="5400000" y="1929960"/>
            <a:chExt cx="4180320" cy="4465080"/>
          </a:xfrm>
        </p:grpSpPr>
        <p:cxnSp>
          <p:nvCxnSpPr>
            <p:cNvPr id="714" name="Straight Arrow Connector 68"/>
            <p:cNvCxnSpPr/>
            <p:nvPr/>
          </p:nvCxnSpPr>
          <p:spPr>
            <a:xfrm>
              <a:off x="5400000" y="1929960"/>
              <a:ext cx="2460240" cy="393480"/>
            </a:xfrm>
            <a:prstGeom prst="straightConnector1">
              <a:avLst/>
            </a:prstGeom>
            <a:ln w="28575">
              <a:solidFill>
                <a:srgbClr val="4f81bd">
                  <a:lumMod val="75000"/>
                </a:srgbClr>
              </a:solidFill>
              <a:round/>
              <a:tailEnd len="med" type="arrow" w="med"/>
            </a:ln>
          </p:spPr>
        </p:cxnSp>
        <p:grpSp>
          <p:nvGrpSpPr>
            <p:cNvPr id="715" name="Group 74"/>
            <p:cNvGrpSpPr/>
            <p:nvPr/>
          </p:nvGrpSpPr>
          <p:grpSpPr>
            <a:xfrm>
              <a:off x="7210080" y="2467440"/>
              <a:ext cx="1900080" cy="391320"/>
              <a:chOff x="7210080" y="2467440"/>
              <a:chExt cx="1900080" cy="391320"/>
            </a:xfrm>
          </p:grpSpPr>
          <p:sp>
            <p:nvSpPr>
              <p:cNvPr id="716" name="Rectangle 75"/>
              <p:cNvSpPr/>
              <p:nvPr/>
            </p:nvSpPr>
            <p:spPr>
              <a:xfrm>
                <a:off x="7363440" y="2467440"/>
                <a:ext cx="1629720" cy="39096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rgbClr val="4f81bd">
                    <a:lumMod val="40000"/>
                    <a:lumOff val="60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rgbClr val="254061"/>
                  </a:solidFill>
                  <a:latin typeface="Calibri"/>
                </a:endParaRPr>
              </a:p>
            </p:txBody>
          </p:sp>
          <p:sp>
            <p:nvSpPr>
              <p:cNvPr id="717" name="TextBox 76"/>
              <p:cNvSpPr/>
              <p:nvPr/>
            </p:nvSpPr>
            <p:spPr>
              <a:xfrm>
                <a:off x="7210080" y="2479680"/>
                <a:ext cx="1900080" cy="3790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rgbClr val="254061"/>
                    </a:solidFill>
                    <a:latin typeface="Calibri"/>
                  </a:rPr>
                  <a:t>Flow cytometry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cxnSp>
          <p:nvCxnSpPr>
            <p:cNvPr id="718" name="Straight Arrow Connector 77"/>
            <p:cNvCxnSpPr/>
            <p:nvPr/>
          </p:nvCxnSpPr>
          <p:spPr>
            <a:xfrm>
              <a:off x="8466480" y="2931840"/>
              <a:ext cx="360" cy="660600"/>
            </a:xfrm>
            <a:prstGeom prst="straightConnector1">
              <a:avLst/>
            </a:prstGeom>
            <a:ln w="28575">
              <a:solidFill>
                <a:srgbClr val="4f81bd">
                  <a:lumMod val="75000"/>
                </a:srgbClr>
              </a:solidFill>
              <a:round/>
              <a:tailEnd len="med" type="arrow" w="med"/>
            </a:ln>
          </p:spPr>
        </p:cxnSp>
        <p:grpSp>
          <p:nvGrpSpPr>
            <p:cNvPr id="719" name="Group 79"/>
            <p:cNvGrpSpPr/>
            <p:nvPr/>
          </p:nvGrpSpPr>
          <p:grpSpPr>
            <a:xfrm>
              <a:off x="7844040" y="3675240"/>
              <a:ext cx="1456920" cy="832680"/>
              <a:chOff x="7844040" y="3675240"/>
              <a:chExt cx="1456920" cy="832680"/>
            </a:xfrm>
          </p:grpSpPr>
          <p:sp>
            <p:nvSpPr>
              <p:cNvPr id="720" name="Rectangle 80"/>
              <p:cNvSpPr/>
              <p:nvPr/>
            </p:nvSpPr>
            <p:spPr>
              <a:xfrm>
                <a:off x="7868520" y="3675240"/>
                <a:ext cx="1357200" cy="83268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rgbClr val="4f81bd">
                    <a:lumMod val="40000"/>
                    <a:lumOff val="60000"/>
                  </a:srgb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rgbClr val="254061"/>
                  </a:solidFill>
                  <a:latin typeface="Calibri"/>
                </a:endParaRPr>
              </a:p>
            </p:txBody>
          </p:sp>
          <p:sp>
            <p:nvSpPr>
              <p:cNvPr id="721" name="TextBox 81"/>
              <p:cNvSpPr/>
              <p:nvPr/>
            </p:nvSpPr>
            <p:spPr>
              <a:xfrm>
                <a:off x="7844040" y="3751200"/>
                <a:ext cx="1456920" cy="668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rgbClr val="254061"/>
                    </a:solidFill>
                    <a:latin typeface="Calibri"/>
                  </a:rPr>
                  <a:t>Cell count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  <a:p>
                <a:pPr defTabSz="956160">
                  <a:lnSpc>
                    <a:spcPct val="100000"/>
                  </a:lnSpc>
                </a:pPr>
                <a:r>
                  <a:rPr b="0" lang="en-US" sz="1900" spc="-1" strike="noStrike">
                    <a:solidFill>
                      <a:srgbClr val="254061"/>
                    </a:solidFill>
                    <a:latin typeface="Calibri"/>
                  </a:rPr>
                  <a:t>or intensity</a:t>
                </a:r>
                <a:endParaRPr b="0" lang="en-CA" sz="1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2" name="TextBox 82"/>
            <p:cNvSpPr/>
            <p:nvPr/>
          </p:nvSpPr>
          <p:spPr>
            <a:xfrm>
              <a:off x="8920080" y="3591000"/>
              <a:ext cx="398520" cy="537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5760" rIns="95760" tIns="47880" bIns="47880" anchor="t">
              <a:spAutoFit/>
            </a:bodyPr>
            <a:p>
              <a:pPr defTabSz="956160">
                <a:lnSpc>
                  <a:spcPct val="100000"/>
                </a:lnSpc>
              </a:pPr>
              <a:r>
                <a:rPr b="0" lang="en-US" sz="2900" spc="-1" strike="noStrike">
                  <a:solidFill>
                    <a:srgbClr val="c00000"/>
                  </a:solidFill>
                  <a:latin typeface="Calibri"/>
                </a:rPr>
                <a:t>^</a:t>
              </a:r>
              <a:endParaRPr b="0" lang="en-CA" sz="29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3" name="Right Brace 83"/>
            <p:cNvSpPr/>
            <p:nvPr/>
          </p:nvSpPr>
          <p:spPr>
            <a:xfrm rot="5400000">
              <a:off x="8403840" y="3959280"/>
              <a:ext cx="401040" cy="170568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>
              <a:solidFill>
                <a:srgbClr val="4a7eb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5760" rIns="95760" tIns="47880" bIns="47880" anchor="ctr">
              <a:noAutofit/>
            </a:bodyPr>
            <a:p>
              <a:pPr algn="ctr" defTabSz="956160">
                <a:lnSpc>
                  <a:spcPct val="100000"/>
                </a:lnSpc>
              </a:pPr>
              <a:endParaRPr b="0" lang="en-US" sz="1900" spc="-1" strike="noStrike">
                <a:solidFill>
                  <a:schemeClr val="dk1"/>
                </a:solidFill>
                <a:latin typeface="Calibri"/>
              </a:endParaRPr>
            </a:p>
          </p:txBody>
        </p:sp>
        <p:sp>
          <p:nvSpPr>
            <p:cNvPr id="724" name="TextBox 84"/>
            <p:cNvSpPr/>
            <p:nvPr/>
          </p:nvSpPr>
          <p:spPr>
            <a:xfrm>
              <a:off x="7751160" y="5081040"/>
              <a:ext cx="1829160" cy="131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5760" rIns="95760" tIns="47880" bIns="47880" anchor="t">
              <a:spAutoFit/>
            </a:bodyPr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Marker expression study 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(cytokine, receptor, ROS, levels)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25" name="Group 90"/>
          <p:cNvGrpSpPr/>
          <p:nvPr/>
        </p:nvGrpSpPr>
        <p:grpSpPr>
          <a:xfrm>
            <a:off x="-106200" y="1653120"/>
            <a:ext cx="3733560" cy="4728960"/>
            <a:chOff x="-106200" y="1653120"/>
            <a:chExt cx="3733560" cy="4728960"/>
          </a:xfrm>
        </p:grpSpPr>
        <p:sp>
          <p:nvSpPr>
            <p:cNvPr id="726" name="TextBox 26"/>
            <p:cNvSpPr/>
            <p:nvPr/>
          </p:nvSpPr>
          <p:spPr>
            <a:xfrm>
              <a:off x="-106200" y="5799240"/>
              <a:ext cx="2986560" cy="58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5760" rIns="95760" tIns="47880" bIns="47880" anchor="t">
              <a:spAutoFit/>
            </a:bodyPr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Protein expression or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  <a:p>
              <a:pPr algn="ctr" defTabSz="956160"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 </a:t>
              </a:r>
              <a:r>
                <a:rPr b="0" lang="en-US" sz="1600" spc="-1" strike="noStrike">
                  <a:solidFill>
                    <a:srgbClr val="254061"/>
                  </a:solidFill>
                  <a:latin typeface="Calibri"/>
                </a:rPr>
                <a:t>activity study </a:t>
              </a:r>
              <a:endParaRPr b="0" lang="en-CA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727" name="Group 89"/>
            <p:cNvGrpSpPr/>
            <p:nvPr/>
          </p:nvGrpSpPr>
          <p:grpSpPr>
            <a:xfrm>
              <a:off x="194760" y="1653120"/>
              <a:ext cx="3432600" cy="4191120"/>
              <a:chOff x="194760" y="1653120"/>
              <a:chExt cx="3432600" cy="4191120"/>
            </a:xfrm>
          </p:grpSpPr>
          <p:grpSp>
            <p:nvGrpSpPr>
              <p:cNvPr id="728" name="Group 11"/>
              <p:cNvGrpSpPr/>
              <p:nvPr/>
            </p:nvGrpSpPr>
            <p:grpSpPr>
              <a:xfrm>
                <a:off x="491040" y="2479680"/>
                <a:ext cx="1839240" cy="390960"/>
                <a:chOff x="491040" y="2479680"/>
                <a:chExt cx="1839240" cy="390960"/>
              </a:xfrm>
            </p:grpSpPr>
            <p:sp>
              <p:nvSpPr>
                <p:cNvPr id="729" name="Rectangle 12"/>
                <p:cNvSpPr/>
                <p:nvPr/>
              </p:nvSpPr>
              <p:spPr>
                <a:xfrm>
                  <a:off x="586800" y="2479680"/>
                  <a:ext cx="1629720" cy="39096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rgbClr val="4f81bd">
                      <a:lumMod val="40000"/>
                      <a:lumOff val="60000"/>
                    </a:srgbClr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56160">
                    <a:lnSpc>
                      <a:spcPct val="100000"/>
                    </a:lnSpc>
                  </a:pPr>
                  <a:endParaRPr b="0" lang="en-US" sz="1900" spc="-1" strike="noStrike">
                    <a:solidFill>
                      <a:srgbClr val="254061"/>
                    </a:solidFill>
                    <a:latin typeface="Calibri"/>
                  </a:endParaRPr>
                </a:p>
              </p:txBody>
            </p:sp>
            <p:sp>
              <p:nvSpPr>
                <p:cNvPr id="730" name="TextBox 13"/>
                <p:cNvSpPr/>
                <p:nvPr/>
              </p:nvSpPr>
              <p:spPr>
                <a:xfrm>
                  <a:off x="491040" y="2479680"/>
                  <a:ext cx="183924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90000" rIns="90000" tIns="45000" bIns="45000" anchor="t">
                  <a:spAutoFit/>
                </a:bodyPr>
                <a:p>
                  <a:pPr defTabSz="956160">
                    <a:lnSpc>
                      <a:spcPct val="100000"/>
                    </a:lnSpc>
                  </a:pPr>
                  <a:r>
                    <a:rPr b="0" lang="en-US" sz="1900" spc="-1" strike="noStrike">
                      <a:solidFill>
                        <a:srgbClr val="254061"/>
                      </a:solidFill>
                      <a:latin typeface="Calibri"/>
                    </a:rPr>
                    <a:t>Protein extract</a:t>
                  </a:r>
                  <a:endParaRPr b="0" lang="en-CA" sz="19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sp>
            <p:nvSpPr>
              <p:cNvPr id="731" name="Right Brace 25"/>
              <p:cNvSpPr/>
              <p:nvPr/>
            </p:nvSpPr>
            <p:spPr>
              <a:xfrm flipH="1" rot="16200000">
                <a:off x="1127880" y="4737960"/>
                <a:ext cx="522720" cy="1689480"/>
              </a:xfrm>
              <a:prstGeom prst="rightBrace">
                <a:avLst>
                  <a:gd name="adj1" fmla="val 8333"/>
                  <a:gd name="adj2" fmla="val 50000"/>
                </a:avLst>
              </a:prstGeom>
              <a:noFill/>
              <a:ln>
                <a:solidFill>
                  <a:srgbClr val="4a7ebb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5760" rIns="95760" tIns="47880" bIns="47880" anchor="ctr">
                <a:noAutofit/>
              </a:bodyPr>
              <a:p>
                <a:pPr algn="ctr" defTabSz="956160">
                  <a:lnSpc>
                    <a:spcPct val="100000"/>
                  </a:lnSpc>
                </a:pPr>
                <a:endParaRPr b="0" lang="en-US" sz="1900" spc="-1" strike="noStrike">
                  <a:solidFill>
                    <a:schemeClr val="dk1"/>
                  </a:solidFill>
                  <a:latin typeface="Calibri"/>
                </a:endParaRPr>
              </a:p>
            </p:txBody>
          </p:sp>
          <p:cxnSp>
            <p:nvCxnSpPr>
              <p:cNvPr id="732" name="Straight Arrow Connector 28"/>
              <p:cNvCxnSpPr/>
              <p:nvPr/>
            </p:nvCxnSpPr>
            <p:spPr>
              <a:xfrm>
                <a:off x="1394280" y="2949120"/>
                <a:ext cx="360" cy="313200"/>
              </a:xfrm>
              <a:prstGeom prst="straightConnector1">
                <a:avLst/>
              </a:prstGeom>
              <a:ln w="28575">
                <a:solidFill>
                  <a:srgbClr val="4f81bd">
                    <a:lumMod val="75000"/>
                  </a:srgbClr>
                </a:solidFill>
                <a:round/>
                <a:tailEnd len="med" type="arrow" w="med"/>
              </a:ln>
            </p:spPr>
          </p:cxnSp>
          <p:grpSp>
            <p:nvGrpSpPr>
              <p:cNvPr id="733" name="Group 29"/>
              <p:cNvGrpSpPr/>
              <p:nvPr/>
            </p:nvGrpSpPr>
            <p:grpSpPr>
              <a:xfrm>
                <a:off x="517680" y="3418560"/>
                <a:ext cx="1698840" cy="390960"/>
                <a:chOff x="517680" y="3418560"/>
                <a:chExt cx="1698840" cy="390960"/>
              </a:xfrm>
            </p:grpSpPr>
            <p:sp>
              <p:nvSpPr>
                <p:cNvPr id="734" name="Rectangle 30"/>
                <p:cNvSpPr/>
                <p:nvPr/>
              </p:nvSpPr>
              <p:spPr>
                <a:xfrm>
                  <a:off x="586800" y="3418560"/>
                  <a:ext cx="1629720" cy="39096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rgbClr val="4f81bd">
                      <a:lumMod val="40000"/>
                      <a:lumOff val="60000"/>
                    </a:srgbClr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56160">
                    <a:lnSpc>
                      <a:spcPct val="100000"/>
                    </a:lnSpc>
                  </a:pPr>
                  <a:endParaRPr b="0" lang="en-US" sz="1900" spc="-1" strike="noStrike">
                    <a:solidFill>
                      <a:srgbClr val="254061"/>
                    </a:solidFill>
                    <a:latin typeface="Calibri"/>
                  </a:endParaRPr>
                </a:p>
              </p:txBody>
            </p:sp>
            <p:sp>
              <p:nvSpPr>
                <p:cNvPr id="735" name="TextBox 31"/>
                <p:cNvSpPr/>
                <p:nvPr/>
              </p:nvSpPr>
              <p:spPr>
                <a:xfrm>
                  <a:off x="517680" y="3430440"/>
                  <a:ext cx="168552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90000" rIns="90000" tIns="45000" bIns="45000" anchor="t">
                  <a:spAutoFit/>
                </a:bodyPr>
                <a:p>
                  <a:pPr defTabSz="956160">
                    <a:lnSpc>
                      <a:spcPct val="100000"/>
                    </a:lnSpc>
                  </a:pPr>
                  <a:r>
                    <a:rPr b="0" lang="en-US" sz="1900" spc="-1" strike="noStrike">
                      <a:solidFill>
                        <a:srgbClr val="254061"/>
                      </a:solidFill>
                      <a:latin typeface="Calibri"/>
                    </a:rPr>
                    <a:t>Protein assay</a:t>
                  </a:r>
                  <a:endParaRPr b="0" lang="en-CA" sz="19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grpSp>
            <p:nvGrpSpPr>
              <p:cNvPr id="736" name="Group 32"/>
              <p:cNvGrpSpPr/>
              <p:nvPr/>
            </p:nvGrpSpPr>
            <p:grpSpPr>
              <a:xfrm>
                <a:off x="537120" y="4407120"/>
                <a:ext cx="1679400" cy="390960"/>
                <a:chOff x="537120" y="4407120"/>
                <a:chExt cx="1679400" cy="390960"/>
              </a:xfrm>
            </p:grpSpPr>
            <p:sp>
              <p:nvSpPr>
                <p:cNvPr id="737" name="Rectangle 33"/>
                <p:cNvSpPr/>
                <p:nvPr/>
              </p:nvSpPr>
              <p:spPr>
                <a:xfrm>
                  <a:off x="586800" y="4407120"/>
                  <a:ext cx="1629720" cy="39096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rgbClr val="4f81bd">
                      <a:lumMod val="40000"/>
                      <a:lumOff val="60000"/>
                    </a:srgbClr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56160">
                    <a:lnSpc>
                      <a:spcPct val="100000"/>
                    </a:lnSpc>
                  </a:pPr>
                  <a:endParaRPr b="0" lang="en-US" sz="1900" spc="-1" strike="noStrike">
                    <a:solidFill>
                      <a:srgbClr val="254061"/>
                    </a:solidFill>
                    <a:latin typeface="Calibri"/>
                  </a:endParaRPr>
                </a:p>
              </p:txBody>
            </p:sp>
            <p:sp>
              <p:nvSpPr>
                <p:cNvPr id="738" name="TextBox 34"/>
                <p:cNvSpPr/>
                <p:nvPr/>
              </p:nvSpPr>
              <p:spPr>
                <a:xfrm>
                  <a:off x="537120" y="4419000"/>
                  <a:ext cx="162576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90000" rIns="90000" tIns="45000" bIns="45000" anchor="t">
                  <a:spAutoFit/>
                </a:bodyPr>
                <a:p>
                  <a:pPr defTabSz="956160">
                    <a:lnSpc>
                      <a:spcPct val="100000"/>
                    </a:lnSpc>
                  </a:pPr>
                  <a:r>
                    <a:rPr b="0" lang="en-US" sz="1900" spc="-1" strike="noStrike">
                      <a:solidFill>
                        <a:srgbClr val="254061"/>
                      </a:solidFill>
                      <a:latin typeface="Calibri"/>
                    </a:rPr>
                    <a:t>Western blot</a:t>
                  </a:r>
                  <a:endParaRPr b="0" lang="en-CA" sz="19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cxnSp>
            <p:nvCxnSpPr>
              <p:cNvPr id="739" name="Straight Arrow Connector 38"/>
              <p:cNvCxnSpPr/>
              <p:nvPr/>
            </p:nvCxnSpPr>
            <p:spPr>
              <a:xfrm>
                <a:off x="1394280" y="3966120"/>
                <a:ext cx="360" cy="313200"/>
              </a:xfrm>
              <a:prstGeom prst="straightConnector1">
                <a:avLst/>
              </a:prstGeom>
              <a:ln w="28575">
                <a:solidFill>
                  <a:srgbClr val="4f81bd">
                    <a:lumMod val="75000"/>
                  </a:srgbClr>
                </a:solidFill>
                <a:round/>
                <a:tailEnd len="med" type="arrow" w="med"/>
              </a:ln>
            </p:spPr>
          </p:cxnSp>
          <p:cxnSp>
            <p:nvCxnSpPr>
              <p:cNvPr id="740" name="Straight Arrow Connector 44"/>
              <p:cNvCxnSpPr/>
              <p:nvPr/>
            </p:nvCxnSpPr>
            <p:spPr>
              <a:xfrm flipH="1">
                <a:off x="1722240" y="1932120"/>
                <a:ext cx="1905480" cy="391320"/>
              </a:xfrm>
              <a:prstGeom prst="straightConnector1">
                <a:avLst/>
              </a:prstGeom>
              <a:ln w="28575">
                <a:solidFill>
                  <a:srgbClr val="4f81bd">
                    <a:lumMod val="75000"/>
                  </a:srgbClr>
                </a:solidFill>
                <a:round/>
                <a:tailEnd len="med" type="arrow" w="med"/>
              </a:ln>
            </p:spPr>
          </p:cxnSp>
          <p:sp>
            <p:nvSpPr>
              <p:cNvPr id="741" name="TextBox 48"/>
              <p:cNvSpPr/>
              <p:nvPr/>
            </p:nvSpPr>
            <p:spPr>
              <a:xfrm>
                <a:off x="1293840" y="1653120"/>
                <a:ext cx="1288440" cy="5526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5760" rIns="95760" tIns="47880" bIns="47880" anchor="t">
                <a:spAutoFit/>
              </a:bodyPr>
              <a:p>
                <a:pPr algn="ctr" defTabSz="956160">
                  <a:lnSpc>
                    <a:spcPct val="100000"/>
                  </a:lnSpc>
                </a:pPr>
                <a:r>
                  <a:rPr b="0" lang="en-US" sz="1500" spc="-1" strike="noStrike">
                    <a:solidFill>
                      <a:srgbClr val="c00000"/>
                    </a:solidFill>
                    <a:latin typeface="Calibri"/>
                  </a:rPr>
                  <a:t>protein </a:t>
                </a:r>
                <a:endParaRPr b="0" lang="en-CA" sz="1500" spc="-1" strike="noStrike">
                  <a:solidFill>
                    <a:srgbClr val="000000"/>
                  </a:solidFill>
                  <a:latin typeface="Arial"/>
                </a:endParaRPr>
              </a:p>
              <a:p>
                <a:pPr algn="ctr" defTabSz="956160">
                  <a:lnSpc>
                    <a:spcPct val="100000"/>
                  </a:lnSpc>
                </a:pPr>
                <a:r>
                  <a:rPr b="0" lang="en-US" sz="1500" spc="-1" strike="noStrike">
                    <a:solidFill>
                      <a:srgbClr val="c00000"/>
                    </a:solidFill>
                    <a:latin typeface="Calibri"/>
                  </a:rPr>
                  <a:t>degradation</a:t>
                </a:r>
                <a:endParaRPr b="0" lang="en-CA" sz="15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742" name="TextBox 52"/>
              <p:cNvSpPr/>
              <p:nvPr/>
            </p:nvSpPr>
            <p:spPr>
              <a:xfrm>
                <a:off x="194760" y="4299480"/>
                <a:ext cx="398520" cy="537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5760" rIns="95760" tIns="47880" bIns="4788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2900" spc="-1" strike="noStrike">
                    <a:solidFill>
                      <a:srgbClr val="c00000"/>
                    </a:solidFill>
                    <a:latin typeface="Calibri"/>
                  </a:rPr>
                  <a:t>*</a:t>
                </a:r>
                <a:endParaRPr b="0" lang="en-CA" sz="2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grpSp>
            <p:nvGrpSpPr>
              <p:cNvPr id="743" name="Group 55"/>
              <p:cNvGrpSpPr/>
              <p:nvPr/>
            </p:nvGrpSpPr>
            <p:grpSpPr>
              <a:xfrm>
                <a:off x="531360" y="4876560"/>
                <a:ext cx="1685160" cy="390960"/>
                <a:chOff x="531360" y="4876560"/>
                <a:chExt cx="1685160" cy="390960"/>
              </a:xfrm>
            </p:grpSpPr>
            <p:sp>
              <p:nvSpPr>
                <p:cNvPr id="744" name="Rectangle 56"/>
                <p:cNvSpPr/>
                <p:nvPr/>
              </p:nvSpPr>
              <p:spPr>
                <a:xfrm>
                  <a:off x="586800" y="4876560"/>
                  <a:ext cx="1629720" cy="39096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rgbClr val="4f81bd">
                      <a:lumMod val="40000"/>
                      <a:lumOff val="60000"/>
                    </a:srgbClr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56160">
                    <a:lnSpc>
                      <a:spcPct val="100000"/>
                    </a:lnSpc>
                  </a:pPr>
                  <a:endParaRPr b="0" lang="en-US" sz="1900" spc="-1" strike="noStrike">
                    <a:solidFill>
                      <a:srgbClr val="254061"/>
                    </a:solidFill>
                    <a:latin typeface="Calibri"/>
                  </a:endParaRPr>
                </a:p>
              </p:txBody>
            </p:sp>
            <p:sp>
              <p:nvSpPr>
                <p:cNvPr id="745" name="TextBox 57"/>
                <p:cNvSpPr/>
                <p:nvPr/>
              </p:nvSpPr>
              <p:spPr>
                <a:xfrm>
                  <a:off x="531360" y="4888440"/>
                  <a:ext cx="167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90000" rIns="90000" tIns="45000" bIns="45000" anchor="t">
                  <a:spAutoFit/>
                </a:bodyPr>
                <a:p>
                  <a:pPr defTabSz="956160">
                    <a:lnSpc>
                      <a:spcPct val="100000"/>
                    </a:lnSpc>
                  </a:pPr>
                  <a:r>
                    <a:rPr b="0" lang="en-US" sz="1900" spc="-1" strike="noStrike">
                      <a:solidFill>
                        <a:srgbClr val="254061"/>
                      </a:solidFill>
                      <a:latin typeface="Calibri"/>
                    </a:rPr>
                    <a:t>Activity assay</a:t>
                  </a:r>
                  <a:endParaRPr b="0" lang="en-CA" sz="1900" spc="-1" strike="noStrike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sp>
            <p:nvSpPr>
              <p:cNvPr id="746" name="TextBox 88"/>
              <p:cNvSpPr/>
              <p:nvPr/>
            </p:nvSpPr>
            <p:spPr>
              <a:xfrm>
                <a:off x="216720" y="4741560"/>
                <a:ext cx="398520" cy="5374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5760" rIns="95760" tIns="47880" bIns="47880" anchor="t">
                <a:spAutoFit/>
              </a:bodyPr>
              <a:p>
                <a:pPr defTabSz="956160">
                  <a:lnSpc>
                    <a:spcPct val="100000"/>
                  </a:lnSpc>
                </a:pPr>
                <a:r>
                  <a:rPr b="0" lang="en-US" sz="2900" spc="-1" strike="noStrike">
                    <a:solidFill>
                      <a:srgbClr val="c00000"/>
                    </a:solidFill>
                    <a:latin typeface="Calibri"/>
                  </a:rPr>
                  <a:t>*</a:t>
                </a:r>
                <a:endParaRPr b="0" lang="en-CA" sz="29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747" name="TextBox 5"/>
          <p:cNvSpPr/>
          <p:nvPr/>
        </p:nvSpPr>
        <p:spPr>
          <a:xfrm>
            <a:off x="142560" y="6624000"/>
            <a:ext cx="9176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If you use a service provider, may want to ask them questions because you will need it to publish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05" dur="indefinite" restart="never" nodeType="tmRoot">
          <p:childTnLst>
            <p:seq>
              <p:cTn id="406" dur="indefinite" nodeType="mainSeq">
                <p:childTnLst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9" fill="hold">
                      <p:stCondLst>
                        <p:cond delay="indefinite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id="4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3" fill="hold">
                      <p:stCondLst>
                        <p:cond delay="indefinite"/>
                      </p:stCondLst>
                      <p:childTnLst>
                        <p:par>
                          <p:cTn id="424" fill="hold">
                            <p:stCondLst>
                              <p:cond delay="0"/>
                            </p:stCondLst>
                            <p:childTnLst>
                              <p:par>
                                <p:cTn id="4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8" name="Picture 2" descr="fig3"/>
          <p:cNvPicPr/>
          <p:nvPr/>
        </p:nvPicPr>
        <p:blipFill>
          <a:blip r:embed="rId1"/>
          <a:srcRect l="4684" t="6564" r="5788" b="1252"/>
          <a:stretch/>
        </p:blipFill>
        <p:spPr>
          <a:xfrm>
            <a:off x="403920" y="547560"/>
            <a:ext cx="5775120" cy="7617240"/>
          </a:xfrm>
          <a:prstGeom prst="rect">
            <a:avLst/>
          </a:prstGeom>
          <a:ln w="9525">
            <a:noFill/>
          </a:ln>
        </p:spPr>
      </p:pic>
      <p:sp>
        <p:nvSpPr>
          <p:cNvPr id="749" name="Rectangle 3"/>
          <p:cNvSpPr/>
          <p:nvPr/>
        </p:nvSpPr>
        <p:spPr>
          <a:xfrm>
            <a:off x="323280" y="-78120"/>
            <a:ext cx="5977080" cy="3050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0" name="Rectangle 8"/>
          <p:cNvSpPr/>
          <p:nvPr/>
        </p:nvSpPr>
        <p:spPr>
          <a:xfrm rot="5400000">
            <a:off x="3763080" y="2922840"/>
            <a:ext cx="2894040" cy="315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1" name="Rectangle 9"/>
          <p:cNvSpPr/>
          <p:nvPr/>
        </p:nvSpPr>
        <p:spPr>
          <a:xfrm rot="5400000">
            <a:off x="1864800" y="4479480"/>
            <a:ext cx="2894040" cy="613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10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Box 11"/>
          <p:cNvSpPr/>
          <p:nvPr/>
        </p:nvSpPr>
        <p:spPr>
          <a:xfrm>
            <a:off x="323280" y="1095120"/>
            <a:ext cx="9127440" cy="183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Possible source of bias/variability: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Not testing within the linear range of the assay or methodology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Example: Western blot or other gel scanning-based measurement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12"/>
          <p:cNvSpPr/>
          <p:nvPr/>
        </p:nvSpPr>
        <p:spPr>
          <a:xfrm>
            <a:off x="-158760" y="6805800"/>
            <a:ext cx="2853720" cy="2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Source: Xin Ye’s PhD thesis, UBC 2013</a:t>
            </a:r>
            <a:endParaRPr b="0" lang="en-CA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5" name="Group 13"/>
          <p:cNvGrpSpPr/>
          <p:nvPr/>
        </p:nvGrpSpPr>
        <p:grpSpPr>
          <a:xfrm>
            <a:off x="4846680" y="3066120"/>
            <a:ext cx="3695040" cy="2815920"/>
            <a:chOff x="4846680" y="3066120"/>
            <a:chExt cx="3695040" cy="2815920"/>
          </a:xfrm>
        </p:grpSpPr>
        <p:graphicFrame>
          <p:nvGraphicFramePr>
            <p:cNvPr id="756" name="Chart 14"/>
            <p:cNvGraphicFramePr/>
            <p:nvPr/>
          </p:nvGraphicFramePr>
          <p:xfrm>
            <a:off x="4846680" y="3066120"/>
            <a:ext cx="3695040" cy="28159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757" name="Straight Connector 15"/>
            <p:cNvCxnSpPr/>
            <p:nvPr/>
          </p:nvCxnSpPr>
          <p:spPr>
            <a:xfrm flipV="1">
              <a:off x="5717160" y="3286440"/>
              <a:ext cx="1374120" cy="1700640"/>
            </a:xfrm>
            <a:prstGeom prst="straightConnector1">
              <a:avLst/>
            </a:prstGeom>
            <a:ln w="12700">
              <a:solidFill>
                <a:srgbClr val="4a7ebb"/>
              </a:solidFill>
              <a:round/>
            </a:ln>
          </p:spPr>
        </p:cxnSp>
      </p:grpSp>
      <p:sp>
        <p:nvSpPr>
          <p:cNvPr id="758" name="Oval 17"/>
          <p:cNvSpPr/>
          <p:nvPr/>
        </p:nvSpPr>
        <p:spPr>
          <a:xfrm>
            <a:off x="6946920" y="3379320"/>
            <a:ext cx="888120" cy="469080"/>
          </a:xfrm>
          <a:prstGeom prst="ellipse">
            <a:avLst/>
          </a:prstGeom>
          <a:noFill/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TextBox 19"/>
          <p:cNvSpPr/>
          <p:nvPr/>
        </p:nvSpPr>
        <p:spPr>
          <a:xfrm>
            <a:off x="161640" y="6023520"/>
            <a:ext cx="9369720" cy="73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2100" spc="-1" strike="noStrike">
                <a:solidFill>
                  <a:srgbClr val="c00000"/>
                </a:solidFill>
                <a:latin typeface="Calibri"/>
              </a:rPr>
              <a:t>You should never extrapolate, </a:t>
            </a:r>
            <a:r>
              <a:rPr b="0" lang="en-US" sz="2100" spc="-1" strike="noStrike">
                <a:solidFill>
                  <a:srgbClr val="c00000"/>
                </a:solidFill>
                <a:latin typeface="Calibri"/>
              </a:rPr>
              <a:t>you do not know what the curve will look like beyond your data points = “lower and upper limit of detection”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Oval 20"/>
          <p:cNvSpPr/>
          <p:nvPr/>
        </p:nvSpPr>
        <p:spPr>
          <a:xfrm>
            <a:off x="5412240" y="4709160"/>
            <a:ext cx="645840" cy="469080"/>
          </a:xfrm>
          <a:prstGeom prst="ellipse">
            <a:avLst/>
          </a:prstGeom>
          <a:noFill/>
          <a:ln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761" name="Straight Arrow Connector 22"/>
          <p:cNvCxnSpPr/>
          <p:nvPr/>
        </p:nvCxnSpPr>
        <p:spPr>
          <a:xfrm>
            <a:off x="6138720" y="4943520"/>
            <a:ext cx="485280" cy="360"/>
          </a:xfrm>
          <a:prstGeom prst="straightConnector1">
            <a:avLst/>
          </a:prstGeom>
          <a:ln>
            <a:solidFill>
              <a:srgbClr val="ff0000"/>
            </a:solidFill>
            <a:round/>
            <a:tailEnd len="med" type="arrow" w="med"/>
          </a:ln>
        </p:spPr>
      </p:cxnSp>
      <p:sp>
        <p:nvSpPr>
          <p:cNvPr id="762" name="TextBox 23"/>
          <p:cNvSpPr/>
          <p:nvPr/>
        </p:nvSpPr>
        <p:spPr>
          <a:xfrm>
            <a:off x="6435720" y="4709160"/>
            <a:ext cx="31644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May or may not cross zero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63" name="Straight Arrow Connector 18"/>
          <p:cNvCxnSpPr/>
          <p:nvPr/>
        </p:nvCxnSpPr>
        <p:spPr>
          <a:xfrm>
            <a:off x="7947000" y="3521160"/>
            <a:ext cx="322200" cy="360"/>
          </a:xfrm>
          <a:prstGeom prst="straightConnector1">
            <a:avLst/>
          </a:prstGeom>
          <a:ln>
            <a:solidFill>
              <a:srgbClr val="ff0000"/>
            </a:solidFill>
            <a:round/>
            <a:tailEnd len="med" type="arrow" w="med"/>
          </a:ln>
        </p:spPr>
      </p:cxnSp>
      <p:sp>
        <p:nvSpPr>
          <p:cNvPr id="764" name="TextBox 21"/>
          <p:cNvSpPr/>
          <p:nvPr/>
        </p:nvSpPr>
        <p:spPr>
          <a:xfrm>
            <a:off x="8190360" y="3286800"/>
            <a:ext cx="158112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May plateau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Rounded Rectangle 4"/>
          <p:cNvSpPr/>
          <p:nvPr/>
        </p:nvSpPr>
        <p:spPr>
          <a:xfrm>
            <a:off x="7091280" y="984240"/>
            <a:ext cx="2320560" cy="16214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</a:rPr>
              <a:t>Common mistake:</a:t>
            </a:r>
            <a:endParaRPr b="0" lang="en-CA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</a:rPr>
              <a:t>Not knowing what is the linear range of your measure</a:t>
            </a:r>
            <a:endParaRPr b="0" lang="en-CA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5616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</a:rPr>
              <a:t>or assay</a:t>
            </a:r>
            <a:endParaRPr b="0" lang="en-CA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Oval 5"/>
          <p:cNvSpPr/>
          <p:nvPr/>
        </p:nvSpPr>
        <p:spPr>
          <a:xfrm>
            <a:off x="1798560" y="3825000"/>
            <a:ext cx="565920" cy="289080"/>
          </a:xfrm>
          <a:prstGeom prst="ellipse">
            <a:avLst/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86DF1E0-3518-4C95-9B0A-19A265C5CB5A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27" dur="indefinite" restart="never" nodeType="tmRoot">
          <p:childTnLst>
            <p:seq>
              <p:cTn id="428" dur="indefinite" nodeType="mainSeq">
                <p:childTnLst>
                  <p:par>
                    <p:cTn id="429" fill="hold">
                      <p:stCondLst>
                        <p:cond delay="indefinite"/>
                      </p:stCondLst>
                      <p:childTnLst>
                        <p:par>
                          <p:cTn id="430" fill="hold">
                            <p:stCondLst>
                              <p:cond delay="0"/>
                            </p:stCondLst>
                            <p:childTnLst>
                              <p:par>
                                <p:cTn id="4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7" fill="hold">
                      <p:stCondLst>
                        <p:cond delay="indefinite"/>
                      </p:stCondLst>
                      <p:childTnLst>
                        <p:par>
                          <p:cTn id="438" fill="hold">
                            <p:stCondLst>
                              <p:cond delay="0"/>
                            </p:stCondLst>
                            <p:childTnLst>
                              <p:par>
                                <p:cTn id="4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1" fill="hold">
                      <p:stCondLst>
                        <p:cond delay="indefinite"/>
                      </p:stCondLst>
                      <p:childTnLst>
                        <p:par>
                          <p:cTn id="442" fill="hold">
                            <p:stCondLst>
                              <p:cond delay="0"/>
                            </p:stCondLst>
                            <p:childTnLst>
                              <p:par>
                                <p:cTn id="4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3" fill="hold">
                      <p:stCondLst>
                        <p:cond delay="indefinite"/>
                      </p:stCondLst>
                      <p:childTnLst>
                        <p:par>
                          <p:cTn id="454" fill="hold">
                            <p:stCondLst>
                              <p:cond delay="0"/>
                            </p:stCondLst>
                            <p:childTnLst>
                              <p:par>
                                <p:cTn id="4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7" fill="hold">
                      <p:stCondLst>
                        <p:cond delay="indefinite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Slide Number Placeholder 1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49823572-B957-4363-AA46-E4991A46AD37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ectangle 4"/>
          <p:cNvSpPr/>
          <p:nvPr/>
        </p:nvSpPr>
        <p:spPr>
          <a:xfrm>
            <a:off x="323280" y="312840"/>
            <a:ext cx="5977080" cy="3050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lt1"/>
                </a:solidFill>
                <a:latin typeface="Calibri"/>
              </a:rPr>
              <a:t>At very high DNA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Rectangle 7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Box 8"/>
          <p:cNvSpPr/>
          <p:nvPr/>
        </p:nvSpPr>
        <p:spPr>
          <a:xfrm>
            <a:off x="323280" y="1095120"/>
            <a:ext cx="9208080" cy="183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Possible source of bias/variability: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Not testing within the linear range of the assay or methodology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Example: qPCR or RT-PCR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1" name="Picture 9" descr=""/>
          <p:cNvPicPr/>
          <p:nvPr/>
        </p:nvPicPr>
        <p:blipFill>
          <a:blip r:embed="rId1"/>
          <a:srcRect l="33273" t="18269" r="7088" b="42453"/>
          <a:stretch/>
        </p:blipFill>
        <p:spPr>
          <a:xfrm>
            <a:off x="365760" y="3363840"/>
            <a:ext cx="4922640" cy="2509200"/>
          </a:xfrm>
          <a:prstGeom prst="rect">
            <a:avLst/>
          </a:prstGeom>
          <a:ln w="1">
            <a:noFill/>
          </a:ln>
        </p:spPr>
      </p:pic>
      <p:cxnSp>
        <p:nvCxnSpPr>
          <p:cNvPr id="772" name="Straight Arrow Connector 11"/>
          <p:cNvCxnSpPr/>
          <p:nvPr/>
        </p:nvCxnSpPr>
        <p:spPr>
          <a:xfrm>
            <a:off x="2027160" y="4657680"/>
            <a:ext cx="2133720" cy="360"/>
          </a:xfrm>
          <a:prstGeom prst="straightConnector1">
            <a:avLst/>
          </a:prstGeom>
          <a:ln w="38100">
            <a:solidFill>
              <a:srgbClr val="4a7ebb"/>
            </a:solidFill>
            <a:round/>
            <a:headEnd len="med" type="arrow" w="med"/>
            <a:tailEnd len="med" type="arrow" w="med"/>
          </a:ln>
        </p:spPr>
      </p:cxnSp>
      <p:cxnSp>
        <p:nvCxnSpPr>
          <p:cNvPr id="773" name="Straight Arrow Connector 10"/>
          <p:cNvCxnSpPr/>
          <p:nvPr/>
        </p:nvCxnSpPr>
        <p:spPr>
          <a:xfrm flipV="1">
            <a:off x="1493640" y="5272560"/>
            <a:ext cx="360" cy="762480"/>
          </a:xfrm>
          <a:prstGeom prst="straightConnector1">
            <a:avLst/>
          </a:prstGeom>
          <a:ln w="57150">
            <a:solidFill>
              <a:srgbClr val="c00000"/>
            </a:solidFill>
            <a:round/>
            <a:tailEnd len="med" type="triangle" w="med"/>
          </a:ln>
        </p:spPr>
      </p:cxnSp>
      <p:sp>
        <p:nvSpPr>
          <p:cNvPr id="774" name="Rectangle 13"/>
          <p:cNvSpPr/>
          <p:nvPr/>
        </p:nvSpPr>
        <p:spPr>
          <a:xfrm>
            <a:off x="5655240" y="3324600"/>
            <a:ext cx="3553200" cy="32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Higher DNA copy number enter exponential amplification earlier = at lower PCR cycle threshold (Ct)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At very high DNA concentrations,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PCR amplification is no longer efficient </a:t>
            </a:r>
            <a:br>
              <a:rPr sz="1900"/>
            </a:br>
            <a:r>
              <a:rPr b="0" lang="en-US" sz="1900" spc="-1" strike="noStrike">
                <a:solidFill>
                  <a:srgbClr val="c00000"/>
                </a:solidFill>
                <a:latin typeface="Symbol"/>
              </a:rPr>
              <a:t>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outside the linear range of the assay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A218628-07F3-4099-A1DD-FF2FFD7D9968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5" name="Picture 2" descr=""/>
          <p:cNvPicPr/>
          <p:nvPr/>
        </p:nvPicPr>
        <p:blipFill>
          <a:blip r:embed="rId1"/>
          <a:srcRect l="36551" t="13688" r="5661" b="40334"/>
          <a:stretch/>
        </p:blipFill>
        <p:spPr>
          <a:xfrm>
            <a:off x="46080" y="2606040"/>
            <a:ext cx="5181120" cy="2971440"/>
          </a:xfrm>
          <a:prstGeom prst="rect">
            <a:avLst/>
          </a:prstGeom>
          <a:ln w="1">
            <a:noFill/>
          </a:ln>
        </p:spPr>
      </p:pic>
      <p:cxnSp>
        <p:nvCxnSpPr>
          <p:cNvPr id="776" name="Straight Arrow Connector 3"/>
          <p:cNvCxnSpPr/>
          <p:nvPr/>
        </p:nvCxnSpPr>
        <p:spPr>
          <a:xfrm>
            <a:off x="1453680" y="4458960"/>
            <a:ext cx="2746800" cy="360"/>
          </a:xfrm>
          <a:prstGeom prst="straightConnector1">
            <a:avLst/>
          </a:prstGeom>
          <a:ln w="38100">
            <a:solidFill>
              <a:srgbClr val="4a7ebb"/>
            </a:solidFill>
            <a:round/>
            <a:headEnd len="med" type="arrow" w="med"/>
            <a:tailEnd len="med" type="arrow" w="med"/>
          </a:ln>
        </p:spPr>
      </p:cxnSp>
      <p:sp>
        <p:nvSpPr>
          <p:cNvPr id="777" name="Rectangle 6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Box 7"/>
          <p:cNvSpPr/>
          <p:nvPr/>
        </p:nvSpPr>
        <p:spPr>
          <a:xfrm>
            <a:off x="-223560" y="1251720"/>
            <a:ext cx="743328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Important to plot values and determine what range can be used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8"/>
          <p:cNvSpPr/>
          <p:nvPr/>
        </p:nvSpPr>
        <p:spPr>
          <a:xfrm>
            <a:off x="6058440" y="2424960"/>
            <a:ext cx="3230640" cy="356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Here, at low DNA concentration, linearity is not respected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= contamination?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or the number of DNA molecules is so small (&lt;5) that the serial dilution is imprecise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80" name="Straight Arrow Connector 9"/>
          <p:cNvCxnSpPr/>
          <p:nvPr/>
        </p:nvCxnSpPr>
        <p:spPr>
          <a:xfrm flipV="1">
            <a:off x="4084560" y="4815360"/>
            <a:ext cx="360" cy="922680"/>
          </a:xfrm>
          <a:prstGeom prst="straightConnector1">
            <a:avLst/>
          </a:prstGeom>
          <a:ln w="57150">
            <a:solidFill>
              <a:srgbClr val="c00000"/>
            </a:solidFill>
            <a:round/>
            <a:tailEnd len="med" type="triangle" w="med"/>
          </a:ln>
        </p:spPr>
      </p:cxn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140790E-EDF8-48C7-A2C1-43A105FCE195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Num" idx="39"/>
          </p:nvPr>
        </p:nvSpPr>
        <p:spPr>
          <a:xfrm>
            <a:off x="7431480" y="666576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04235B9A-D35A-45C8-89C1-B6EDC6FFCDFA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bias/error/variability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3"/>
          <p:cNvSpPr/>
          <p:nvPr/>
        </p:nvSpPr>
        <p:spPr>
          <a:xfrm>
            <a:off x="-235800" y="938880"/>
            <a:ext cx="10395720" cy="22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Example: mRNA studies using the 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Symbol"/>
              </a:rPr>
              <a:t>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Ct method (relative amplification = 2 </a:t>
            </a:r>
            <a:r>
              <a:rPr b="0" lang="en-US" sz="1900" spc="-1" strike="noStrike" baseline="30000">
                <a:solidFill>
                  <a:schemeClr val="accent1">
                    <a:lumMod val="75000"/>
                  </a:schemeClr>
                </a:solidFill>
                <a:latin typeface="Symbol"/>
              </a:rPr>
              <a:t></a:t>
            </a:r>
            <a:r>
              <a:rPr b="0" lang="en-US" sz="1900" spc="-1" strike="noStrike" baseline="30000">
                <a:solidFill>
                  <a:schemeClr val="accent1">
                    <a:lumMod val="75000"/>
                  </a:schemeClr>
                </a:solidFill>
                <a:latin typeface="Calibri"/>
              </a:rPr>
              <a:t>Ct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Data: 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</a:t>
            </a:r>
            <a:r>
              <a:rPr b="0" lang="en-US" sz="1900" spc="-1" strike="noStrike" baseline="-25000">
                <a:solidFill>
                  <a:schemeClr val="accent1">
                    <a:lumMod val="75000"/>
                  </a:schemeClr>
                </a:solidFill>
                <a:latin typeface="Calibri"/>
              </a:rPr>
              <a:t>t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of gene of interest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</a:t>
            </a:r>
            <a:r>
              <a:rPr b="0" lang="en-US" sz="1900" spc="-1" strike="noStrike" baseline="-25000">
                <a:solidFill>
                  <a:schemeClr val="accent1">
                    <a:lumMod val="75000"/>
                  </a:schemeClr>
                </a:solidFill>
                <a:latin typeface="Calibri"/>
              </a:rPr>
              <a:t>t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of a housekeeping gene (to normalize)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on both a test specimen and internal control aliquot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Assumption made: both genes (interest and housekeeping) have the </a:t>
            </a:r>
            <a:r>
              <a:rPr b="1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SAME PERFECT 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PCR</a:t>
            </a:r>
            <a:r>
              <a:rPr b="0" lang="en-US" sz="1900" spc="-1" strike="noStrike" baseline="-25000">
                <a:solidFill>
                  <a:schemeClr val="accent1">
                    <a:lumMod val="75000"/>
                  </a:schemeClr>
                </a:solidFill>
                <a:latin typeface="Calibri"/>
              </a:rPr>
              <a:t>eff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84" name="Straight Connector 5"/>
          <p:cNvCxnSpPr/>
          <p:nvPr/>
        </p:nvCxnSpPr>
        <p:spPr>
          <a:xfrm>
            <a:off x="576720" y="3129120"/>
            <a:ext cx="360" cy="22971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785" name="Straight Connector 7"/>
          <p:cNvCxnSpPr/>
          <p:nvPr/>
        </p:nvCxnSpPr>
        <p:spPr>
          <a:xfrm>
            <a:off x="576720" y="5425920"/>
            <a:ext cx="249300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786" name="TextBox 8"/>
          <p:cNvSpPr/>
          <p:nvPr/>
        </p:nvSpPr>
        <p:spPr>
          <a:xfrm>
            <a:off x="489240" y="547596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9"/>
          <p:cNvSpPr/>
          <p:nvPr/>
        </p:nvSpPr>
        <p:spPr>
          <a:xfrm>
            <a:off x="100080" y="3773880"/>
            <a:ext cx="42876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88" name="Straight Connector 11"/>
          <p:cNvCxnSpPr/>
          <p:nvPr/>
        </p:nvCxnSpPr>
        <p:spPr>
          <a:xfrm>
            <a:off x="906480" y="3272400"/>
            <a:ext cx="1800360" cy="1556280"/>
          </a:xfrm>
          <a:prstGeom prst="straightConnector1">
            <a:avLst/>
          </a:prstGeom>
          <a:ln w="28575">
            <a:solidFill>
              <a:srgbClr val="4a7ebb"/>
            </a:solidFill>
            <a:round/>
          </a:ln>
        </p:spPr>
      </p:cxnSp>
      <p:cxnSp>
        <p:nvCxnSpPr>
          <p:cNvPr id="789" name="Straight Connector 12"/>
          <p:cNvCxnSpPr/>
          <p:nvPr/>
        </p:nvCxnSpPr>
        <p:spPr>
          <a:xfrm>
            <a:off x="784440" y="3425400"/>
            <a:ext cx="1800720" cy="1556280"/>
          </a:xfrm>
          <a:prstGeom prst="straightConnector1">
            <a:avLst/>
          </a:prstGeom>
          <a:ln w="28575">
            <a:solidFill>
              <a:srgbClr val="ff0000"/>
            </a:solidFill>
            <a:round/>
          </a:ln>
        </p:spPr>
      </p:cxnSp>
      <p:cxnSp>
        <p:nvCxnSpPr>
          <p:cNvPr id="790" name="Straight Connector 52"/>
          <p:cNvCxnSpPr/>
          <p:nvPr/>
        </p:nvCxnSpPr>
        <p:spPr>
          <a:xfrm>
            <a:off x="3934800" y="3441960"/>
            <a:ext cx="1800720" cy="1556280"/>
          </a:xfrm>
          <a:prstGeom prst="straightConnector1">
            <a:avLst/>
          </a:prstGeom>
          <a:ln w="28575">
            <a:solidFill>
              <a:srgbClr val="ff0000"/>
            </a:solidFill>
            <a:round/>
          </a:ln>
        </p:spPr>
      </p:cxnSp>
      <p:cxnSp>
        <p:nvCxnSpPr>
          <p:cNvPr id="791" name="Straight Connector 14"/>
          <p:cNvCxnSpPr/>
          <p:nvPr/>
        </p:nvCxnSpPr>
        <p:spPr>
          <a:xfrm>
            <a:off x="3796200" y="1720800"/>
            <a:ext cx="485280" cy="360"/>
          </a:xfrm>
          <a:prstGeom prst="straightConnector1">
            <a:avLst/>
          </a:prstGeom>
          <a:ln w="28575">
            <a:solidFill>
              <a:srgbClr val="4a7ebb"/>
            </a:solidFill>
            <a:round/>
          </a:ln>
        </p:spPr>
      </p:cxnSp>
      <p:cxnSp>
        <p:nvCxnSpPr>
          <p:cNvPr id="792" name="Straight Connector 16"/>
          <p:cNvCxnSpPr/>
          <p:nvPr/>
        </p:nvCxnSpPr>
        <p:spPr>
          <a:xfrm>
            <a:off x="5735160" y="1996200"/>
            <a:ext cx="646560" cy="360"/>
          </a:xfrm>
          <a:prstGeom prst="straightConnector1">
            <a:avLst/>
          </a:prstGeom>
          <a:ln w="28575">
            <a:solidFill>
              <a:srgbClr val="ff0000"/>
            </a:solidFill>
            <a:round/>
          </a:ln>
        </p:spPr>
      </p:cxnSp>
      <p:cxnSp>
        <p:nvCxnSpPr>
          <p:cNvPr id="793" name="Straight Connector 17"/>
          <p:cNvCxnSpPr/>
          <p:nvPr/>
        </p:nvCxnSpPr>
        <p:spPr>
          <a:xfrm>
            <a:off x="3690000" y="3050640"/>
            <a:ext cx="360" cy="229752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794" name="Straight Connector 18"/>
          <p:cNvCxnSpPr/>
          <p:nvPr/>
        </p:nvCxnSpPr>
        <p:spPr>
          <a:xfrm>
            <a:off x="3690000" y="5347800"/>
            <a:ext cx="275472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795" name="Straight Connector 21"/>
          <p:cNvCxnSpPr/>
          <p:nvPr/>
        </p:nvCxnSpPr>
        <p:spPr>
          <a:xfrm>
            <a:off x="3957840" y="3363480"/>
            <a:ext cx="1996920" cy="1221480"/>
          </a:xfrm>
          <a:prstGeom prst="straightConnector1">
            <a:avLst/>
          </a:prstGeom>
          <a:ln w="28575">
            <a:solidFill>
              <a:srgbClr val="4f6228"/>
            </a:solidFill>
            <a:round/>
          </a:ln>
        </p:spPr>
      </p:cxnSp>
      <p:cxnSp>
        <p:nvCxnSpPr>
          <p:cNvPr id="796" name="Straight Connector 26"/>
          <p:cNvCxnSpPr/>
          <p:nvPr/>
        </p:nvCxnSpPr>
        <p:spPr>
          <a:xfrm>
            <a:off x="6696360" y="3050640"/>
            <a:ext cx="360" cy="229752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797" name="Straight Connector 27"/>
          <p:cNvCxnSpPr/>
          <p:nvPr/>
        </p:nvCxnSpPr>
        <p:spPr>
          <a:xfrm>
            <a:off x="6696360" y="5347800"/>
            <a:ext cx="275472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798" name="Straight Connector 28"/>
          <p:cNvCxnSpPr/>
          <p:nvPr/>
        </p:nvCxnSpPr>
        <p:spPr>
          <a:xfrm>
            <a:off x="6946560" y="3754800"/>
            <a:ext cx="2014560" cy="1027800"/>
          </a:xfrm>
          <a:prstGeom prst="straightConnector1">
            <a:avLst/>
          </a:prstGeom>
          <a:ln w="28575">
            <a:solidFill>
              <a:srgbClr val="ffc000"/>
            </a:solidFill>
            <a:round/>
          </a:ln>
        </p:spPr>
      </p:cxnSp>
      <p:cxnSp>
        <p:nvCxnSpPr>
          <p:cNvPr id="799" name="Straight Connector 32"/>
          <p:cNvCxnSpPr/>
          <p:nvPr/>
        </p:nvCxnSpPr>
        <p:spPr>
          <a:xfrm>
            <a:off x="572760" y="3676680"/>
            <a:ext cx="48924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00" name="Straight Connector 35"/>
          <p:cNvCxnSpPr/>
          <p:nvPr/>
        </p:nvCxnSpPr>
        <p:spPr>
          <a:xfrm>
            <a:off x="565200" y="4199040"/>
            <a:ext cx="1373760" cy="360"/>
          </a:xfrm>
          <a:prstGeom prst="straightConnector1">
            <a:avLst/>
          </a:prstGeom>
          <a:ln w="19050">
            <a:solidFill>
              <a:srgbClr val="4a7ebb"/>
            </a:solidFill>
            <a:prstDash val="sysDash"/>
            <a:round/>
          </a:ln>
        </p:spPr>
      </p:cxnSp>
      <p:cxnSp>
        <p:nvCxnSpPr>
          <p:cNvPr id="801" name="Straight Connector 56"/>
          <p:cNvCxnSpPr/>
          <p:nvPr/>
        </p:nvCxnSpPr>
        <p:spPr>
          <a:xfrm>
            <a:off x="6946560" y="3441960"/>
            <a:ext cx="1800720" cy="1556280"/>
          </a:xfrm>
          <a:prstGeom prst="straightConnector1">
            <a:avLst/>
          </a:prstGeom>
          <a:ln w="28575">
            <a:solidFill>
              <a:srgbClr val="ff0000"/>
            </a:solidFill>
            <a:round/>
          </a:ln>
        </p:spPr>
      </p:cxnSp>
      <p:sp>
        <p:nvSpPr>
          <p:cNvPr id="802" name="TextBox 77"/>
          <p:cNvSpPr/>
          <p:nvPr/>
        </p:nvSpPr>
        <p:spPr>
          <a:xfrm>
            <a:off x="3801240" y="547596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78"/>
          <p:cNvSpPr/>
          <p:nvPr/>
        </p:nvSpPr>
        <p:spPr>
          <a:xfrm>
            <a:off x="6708960" y="547596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04" name="Straight Connector 85"/>
          <p:cNvCxnSpPr/>
          <p:nvPr/>
        </p:nvCxnSpPr>
        <p:spPr>
          <a:xfrm>
            <a:off x="3551040" y="3520080"/>
            <a:ext cx="360" cy="2037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05" name="Straight Connector 86"/>
          <p:cNvCxnSpPr/>
          <p:nvPr/>
        </p:nvCxnSpPr>
        <p:spPr>
          <a:xfrm>
            <a:off x="446400" y="3421800"/>
            <a:ext cx="360" cy="27324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806" name="TextBox 91"/>
          <p:cNvSpPr/>
          <p:nvPr/>
        </p:nvSpPr>
        <p:spPr>
          <a:xfrm>
            <a:off x="242280" y="6023520"/>
            <a:ext cx="904680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rgbClr val="c00000"/>
                </a:solidFill>
                <a:latin typeface="Calibri"/>
              </a:rPr>
              <a:t>Can only use this method if the assumptions are first verified…or all tested specimens have exactly the same DNA concentration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Similar problem can exist with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any measure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that is normalized to another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07" name="Straight Connector 92"/>
          <p:cNvCxnSpPr/>
          <p:nvPr/>
        </p:nvCxnSpPr>
        <p:spPr>
          <a:xfrm>
            <a:off x="4604040" y="1720800"/>
            <a:ext cx="485280" cy="360"/>
          </a:xfrm>
          <a:prstGeom prst="straightConnector1">
            <a:avLst/>
          </a:prstGeom>
          <a:ln w="28575">
            <a:solidFill>
              <a:srgbClr val="9bbb59">
                <a:lumMod val="50000"/>
              </a:srgbClr>
            </a:solidFill>
            <a:round/>
          </a:ln>
        </p:spPr>
      </p:cxnSp>
      <p:cxnSp>
        <p:nvCxnSpPr>
          <p:cNvPr id="808" name="Straight Connector 93"/>
          <p:cNvCxnSpPr/>
          <p:nvPr/>
        </p:nvCxnSpPr>
        <p:spPr>
          <a:xfrm>
            <a:off x="5411880" y="1720800"/>
            <a:ext cx="484920" cy="360"/>
          </a:xfrm>
          <a:prstGeom prst="straightConnector1">
            <a:avLst/>
          </a:prstGeom>
          <a:ln w="28575">
            <a:solidFill>
              <a:srgbClr val="ffc000"/>
            </a:solidFill>
            <a:round/>
          </a:ln>
        </p:spPr>
      </p:cxnSp>
      <p:cxnSp>
        <p:nvCxnSpPr>
          <p:cNvPr id="809" name="Straight Connector 44"/>
          <p:cNvCxnSpPr/>
          <p:nvPr/>
        </p:nvCxnSpPr>
        <p:spPr>
          <a:xfrm>
            <a:off x="572760" y="3450600"/>
            <a:ext cx="509040" cy="360"/>
          </a:xfrm>
          <a:prstGeom prst="straightConnector1">
            <a:avLst/>
          </a:prstGeom>
          <a:ln w="19050">
            <a:solidFill>
              <a:srgbClr val="4a7ebb"/>
            </a:solidFill>
            <a:prstDash val="sysDash"/>
            <a:round/>
          </a:ln>
        </p:spPr>
      </p:cxnSp>
      <p:cxnSp>
        <p:nvCxnSpPr>
          <p:cNvPr id="810" name="Straight Connector 51"/>
          <p:cNvCxnSpPr/>
          <p:nvPr/>
        </p:nvCxnSpPr>
        <p:spPr>
          <a:xfrm>
            <a:off x="565200" y="4434480"/>
            <a:ext cx="137376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11" name="Straight Arrow Connector 24"/>
          <p:cNvCxnSpPr/>
          <p:nvPr/>
        </p:nvCxnSpPr>
        <p:spPr>
          <a:xfrm flipV="1">
            <a:off x="1083600" y="342540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12" name="Straight Arrow Connector 57"/>
          <p:cNvCxnSpPr/>
          <p:nvPr/>
        </p:nvCxnSpPr>
        <p:spPr>
          <a:xfrm flipV="1">
            <a:off x="1953720" y="341964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13" name="Straight Arrow Connector 62"/>
          <p:cNvCxnSpPr/>
          <p:nvPr/>
        </p:nvCxnSpPr>
        <p:spPr>
          <a:xfrm flipV="1">
            <a:off x="4218840" y="334728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14" name="Straight Arrow Connector 63"/>
          <p:cNvCxnSpPr/>
          <p:nvPr/>
        </p:nvCxnSpPr>
        <p:spPr>
          <a:xfrm flipV="1">
            <a:off x="5088960" y="3341160"/>
            <a:ext cx="360" cy="200700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15" name="Straight Connector 64"/>
          <p:cNvCxnSpPr/>
          <p:nvPr/>
        </p:nvCxnSpPr>
        <p:spPr>
          <a:xfrm>
            <a:off x="3690000" y="3686760"/>
            <a:ext cx="51480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16" name="Straight Connector 69"/>
          <p:cNvCxnSpPr/>
          <p:nvPr/>
        </p:nvCxnSpPr>
        <p:spPr>
          <a:xfrm>
            <a:off x="3690000" y="3520080"/>
            <a:ext cx="509400" cy="360"/>
          </a:xfrm>
          <a:prstGeom prst="straightConnector1">
            <a:avLst/>
          </a:prstGeom>
          <a:ln w="19050">
            <a:solidFill>
              <a:srgbClr val="4f6228"/>
            </a:solidFill>
            <a:prstDash val="sysDash"/>
            <a:round/>
          </a:ln>
        </p:spPr>
      </p:cxnSp>
      <p:cxnSp>
        <p:nvCxnSpPr>
          <p:cNvPr id="817" name="Straight Connector 70"/>
          <p:cNvCxnSpPr/>
          <p:nvPr/>
        </p:nvCxnSpPr>
        <p:spPr>
          <a:xfrm>
            <a:off x="3690000" y="4458960"/>
            <a:ext cx="138708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18" name="Straight Connector 71"/>
          <p:cNvCxnSpPr/>
          <p:nvPr/>
        </p:nvCxnSpPr>
        <p:spPr>
          <a:xfrm>
            <a:off x="3690000" y="4063320"/>
            <a:ext cx="1382400" cy="360"/>
          </a:xfrm>
          <a:prstGeom prst="straightConnector1">
            <a:avLst/>
          </a:prstGeom>
          <a:ln w="19050">
            <a:solidFill>
              <a:srgbClr val="4f6228"/>
            </a:solidFill>
            <a:prstDash val="sysDash"/>
            <a:round/>
          </a:ln>
        </p:spPr>
      </p:cxnSp>
      <p:cxnSp>
        <p:nvCxnSpPr>
          <p:cNvPr id="819" name="Straight Connector 76"/>
          <p:cNvCxnSpPr/>
          <p:nvPr/>
        </p:nvCxnSpPr>
        <p:spPr>
          <a:xfrm>
            <a:off x="3551040" y="4037400"/>
            <a:ext cx="360" cy="43848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20" name="Straight Arrow Connector 79"/>
          <p:cNvCxnSpPr/>
          <p:nvPr/>
        </p:nvCxnSpPr>
        <p:spPr>
          <a:xfrm flipV="1">
            <a:off x="7253280" y="335520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21" name="Straight Arrow Connector 81"/>
          <p:cNvCxnSpPr/>
          <p:nvPr/>
        </p:nvCxnSpPr>
        <p:spPr>
          <a:xfrm flipV="1">
            <a:off x="8123040" y="334944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22" name="Straight Connector 82"/>
          <p:cNvCxnSpPr/>
          <p:nvPr/>
        </p:nvCxnSpPr>
        <p:spPr>
          <a:xfrm>
            <a:off x="6724080" y="3694680"/>
            <a:ext cx="51480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23" name="Straight Connector 83"/>
          <p:cNvCxnSpPr/>
          <p:nvPr/>
        </p:nvCxnSpPr>
        <p:spPr>
          <a:xfrm>
            <a:off x="6724080" y="4466880"/>
            <a:ext cx="138744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24" name="Straight Connector 84"/>
          <p:cNvCxnSpPr/>
          <p:nvPr/>
        </p:nvCxnSpPr>
        <p:spPr>
          <a:xfrm>
            <a:off x="6696360" y="3920760"/>
            <a:ext cx="557280" cy="360"/>
          </a:xfrm>
          <a:prstGeom prst="straightConnector1">
            <a:avLst/>
          </a:prstGeom>
          <a:ln w="19050">
            <a:solidFill>
              <a:srgbClr val="ffc000"/>
            </a:solidFill>
            <a:prstDash val="sysDash"/>
            <a:round/>
          </a:ln>
        </p:spPr>
      </p:cxnSp>
      <p:cxnSp>
        <p:nvCxnSpPr>
          <p:cNvPr id="825" name="Straight Connector 87"/>
          <p:cNvCxnSpPr/>
          <p:nvPr/>
        </p:nvCxnSpPr>
        <p:spPr>
          <a:xfrm>
            <a:off x="6599160" y="3676680"/>
            <a:ext cx="360" cy="2505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26" name="Straight Connector 88"/>
          <p:cNvCxnSpPr/>
          <p:nvPr/>
        </p:nvCxnSpPr>
        <p:spPr>
          <a:xfrm>
            <a:off x="6696360" y="4363200"/>
            <a:ext cx="1429200" cy="360"/>
          </a:xfrm>
          <a:prstGeom prst="straightConnector1">
            <a:avLst/>
          </a:prstGeom>
          <a:ln w="19050">
            <a:solidFill>
              <a:srgbClr val="ffc000"/>
            </a:solidFill>
            <a:prstDash val="sysDash"/>
            <a:round/>
          </a:ln>
        </p:spPr>
      </p:cxnSp>
      <p:cxnSp>
        <p:nvCxnSpPr>
          <p:cNvPr id="827" name="Straight Connector 94"/>
          <p:cNvCxnSpPr/>
          <p:nvPr/>
        </p:nvCxnSpPr>
        <p:spPr>
          <a:xfrm>
            <a:off x="6588000" y="4341600"/>
            <a:ext cx="360" cy="1695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28" name="Straight Connector 95"/>
          <p:cNvCxnSpPr/>
          <p:nvPr/>
        </p:nvCxnSpPr>
        <p:spPr>
          <a:xfrm>
            <a:off x="443880" y="4186080"/>
            <a:ext cx="360" cy="27324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Num" idx="40"/>
          </p:nvPr>
        </p:nvSpPr>
        <p:spPr>
          <a:xfrm>
            <a:off x="6946920" y="6650640"/>
            <a:ext cx="2261520" cy="374400"/>
          </a:xfrm>
          <a:prstGeom prst="rect">
            <a:avLst/>
          </a:prstGeom>
          <a:noFill/>
          <a:ln w="0">
            <a:noFill/>
          </a:ln>
        </p:spPr>
        <p:txBody>
          <a:bodyPr lIns="95760" rIns="95760" tIns="47880" bIns="47880" anchor="ctr">
            <a:noAutofit/>
          </a:bodyPr>
          <a:lstStyle>
            <a:lvl1pPr indent="0" algn="r" defTabSz="956160">
              <a:lnSpc>
                <a:spcPct val="100000"/>
              </a:lnSpc>
              <a:buNone/>
              <a:def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56160">
              <a:lnSpc>
                <a:spcPct val="100000"/>
              </a:lnSpc>
              <a:buNone/>
            </a:pPr>
            <a:fld id="{4D0930B1-508A-4A1F-8F80-B578EDA658C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bias/error/variability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29"/>
          <p:cNvSpPr/>
          <p:nvPr/>
        </p:nvSpPr>
        <p:spPr>
          <a:xfrm>
            <a:off x="3783960" y="339408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32" name="Straight Connector 36"/>
          <p:cNvCxnSpPr/>
          <p:nvPr/>
        </p:nvCxnSpPr>
        <p:spPr>
          <a:xfrm>
            <a:off x="565200" y="4349160"/>
            <a:ext cx="360" cy="21909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33" name="Straight Connector 38"/>
          <p:cNvCxnSpPr/>
          <p:nvPr/>
        </p:nvCxnSpPr>
        <p:spPr>
          <a:xfrm>
            <a:off x="565200" y="6539760"/>
            <a:ext cx="242388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834" name="TextBox 39"/>
          <p:cNvSpPr/>
          <p:nvPr/>
        </p:nvSpPr>
        <p:spPr>
          <a:xfrm>
            <a:off x="-57960" y="5288040"/>
            <a:ext cx="6696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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TextBox 40"/>
          <p:cNvSpPr/>
          <p:nvPr/>
        </p:nvSpPr>
        <p:spPr>
          <a:xfrm>
            <a:off x="489240" y="658332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36" name="Straight Connector 42"/>
          <p:cNvCxnSpPr/>
          <p:nvPr/>
        </p:nvCxnSpPr>
        <p:spPr>
          <a:xfrm>
            <a:off x="726840" y="5366160"/>
            <a:ext cx="1938960" cy="360"/>
          </a:xfrm>
          <a:prstGeom prst="straightConnector1">
            <a:avLst/>
          </a:prstGeom>
          <a:ln w="28575">
            <a:solidFill>
              <a:srgbClr val="4a7ebb"/>
            </a:solidFill>
            <a:round/>
          </a:ln>
        </p:spPr>
      </p:cxnSp>
      <p:cxnSp>
        <p:nvCxnSpPr>
          <p:cNvPr id="837" name="Straight Connector 44"/>
          <p:cNvCxnSpPr/>
          <p:nvPr/>
        </p:nvCxnSpPr>
        <p:spPr>
          <a:xfrm>
            <a:off x="3634920" y="4349160"/>
            <a:ext cx="360" cy="21909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38" name="Straight Connector 45"/>
          <p:cNvCxnSpPr/>
          <p:nvPr/>
        </p:nvCxnSpPr>
        <p:spPr>
          <a:xfrm>
            <a:off x="3634920" y="6539760"/>
            <a:ext cx="242352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839" name="TextBox 46"/>
          <p:cNvSpPr/>
          <p:nvPr/>
        </p:nvSpPr>
        <p:spPr>
          <a:xfrm>
            <a:off x="3011400" y="5288040"/>
            <a:ext cx="6696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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47"/>
          <p:cNvSpPr/>
          <p:nvPr/>
        </p:nvSpPr>
        <p:spPr>
          <a:xfrm>
            <a:off x="3558960" y="658332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1" name="Straight Connector 48"/>
          <p:cNvCxnSpPr/>
          <p:nvPr/>
        </p:nvCxnSpPr>
        <p:spPr>
          <a:xfrm flipV="1">
            <a:off x="3845160" y="5087160"/>
            <a:ext cx="2174040" cy="367920"/>
          </a:xfrm>
          <a:prstGeom prst="straightConnector1">
            <a:avLst/>
          </a:prstGeom>
          <a:ln w="28575">
            <a:solidFill>
              <a:srgbClr val="9bbb59">
                <a:lumMod val="50000"/>
              </a:srgbClr>
            </a:solidFill>
            <a:round/>
          </a:ln>
        </p:spPr>
      </p:cxnSp>
      <p:cxnSp>
        <p:nvCxnSpPr>
          <p:cNvPr id="842" name="Straight Connector 49"/>
          <p:cNvCxnSpPr/>
          <p:nvPr/>
        </p:nvCxnSpPr>
        <p:spPr>
          <a:xfrm>
            <a:off x="6704280" y="4349160"/>
            <a:ext cx="360" cy="21909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43" name="Straight Connector 50"/>
          <p:cNvCxnSpPr/>
          <p:nvPr/>
        </p:nvCxnSpPr>
        <p:spPr>
          <a:xfrm>
            <a:off x="6704280" y="6539760"/>
            <a:ext cx="242388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844" name="TextBox 51"/>
          <p:cNvSpPr/>
          <p:nvPr/>
        </p:nvSpPr>
        <p:spPr>
          <a:xfrm>
            <a:off x="6081120" y="5288040"/>
            <a:ext cx="66960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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TextBox 52"/>
          <p:cNvSpPr/>
          <p:nvPr/>
        </p:nvSpPr>
        <p:spPr>
          <a:xfrm>
            <a:off x="6628320" y="658332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Freeform 58"/>
          <p:cNvSpPr/>
          <p:nvPr/>
        </p:nvSpPr>
        <p:spPr>
          <a:xfrm>
            <a:off x="6967080" y="5088240"/>
            <a:ext cx="1605600" cy="826200"/>
          </a:xfrm>
          <a:custGeom>
            <a:avLst/>
            <a:gdLst>
              <a:gd name="textAreaLeft" fmla="*/ 0 w 1605600"/>
              <a:gd name="textAreaRight" fmla="*/ 1605960 w 1605600"/>
              <a:gd name="textAreaTop" fmla="*/ 0 h 826200"/>
              <a:gd name="textAreaBottom" fmla="*/ 826560 h 826200"/>
            </a:gdLst>
            <a:ahLst/>
            <a:rect l="textAreaLeft" t="textAreaTop" r="textAreaRight" b="textAreaBottom"/>
            <a:pathLst>
              <a:path w="1514902" h="805218">
                <a:moveTo>
                  <a:pt x="0" y="0"/>
                </a:moveTo>
                <a:cubicBezTo>
                  <a:pt x="4549" y="13648"/>
                  <a:pt x="6661" y="28368"/>
                  <a:pt x="13648" y="40944"/>
                </a:cubicBezTo>
                <a:cubicBezTo>
                  <a:pt x="35092" y="79543"/>
                  <a:pt x="109243" y="188364"/>
                  <a:pt x="150126" y="204717"/>
                </a:cubicBezTo>
                <a:cubicBezTo>
                  <a:pt x="172872" y="213815"/>
                  <a:pt x="196949" y="220114"/>
                  <a:pt x="218365" y="232012"/>
                </a:cubicBezTo>
                <a:cubicBezTo>
                  <a:pt x="238249" y="243059"/>
                  <a:pt x="252611" y="262784"/>
                  <a:pt x="272956" y="272956"/>
                </a:cubicBezTo>
                <a:cubicBezTo>
                  <a:pt x="289733" y="281344"/>
                  <a:pt x="309512" y="281450"/>
                  <a:pt x="327547" y="286603"/>
                </a:cubicBezTo>
                <a:cubicBezTo>
                  <a:pt x="341379" y="290555"/>
                  <a:pt x="354117" y="299639"/>
                  <a:pt x="368490" y="300251"/>
                </a:cubicBezTo>
                <a:cubicBezTo>
                  <a:pt x="568528" y="308763"/>
                  <a:pt x="768824" y="309350"/>
                  <a:pt x="968991" y="313899"/>
                </a:cubicBezTo>
                <a:cubicBezTo>
                  <a:pt x="1000836" y="318448"/>
                  <a:pt x="1033780" y="318087"/>
                  <a:pt x="1064526" y="327547"/>
                </a:cubicBezTo>
                <a:cubicBezTo>
                  <a:pt x="1093694" y="336522"/>
                  <a:pt x="1118078" y="357156"/>
                  <a:pt x="1146412" y="368490"/>
                </a:cubicBezTo>
                <a:cubicBezTo>
                  <a:pt x="1163827" y="375456"/>
                  <a:pt x="1182806" y="377589"/>
                  <a:pt x="1201003" y="382138"/>
                </a:cubicBezTo>
                <a:cubicBezTo>
                  <a:pt x="1296538" y="445827"/>
                  <a:pt x="1264693" y="409433"/>
                  <a:pt x="1310185" y="477672"/>
                </a:cubicBezTo>
                <a:cubicBezTo>
                  <a:pt x="1314734" y="495869"/>
                  <a:pt x="1315445" y="515486"/>
                  <a:pt x="1323833" y="532263"/>
                </a:cubicBezTo>
                <a:cubicBezTo>
                  <a:pt x="1338504" y="561605"/>
                  <a:pt x="1360227" y="586854"/>
                  <a:pt x="1378424" y="614150"/>
                </a:cubicBezTo>
                <a:cubicBezTo>
                  <a:pt x="1387523" y="627798"/>
                  <a:pt x="1394122" y="643495"/>
                  <a:pt x="1405720" y="655093"/>
                </a:cubicBezTo>
                <a:cubicBezTo>
                  <a:pt x="1458262" y="707635"/>
                  <a:pt x="1435957" y="679977"/>
                  <a:pt x="1473959" y="736980"/>
                </a:cubicBezTo>
                <a:cubicBezTo>
                  <a:pt x="1491675" y="790130"/>
                  <a:pt x="1477433" y="767751"/>
                  <a:pt x="1514902" y="805218"/>
                </a:cubicBezTo>
              </a:path>
            </a:pathLst>
          </a:custGeom>
          <a:noFill/>
          <a:ln w="28575">
            <a:solidFill>
              <a:srgbClr val="f79646">
                <a:lumMod val="75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9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7" name="TextBox 35"/>
          <p:cNvSpPr/>
          <p:nvPr/>
        </p:nvSpPr>
        <p:spPr>
          <a:xfrm>
            <a:off x="-74880" y="3803040"/>
            <a:ext cx="4271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Upon serial dilution of the specimen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8" name="Straight Connector 53"/>
          <p:cNvCxnSpPr/>
          <p:nvPr/>
        </p:nvCxnSpPr>
        <p:spPr>
          <a:xfrm>
            <a:off x="576720" y="1084320"/>
            <a:ext cx="360" cy="22971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49" name="Straight Connector 54"/>
          <p:cNvCxnSpPr/>
          <p:nvPr/>
        </p:nvCxnSpPr>
        <p:spPr>
          <a:xfrm>
            <a:off x="576720" y="3381120"/>
            <a:ext cx="249300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sp>
        <p:nvSpPr>
          <p:cNvPr id="850" name="TextBox 56"/>
          <p:cNvSpPr/>
          <p:nvPr/>
        </p:nvSpPr>
        <p:spPr>
          <a:xfrm>
            <a:off x="100080" y="1729440"/>
            <a:ext cx="428760" cy="38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51" name="Straight Connector 57"/>
          <p:cNvCxnSpPr/>
          <p:nvPr/>
        </p:nvCxnSpPr>
        <p:spPr>
          <a:xfrm>
            <a:off x="906480" y="1227600"/>
            <a:ext cx="1800360" cy="1556280"/>
          </a:xfrm>
          <a:prstGeom prst="straightConnector1">
            <a:avLst/>
          </a:prstGeom>
          <a:ln w="28575">
            <a:solidFill>
              <a:srgbClr val="4a7ebb"/>
            </a:solidFill>
            <a:round/>
          </a:ln>
        </p:spPr>
      </p:cxnSp>
      <p:cxnSp>
        <p:nvCxnSpPr>
          <p:cNvPr id="852" name="Straight Connector 59"/>
          <p:cNvCxnSpPr/>
          <p:nvPr/>
        </p:nvCxnSpPr>
        <p:spPr>
          <a:xfrm>
            <a:off x="784440" y="1380600"/>
            <a:ext cx="1800720" cy="1556280"/>
          </a:xfrm>
          <a:prstGeom prst="straightConnector1">
            <a:avLst/>
          </a:prstGeom>
          <a:ln>
            <a:solidFill>
              <a:srgbClr val="ff0000"/>
            </a:solidFill>
            <a:round/>
          </a:ln>
        </p:spPr>
      </p:cxnSp>
      <p:cxnSp>
        <p:nvCxnSpPr>
          <p:cNvPr id="853" name="Straight Connector 60"/>
          <p:cNvCxnSpPr/>
          <p:nvPr/>
        </p:nvCxnSpPr>
        <p:spPr>
          <a:xfrm>
            <a:off x="3934800" y="1397160"/>
            <a:ext cx="1800720" cy="1556280"/>
          </a:xfrm>
          <a:prstGeom prst="straightConnector1">
            <a:avLst/>
          </a:prstGeom>
          <a:ln>
            <a:solidFill>
              <a:srgbClr val="ff0000"/>
            </a:solidFill>
            <a:round/>
          </a:ln>
        </p:spPr>
      </p:cxnSp>
      <p:cxnSp>
        <p:nvCxnSpPr>
          <p:cNvPr id="854" name="Straight Connector 61"/>
          <p:cNvCxnSpPr/>
          <p:nvPr/>
        </p:nvCxnSpPr>
        <p:spPr>
          <a:xfrm>
            <a:off x="3690000" y="1006200"/>
            <a:ext cx="360" cy="22971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55" name="Straight Connector 62"/>
          <p:cNvCxnSpPr/>
          <p:nvPr/>
        </p:nvCxnSpPr>
        <p:spPr>
          <a:xfrm>
            <a:off x="3690000" y="3303000"/>
            <a:ext cx="275472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56" name="Straight Connector 63"/>
          <p:cNvCxnSpPr/>
          <p:nvPr/>
        </p:nvCxnSpPr>
        <p:spPr>
          <a:xfrm>
            <a:off x="3957840" y="1319040"/>
            <a:ext cx="1996920" cy="1221120"/>
          </a:xfrm>
          <a:prstGeom prst="straightConnector1">
            <a:avLst/>
          </a:prstGeom>
          <a:ln w="28575">
            <a:solidFill>
              <a:srgbClr val="4f6228"/>
            </a:solidFill>
            <a:round/>
          </a:ln>
        </p:spPr>
      </p:cxnSp>
      <p:cxnSp>
        <p:nvCxnSpPr>
          <p:cNvPr id="857" name="Straight Connector 64"/>
          <p:cNvCxnSpPr/>
          <p:nvPr/>
        </p:nvCxnSpPr>
        <p:spPr>
          <a:xfrm>
            <a:off x="6696360" y="1006200"/>
            <a:ext cx="360" cy="22971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58" name="Straight Connector 65"/>
          <p:cNvCxnSpPr/>
          <p:nvPr/>
        </p:nvCxnSpPr>
        <p:spPr>
          <a:xfrm>
            <a:off x="6696360" y="3303000"/>
            <a:ext cx="2754720" cy="360"/>
          </a:xfrm>
          <a:prstGeom prst="straightConnector1">
            <a:avLst/>
          </a:prstGeom>
          <a:ln>
            <a:solidFill>
              <a:srgbClr val="4a7ebb"/>
            </a:solidFill>
            <a:round/>
          </a:ln>
        </p:spPr>
      </p:cxnSp>
      <p:cxnSp>
        <p:nvCxnSpPr>
          <p:cNvPr id="859" name="Straight Connector 66"/>
          <p:cNvCxnSpPr/>
          <p:nvPr/>
        </p:nvCxnSpPr>
        <p:spPr>
          <a:xfrm>
            <a:off x="6946560" y="1710000"/>
            <a:ext cx="2014560" cy="1027800"/>
          </a:xfrm>
          <a:prstGeom prst="straightConnector1">
            <a:avLst/>
          </a:prstGeom>
          <a:ln w="28575">
            <a:solidFill>
              <a:srgbClr val="ffc000"/>
            </a:solidFill>
            <a:round/>
          </a:ln>
        </p:spPr>
      </p:cxnSp>
      <p:cxnSp>
        <p:nvCxnSpPr>
          <p:cNvPr id="860" name="Straight Connector 67"/>
          <p:cNvCxnSpPr/>
          <p:nvPr/>
        </p:nvCxnSpPr>
        <p:spPr>
          <a:xfrm>
            <a:off x="572760" y="1631880"/>
            <a:ext cx="48924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61" name="Straight Connector 68"/>
          <p:cNvCxnSpPr/>
          <p:nvPr/>
        </p:nvCxnSpPr>
        <p:spPr>
          <a:xfrm>
            <a:off x="565200" y="2154600"/>
            <a:ext cx="1373760" cy="360"/>
          </a:xfrm>
          <a:prstGeom prst="straightConnector1">
            <a:avLst/>
          </a:prstGeom>
          <a:ln w="19050">
            <a:solidFill>
              <a:srgbClr val="4a7ebb"/>
            </a:solidFill>
            <a:prstDash val="sysDash"/>
            <a:round/>
          </a:ln>
        </p:spPr>
      </p:cxnSp>
      <p:cxnSp>
        <p:nvCxnSpPr>
          <p:cNvPr id="862" name="Straight Connector 69"/>
          <p:cNvCxnSpPr/>
          <p:nvPr/>
        </p:nvCxnSpPr>
        <p:spPr>
          <a:xfrm>
            <a:off x="6946560" y="1397160"/>
            <a:ext cx="1800720" cy="1556280"/>
          </a:xfrm>
          <a:prstGeom prst="straightConnector1">
            <a:avLst/>
          </a:prstGeom>
          <a:ln>
            <a:solidFill>
              <a:srgbClr val="ff0000"/>
            </a:solidFill>
            <a:round/>
          </a:ln>
        </p:spPr>
      </p:cxnSp>
      <p:sp>
        <p:nvSpPr>
          <p:cNvPr id="863" name="TextBox 71"/>
          <p:cNvSpPr/>
          <p:nvPr/>
        </p:nvSpPr>
        <p:spPr>
          <a:xfrm>
            <a:off x="6708960" y="339408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64" name="Straight Connector 72"/>
          <p:cNvCxnSpPr/>
          <p:nvPr/>
        </p:nvCxnSpPr>
        <p:spPr>
          <a:xfrm>
            <a:off x="3551040" y="1475280"/>
            <a:ext cx="360" cy="2037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65" name="Straight Connector 73"/>
          <p:cNvCxnSpPr/>
          <p:nvPr/>
        </p:nvCxnSpPr>
        <p:spPr>
          <a:xfrm>
            <a:off x="446400" y="1377360"/>
            <a:ext cx="360" cy="27324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66" name="Straight Connector 74"/>
          <p:cNvCxnSpPr/>
          <p:nvPr/>
        </p:nvCxnSpPr>
        <p:spPr>
          <a:xfrm>
            <a:off x="572760" y="1406160"/>
            <a:ext cx="509040" cy="360"/>
          </a:xfrm>
          <a:prstGeom prst="straightConnector1">
            <a:avLst/>
          </a:prstGeom>
          <a:ln w="19050">
            <a:solidFill>
              <a:srgbClr val="4a7ebb"/>
            </a:solidFill>
            <a:prstDash val="sysDash"/>
            <a:round/>
          </a:ln>
        </p:spPr>
      </p:cxnSp>
      <p:cxnSp>
        <p:nvCxnSpPr>
          <p:cNvPr id="867" name="Straight Connector 75"/>
          <p:cNvCxnSpPr/>
          <p:nvPr/>
        </p:nvCxnSpPr>
        <p:spPr>
          <a:xfrm>
            <a:off x="565200" y="2389680"/>
            <a:ext cx="137376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68" name="Straight Arrow Connector 76"/>
          <p:cNvCxnSpPr/>
          <p:nvPr/>
        </p:nvCxnSpPr>
        <p:spPr>
          <a:xfrm flipV="1">
            <a:off x="1083600" y="138060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69" name="Straight Arrow Connector 77"/>
          <p:cNvCxnSpPr/>
          <p:nvPr/>
        </p:nvCxnSpPr>
        <p:spPr>
          <a:xfrm flipV="1">
            <a:off x="1953720" y="137484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70" name="Straight Arrow Connector 78"/>
          <p:cNvCxnSpPr/>
          <p:nvPr/>
        </p:nvCxnSpPr>
        <p:spPr>
          <a:xfrm flipV="1">
            <a:off x="4218840" y="130248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71" name="Straight Arrow Connector 79"/>
          <p:cNvCxnSpPr/>
          <p:nvPr/>
        </p:nvCxnSpPr>
        <p:spPr>
          <a:xfrm flipV="1">
            <a:off x="5088960" y="129672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72" name="Straight Connector 80"/>
          <p:cNvCxnSpPr/>
          <p:nvPr/>
        </p:nvCxnSpPr>
        <p:spPr>
          <a:xfrm>
            <a:off x="3690000" y="1641960"/>
            <a:ext cx="51480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73" name="Straight Connector 81"/>
          <p:cNvCxnSpPr/>
          <p:nvPr/>
        </p:nvCxnSpPr>
        <p:spPr>
          <a:xfrm>
            <a:off x="3690000" y="1475280"/>
            <a:ext cx="509400" cy="360"/>
          </a:xfrm>
          <a:prstGeom prst="straightConnector1">
            <a:avLst/>
          </a:prstGeom>
          <a:ln w="19050">
            <a:solidFill>
              <a:srgbClr val="4f6228"/>
            </a:solidFill>
            <a:prstDash val="sysDash"/>
            <a:round/>
          </a:ln>
        </p:spPr>
      </p:cxnSp>
      <p:cxnSp>
        <p:nvCxnSpPr>
          <p:cNvPr id="874" name="Straight Connector 82"/>
          <p:cNvCxnSpPr/>
          <p:nvPr/>
        </p:nvCxnSpPr>
        <p:spPr>
          <a:xfrm>
            <a:off x="3690000" y="2414160"/>
            <a:ext cx="138708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75" name="Straight Connector 83"/>
          <p:cNvCxnSpPr/>
          <p:nvPr/>
        </p:nvCxnSpPr>
        <p:spPr>
          <a:xfrm>
            <a:off x="3690000" y="2018520"/>
            <a:ext cx="1382400" cy="360"/>
          </a:xfrm>
          <a:prstGeom prst="straightConnector1">
            <a:avLst/>
          </a:prstGeom>
          <a:ln w="19050">
            <a:solidFill>
              <a:srgbClr val="4f6228"/>
            </a:solidFill>
            <a:prstDash val="sysDash"/>
            <a:round/>
          </a:ln>
        </p:spPr>
      </p:cxnSp>
      <p:cxnSp>
        <p:nvCxnSpPr>
          <p:cNvPr id="876" name="Straight Connector 84"/>
          <p:cNvCxnSpPr/>
          <p:nvPr/>
        </p:nvCxnSpPr>
        <p:spPr>
          <a:xfrm>
            <a:off x="3551040" y="1992960"/>
            <a:ext cx="360" cy="43848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77" name="Straight Arrow Connector 85"/>
          <p:cNvCxnSpPr/>
          <p:nvPr/>
        </p:nvCxnSpPr>
        <p:spPr>
          <a:xfrm flipV="1">
            <a:off x="7253280" y="131040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78" name="Straight Arrow Connector 86"/>
          <p:cNvCxnSpPr/>
          <p:nvPr/>
        </p:nvCxnSpPr>
        <p:spPr>
          <a:xfrm flipV="1">
            <a:off x="8123040" y="1304640"/>
            <a:ext cx="360" cy="2006640"/>
          </a:xfrm>
          <a:prstGeom prst="straightConnector1">
            <a:avLst/>
          </a:prstGeom>
          <a:ln>
            <a:solidFill>
              <a:srgbClr val="4a7ebb"/>
            </a:solidFill>
            <a:round/>
            <a:tailEnd len="med" type="triangle" w="med"/>
          </a:ln>
        </p:spPr>
      </p:cxnSp>
      <p:cxnSp>
        <p:nvCxnSpPr>
          <p:cNvPr id="879" name="Straight Connector 87"/>
          <p:cNvCxnSpPr/>
          <p:nvPr/>
        </p:nvCxnSpPr>
        <p:spPr>
          <a:xfrm>
            <a:off x="6724080" y="1650240"/>
            <a:ext cx="51480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80" name="Straight Connector 88"/>
          <p:cNvCxnSpPr/>
          <p:nvPr/>
        </p:nvCxnSpPr>
        <p:spPr>
          <a:xfrm>
            <a:off x="6724080" y="2422080"/>
            <a:ext cx="1387440" cy="36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round/>
          </a:ln>
        </p:spPr>
      </p:cxnSp>
      <p:cxnSp>
        <p:nvCxnSpPr>
          <p:cNvPr id="881" name="Straight Connector 89"/>
          <p:cNvCxnSpPr/>
          <p:nvPr/>
        </p:nvCxnSpPr>
        <p:spPr>
          <a:xfrm>
            <a:off x="6696360" y="1875960"/>
            <a:ext cx="557280" cy="360"/>
          </a:xfrm>
          <a:prstGeom prst="straightConnector1">
            <a:avLst/>
          </a:prstGeom>
          <a:ln w="19050">
            <a:solidFill>
              <a:srgbClr val="ffc000"/>
            </a:solidFill>
            <a:prstDash val="sysDash"/>
            <a:round/>
          </a:ln>
        </p:spPr>
      </p:cxnSp>
      <p:cxnSp>
        <p:nvCxnSpPr>
          <p:cNvPr id="882" name="Straight Connector 90"/>
          <p:cNvCxnSpPr/>
          <p:nvPr/>
        </p:nvCxnSpPr>
        <p:spPr>
          <a:xfrm>
            <a:off x="6599160" y="1631880"/>
            <a:ext cx="360" cy="25056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83" name="Straight Connector 91"/>
          <p:cNvCxnSpPr/>
          <p:nvPr/>
        </p:nvCxnSpPr>
        <p:spPr>
          <a:xfrm>
            <a:off x="6696360" y="2318400"/>
            <a:ext cx="1429200" cy="360"/>
          </a:xfrm>
          <a:prstGeom prst="straightConnector1">
            <a:avLst/>
          </a:prstGeom>
          <a:ln w="19050">
            <a:solidFill>
              <a:srgbClr val="ffc000"/>
            </a:solidFill>
            <a:prstDash val="sysDash"/>
            <a:round/>
          </a:ln>
        </p:spPr>
      </p:cxnSp>
      <p:cxnSp>
        <p:nvCxnSpPr>
          <p:cNvPr id="884" name="Straight Connector 92"/>
          <p:cNvCxnSpPr/>
          <p:nvPr/>
        </p:nvCxnSpPr>
        <p:spPr>
          <a:xfrm>
            <a:off x="6588000" y="2297160"/>
            <a:ext cx="360" cy="16920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885" name="Straight Connector 93"/>
          <p:cNvCxnSpPr/>
          <p:nvPr/>
        </p:nvCxnSpPr>
        <p:spPr>
          <a:xfrm>
            <a:off x="443880" y="2141280"/>
            <a:ext cx="360" cy="273240"/>
          </a:xfrm>
          <a:prstGeom prst="straightConnector1">
            <a:avLst/>
          </a:prstGeom>
          <a:ln>
            <a:solidFill>
              <a:srgbClr val="4a7ebb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886" name="TextBox 94"/>
          <p:cNvSpPr/>
          <p:nvPr/>
        </p:nvSpPr>
        <p:spPr>
          <a:xfrm>
            <a:off x="573480" y="3394080"/>
            <a:ext cx="2551680" cy="3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7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Log DNA concentration</a:t>
            </a:r>
            <a:endParaRPr b="0" lang="en-CA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sources of bias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Box 3"/>
          <p:cNvSpPr/>
          <p:nvPr/>
        </p:nvSpPr>
        <p:spPr>
          <a:xfrm>
            <a:off x="274680" y="1005840"/>
            <a:ext cx="8804520" cy="77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358560" indent="-358560" defTabSz="95616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Non-randomization, i.e. assaying all your control specimens in one batch/run and the treated specimens in a separate batch/run </a:t>
            </a:r>
            <a:r>
              <a:rPr b="0" lang="en-US" sz="1800" spc="-1" strike="noStrike">
                <a:solidFill>
                  <a:schemeClr val="dk1"/>
                </a:solidFill>
                <a:latin typeface="Symbol"/>
              </a:rPr>
              <a:t>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1800" spc="-1" strike="noStrike">
                <a:solidFill>
                  <a:srgbClr val="c00000"/>
                </a:solidFill>
                <a:latin typeface="Calibri"/>
              </a:rPr>
              <a:t>Whenever possible, randomize everything before you start assaying</a:t>
            </a:r>
            <a:br>
              <a:rPr sz="1800"/>
            </a:br>
            <a:r>
              <a:rPr b="0" lang="en-US" sz="1800" spc="-1" strike="noStrike">
                <a:solidFill>
                  <a:srgbClr val="c00000"/>
                </a:solidFill>
                <a:latin typeface="Calibri"/>
              </a:rPr>
              <a:t> 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Unintentional or unconscious bias when collecting/analyzing data </a:t>
            </a:r>
            <a:br>
              <a:rPr sz="1800"/>
            </a:br>
            <a:r>
              <a:rPr b="0" lang="en-US" sz="1800" spc="-1" strike="noStrike">
                <a:solidFill>
                  <a:schemeClr val="dk1"/>
                </a:solidFill>
                <a:latin typeface="Symbol"/>
              </a:rPr>
              <a:t>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1800" spc="-1" strike="noStrike">
                <a:solidFill>
                  <a:srgbClr val="c00000"/>
                </a:solidFill>
                <a:latin typeface="Calibri"/>
              </a:rPr>
              <a:t>Whenever possible, blind yourself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Differences in the buffer/diluent used between treatment and control or different time points, differences in the reagent lot, etc.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Data collection at different times (</a:t>
            </a:r>
            <a:r>
              <a:rPr b="0" i="1" lang="en-US" sz="1800" spc="-1" strike="noStrike">
                <a:solidFill>
                  <a:schemeClr val="dk1"/>
                </a:solidFill>
                <a:latin typeface="Calibri"/>
              </a:rPr>
              <a:t>e.g.,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samples collected in 2000’s vs. controls collected in 2010’s = potential differences in collection protocol, processing, storage T° and time)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Data collection at different sites (example of Sick Kids vs. BC Children’s &amp; Women’s)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00000"/>
                </a:solidFill>
                <a:latin typeface="Calibri"/>
              </a:rPr>
              <a:t>It is often very difficult to identify the sources of error/bias. The best way to counter them is sound study design and attention to details. Time spent in designing a study is time well spent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marL="358560" indent="-35856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00000"/>
                </a:solidFill>
                <a:latin typeface="Calibri"/>
              </a:rPr>
              <a:t>Does not help if biases are discovered upon challenge by reviewers after the study is over, when biases can no longer be eliminated, and only dealt with as a limitation.</a:t>
            </a: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6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09F8B94-9C66-4492-84A2-7A3DE4955D19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61" dur="indefinite" restart="never" nodeType="tmRoot">
          <p:childTnLst>
            <p:seq>
              <p:cTn id="462" dur="indefinite" nodeType="mainSeq">
                <p:childTnLst>
                  <p:par>
                    <p:cTn id="463" fill="hold">
                      <p:stCondLst>
                        <p:cond delay="indefinite"/>
                      </p:stCondLst>
                      <p:childTnLst>
                        <p:par>
                          <p:cTn id="464" fill="hold">
                            <p:stCondLst>
                              <p:cond delay="0"/>
                            </p:stCondLst>
                            <p:childTnLst>
                              <p:par>
                                <p:cTn id="4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7" fill="hold">
                      <p:stCondLst>
                        <p:cond delay="indefinite"/>
                      </p:stCondLst>
                      <p:childTnLst>
                        <p:par>
                          <p:cTn id="468" fill="hold">
                            <p:stCondLst>
                              <p:cond delay="0"/>
                            </p:stCondLst>
                            <p:childTnLst>
                              <p:par>
                                <p:cTn id="4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1" fill="hold">
                      <p:stCondLst>
                        <p:cond delay="indefinite"/>
                      </p:stCondLst>
                      <p:childTnLst>
                        <p:par>
                          <p:cTn id="472" fill="hold">
                            <p:stCondLst>
                              <p:cond delay="0"/>
                            </p:stCondLst>
                            <p:childTnLst>
                              <p:par>
                                <p:cTn id="4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5" fill="hold">
                      <p:stCondLst>
                        <p:cond delay="indefinite"/>
                      </p:stCondLst>
                      <p:childTnLst>
                        <p:par>
                          <p:cTn id="476" fill="hold">
                            <p:stCondLst>
                              <p:cond delay="0"/>
                            </p:stCondLst>
                            <p:childTnLst>
                              <p:par>
                                <p:cTn id="4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9" fill="hold">
                      <p:stCondLst>
                        <p:cond delay="indefinite"/>
                      </p:stCondLst>
                      <p:childTnLst>
                        <p:par>
                          <p:cTn id="480" fill="hold">
                            <p:stCondLst>
                              <p:cond delay="0"/>
                            </p:stCondLst>
                            <p:childTnLst>
                              <p:par>
                                <p:cTn id="4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3" fill="hold">
                      <p:stCondLst>
                        <p:cond delay="indefinite"/>
                      </p:stCondLst>
                      <p:childTnLst>
                        <p:par>
                          <p:cTn id="484" fill="hold">
                            <p:stCondLst>
                              <p:cond delay="0"/>
                            </p:stCondLst>
                            <p:childTnLst>
                              <p:par>
                                <p:cTn id="4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TextBox 3"/>
          <p:cNvSpPr/>
          <p:nvPr/>
        </p:nvSpPr>
        <p:spPr>
          <a:xfrm>
            <a:off x="-113040" y="1407960"/>
            <a:ext cx="9838080" cy="46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animal model?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Primates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Rats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Mice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Zebrafish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 elegans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Fruit flies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Choice depends on cost, relevance to disease/genetics, n needed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E26341A-27B4-4A7F-8766-89AB7565644D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" name="TextBox 3"/>
          <p:cNvSpPr/>
          <p:nvPr/>
        </p:nvSpPr>
        <p:spPr>
          <a:xfrm>
            <a:off x="323280" y="1081800"/>
            <a:ext cx="9369720" cy="725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Before you start:</a:t>
            </a:r>
            <a:endParaRPr b="0" lang="en-CA" sz="2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Ethical considerations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Will you meet your objective and address your hypothesis?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Consider 3R (replace, refine, reduce)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Will it be a valid model of human disease?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Experimental (intervention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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causes a change) or observational (no 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intervention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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look for associations)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strain? What phenotype? WT or transgenic?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Exploratory (hypothesis generating, sample size calculation) or confirmatory?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or a mix? (pilot or final you hope to publish?)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Experimental unit = ? Each animal, each litter, each cage?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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how many animals 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per cage?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5CFF97EB-AB35-48B8-B535-DBB897604C6C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89" dur="indefinite" restart="never" nodeType="tmRoot">
          <p:childTnLst>
            <p:seq>
              <p:cTn id="490" dur="indefinite" nodeType="mainSeq">
                <p:childTnLst>
                  <p:par>
                    <p:cTn id="491" fill="hold">
                      <p:stCondLst>
                        <p:cond delay="indefinite"/>
                      </p:stCondLst>
                      <p:childTnLst>
                        <p:par>
                          <p:cTn id="492" fill="hold">
                            <p:stCondLst>
                              <p:cond delay="0"/>
                            </p:stCondLst>
                            <p:childTnLst>
                              <p:par>
                                <p:cTn id="4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1" fill="hold">
                      <p:stCondLst>
                        <p:cond delay="indefinite"/>
                      </p:stCondLst>
                      <p:childTnLst>
                        <p:par>
                          <p:cTn id="502" fill="hold">
                            <p:stCondLst>
                              <p:cond delay="0"/>
                            </p:stCondLst>
                            <p:childTnLst>
                              <p:par>
                                <p:cTn id="5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5" fill="hold">
                      <p:stCondLst>
                        <p:cond delay="indefinite"/>
                      </p:stCondLst>
                      <p:childTnLst>
                        <p:par>
                          <p:cTn id="506" fill="hold">
                            <p:stCondLst>
                              <p:cond delay="0"/>
                            </p:stCondLst>
                            <p:childTnLst>
                              <p:par>
                                <p:cTn id="5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9" fill="hold">
                      <p:stCondLst>
                        <p:cond delay="indefinite"/>
                      </p:stCondLst>
                      <p:childTnLst>
                        <p:par>
                          <p:cTn id="510" fill="hold">
                            <p:stCondLst>
                              <p:cond delay="0"/>
                            </p:stCondLst>
                            <p:childTnLst>
                              <p:par>
                                <p:cTn id="5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3" fill="hold">
                      <p:stCondLst>
                        <p:cond delay="indefinite"/>
                      </p:stCondLst>
                      <p:childTnLst>
                        <p:par>
                          <p:cTn id="514" fill="hold">
                            <p:stCondLst>
                              <p:cond delay="0"/>
                            </p:stCondLst>
                            <p:childTnLst>
                              <p:par>
                                <p:cTn id="5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3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4" name="TextBox 4"/>
          <p:cNvSpPr/>
          <p:nvPr/>
        </p:nvSpPr>
        <p:spPr>
          <a:xfrm>
            <a:off x="323280" y="1017000"/>
            <a:ext cx="8965800" cy="67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Also before you start:</a:t>
            </a:r>
            <a:endParaRPr b="0" lang="en-CA" sz="2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Plan for randomization to assign treatment/intervention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(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Symbol"/>
              </a:rPr>
              <a:t>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bias, perceived or not)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can be done in Excel </a:t>
            </a: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“=randbetween(bottom, top)”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Choice of outcome (primary, secondary)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Measure Y at t=X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Difference between measure at baseline and t=X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Time to peak measure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Area under the measure’s curve at t=X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Slope of regression line for measure in each individual or group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713880" indent="-7138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 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	</a:t>
            </a:r>
            <a:r>
              <a:rPr b="0" lang="en-US" sz="21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Survival analysis (time to death, disease, tumour, phenotype expression)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Choice of variables of interest (dose, time, sex, age, etc…)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1">
                    <a:lumMod val="75000"/>
                  </a:schemeClr>
                </a:solidFill>
                <a:latin typeface="Calibri"/>
              </a:rPr>
              <a:t>- If there are too many important variables, a factorial design may be considered or you may increase your n to plan for a multivariable model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BDD3E39-9855-4A04-BE2D-FDC10B2FD6A1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17" dur="indefinite" restart="never" nodeType="tmRoot">
          <p:childTnLst>
            <p:seq>
              <p:cTn id="518" dur="indefinite" nodeType="mainSeq">
                <p:childTnLst>
                  <p:par>
                    <p:cTn id="519" fill="hold">
                      <p:stCondLst>
                        <p:cond delay="indefinite"/>
                      </p:stCondLst>
                      <p:childTnLst>
                        <p:par>
                          <p:cTn id="520" fill="hold">
                            <p:stCondLst>
                              <p:cond delay="0"/>
                            </p:stCondLst>
                            <p:childTnLst>
                              <p:par>
                                <p:cTn id="5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7" fill="hold">
                      <p:stCondLst>
                        <p:cond delay="indefinite"/>
                      </p:stCondLst>
                      <p:childTnLst>
                        <p:par>
                          <p:cTn id="528" fill="hold">
                            <p:stCondLst>
                              <p:cond delay="0"/>
                            </p:stCondLst>
                            <p:childTnLst>
                              <p:par>
                                <p:cTn id="5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3" fill="hold">
                      <p:stCondLst>
                        <p:cond delay="indefinite"/>
                      </p:stCondLst>
                      <p:childTnLst>
                        <p:par>
                          <p:cTn id="544" fill="hold">
                            <p:stCondLst>
                              <p:cond delay="0"/>
                            </p:stCondLst>
                            <p:childTnLst>
                              <p:par>
                                <p:cTn id="5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6" name="TextBox 3"/>
          <p:cNvSpPr/>
          <p:nvPr/>
        </p:nvSpPr>
        <p:spPr>
          <a:xfrm>
            <a:off x="323280" y="1017000"/>
            <a:ext cx="8965800" cy="45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are the positive and negative controls? (if applicable)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Positive control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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to prove that an effect </a:t>
            </a:r>
            <a:r>
              <a:rPr b="1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can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be seen (high dose, no treatment,..)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                           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Symbol"/>
              </a:rPr>
              <a:t>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 may be smaller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Negative control (sham surgery, placebo treatment, etc…) 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More than one positive and one negative control may be appropriate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3" marL="1434240" indent="-216000" defTabSz="956160">
              <a:lnSpc>
                <a:spcPct val="100000"/>
              </a:lnSpc>
              <a:buClr>
                <a:srgbClr val="376092"/>
              </a:buClr>
              <a:buSzPct val="120000"/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Show that the effect is not observed with an unrelated treatment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39EAE61-13A3-401E-96A0-A5A7AA3D7F13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0EFB313-A990-44DD-8CDB-7A1AA1AB14E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Footer Placeholder 1"/>
          <p:cNvSpPr/>
          <p:nvPr/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300" spc="-1" strike="noStrike">
              <a:solidFill>
                <a:schemeClr val="dk1">
                  <a:tint val="75000"/>
                </a:schemeClr>
              </a:solidFill>
              <a:latin typeface="Calibri"/>
            </a:endParaRPr>
          </a:p>
        </p:txBody>
      </p:sp>
      <p:sp>
        <p:nvSpPr>
          <p:cNvPr id="89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2799FBE3-A522-417D-9288-B577BE92814E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Footer Placeholder 1"/>
          <p:cNvSpPr/>
          <p:nvPr/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300" spc="-1" strike="noStrike">
              <a:solidFill>
                <a:schemeClr val="dk1">
                  <a:tint val="75000"/>
                </a:schemeClr>
              </a:solidFill>
              <a:latin typeface="Calibri"/>
            </a:endParaRPr>
          </a:p>
        </p:txBody>
      </p:sp>
      <p:sp>
        <p:nvSpPr>
          <p:cNvPr id="901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486B702-DC1F-437C-94D4-FE5487E73DF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Footer Placeholder 1"/>
          <p:cNvSpPr/>
          <p:nvPr/>
        </p:nvSpPr>
        <p:spPr>
          <a:xfrm>
            <a:off x="3312000" y="6525720"/>
            <a:ext cx="306900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ctr" defTabSz="956160">
              <a:lnSpc>
                <a:spcPct val="100000"/>
              </a:lnSpc>
            </a:pPr>
            <a:endParaRPr b="0" lang="en-US" sz="1300" spc="-1" strike="noStrike">
              <a:solidFill>
                <a:schemeClr val="dk1">
                  <a:tint val="75000"/>
                </a:schemeClr>
              </a:solidFill>
              <a:latin typeface="Calibri"/>
            </a:endParaRPr>
          </a:p>
        </p:txBody>
      </p:sp>
      <p:sp>
        <p:nvSpPr>
          <p:cNvPr id="903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46F86E8-7521-46D5-910A-D1625D81C2D5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C82C5FC-E265-4DCD-A7EC-F2B47D9BFD89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ABA2ECA1-9ADF-4CBB-93BC-B8E5D5A81BA6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838AC216-C05A-4DB8-824A-DFF71FCB7D58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1BDE6C01-533D-419A-A90F-A14A822425C1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790902E0-B643-483C-A932-24F26BBB2B25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EC2F9DC8-AA54-42C7-AD51-A56AAEE3E744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Slide Number Placeholder 2"/>
          <p:cNvSpPr/>
          <p:nvPr/>
        </p:nvSpPr>
        <p:spPr>
          <a:xfrm>
            <a:off x="6946920" y="6525720"/>
            <a:ext cx="226152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ctr">
            <a:noAutofit/>
          </a:bodyPr>
          <a:p>
            <a:pPr algn="r" defTabSz="956160">
              <a:lnSpc>
                <a:spcPct val="100000"/>
              </a:lnSpc>
            </a:pPr>
            <a:fld id="{6324D0CB-ADAF-423B-9B89-6CF03BDBA61B}" type="slidenum">
              <a:rPr b="0" lang="en-US" sz="13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CA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Rectangle 23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TextBox 24"/>
          <p:cNvSpPr/>
          <p:nvPr/>
        </p:nvSpPr>
        <p:spPr>
          <a:xfrm>
            <a:off x="161640" y="1005840"/>
            <a:ext cx="9369720" cy="60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Sources of variability </a:t>
            </a:r>
            <a:r>
              <a:rPr b="1" lang="en-US" sz="20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</a:rPr>
              <a:t>include all those of cell culture experiments +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Age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Sex 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Environment (light, cage size, chow, noise, number of animal per cage, etc…)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Different operator/staff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 </a:t>
            </a:r>
            <a:r>
              <a:rPr b="1" lang="en-US" sz="18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</a:rPr>
              <a:t>Inter-animal variability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c00000"/>
                </a:solidFill>
                <a:latin typeface="Calibri"/>
              </a:rPr>
              <a:t>When multiple independent sources of variation are present, the variance of the measurement is influenced by all sources of variances.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If transplanting/grafting, what strains?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isogenic/syngeneic? (same genetic material)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with or without functional immune system? (SCID, nude)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0"/>
              </a:tabLst>
            </a:pP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How many animal per group?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feasibility (time, $)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variability of the parameter you are investigating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pilot or not?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expected size of the effect?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statistical power needed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9C90E80-3192-4D0C-89F8-C65676813603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49" dur="indefinite" restart="never" nodeType="tmRoot">
          <p:childTnLst>
            <p:seq>
              <p:cTn id="550" dur="indefinite" nodeType="mainSeq">
                <p:childTnLst>
                  <p:par>
                    <p:cTn id="551" fill="hold">
                      <p:stCondLst>
                        <p:cond delay="indefinite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3" fill="hold">
                      <p:stCondLst>
                        <p:cond delay="indefinite"/>
                      </p:stCondLst>
                      <p:childTnLst>
                        <p:par>
                          <p:cTn id="564" fill="hold">
                            <p:stCondLst>
                              <p:cond delay="0"/>
                            </p:stCondLst>
                            <p:childTnLst>
                              <p:par>
                                <p:cTn id="5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7" fill="hold">
                      <p:stCondLst>
                        <p:cond delay="indefinite"/>
                      </p:stCondLst>
                      <p:childTnLst>
                        <p:par>
                          <p:cTn id="568" fill="hold">
                            <p:stCondLst>
                              <p:cond delay="0"/>
                            </p:stCondLst>
                            <p:childTnLst>
                              <p:par>
                                <p:cTn id="5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1" fill="hold">
                      <p:stCondLst>
                        <p:cond delay="indefinite"/>
                      </p:stCondLst>
                      <p:childTnLst>
                        <p:par>
                          <p:cTn id="572" fill="hold">
                            <p:stCondLst>
                              <p:cond delay="0"/>
                            </p:stCondLst>
                            <p:childTnLst>
                              <p:par>
                                <p:cTn id="5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7" fill="hold">
                      <p:stCondLst>
                        <p:cond delay="indefinite"/>
                      </p:stCondLst>
                      <p:childTnLst>
                        <p:par>
                          <p:cTn id="578" fill="hold">
                            <p:stCondLst>
                              <p:cond delay="0"/>
                            </p:stCondLst>
                            <p:childTnLst>
                              <p:par>
                                <p:cTn id="5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1" fill="hold">
                      <p:stCondLst>
                        <p:cond delay="indefinite"/>
                      </p:stCondLst>
                      <p:childTnLst>
                        <p:par>
                          <p:cTn id="582" fill="hold">
                            <p:stCondLst>
                              <p:cond delay="0"/>
                            </p:stCondLst>
                            <p:childTnLst>
                              <p:par>
                                <p:cTn id="5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Study design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animal model experiments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Rectangle 3"/>
          <p:cNvSpPr/>
          <p:nvPr/>
        </p:nvSpPr>
        <p:spPr>
          <a:xfrm>
            <a:off x="503280" y="1234440"/>
            <a:ext cx="8762760" cy="32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Types of replicates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1. assay or replicates (same cell pellet assayed X time)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2. experimental replicates (number of animal per group)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3. biological replicates (different strain or animal models?)</a:t>
            </a:r>
            <a:r>
              <a:rPr b="0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478080" indent="-478080" defTabSz="956160">
              <a:lnSpc>
                <a:spcPct val="100000"/>
              </a:lnSpc>
              <a:buClr>
                <a:srgbClr val="376092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lang="en-US" sz="20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Need for blocking?</a:t>
            </a: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If too many animals to process all in one day, may need to divide the experiment </a:t>
            </a:r>
            <a:br>
              <a:rPr sz="1800"/>
            </a:b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in smaller blocks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	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Within litter experiment? (transgenic </a:t>
            </a:r>
            <a:r>
              <a:rPr b="0" lang="en-US" sz="1800" spc="-1" strike="noStrike" baseline="30000">
                <a:solidFill>
                  <a:schemeClr val="accent1">
                    <a:lumMod val="50000"/>
                  </a:schemeClr>
                </a:solidFill>
                <a:latin typeface="Calibri"/>
              </a:rPr>
              <a:t>+/-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vs. within litter </a:t>
            </a:r>
            <a:r>
              <a:rPr b="0" lang="en-US" sz="1800" spc="-1" strike="noStrike" baseline="30000">
                <a:solidFill>
                  <a:schemeClr val="accent1">
                    <a:lumMod val="50000"/>
                  </a:schemeClr>
                </a:solidFill>
                <a:latin typeface="Calibri"/>
              </a:rPr>
              <a:t>+/+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or </a:t>
            </a:r>
            <a:r>
              <a:rPr b="0" lang="en-US" sz="1800" spc="-1" strike="noStrike" baseline="30000">
                <a:solidFill>
                  <a:schemeClr val="accent1">
                    <a:lumMod val="50000"/>
                  </a:schemeClr>
                </a:solidFill>
                <a:latin typeface="Calibri"/>
              </a:rPr>
              <a:t>-/-</a:t>
            </a: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)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marL="956160" indent="-478080" defTabSz="956160">
              <a:lnSpc>
                <a:spcPct val="100000"/>
              </a:lnSpc>
              <a:tabLst>
                <a:tab algn="l" pos="0"/>
              </a:tabLst>
            </a:pPr>
            <a:endParaRPr b="0" lang="en-CA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F77A9E8-1741-47C3-B08E-A225EBE52366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Animal studies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EDI considerations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6" name="TextBox 3"/>
          <p:cNvSpPr/>
          <p:nvPr/>
        </p:nvSpPr>
        <p:spPr>
          <a:xfrm>
            <a:off x="323280" y="1877400"/>
            <a:ext cx="8885160" cy="55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Is sex known to affect your measure of interest? (review the literature)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If unknown, include both sexes and explore sex effects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Design so there is sufficient power to include sex as a variable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If yes, sex really should be considered during study design and analyses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  <a:tabLst>
                <a:tab algn="l" pos="36576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There should be sufficient power to do sex-segregated analyses 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36576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  <a:tabLst>
                <a:tab algn="l" pos="365760"/>
              </a:tabLst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Grant proposals now require an entire section on how sex and gender 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(gender not an issue in animal studies) will be considered in the proposed </a:t>
            </a:r>
            <a:br>
              <a:rPr sz="2100"/>
            </a:b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  research.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36576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  <a:tabLst>
                <a:tab algn="l" pos="365760"/>
              </a:tabLst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4"/>
          <p:cNvSpPr/>
          <p:nvPr/>
        </p:nvSpPr>
        <p:spPr>
          <a:xfrm>
            <a:off x="-443880" y="970200"/>
            <a:ext cx="9286560" cy="85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Why is it important to study sex?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How can your study design ensure that sex is considered?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Rounded Rectangle 16"/>
          <p:cNvSpPr/>
          <p:nvPr/>
        </p:nvSpPr>
        <p:spPr>
          <a:xfrm>
            <a:off x="2286360" y="5389560"/>
            <a:ext cx="5912640" cy="151020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5616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</a:rPr>
              <a:t>Common mistake:</a:t>
            </a:r>
            <a:endParaRPr b="0" lang="en-CA" sz="2000" spc="-1" strike="noStrike">
              <a:solidFill>
                <a:srgbClr val="ffffff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</a:rPr>
              <a:t>Assuming that it is acceptable to not address it because that is how research has always been</a:t>
            </a:r>
            <a:endParaRPr b="0" lang="en-CA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A4587CF-DB00-4651-AF7A-13AFF256EB66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3" dur="indefinite" restart="never" nodeType="tmRoot">
          <p:childTnLst>
            <p:seq>
              <p:cTn id="594" dur="indefinite" nodeType="mainSeq">
                <p:childTnLst>
                  <p:par>
                    <p:cTn id="595" fill="hold">
                      <p:stCondLst>
                        <p:cond delay="indefinite"/>
                      </p:stCondLst>
                      <p:childTnLst>
                        <p:par>
                          <p:cTn id="596" fill="hold">
                            <p:stCondLst>
                              <p:cond delay="0"/>
                            </p:stCondLst>
                            <p:childTnLst>
                              <p:par>
                                <p:cTn id="5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9" fill="hold">
                      <p:stCondLst>
                        <p:cond delay="indefinite"/>
                      </p:stCondLst>
                      <p:childTnLst>
                        <p:par>
                          <p:cTn id="600" fill="hold">
                            <p:stCondLst>
                              <p:cond delay="0"/>
                            </p:stCondLst>
                            <p:childTnLst>
                              <p:par>
                                <p:cTn id="6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3" fill="hold">
                      <p:stCondLst>
                        <p:cond delay="indefinite"/>
                      </p:stCondLst>
                      <p:childTnLst>
                        <p:par>
                          <p:cTn id="604" fill="hold">
                            <p:stCondLst>
                              <p:cond delay="0"/>
                            </p:stCondLst>
                            <p:childTnLst>
                              <p:par>
                                <p:cTn id="6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7" fill="hold">
                      <p:stCondLst>
                        <p:cond delay="indefinite"/>
                      </p:stCondLst>
                      <p:childTnLst>
                        <p:par>
                          <p:cTn id="608" fill="hold">
                            <p:stCondLst>
                              <p:cond delay="0"/>
                            </p:stCondLst>
                            <p:childTnLst>
                              <p:par>
                                <p:cTn id="6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1" fill="hold">
                      <p:stCondLst>
                        <p:cond delay="indefinite"/>
                      </p:stCondLst>
                      <p:childTnLst>
                        <p:par>
                          <p:cTn id="612" fill="hold">
                            <p:stCondLst>
                              <p:cond delay="0"/>
                            </p:stCondLst>
                            <p:childTnLst>
                              <p:par>
                                <p:cTn id="6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5" fill="hold">
                      <p:stCondLst>
                        <p:cond delay="indefinite"/>
                      </p:stCondLst>
                      <p:childTnLst>
                        <p:par>
                          <p:cTn id="616" fill="hold">
                            <p:stCondLst>
                              <p:cond delay="0"/>
                            </p:stCondLst>
                            <p:childTnLst>
                              <p:par>
                                <p:cTn id="6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9" fill="hold">
                      <p:stCondLst>
                        <p:cond delay="indefinite"/>
                      </p:stCondLst>
                      <p:childTnLst>
                        <p:par>
                          <p:cTn id="620" fill="hold">
                            <p:stCondLst>
                              <p:cond delay="0"/>
                            </p:stCondLst>
                            <p:childTnLst>
                              <p:par>
                                <p:cTn id="6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3" fill="hold">
                      <p:stCondLst>
                        <p:cond delay="indefinite"/>
                      </p:stCondLst>
                      <p:childTnLst>
                        <p:par>
                          <p:cTn id="624" fill="hold">
                            <p:stCondLst>
                              <p:cond delay="0"/>
                            </p:stCondLst>
                            <p:childTnLst>
                              <p:par>
                                <p:cTn id="6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Animal studies – </a:t>
            </a:r>
            <a:r>
              <a:rPr b="0" lang="en-US" sz="2900" spc="-1" strike="noStrike">
                <a:solidFill>
                  <a:schemeClr val="lt1"/>
                </a:solidFill>
                <a:latin typeface="Calibri"/>
              </a:rPr>
              <a:t>types of studies </a:t>
            </a:r>
            <a:endParaRPr b="0" lang="en-CA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Box 3"/>
          <p:cNvSpPr/>
          <p:nvPr/>
        </p:nvSpPr>
        <p:spPr>
          <a:xfrm>
            <a:off x="-106920" y="1680120"/>
            <a:ext cx="7905240" cy="47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Cross-sectional (treated vs. untreated) at a single time point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Longitudinal (treated vs. untreated), (more powerful)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Collect data at baseline and at the end of treatment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1" marL="478080" indent="-216000" defTabSz="956160">
              <a:lnSpc>
                <a:spcPct val="100000"/>
              </a:lnSpc>
              <a:buClr>
                <a:srgbClr val="254061"/>
              </a:buClr>
              <a:buFont typeface="OpenSymbol"/>
              <a:buChar char="-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Collect data at several intervals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3" marL="1434240" indent="-216000" defTabSz="956160">
              <a:lnSpc>
                <a:spcPct val="100000"/>
              </a:lnSpc>
              <a:buClr>
                <a:srgbClr val="254061"/>
              </a:buClr>
              <a:buFont typeface="Arial"/>
              <a:buChar char="•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serial measures on the same animals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lvl="3" marL="1434240" indent="-216000" defTabSz="956160">
              <a:lnSpc>
                <a:spcPct val="100000"/>
              </a:lnSpc>
              <a:buClr>
                <a:srgbClr val="254061"/>
              </a:buClr>
              <a:buFont typeface="Arial"/>
              <a:buChar char="•"/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drop-out studies if tissue collection required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Dose-response (cross-sectional or longitudinal)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marL="478080" defTabSz="956160">
              <a:lnSpc>
                <a:spcPct val="100000"/>
              </a:lnSpc>
            </a:pPr>
            <a:r>
              <a:rPr b="0" lang="en-US" sz="18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- study different doses of the treatment</a:t>
            </a:r>
            <a:endParaRPr b="0" lang="en-CA" sz="18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indent="-216000" defTabSz="956160">
              <a:lnSpc>
                <a:spcPct val="100000"/>
              </a:lnSpc>
              <a:buClr>
                <a:srgbClr val="254061"/>
              </a:buClr>
              <a:buFont typeface="Wingdings" charset="2"/>
              <a:buChar char=""/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  </a:t>
            </a: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Any use of historical data?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4"/>
          <p:cNvSpPr/>
          <p:nvPr/>
        </p:nvSpPr>
        <p:spPr>
          <a:xfrm>
            <a:off x="-476640" y="1128240"/>
            <a:ext cx="987912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1" lang="en-US" sz="25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What type of study will most efficiently test your hypothesis?</a:t>
            </a:r>
            <a:endParaRPr b="0" lang="en-CA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5"/>
          <p:cNvSpPr/>
          <p:nvPr/>
        </p:nvSpPr>
        <p:spPr>
          <a:xfrm>
            <a:off x="-197640" y="5710680"/>
            <a:ext cx="8504640" cy="10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Then determine the sample size you need to have sufficient power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21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Unless very simple, may want to talk to a biostatistician</a:t>
            </a:r>
            <a:endParaRPr b="0" lang="en-CA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339D1FF-EB13-4040-B64C-53CB35B0DAF1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27" dur="indefinite" restart="never" nodeType="tmRoot">
          <p:childTnLst>
            <p:seq>
              <p:cTn id="628" dur="indefinite" nodeType="mainSeq">
                <p:childTnLst>
                  <p:par>
                    <p:cTn id="629" fill="hold">
                      <p:stCondLst>
                        <p:cond delay="indefinite"/>
                      </p:stCondLst>
                      <p:childTnLst>
                        <p:par>
                          <p:cTn id="630" fill="hold">
                            <p:stCondLst>
                              <p:cond delay="0"/>
                            </p:stCondLst>
                            <p:childTnLst>
                              <p:par>
                                <p:cTn id="6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3" fill="hold">
                      <p:stCondLst>
                        <p:cond delay="indefinite"/>
                      </p:stCondLst>
                      <p:childTnLst>
                        <p:par>
                          <p:cTn id="634" fill="hold">
                            <p:stCondLst>
                              <p:cond delay="0"/>
                            </p:stCondLst>
                            <p:childTnLst>
                              <p:par>
                                <p:cTn id="6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5" fill="hold">
                      <p:stCondLst>
                        <p:cond delay="indefinite"/>
                      </p:stCondLst>
                      <p:childTnLst>
                        <p:par>
                          <p:cTn id="646" fill="hold">
                            <p:stCondLst>
                              <p:cond delay="0"/>
                            </p:stCondLst>
                            <p:childTnLst>
                              <p:par>
                                <p:cTn id="6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9" fill="hold">
                      <p:stCondLst>
                        <p:cond delay="indefinite"/>
                      </p:stCondLst>
                      <p:childTnLst>
                        <p:par>
                          <p:cTn id="650" fill="hold">
                            <p:stCondLst>
                              <p:cond delay="0"/>
                            </p:stCondLst>
                            <p:childTnLst>
                              <p:par>
                                <p:cTn id="6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3" fill="hold">
                      <p:stCondLst>
                        <p:cond delay="indefinite"/>
                      </p:stCondLst>
                      <p:childTnLst>
                        <p:par>
                          <p:cTn id="654" fill="hold">
                            <p:stCondLst>
                              <p:cond delay="0"/>
                            </p:stCondLst>
                            <p:childTnLst>
                              <p:par>
                                <p:cTn id="6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7" fill="hold">
                      <p:stCondLst>
                        <p:cond delay="indefinite"/>
                      </p:stCondLst>
                      <p:childTnLst>
                        <p:par>
                          <p:cTn id="658" fill="hold">
                            <p:stCondLst>
                              <p:cond delay="0"/>
                            </p:stCondLst>
                            <p:childTnLst>
                              <p:par>
                                <p:cTn id="6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Rectangle 2"/>
          <p:cNvSpPr/>
          <p:nvPr/>
        </p:nvSpPr>
        <p:spPr>
          <a:xfrm>
            <a:off x="0" y="0"/>
            <a:ext cx="9693000" cy="86004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rgbClr val="4f81bd">
                <a:lumMod val="5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5760" rIns="95760" tIns="47880" bIns="47880" anchor="ctr">
            <a:noAutofit/>
          </a:bodyPr>
          <a:p>
            <a:pPr defTabSz="956160">
              <a:lnSpc>
                <a:spcPct val="100000"/>
              </a:lnSpc>
            </a:pP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  </a:t>
            </a:r>
            <a:r>
              <a:rPr b="1" lang="en-US" sz="3300" spc="-1" strike="noStrike">
                <a:solidFill>
                  <a:schemeClr val="lt1"/>
                </a:solidFill>
                <a:latin typeface="Calibri"/>
              </a:rPr>
              <a:t>Animal studies – </a:t>
            </a:r>
            <a:r>
              <a:rPr b="0" lang="en-US" sz="3300" spc="-1" strike="noStrike">
                <a:solidFill>
                  <a:schemeClr val="lt1"/>
                </a:solidFill>
                <a:latin typeface="Calibri"/>
              </a:rPr>
              <a:t>resources</a:t>
            </a:r>
            <a:endParaRPr b="0" lang="en-CA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Rectangle 3"/>
          <p:cNvSpPr/>
          <p:nvPr/>
        </p:nvSpPr>
        <p:spPr>
          <a:xfrm>
            <a:off x="565560" y="1234440"/>
            <a:ext cx="7996680" cy="393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Festing MFW &amp; Altman DG. Guidelines for the design and statistical analysis of experiments using laboratory animals.  ILAR Journal (2002) 43(4): 244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  <a:hlinkClick r:id="rId1"/>
              </a:rPr>
              <a:t>http://www.3rs-reduction.co.uk/assets/applets/Festing_Altman.pdf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Hooijmans CR et al., A Gold Standard Publication Checklist to Improve the Quality of Animal Studies, to Fully Integrate the Three Rs, and to Make Systematic Reviews More Feasible. (2010) ATLA 38:167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 u="sng">
                <a:solidFill>
                  <a:schemeClr val="accent1">
                    <a:lumMod val="50000"/>
                  </a:schemeClr>
                </a:solidFill>
                <a:uFillTx/>
                <a:latin typeface="Calibri"/>
                <a:hlinkClick r:id="rId2"/>
              </a:rPr>
              <a:t>file:///C:/Documents%20and%20Settings/hcote/My%20Documents/Downloads/Hoojimans%20FINAL.pdf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Rectangle 4"/>
          <p:cNvSpPr/>
          <p:nvPr/>
        </p:nvSpPr>
        <p:spPr>
          <a:xfrm>
            <a:off x="646200" y="5163120"/>
            <a:ext cx="872352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5760" rIns="95760" tIns="47880" bIns="47880" anchor="t">
            <a:spAutoFit/>
          </a:bodyPr>
          <a:p>
            <a:pPr defTabSz="956160">
              <a:lnSpc>
                <a:spcPct val="100000"/>
              </a:lnSpc>
            </a:pPr>
            <a:r>
              <a:rPr b="0" lang="en-US" sz="1900" spc="-1" strike="noStrike">
                <a:solidFill>
                  <a:schemeClr val="accent1">
                    <a:lumMod val="50000"/>
                  </a:schemeClr>
                </a:solidFill>
                <a:latin typeface="Calibri"/>
              </a:rPr>
              <a:t>Design of experiments via factorial designs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r>
              <a:rPr b="0" lang="en-US" sz="1900" spc="-1" strike="noStrike" u="sng">
                <a:solidFill>
                  <a:schemeClr val="dk1"/>
                </a:solidFill>
                <a:uFillTx/>
                <a:latin typeface="Calibri"/>
                <a:hlinkClick r:id="rId3"/>
              </a:rPr>
              <a:t>https://controls.engin.umich.edu/wiki/index.php/Design_of_experiments_via_factorial_designs</a:t>
            </a: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  <a:p>
            <a:pPr defTabSz="956160">
              <a:lnSpc>
                <a:spcPct val="100000"/>
              </a:lnSpc>
            </a:pPr>
            <a:endParaRPr b="0" lang="en-CA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807CA01-C01E-4423-ACA2-EF083AEC0ADF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57388</TotalTime>
  <Application>LibreOffice/24.2.7.2$Linux_X86_64 LibreOffice_project/420$Build-2</Application>
  <AppVersion>15.0000</AppVersion>
  <Words>4926</Words>
  <Paragraphs>847</Paragraphs>
  <Company>UBC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2014-03-17T21:51:02Z</dcterms:created>
  <dc:creator>hcote</dc:creator>
  <dc:description/>
  <dc:language>en-CA</dc:language>
  <cp:lastModifiedBy>Cote, Helene</cp:lastModifiedBy>
  <cp:lastPrinted>2015-05-07T17:08:42Z</cp:lastPrinted>
  <dcterms:modified xsi:type="dcterms:W3CDTF">2026-05-07T18:29:48Z</dcterms:modified>
  <cp:revision>1746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Custom</vt:lpwstr>
  </property>
  <property fmtid="{D5CDD505-2E9C-101B-9397-08002B2CF9AE}" pid="4" name="Slides">
    <vt:i4>45</vt:i4>
  </property>
</Properties>
</file>