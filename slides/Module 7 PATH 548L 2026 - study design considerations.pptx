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282" r:id="rId3"/>
    <p:sldId id="351" r:id="rId4"/>
    <p:sldId id="286" r:id="rId5"/>
    <p:sldId id="288" r:id="rId6"/>
    <p:sldId id="289" r:id="rId7"/>
    <p:sldId id="290" r:id="rId8"/>
    <p:sldId id="334" r:id="rId9"/>
    <p:sldId id="335" r:id="rId10"/>
    <p:sldId id="291" r:id="rId11"/>
    <p:sldId id="293" r:id="rId12"/>
    <p:sldId id="294" r:id="rId13"/>
    <p:sldId id="319" r:id="rId14"/>
    <p:sldId id="360" r:id="rId15"/>
    <p:sldId id="342" r:id="rId16"/>
    <p:sldId id="332" r:id="rId17"/>
    <p:sldId id="304" r:id="rId18"/>
    <p:sldId id="306" r:id="rId19"/>
    <p:sldId id="327" r:id="rId20"/>
    <p:sldId id="328" r:id="rId21"/>
    <p:sldId id="350" r:id="rId22"/>
    <p:sldId id="307" r:id="rId23"/>
    <p:sldId id="308" r:id="rId24"/>
    <p:sldId id="309" r:id="rId25"/>
    <p:sldId id="344" r:id="rId26"/>
    <p:sldId id="345" r:id="rId27"/>
    <p:sldId id="347" r:id="rId28"/>
    <p:sldId id="346" r:id="rId29"/>
    <p:sldId id="336" r:id="rId30"/>
    <p:sldId id="305" r:id="rId31"/>
    <p:sldId id="315" r:id="rId32"/>
    <p:sldId id="317" r:id="rId33"/>
    <p:sldId id="333" r:id="rId34"/>
    <p:sldId id="318" r:id="rId35"/>
    <p:sldId id="322" r:id="rId36"/>
    <p:sldId id="314" r:id="rId37"/>
    <p:sldId id="325" r:id="rId38"/>
    <p:sldId id="316" r:id="rId39"/>
    <p:sldId id="323" r:id="rId40"/>
    <p:sldId id="324" r:id="rId41"/>
    <p:sldId id="310" r:id="rId42"/>
    <p:sldId id="348" r:id="rId43"/>
    <p:sldId id="359" r:id="rId44"/>
    <p:sldId id="311" r:id="rId45"/>
    <p:sldId id="331" r:id="rId46"/>
  </p:sldIdLst>
  <p:sldSz cx="9693275" cy="7040563"/>
  <p:notesSz cx="9236075" cy="7010400"/>
  <p:defaultTextStyle>
    <a:defPPr>
      <a:defRPr lang="en-US"/>
    </a:defPPr>
    <a:lvl1pPr marL="0" algn="l" defTabSz="95618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8094" algn="l" defTabSz="95618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6188" algn="l" defTabSz="95618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34282" algn="l" defTabSz="95618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12376" algn="l" defTabSz="95618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90470" algn="l" defTabSz="95618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68564" algn="l" defTabSz="95618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46658" algn="l" defTabSz="95618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24752" algn="l" defTabSz="95618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34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>
          <p15:clr>
            <a:srgbClr val="A4A3A4"/>
          </p15:clr>
        </p15:guide>
        <p15:guide id="2" pos="29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6092"/>
    <a:srgbClr val="4F6228"/>
    <a:srgbClr val="FF0000"/>
    <a:srgbClr val="4A7EBB"/>
    <a:srgbClr val="254061"/>
    <a:srgbClr val="F57C6F"/>
    <a:srgbClr val="000000"/>
    <a:srgbClr val="6489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7" autoAdjust="0"/>
    <p:restoredTop sz="99757" autoAdjust="0"/>
  </p:normalViewPr>
  <p:slideViewPr>
    <p:cSldViewPr>
      <p:cViewPr varScale="1">
        <p:scale>
          <a:sx n="89" d="100"/>
          <a:sy n="89" d="100"/>
        </p:scale>
        <p:origin x="90" y="396"/>
      </p:cViewPr>
      <p:guideLst>
        <p:guide orient="horz" pos="4434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107" d="100"/>
          <a:sy n="107" d="100"/>
        </p:scale>
        <p:origin x="-666" y="-84"/>
      </p:cViewPr>
      <p:guideLst>
        <p:guide orient="horz" pos="2208"/>
        <p:guide pos="29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MACDATAFILE%20on%20P%20drive\Helene%20Public\MTDNA\QUALITY%20%20CONTROL\QC-Short%20Dloop\QC_New-DLoop_24-Apr-2014_b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STAT%20course\course%20examples-3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STAT%20course\course%20examples-3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STAT%20course\course%20examples-3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STAT%20course\course%20examples-3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STAT%20course\course%20examples-3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STAT%20course\course%20examples-3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PATH%20548C%20course\Excel%20examples\course%20examples-3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STAT%20course\course%20examples-3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STAT%20course\course%20examples-3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STAT%20course\course%20examples-3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STAT%20course\course%20examples-3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STAT%20course\course%20examples-3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STAT%20course\course%20examples-3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STAT%20course\course%20examples-3.xlsx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STAT%20course\course%20examples-3.xlsx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STAT%20course\course%20examples-3.xlsx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STAT%20course\course%20examples-3.xlsx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PATH%20548C%20course\Excel%20examples\course%20examples-3.xlsx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PATH%20548C%20course\Excel%20examples\course%20examples-3.xlsx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\\fomsrv054\PathPdrive\CoteLab\Helene%20Private\Oct%2031%202009\Pathology\Teaching\PATH%20548C%20course\Excel%20examples\correlation%20exampl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650829789089335"/>
          <c:y val="0.18750000000000044"/>
          <c:w val="0.76389036902120733"/>
          <c:h val="0.61562500000000309"/>
        </c:manualLayout>
      </c:layout>
      <c:scatterChart>
        <c:scatterStyle val="lineMarker"/>
        <c:varyColors val="0"/>
        <c:ser>
          <c:idx val="0"/>
          <c:order val="0"/>
          <c:tx>
            <c:strRef>
              <c:f>'Values(old LC)'!$O$31</c:f>
              <c:strCache>
                <c:ptCount val="1"/>
                <c:pt idx="0">
                  <c:v>JEG 200mM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'Values(old LC)'!$A$32:$A$142</c:f>
              <c:numCache>
                <c:formatCode>General</c:formatCode>
                <c:ptCount val="1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</c:numCache>
            </c:numRef>
          </c:xVal>
          <c:yVal>
            <c:numRef>
              <c:f>'Values(old LC)'!$O$32:$O$142</c:f>
              <c:numCache>
                <c:formatCode>_(* #,##0_);_(* \(#,##0\);_(* "-"??_);_(@_)</c:formatCode>
                <c:ptCount val="111"/>
                <c:pt idx="0">
                  <c:v>100250</c:v>
                </c:pt>
                <c:pt idx="1">
                  <c:v>101500</c:v>
                </c:pt>
                <c:pt idx="2">
                  <c:v>90600</c:v>
                </c:pt>
                <c:pt idx="3">
                  <c:v>128000</c:v>
                </c:pt>
                <c:pt idx="5">
                  <c:v>92000</c:v>
                </c:pt>
                <c:pt idx="6">
                  <c:v>85350</c:v>
                </c:pt>
                <c:pt idx="8">
                  <c:v>105500</c:v>
                </c:pt>
                <c:pt idx="9">
                  <c:v>112000</c:v>
                </c:pt>
                <c:pt idx="10">
                  <c:v>85800</c:v>
                </c:pt>
                <c:pt idx="11">
                  <c:v>103000</c:v>
                </c:pt>
                <c:pt idx="12">
                  <c:v>83100</c:v>
                </c:pt>
                <c:pt idx="13">
                  <c:v>83000</c:v>
                </c:pt>
                <c:pt idx="14">
                  <c:v>109000</c:v>
                </c:pt>
                <c:pt idx="15">
                  <c:v>87400</c:v>
                </c:pt>
                <c:pt idx="16">
                  <c:v>81400</c:v>
                </c:pt>
                <c:pt idx="17">
                  <c:v>89100</c:v>
                </c:pt>
                <c:pt idx="18">
                  <c:v>102000</c:v>
                </c:pt>
                <c:pt idx="19">
                  <c:v>153000</c:v>
                </c:pt>
                <c:pt idx="20">
                  <c:v>95500</c:v>
                </c:pt>
                <c:pt idx="21">
                  <c:v>112000</c:v>
                </c:pt>
                <c:pt idx="22">
                  <c:v>160000</c:v>
                </c:pt>
                <c:pt idx="23">
                  <c:v>143000</c:v>
                </c:pt>
                <c:pt idx="28">
                  <c:v>90900</c:v>
                </c:pt>
                <c:pt idx="29">
                  <c:v>94900</c:v>
                </c:pt>
                <c:pt idx="30">
                  <c:v>95900</c:v>
                </c:pt>
                <c:pt idx="31">
                  <c:v>99000</c:v>
                </c:pt>
                <c:pt idx="32">
                  <c:v>121000</c:v>
                </c:pt>
                <c:pt idx="33">
                  <c:v>99100</c:v>
                </c:pt>
                <c:pt idx="34">
                  <c:v>96700</c:v>
                </c:pt>
                <c:pt idx="35">
                  <c:v>78600</c:v>
                </c:pt>
                <c:pt idx="36">
                  <c:v>83400</c:v>
                </c:pt>
                <c:pt idx="37">
                  <c:v>70100</c:v>
                </c:pt>
                <c:pt idx="40">
                  <c:v>199000</c:v>
                </c:pt>
                <c:pt idx="41">
                  <c:v>185000</c:v>
                </c:pt>
                <c:pt idx="42">
                  <c:v>109000</c:v>
                </c:pt>
                <c:pt idx="43">
                  <c:v>93800</c:v>
                </c:pt>
                <c:pt idx="44">
                  <c:v>83100</c:v>
                </c:pt>
                <c:pt idx="45">
                  <c:v>78300</c:v>
                </c:pt>
                <c:pt idx="46">
                  <c:v>64000</c:v>
                </c:pt>
                <c:pt idx="47">
                  <c:v>71700</c:v>
                </c:pt>
                <c:pt idx="48">
                  <c:v>65800</c:v>
                </c:pt>
                <c:pt idx="49">
                  <c:v>72100</c:v>
                </c:pt>
                <c:pt idx="50">
                  <c:v>65600</c:v>
                </c:pt>
                <c:pt idx="51">
                  <c:v>72000</c:v>
                </c:pt>
                <c:pt idx="52">
                  <c:v>86900</c:v>
                </c:pt>
                <c:pt idx="53">
                  <c:v>87500</c:v>
                </c:pt>
                <c:pt idx="58">
                  <c:v>65500</c:v>
                </c:pt>
                <c:pt idx="62">
                  <c:v>93900</c:v>
                </c:pt>
                <c:pt idx="63">
                  <c:v>96400</c:v>
                </c:pt>
                <c:pt idx="70">
                  <c:v>67550</c:v>
                </c:pt>
                <c:pt idx="75">
                  <c:v>83200</c:v>
                </c:pt>
                <c:pt idx="76">
                  <c:v>86850</c:v>
                </c:pt>
                <c:pt idx="77">
                  <c:v>119500</c:v>
                </c:pt>
                <c:pt idx="80">
                  <c:v>109200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26D-4050-8B86-62BCFE1E704C}"/>
            </c:ext>
          </c:extLst>
        </c:ser>
        <c:ser>
          <c:idx val="1"/>
          <c:order val="1"/>
          <c:tx>
            <c:strRef>
              <c:f>'Values(old LC)'!$E$22</c:f>
              <c:strCache>
                <c:ptCount val="1"/>
                <c:pt idx="0">
                  <c:v>avg</c:v>
                </c:pt>
              </c:strCache>
            </c:strRef>
          </c:tx>
          <c:spPr>
            <a:ln w="28575">
              <a:noFill/>
            </a:ln>
          </c:spPr>
          <c:marker>
            <c:symbol val="square"/>
            <c:size val="6"/>
            <c:spPr>
              <a:solidFill>
                <a:srgbClr val="FF00FF"/>
              </a:solidFill>
              <a:ln>
                <a:solidFill>
                  <a:srgbClr val="FF00FF"/>
                </a:solidFill>
                <a:prstDash val="solid"/>
              </a:ln>
            </c:spPr>
          </c:marker>
          <c:xVal>
            <c:numLit>
              <c:formatCode>General</c:formatCode>
              <c:ptCount val="1"/>
              <c:pt idx="0">
                <c:v>0</c:v>
              </c:pt>
            </c:numLit>
          </c:xVal>
          <c:yVal>
            <c:numRef>
              <c:f>'Values(old LC)'!$O$22</c:f>
              <c:numCache>
                <c:formatCode>_(* #,##0_);_(* \(#,##0\);_(* "-"??_);_(@_)</c:formatCode>
                <c:ptCount val="1"/>
                <c:pt idx="0">
                  <c:v>97925.925925925927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26D-4050-8B86-62BCFE1E704C}"/>
            </c:ext>
          </c:extLst>
        </c:ser>
        <c:ser>
          <c:idx val="2"/>
          <c:order val="2"/>
          <c:tx>
            <c:strRef>
              <c:f>'Values(old LC)'!$E$26</c:f>
              <c:strCache>
                <c:ptCount val="1"/>
                <c:pt idx="0">
                  <c:v>highest accepted</c:v>
                </c:pt>
              </c:strCache>
            </c:strRef>
          </c:tx>
          <c:spPr>
            <a:ln w="28575">
              <a:noFill/>
            </a:ln>
          </c:spPr>
          <c:marker>
            <c:symbol val="x"/>
            <c:size val="6"/>
            <c:spPr>
              <a:solidFill>
                <a:srgbClr val="FFFF00"/>
              </a:solidFill>
              <a:ln>
                <a:solidFill>
                  <a:srgbClr val="FFFF00"/>
                </a:solidFill>
                <a:prstDash val="solid"/>
              </a:ln>
            </c:spPr>
          </c:marker>
          <c:xVal>
            <c:numLit>
              <c:formatCode>General</c:formatCode>
              <c:ptCount val="1"/>
              <c:pt idx="0">
                <c:v>0</c:v>
              </c:pt>
            </c:numLit>
          </c:xVal>
          <c:yVal>
            <c:numRef>
              <c:f>'Values(old LC)'!$O$26</c:f>
              <c:numCache>
                <c:formatCode>_(* #,##0_);_(* \(#,##0\);_(* "-"??_);_(@_)</c:formatCode>
                <c:ptCount val="1"/>
                <c:pt idx="0">
                  <c:v>153330.92788232828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26D-4050-8B86-62BCFE1E704C}"/>
            </c:ext>
          </c:extLst>
        </c:ser>
        <c:ser>
          <c:idx val="3"/>
          <c:order val="3"/>
          <c:tx>
            <c:strRef>
              <c:f>'Values(old LC)'!$E$27</c:f>
              <c:strCache>
                <c:ptCount val="1"/>
                <c:pt idx="0">
                  <c:v>lowest accepted</c:v>
                </c:pt>
              </c:strCache>
            </c:strRef>
          </c:tx>
          <c:spPr>
            <a:ln w="28575">
              <a:noFill/>
            </a:ln>
          </c:spPr>
          <c:marker>
            <c:symbol val="square"/>
            <c:size val="6"/>
            <c:spPr>
              <a:solidFill>
                <a:srgbClr val="00FFFF"/>
              </a:solidFill>
              <a:ln>
                <a:solidFill>
                  <a:srgbClr val="00FFFF"/>
                </a:solidFill>
                <a:prstDash val="solid"/>
              </a:ln>
            </c:spPr>
          </c:marker>
          <c:xVal>
            <c:numLit>
              <c:formatCode>General</c:formatCode>
              <c:ptCount val="1"/>
              <c:pt idx="0">
                <c:v>0</c:v>
              </c:pt>
            </c:numLit>
          </c:xVal>
          <c:yVal>
            <c:numRef>
              <c:f>'Values(old LC)'!$O$27</c:f>
              <c:numCache>
                <c:formatCode>_(* #,##0_);_(* \(#,##0\);_(* "-"??_);_(@_)</c:formatCode>
                <c:ptCount val="1"/>
                <c:pt idx="0">
                  <c:v>42520.923969523479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526D-4050-8B86-62BCFE1E7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1448192"/>
        <c:axId val="171491712"/>
      </c:scatterChart>
      <c:valAx>
        <c:axId val="1714481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LC Run</a:t>
                </a:r>
              </a:p>
            </c:rich>
          </c:tx>
          <c:layout>
            <c:manualLayout>
              <c:xMode val="edge"/>
              <c:yMode val="edge"/>
              <c:x val="0.5257946142558968"/>
              <c:y val="0.88749999999999996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71491712"/>
        <c:crosses val="autoZero"/>
        <c:crossBetween val="midCat"/>
      </c:valAx>
      <c:valAx>
        <c:axId val="171491712"/>
        <c:scaling>
          <c:orientation val="minMax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LC Value</a:t>
                </a:r>
              </a:p>
            </c:rich>
          </c:tx>
          <c:layout>
            <c:manualLayout>
              <c:xMode val="edge"/>
              <c:yMode val="edge"/>
              <c:x val="3.1746047492095024E-2"/>
              <c:y val="0.41250000000000031"/>
            </c:manualLayout>
          </c:layout>
          <c:overlay val="0"/>
          <c:spPr>
            <a:noFill/>
            <a:ln w="25400">
              <a:noFill/>
            </a:ln>
          </c:spPr>
        </c:title>
        <c:numFmt formatCode="_(* #,##0_);_(* \(#,##0\);_(* &quot;-&quot;??_);_(@_)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71448192"/>
        <c:crosses val="autoZero"/>
        <c:crossBetween val="midCat"/>
      </c:valAx>
      <c:spPr>
        <a:solidFill>
          <a:srgbClr val="FFFFFF"/>
        </a:solidFill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8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txPr>
        <a:bodyPr/>
        <a:lstStyle/>
        <a:p>
          <a:pPr>
            <a:defRPr b="0"/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#1</c:v>
                </c:pt>
              </c:strCache>
            </c:strRef>
          </c:tx>
          <c:marker>
            <c:symbol val="circle"/>
            <c:size val="7"/>
          </c:marker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Sheet1!$C$3:$C$5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783-4C1C-A81B-F34485C8C6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1777024"/>
        <c:axId val="171783296"/>
      </c:scatterChart>
      <c:valAx>
        <c:axId val="171777024"/>
        <c:scaling>
          <c:orientation val="minMax"/>
          <c:max val="3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1783296"/>
        <c:crosses val="autoZero"/>
        <c:crossBetween val="midCat"/>
      </c:valAx>
      <c:valAx>
        <c:axId val="1717832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71777024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txPr>
        <a:bodyPr/>
        <a:lstStyle/>
        <a:p>
          <a:pPr>
            <a:defRPr b="0"/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Sheet1!$D$2</c:f>
              <c:strCache>
                <c:ptCount val="1"/>
                <c:pt idx="0">
                  <c:v>#2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square"/>
            <c:size val="7"/>
            <c:spPr>
              <a:solidFill>
                <a:srgbClr val="C00000"/>
              </a:solidFill>
              <a:ln>
                <a:noFill/>
              </a:ln>
            </c:spPr>
          </c:marker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Sheet1!$D$3:$D$5</c:f>
              <c:numCache>
                <c:formatCode>General</c:formatCode>
                <c:ptCount val="3"/>
                <c:pt idx="0">
                  <c:v>5</c:v>
                </c:pt>
                <c:pt idx="1">
                  <c:v>8</c:v>
                </c:pt>
                <c:pt idx="2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B40-4333-99D7-B8B9657C25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1815296"/>
        <c:axId val="171817600"/>
      </c:scatterChart>
      <c:valAx>
        <c:axId val="171815296"/>
        <c:scaling>
          <c:orientation val="minMax"/>
          <c:max val="3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1817600"/>
        <c:crosses val="autoZero"/>
        <c:crossBetween val="midCat"/>
      </c:valAx>
      <c:valAx>
        <c:axId val="171817600"/>
        <c:scaling>
          <c:orientation val="minMax"/>
          <c:max val="12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171815296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txPr>
        <a:bodyPr/>
        <a:lstStyle/>
        <a:p>
          <a:pPr>
            <a:defRPr b="0"/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Sheet1!$E$2</c:f>
              <c:strCache>
                <c:ptCount val="1"/>
                <c:pt idx="0">
                  <c:v>#3</c:v>
                </c:pt>
              </c:strCache>
            </c:strRef>
          </c:tx>
          <c:spPr>
            <a:ln>
              <a:solidFill>
                <a:schemeClr val="accent3">
                  <a:lumMod val="75000"/>
                </a:schemeClr>
              </a:solidFill>
            </a:ln>
          </c:spPr>
          <c:marker>
            <c:symbol val="triangle"/>
            <c:size val="7"/>
            <c:spPr>
              <a:solidFill>
                <a:schemeClr val="accent3">
                  <a:lumMod val="75000"/>
                </a:schemeClr>
              </a:solidFill>
            </c:spPr>
          </c:marker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Sheet1!$E$3:$E$5</c:f>
              <c:numCache>
                <c:formatCode>General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EDF-4F0E-8D86-B35C660BAB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1829120"/>
        <c:axId val="171835776"/>
      </c:scatterChart>
      <c:valAx>
        <c:axId val="171829120"/>
        <c:scaling>
          <c:orientation val="minMax"/>
          <c:max val="3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1835776"/>
        <c:crosses val="autoZero"/>
        <c:crossBetween val="midCat"/>
      </c:valAx>
      <c:valAx>
        <c:axId val="1718357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71829120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txPr>
        <a:bodyPr/>
        <a:lstStyle/>
        <a:p>
          <a:pPr>
            <a:defRPr b="0"/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Sheet1!$F$2</c:f>
              <c:strCache>
                <c:ptCount val="1"/>
                <c:pt idx="0">
                  <c:v>#4</c:v>
                </c:pt>
              </c:strCache>
            </c:strRef>
          </c:tx>
          <c:spPr>
            <a:ln>
              <a:solidFill>
                <a:schemeClr val="accent4">
                  <a:lumMod val="75000"/>
                </a:schemeClr>
              </a:solidFill>
            </a:ln>
          </c:spPr>
          <c:marker>
            <c:symbol val="diamond"/>
            <c:size val="7"/>
            <c:spPr>
              <a:solidFill>
                <a:schemeClr val="accent4">
                  <a:lumMod val="75000"/>
                </a:schemeClr>
              </a:solidFill>
            </c:spPr>
          </c:marker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Sheet1!$F$3:$F$5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04E-4A24-954C-F457384BC7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1855232"/>
        <c:axId val="171894656"/>
      </c:scatterChart>
      <c:valAx>
        <c:axId val="171855232"/>
        <c:scaling>
          <c:orientation val="minMax"/>
          <c:max val="3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1894656"/>
        <c:crosses val="autoZero"/>
        <c:crossBetween val="midCat"/>
      </c:valAx>
      <c:valAx>
        <c:axId val="1718946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71855232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400" dirty="0"/>
              <a:t>mean </a:t>
            </a:r>
            <a:r>
              <a:rPr lang="en-US" sz="1400" dirty="0">
                <a:sym typeface="Symbol"/>
              </a:rPr>
              <a:t> SD (n = 4)</a:t>
            </a:r>
            <a:endParaRPr lang="en-US" sz="1400" dirty="0"/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data</c:v>
                </c:pt>
              </c:strCache>
            </c:strRef>
          </c:tx>
          <c:spPr>
            <a:ln>
              <a:solidFill>
                <a:schemeClr val="accent1">
                  <a:lumMod val="50000"/>
                </a:schemeClr>
              </a:solidFill>
            </a:ln>
          </c:spPr>
          <c:marker>
            <c:symbol val="circle"/>
            <c:size val="7"/>
            <c:spPr>
              <a:solidFill>
                <a:schemeClr val="accent1">
                  <a:lumMod val="5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Sheet1!$J$3:$J$5</c:f>
                <c:numCache>
                  <c:formatCode>General</c:formatCode>
                  <c:ptCount val="3"/>
                  <c:pt idx="0">
                    <c:v>6.2915286960589585</c:v>
                  </c:pt>
                  <c:pt idx="1">
                    <c:v>9.2511260575852798</c:v>
                  </c:pt>
                  <c:pt idx="2">
                    <c:v>9.6046863561492888</c:v>
                  </c:pt>
                </c:numCache>
              </c:numRef>
            </c:plus>
            <c:minus>
              <c:numRef>
                <c:f>Sheet1!$J$3:$J$5</c:f>
                <c:numCache>
                  <c:formatCode>General</c:formatCode>
                  <c:ptCount val="3"/>
                  <c:pt idx="0">
                    <c:v>6.2915286960589585</c:v>
                  </c:pt>
                  <c:pt idx="1">
                    <c:v>9.2511260575852798</c:v>
                  </c:pt>
                  <c:pt idx="2">
                    <c:v>9.6046863561492888</c:v>
                  </c:pt>
                </c:numCache>
              </c:numRef>
            </c:minus>
          </c:errBars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1"/>
                <c:pt idx="0">
                  <c:v>0</c:v>
                </c:pt>
              </c:numLit>
            </c:plus>
            <c:minus>
              <c:numLit>
                <c:formatCode>General</c:formatCode>
                <c:ptCount val="1"/>
                <c:pt idx="0">
                  <c:v>0</c:v>
                </c:pt>
              </c:numLit>
            </c:minus>
          </c:errBars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Sheet1!$I$3:$I$5</c:f>
              <c:numCache>
                <c:formatCode>0.0</c:formatCode>
                <c:ptCount val="3"/>
                <c:pt idx="0">
                  <c:v>11.25</c:v>
                </c:pt>
                <c:pt idx="1">
                  <c:v>18.25</c:v>
                </c:pt>
                <c:pt idx="2">
                  <c:v>23.25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09C-4F78-B9F2-DFCDD7BE1B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1923712"/>
        <c:axId val="171950464"/>
      </c:scatterChart>
      <c:valAx>
        <c:axId val="171923712"/>
        <c:scaling>
          <c:orientation val="minMax"/>
          <c:max val="3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1950464"/>
        <c:crosses val="autoZero"/>
        <c:crossBetween val="midCat"/>
      </c:valAx>
      <c:valAx>
        <c:axId val="171950464"/>
        <c:scaling>
          <c:orientation val="minMax"/>
        </c:scaling>
        <c:delete val="0"/>
        <c:axPos val="l"/>
        <c:numFmt formatCode="0" sourceLinked="0"/>
        <c:majorTickMark val="out"/>
        <c:minorTickMark val="none"/>
        <c:tickLblPos val="nextTo"/>
        <c:crossAx val="171923712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#1</c:v>
                </c:pt>
              </c:strCache>
            </c:strRef>
          </c:tx>
          <c:marker>
            <c:symbol val="circle"/>
            <c:size val="7"/>
          </c:marker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Sheet1!$C$3:$C$5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2FB-454E-8DC7-BF43F2FFB163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#2</c:v>
                </c:pt>
              </c:strCache>
            </c:strRef>
          </c:tx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Sheet1!$D$3:$D$5</c:f>
              <c:numCache>
                <c:formatCode>General</c:formatCode>
                <c:ptCount val="3"/>
                <c:pt idx="0">
                  <c:v>5</c:v>
                </c:pt>
                <c:pt idx="1">
                  <c:v>8</c:v>
                </c:pt>
                <c:pt idx="2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2FB-454E-8DC7-BF43F2FFB163}"/>
            </c:ext>
          </c:extLst>
        </c:ser>
        <c:ser>
          <c:idx val="2"/>
          <c:order val="2"/>
          <c:tx>
            <c:strRef>
              <c:f>Sheet1!$E$2</c:f>
              <c:strCache>
                <c:ptCount val="1"/>
                <c:pt idx="0">
                  <c:v>#3</c:v>
                </c:pt>
              </c:strCache>
            </c:strRef>
          </c:tx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Sheet1!$E$3:$E$5</c:f>
              <c:numCache>
                <c:formatCode>General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2FB-454E-8DC7-BF43F2FFB163}"/>
            </c:ext>
          </c:extLst>
        </c:ser>
        <c:ser>
          <c:idx val="3"/>
          <c:order val="3"/>
          <c:tx>
            <c:strRef>
              <c:f>Sheet1!$F$2</c:f>
              <c:strCache>
                <c:ptCount val="1"/>
                <c:pt idx="0">
                  <c:v>#4</c:v>
                </c:pt>
              </c:strCache>
            </c:strRef>
          </c:tx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Sheet1!$F$3:$F$5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A2FB-454E-8DC7-BF43F2FFB1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1972864"/>
        <c:axId val="171983232"/>
      </c:scatterChart>
      <c:valAx>
        <c:axId val="171972864"/>
        <c:scaling>
          <c:orientation val="minMax"/>
          <c:max val="3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1983232"/>
        <c:crosses val="autoZero"/>
        <c:crossBetween val="midCat"/>
      </c:valAx>
      <c:valAx>
        <c:axId val="1719832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71972864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8434959349593492"/>
          <c:y val="0.32271653543307088"/>
          <c:w val="0.16280487804878044"/>
          <c:h val="0.35456692913385846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Fold change over baseline</a:t>
            </a:r>
          </a:p>
        </c:rich>
      </c:tx>
      <c:overlay val="1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#1</c:v>
                </c:pt>
              </c:strCache>
            </c:strRef>
          </c:tx>
          <c:marker>
            <c:symbol val="circle"/>
            <c:size val="7"/>
          </c:marker>
          <c:xVal>
            <c:numRef>
              <c:f>Sheet1!$B$8:$B$10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Sheet1!$C$8:$C$10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2.5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5CD-4111-948B-A474432E9A80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#2</c:v>
                </c:pt>
              </c:strCache>
            </c:strRef>
          </c:tx>
          <c:xVal>
            <c:numRef>
              <c:f>Sheet1!$B$8:$B$10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Sheet1!$D$8:$D$10</c:f>
              <c:numCache>
                <c:formatCode>General</c:formatCode>
                <c:ptCount val="3"/>
                <c:pt idx="0">
                  <c:v>1</c:v>
                </c:pt>
                <c:pt idx="1">
                  <c:v>1.6</c:v>
                </c:pt>
                <c:pt idx="2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5CD-4111-948B-A474432E9A80}"/>
            </c:ext>
          </c:extLst>
        </c:ser>
        <c:ser>
          <c:idx val="2"/>
          <c:order val="2"/>
          <c:tx>
            <c:strRef>
              <c:f>Sheet1!$E$2</c:f>
              <c:strCache>
                <c:ptCount val="1"/>
                <c:pt idx="0">
                  <c:v>#3</c:v>
                </c:pt>
              </c:strCache>
            </c:strRef>
          </c:tx>
          <c:xVal>
            <c:numRef>
              <c:f>Sheet1!$B$8:$B$10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Sheet1!$E$8:$E$10</c:f>
              <c:numCache>
                <c:formatCode>General</c:formatCode>
                <c:ptCount val="3"/>
                <c:pt idx="0">
                  <c:v>1</c:v>
                </c:pt>
                <c:pt idx="1">
                  <c:v>1.5</c:v>
                </c:pt>
                <c:pt idx="2">
                  <c:v>1.6500000000000001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5CD-4111-948B-A474432E9A80}"/>
            </c:ext>
          </c:extLst>
        </c:ser>
        <c:ser>
          <c:idx val="3"/>
          <c:order val="3"/>
          <c:tx>
            <c:strRef>
              <c:f>Sheet1!$F$2</c:f>
              <c:strCache>
                <c:ptCount val="1"/>
                <c:pt idx="0">
                  <c:v>#4</c:v>
                </c:pt>
              </c:strCache>
            </c:strRef>
          </c:tx>
          <c:xVal>
            <c:numRef>
              <c:f>Sheet1!$B$8:$B$10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Sheet1!$F$8:$F$10</c:f>
              <c:numCache>
                <c:formatCode>General</c:formatCode>
                <c:ptCount val="3"/>
                <c:pt idx="0">
                  <c:v>1</c:v>
                </c:pt>
                <c:pt idx="1">
                  <c:v>1.5</c:v>
                </c:pt>
                <c:pt idx="2">
                  <c:v>2.5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5CD-4111-948B-A474432E9A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009728"/>
        <c:axId val="175177728"/>
      </c:scatterChart>
      <c:valAx>
        <c:axId val="172009728"/>
        <c:scaling>
          <c:orientation val="minMax"/>
          <c:max val="30"/>
        </c:scaling>
        <c:delete val="0"/>
        <c:axPos val="b"/>
        <c:numFmt formatCode="General" sourceLinked="1"/>
        <c:majorTickMark val="out"/>
        <c:minorTickMark val="none"/>
        <c:tickLblPos val="nextTo"/>
        <c:crossAx val="175177728"/>
        <c:crosses val="autoZero"/>
        <c:crossBetween val="midCat"/>
      </c:valAx>
      <c:valAx>
        <c:axId val="175177728"/>
        <c:scaling>
          <c:orientation val="minMax"/>
        </c:scaling>
        <c:delete val="0"/>
        <c:axPos val="l"/>
        <c:numFmt formatCode="#,##0.0" sourceLinked="0"/>
        <c:majorTickMark val="out"/>
        <c:minorTickMark val="none"/>
        <c:tickLblPos val="nextTo"/>
        <c:crossAx val="17200972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65395833333333353"/>
          <c:y val="0.48401097590073977"/>
          <c:w val="0.166875"/>
          <c:h val="0.36531138153185411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#1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marker>
            <c:symbol val="circle"/>
            <c:size val="7"/>
          </c:marker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Sheet1!$C$3:$C$5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952-4EBA-896E-2DBA1FA95525}"/>
            </c:ext>
          </c:extLst>
        </c:ser>
        <c:ser>
          <c:idx val="1"/>
          <c:order val="1"/>
          <c:tx>
            <c:v>control</c:v>
          </c:tx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Sheet1!$C$9:$C$11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952-4EBA-896E-2DBA1FA955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257472"/>
        <c:axId val="175263744"/>
      </c:scatterChart>
      <c:valAx>
        <c:axId val="175257472"/>
        <c:scaling>
          <c:orientation val="minMax"/>
          <c:max val="3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5263744"/>
        <c:crosses val="autoZero"/>
        <c:crossBetween val="midCat"/>
      </c:valAx>
      <c:valAx>
        <c:axId val="17526374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75257472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#2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Sheet1!$D$2</c:f>
              <c:strCache>
                <c:ptCount val="1"/>
                <c:pt idx="0">
                  <c:v>#2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square"/>
            <c:size val="7"/>
            <c:spPr>
              <a:solidFill>
                <a:srgbClr val="C00000"/>
              </a:solidFill>
              <a:ln>
                <a:noFill/>
              </a:ln>
            </c:spPr>
          </c:marker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Sheet1!$D$3:$D$5</c:f>
              <c:numCache>
                <c:formatCode>General</c:formatCode>
                <c:ptCount val="3"/>
                <c:pt idx="0">
                  <c:v>5</c:v>
                </c:pt>
                <c:pt idx="1">
                  <c:v>8</c:v>
                </c:pt>
                <c:pt idx="2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C91-45DD-8EBA-D2469667756E}"/>
            </c:ext>
          </c:extLst>
        </c:ser>
        <c:ser>
          <c:idx val="1"/>
          <c:order val="1"/>
          <c:tx>
            <c:v>control</c:v>
          </c:tx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Sheet1!$D$9:$D$11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C91-45DD-8EBA-D246966775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292800"/>
        <c:axId val="175294720"/>
      </c:scatterChart>
      <c:valAx>
        <c:axId val="175292800"/>
        <c:scaling>
          <c:orientation val="minMax"/>
          <c:max val="3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5294720"/>
        <c:crosses val="autoZero"/>
        <c:crossBetween val="midCat"/>
      </c:valAx>
      <c:valAx>
        <c:axId val="175294720"/>
        <c:scaling>
          <c:orientation val="minMax"/>
          <c:max val="12"/>
        </c:scaling>
        <c:delete val="0"/>
        <c:axPos val="l"/>
        <c:numFmt formatCode="General" sourceLinked="1"/>
        <c:majorTickMark val="out"/>
        <c:minorTickMark val="none"/>
        <c:tickLblPos val="nextTo"/>
        <c:crossAx val="175292800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#3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Sheet1!$E$2</c:f>
              <c:strCache>
                <c:ptCount val="1"/>
                <c:pt idx="0">
                  <c:v>#3</c:v>
                </c:pt>
              </c:strCache>
            </c:strRef>
          </c:tx>
          <c:spPr>
            <a:ln>
              <a:solidFill>
                <a:schemeClr val="accent3">
                  <a:lumMod val="75000"/>
                </a:schemeClr>
              </a:solidFill>
            </a:ln>
          </c:spPr>
          <c:marker>
            <c:symbol val="triangle"/>
            <c:size val="7"/>
            <c:spPr>
              <a:solidFill>
                <a:schemeClr val="accent3">
                  <a:lumMod val="75000"/>
                </a:schemeClr>
              </a:solidFill>
            </c:spPr>
          </c:marker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Sheet1!$E$3:$E$5</c:f>
              <c:numCache>
                <c:formatCode>General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6EC-49E8-8333-47EAA9B73BDE}"/>
            </c:ext>
          </c:extLst>
        </c:ser>
        <c:ser>
          <c:idx val="1"/>
          <c:order val="1"/>
          <c:tx>
            <c:v>control</c:v>
          </c:tx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Sheet1!$E$9:$E$11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6EC-49E8-8333-47EAA9B73B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315584"/>
        <c:axId val="175330048"/>
      </c:scatterChart>
      <c:valAx>
        <c:axId val="175315584"/>
        <c:scaling>
          <c:orientation val="minMax"/>
          <c:max val="3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5330048"/>
        <c:crosses val="autoZero"/>
        <c:crossBetween val="midCat"/>
      </c:valAx>
      <c:valAx>
        <c:axId val="1753300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75315584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#4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Sheet1!$F$2</c:f>
              <c:strCache>
                <c:ptCount val="1"/>
                <c:pt idx="0">
                  <c:v>#4</c:v>
                </c:pt>
              </c:strCache>
            </c:strRef>
          </c:tx>
          <c:spPr>
            <a:ln>
              <a:solidFill>
                <a:schemeClr val="accent4">
                  <a:lumMod val="75000"/>
                </a:schemeClr>
              </a:solidFill>
            </a:ln>
          </c:spPr>
          <c:marker>
            <c:symbol val="diamond"/>
            <c:size val="7"/>
            <c:spPr>
              <a:solidFill>
                <a:schemeClr val="accent4">
                  <a:lumMod val="75000"/>
                </a:schemeClr>
              </a:solidFill>
            </c:spPr>
          </c:marker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Sheet1!$F$3:$F$5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032-4719-910D-A778748ED58D}"/>
            </c:ext>
          </c:extLst>
        </c:ser>
        <c:ser>
          <c:idx val="1"/>
          <c:order val="1"/>
          <c:tx>
            <c:v>control</c:v>
          </c:tx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Sheet1!$F$9:$F$11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032-4719-910D-A778748ED5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375488"/>
        <c:axId val="175377408"/>
      </c:scatterChart>
      <c:valAx>
        <c:axId val="175375488"/>
        <c:scaling>
          <c:orientation val="minMax"/>
          <c:max val="3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5377408"/>
        <c:crosses val="autoZero"/>
        <c:crossBetween val="midCat"/>
      </c:valAx>
      <c:valAx>
        <c:axId val="1753774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75375488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600" dirty="0"/>
              <a:t>fold change over control</a:t>
            </a:r>
          </a:p>
          <a:p>
            <a:pPr>
              <a:defRPr/>
            </a:pPr>
            <a:r>
              <a:rPr lang="en-US" sz="1400" dirty="0"/>
              <a:t>mean </a:t>
            </a:r>
            <a:r>
              <a:rPr lang="en-US" sz="1400" dirty="0">
                <a:sym typeface="Symbol"/>
              </a:rPr>
              <a:t> SD (n = 4)</a:t>
            </a:r>
            <a:endParaRPr lang="en-US" sz="1400" dirty="0"/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data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1">
                  <a:lumMod val="5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Sheet1!$J$13:$J$15</c:f>
                <c:numCache>
                  <c:formatCode>General</c:formatCode>
                  <c:ptCount val="3"/>
                  <c:pt idx="0">
                    <c:v>0</c:v>
                  </c:pt>
                  <c:pt idx="1">
                    <c:v>0.23804761428476284</c:v>
                  </c:pt>
                  <c:pt idx="2">
                    <c:v>0.41508031351374242</c:v>
                  </c:pt>
                </c:numCache>
              </c:numRef>
            </c:plus>
            <c:minus>
              <c:numRef>
                <c:f>Sheet1!$J$13:$J$15</c:f>
                <c:numCache>
                  <c:formatCode>General</c:formatCode>
                  <c:ptCount val="3"/>
                  <c:pt idx="0">
                    <c:v>0</c:v>
                  </c:pt>
                  <c:pt idx="1">
                    <c:v>0.23804761428476284</c:v>
                  </c:pt>
                  <c:pt idx="2">
                    <c:v>0.41508031351374242</c:v>
                  </c:pt>
                </c:numCache>
              </c:numRef>
            </c:minus>
          </c:errBars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1"/>
                <c:pt idx="0">
                  <c:v>0</c:v>
                </c:pt>
              </c:numLit>
            </c:plus>
            <c:minus>
              <c:numLit>
                <c:formatCode>General</c:formatCode>
                <c:ptCount val="1"/>
                <c:pt idx="0">
                  <c:v>0</c:v>
                </c:pt>
              </c:numLit>
            </c:minus>
          </c:errBars>
          <c:xVal>
            <c:numRef>
              <c:f>Sheet1!$B$13:$B$15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Sheet1!$I$13:$I$15</c:f>
              <c:numCache>
                <c:formatCode>0.0</c:formatCode>
                <c:ptCount val="3"/>
                <c:pt idx="0">
                  <c:v>1</c:v>
                </c:pt>
                <c:pt idx="1">
                  <c:v>1.6500000000000001</c:v>
                </c:pt>
                <c:pt idx="2">
                  <c:v>2.1625000000000001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7C1-411E-B174-AF37DEACAD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385984"/>
        <c:axId val="175425024"/>
      </c:scatterChart>
      <c:valAx>
        <c:axId val="175385984"/>
        <c:scaling>
          <c:orientation val="minMax"/>
          <c:max val="3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5425024"/>
        <c:crosses val="autoZero"/>
        <c:crossBetween val="midCat"/>
        <c:majorUnit val="10"/>
      </c:valAx>
      <c:valAx>
        <c:axId val="175425024"/>
        <c:scaling>
          <c:orientation val="minMax"/>
        </c:scaling>
        <c:delete val="0"/>
        <c:axPos val="l"/>
        <c:numFmt formatCode="0.0" sourceLinked="0"/>
        <c:majorTickMark val="out"/>
        <c:minorTickMark val="none"/>
        <c:tickLblPos val="nextTo"/>
        <c:crossAx val="175385984"/>
        <c:crosses val="autoZero"/>
        <c:crossBetween val="midCat"/>
        <c:majorUnit val="0.5"/>
      </c:valAx>
    </c:plotArea>
    <c:plotVisOnly val="1"/>
    <c:dispBlanksAs val="gap"/>
    <c:showDLblsOverMax val="0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raw data</a:t>
            </a:r>
          </a:p>
          <a:p>
            <a:pPr>
              <a:defRPr/>
            </a:pPr>
            <a:r>
              <a:rPr lang="en-US" sz="1400" dirty="0"/>
              <a:t>mean </a:t>
            </a:r>
            <a:r>
              <a:rPr lang="en-US" sz="1400" dirty="0">
                <a:sym typeface="Symbol"/>
              </a:rPr>
              <a:t> SD (n = 4)</a:t>
            </a:r>
            <a:endParaRPr lang="en-US" sz="1400" dirty="0"/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data</c:v>
                </c:pt>
              </c:strCache>
            </c:strRef>
          </c:tx>
          <c:spPr>
            <a:ln>
              <a:solidFill>
                <a:schemeClr val="accent1">
                  <a:lumMod val="50000"/>
                </a:schemeClr>
              </a:solidFill>
            </a:ln>
          </c:spPr>
          <c:marker>
            <c:symbol val="circle"/>
            <c:size val="7"/>
            <c:spPr>
              <a:solidFill>
                <a:schemeClr val="accent1">
                  <a:lumMod val="5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c:spPr>
          </c:marker>
          <c:errBars>
            <c:errDir val="y"/>
            <c:errBarType val="plus"/>
            <c:errValType val="cust"/>
            <c:noEndCap val="0"/>
            <c:plus>
              <c:numRef>
                <c:f>Sheet1!$J$3:$J$5</c:f>
                <c:numCache>
                  <c:formatCode>General</c:formatCode>
                  <c:ptCount val="3"/>
                  <c:pt idx="0">
                    <c:v>6.2915286960589585</c:v>
                  </c:pt>
                  <c:pt idx="1">
                    <c:v>9.2511260575852798</c:v>
                  </c:pt>
                  <c:pt idx="2">
                    <c:v>9.6046863561492888</c:v>
                  </c:pt>
                </c:numCache>
              </c:numRef>
            </c:plus>
            <c:minus>
              <c:numRef>
                <c:f>Sheet1!$J$3:$J$5</c:f>
                <c:numCache>
                  <c:formatCode>General</c:formatCode>
                  <c:ptCount val="3"/>
                  <c:pt idx="0">
                    <c:v>6.2915286960589585</c:v>
                  </c:pt>
                  <c:pt idx="1">
                    <c:v>9.2511260575852798</c:v>
                  </c:pt>
                  <c:pt idx="2">
                    <c:v>9.6046863561492888</c:v>
                  </c:pt>
                </c:numCache>
              </c:numRef>
            </c:minus>
          </c:errBars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1"/>
                <c:pt idx="0">
                  <c:v>0</c:v>
                </c:pt>
              </c:numLit>
            </c:plus>
            <c:minus>
              <c:numLit>
                <c:formatCode>General</c:formatCode>
                <c:ptCount val="1"/>
                <c:pt idx="0">
                  <c:v>0</c:v>
                </c:pt>
              </c:numLit>
            </c:minus>
          </c:errBars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Sheet1!$I$3:$I$5</c:f>
              <c:numCache>
                <c:formatCode>0.0</c:formatCode>
                <c:ptCount val="3"/>
                <c:pt idx="0">
                  <c:v>11.25</c:v>
                </c:pt>
                <c:pt idx="1">
                  <c:v>18.25</c:v>
                </c:pt>
                <c:pt idx="2">
                  <c:v>23.25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6A8-48F0-B45F-6BF8D25B93CE}"/>
            </c:ext>
          </c:extLst>
        </c:ser>
        <c:ser>
          <c:idx val="1"/>
          <c:order val="1"/>
          <c:tx>
            <c:v>control</c:v>
          </c:tx>
          <c:errBars>
            <c:errDir val="y"/>
            <c:errBarType val="minus"/>
            <c:errValType val="cust"/>
            <c:noEndCap val="0"/>
            <c:plus>
              <c:numRef>
                <c:f>Sheet1!$J$9:$J$11</c:f>
                <c:numCache>
                  <c:formatCode>General</c:formatCode>
                  <c:ptCount val="3"/>
                  <c:pt idx="0">
                    <c:v>6.2915286960589585</c:v>
                  </c:pt>
                  <c:pt idx="1">
                    <c:v>6.2915286960589585</c:v>
                  </c:pt>
                  <c:pt idx="2">
                    <c:v>6.2915286960589585</c:v>
                  </c:pt>
                </c:numCache>
              </c:numRef>
            </c:plus>
            <c:minus>
              <c:numRef>
                <c:f>Sheet1!$J$9:$J$11</c:f>
                <c:numCache>
                  <c:formatCode>General</c:formatCode>
                  <c:ptCount val="3"/>
                  <c:pt idx="0">
                    <c:v>6.2915286960589585</c:v>
                  </c:pt>
                  <c:pt idx="1">
                    <c:v>6.2915286960589585</c:v>
                  </c:pt>
                  <c:pt idx="2">
                    <c:v>6.2915286960589585</c:v>
                  </c:pt>
                </c:numCache>
              </c:numRef>
            </c:minus>
          </c:errBars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1"/>
                <c:pt idx="0">
                  <c:v>0</c:v>
                </c:pt>
              </c:numLit>
            </c:plus>
            <c:minus>
              <c:numLit>
                <c:formatCode>General</c:formatCode>
                <c:ptCount val="1"/>
                <c:pt idx="0">
                  <c:v>0</c:v>
                </c:pt>
              </c:numLit>
            </c:minus>
          </c:errBars>
          <c:xVal>
            <c:numRef>
              <c:f>Sheet1!$B$9:$B$11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Sheet1!$I$9:$I$11</c:f>
              <c:numCache>
                <c:formatCode>0.0</c:formatCode>
                <c:ptCount val="3"/>
                <c:pt idx="0">
                  <c:v>11.25</c:v>
                </c:pt>
                <c:pt idx="1">
                  <c:v>11.25</c:v>
                </c:pt>
                <c:pt idx="2">
                  <c:v>11.25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6A8-48F0-B45F-6BF8D25B93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525248"/>
        <c:axId val="175535616"/>
      </c:scatterChart>
      <c:valAx>
        <c:axId val="175525248"/>
        <c:scaling>
          <c:orientation val="minMax"/>
          <c:max val="3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5535616"/>
        <c:crosses val="autoZero"/>
        <c:crossBetween val="midCat"/>
      </c:valAx>
      <c:valAx>
        <c:axId val="175535616"/>
        <c:scaling>
          <c:orientation val="minMax"/>
        </c:scaling>
        <c:delete val="0"/>
        <c:axPos val="l"/>
        <c:numFmt formatCode="0" sourceLinked="0"/>
        <c:majorTickMark val="out"/>
        <c:minorTickMark val="none"/>
        <c:tickLblPos val="nextTo"/>
        <c:crossAx val="175525248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#1</c:v>
                </c:pt>
              </c:strCache>
            </c:strRef>
          </c:tx>
          <c:marker>
            <c:symbol val="circle"/>
            <c:size val="7"/>
          </c:marker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Sheet1!$C$3:$C$5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362-46E6-A1E5-3E8D7929D32C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#2</c:v>
                </c:pt>
              </c:strCache>
            </c:strRef>
          </c:tx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Sheet1!$D$3:$D$5</c:f>
              <c:numCache>
                <c:formatCode>General</c:formatCode>
                <c:ptCount val="3"/>
                <c:pt idx="0">
                  <c:v>5</c:v>
                </c:pt>
                <c:pt idx="1">
                  <c:v>8</c:v>
                </c:pt>
                <c:pt idx="2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362-46E6-A1E5-3E8D7929D32C}"/>
            </c:ext>
          </c:extLst>
        </c:ser>
        <c:ser>
          <c:idx val="2"/>
          <c:order val="2"/>
          <c:tx>
            <c:strRef>
              <c:f>Sheet1!$E$2</c:f>
              <c:strCache>
                <c:ptCount val="1"/>
                <c:pt idx="0">
                  <c:v>#3</c:v>
                </c:pt>
              </c:strCache>
            </c:strRef>
          </c:tx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Sheet1!$E$3:$E$5</c:f>
              <c:numCache>
                <c:formatCode>General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362-46E6-A1E5-3E8D7929D32C}"/>
            </c:ext>
          </c:extLst>
        </c:ser>
        <c:ser>
          <c:idx val="3"/>
          <c:order val="3"/>
          <c:tx>
            <c:strRef>
              <c:f>Sheet1!$F$2</c:f>
              <c:strCache>
                <c:ptCount val="1"/>
                <c:pt idx="0">
                  <c:v>#4</c:v>
                </c:pt>
              </c:strCache>
            </c:strRef>
          </c:tx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Sheet1!$F$3:$F$5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362-46E6-A1E5-3E8D7929D3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598208"/>
        <c:axId val="175608576"/>
      </c:scatterChart>
      <c:valAx>
        <c:axId val="175598208"/>
        <c:scaling>
          <c:orientation val="minMax"/>
          <c:max val="3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5608576"/>
        <c:crosses val="autoZero"/>
        <c:crossBetween val="midCat"/>
      </c:valAx>
      <c:valAx>
        <c:axId val="1756085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75598208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#1</c:v>
                </c:pt>
              </c:strCache>
            </c:strRef>
          </c:tx>
          <c:marker>
            <c:symbol val="circle"/>
            <c:size val="7"/>
          </c:marker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Sheet1!$C$3:$C$5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3C2-4905-9AC6-7E8A3AD70CDF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#2</c:v>
                </c:pt>
              </c:strCache>
            </c:strRef>
          </c:tx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Sheet1!$D$3:$D$5</c:f>
              <c:numCache>
                <c:formatCode>General</c:formatCode>
                <c:ptCount val="3"/>
                <c:pt idx="0">
                  <c:v>5</c:v>
                </c:pt>
                <c:pt idx="1">
                  <c:v>8</c:v>
                </c:pt>
                <c:pt idx="2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3C2-4905-9AC6-7E8A3AD70CDF}"/>
            </c:ext>
          </c:extLst>
        </c:ser>
        <c:ser>
          <c:idx val="2"/>
          <c:order val="2"/>
          <c:tx>
            <c:strRef>
              <c:f>Sheet1!$E$2</c:f>
              <c:strCache>
                <c:ptCount val="1"/>
                <c:pt idx="0">
                  <c:v>#3</c:v>
                </c:pt>
              </c:strCache>
            </c:strRef>
          </c:tx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Sheet1!$E$3:$E$5</c:f>
              <c:numCache>
                <c:formatCode>General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3C2-4905-9AC6-7E8A3AD70CDF}"/>
            </c:ext>
          </c:extLst>
        </c:ser>
        <c:ser>
          <c:idx val="3"/>
          <c:order val="3"/>
          <c:tx>
            <c:strRef>
              <c:f>Sheet1!$F$2</c:f>
              <c:strCache>
                <c:ptCount val="1"/>
                <c:pt idx="0">
                  <c:v>#4</c:v>
                </c:pt>
              </c:strCache>
            </c:strRef>
          </c:tx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Sheet1!$F$3:$F$5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3C2-4905-9AC6-7E8A3AD70CDF}"/>
            </c:ext>
          </c:extLst>
        </c:ser>
        <c:ser>
          <c:idx val="4"/>
          <c:order val="4"/>
          <c:tx>
            <c:strRef>
              <c:f>Sheet1!$G$2</c:f>
              <c:strCache>
                <c:ptCount val="1"/>
                <c:pt idx="0">
                  <c:v>#5</c:v>
                </c:pt>
              </c:strCache>
            </c:strRef>
          </c:tx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Sheet1!$G$3:$G$5</c:f>
              <c:numCache>
                <c:formatCode>General</c:formatCode>
                <c:ptCount val="3"/>
                <c:pt idx="0">
                  <c:v>15</c:v>
                </c:pt>
                <c:pt idx="1">
                  <c:v>25</c:v>
                </c:pt>
                <c:pt idx="2">
                  <c:v>30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23C2-4905-9AC6-7E8A3AD70CDF}"/>
            </c:ext>
          </c:extLst>
        </c:ser>
        <c:ser>
          <c:idx val="5"/>
          <c:order val="5"/>
          <c:tx>
            <c:strRef>
              <c:f>Sheet1!$H$2</c:f>
              <c:strCache>
                <c:ptCount val="1"/>
                <c:pt idx="0">
                  <c:v>#6</c:v>
                </c:pt>
              </c:strCache>
            </c:strRef>
          </c:tx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Sheet1!$H$3:$H$5</c:f>
              <c:numCache>
                <c:formatCode>General</c:formatCode>
                <c:ptCount val="3"/>
                <c:pt idx="0">
                  <c:v>8</c:v>
                </c:pt>
                <c:pt idx="1">
                  <c:v>13</c:v>
                </c:pt>
                <c:pt idx="2">
                  <c:v>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23C2-4905-9AC6-7E8A3AD70C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923584"/>
        <c:axId val="175925504"/>
      </c:scatterChart>
      <c:valAx>
        <c:axId val="175923584"/>
        <c:scaling>
          <c:orientation val="minMax"/>
          <c:max val="3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5925504"/>
        <c:crosses val="autoZero"/>
        <c:crossBetween val="midCat"/>
      </c:valAx>
      <c:valAx>
        <c:axId val="17592550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75923584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raw data (n=4)</a:t>
            </a:r>
          </a:p>
          <a:p>
            <a:pPr>
              <a:defRPr/>
            </a:pPr>
            <a:r>
              <a:rPr lang="en-US" sz="1400" dirty="0"/>
              <a:t>mean </a:t>
            </a:r>
            <a:r>
              <a:rPr lang="en-US" sz="1400" dirty="0">
                <a:sym typeface="Symbol"/>
              </a:rPr>
              <a:t> SD</a:t>
            </a:r>
            <a:endParaRPr lang="en-US" sz="1400" dirty="0"/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data</c:v>
                </c:pt>
              </c:strCache>
            </c:strRef>
          </c:tx>
          <c:spPr>
            <a:ln>
              <a:solidFill>
                <a:schemeClr val="accent1">
                  <a:lumMod val="50000"/>
                </a:schemeClr>
              </a:solidFill>
            </a:ln>
          </c:spPr>
          <c:marker>
            <c:symbol val="circle"/>
            <c:size val="7"/>
            <c:spPr>
              <a:solidFill>
                <a:schemeClr val="accent1">
                  <a:lumMod val="5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Sheet1!$J$3:$J$5</c:f>
                <c:numCache>
                  <c:formatCode>General</c:formatCode>
                  <c:ptCount val="3"/>
                  <c:pt idx="0">
                    <c:v>6.2915286960589585</c:v>
                  </c:pt>
                  <c:pt idx="1">
                    <c:v>9.2511260575852798</c:v>
                  </c:pt>
                  <c:pt idx="2">
                    <c:v>9.6046863561493048</c:v>
                  </c:pt>
                </c:numCache>
              </c:numRef>
            </c:plus>
            <c:minus>
              <c:numRef>
                <c:f>Sheet1!$J$3:$J$5</c:f>
                <c:numCache>
                  <c:formatCode>General</c:formatCode>
                  <c:ptCount val="3"/>
                  <c:pt idx="0">
                    <c:v>6.2915286960589585</c:v>
                  </c:pt>
                  <c:pt idx="1">
                    <c:v>9.2511260575852798</c:v>
                  </c:pt>
                  <c:pt idx="2">
                    <c:v>9.6046863561493048</c:v>
                  </c:pt>
                </c:numCache>
              </c:numRef>
            </c:minus>
          </c:errBars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1"/>
                <c:pt idx="0">
                  <c:v>0</c:v>
                </c:pt>
              </c:numLit>
            </c:plus>
            <c:minus>
              <c:numLit>
                <c:formatCode>General</c:formatCode>
                <c:ptCount val="1"/>
                <c:pt idx="0">
                  <c:v>0</c:v>
                </c:pt>
              </c:numLit>
            </c:minus>
          </c:errBars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Sheet1!$I$3:$I$5</c:f>
              <c:numCache>
                <c:formatCode>0.0</c:formatCode>
                <c:ptCount val="3"/>
                <c:pt idx="0">
                  <c:v>11.25</c:v>
                </c:pt>
                <c:pt idx="1">
                  <c:v>18.25</c:v>
                </c:pt>
                <c:pt idx="2">
                  <c:v>23.25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7AD-4DA0-AD97-62F0B08FB0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958656"/>
        <c:axId val="175960832"/>
      </c:scatterChart>
      <c:valAx>
        <c:axId val="175958656"/>
        <c:scaling>
          <c:orientation val="minMax"/>
          <c:max val="3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5960832"/>
        <c:crosses val="autoZero"/>
        <c:crossBetween val="midCat"/>
      </c:valAx>
      <c:valAx>
        <c:axId val="175960832"/>
        <c:scaling>
          <c:orientation val="minMax"/>
        </c:scaling>
        <c:delete val="0"/>
        <c:axPos val="l"/>
        <c:numFmt formatCode="0" sourceLinked="0"/>
        <c:majorTickMark val="out"/>
        <c:minorTickMark val="none"/>
        <c:tickLblPos val="nextTo"/>
        <c:crossAx val="175958656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raw data (n=6)</a:t>
            </a:r>
          </a:p>
          <a:p>
            <a:pPr>
              <a:defRPr/>
            </a:pPr>
            <a:r>
              <a:rPr lang="en-US" sz="1400" dirty="0"/>
              <a:t>mean </a:t>
            </a:r>
            <a:r>
              <a:rPr lang="en-US" sz="1400" dirty="0">
                <a:sym typeface="Symbol"/>
              </a:rPr>
              <a:t> SD</a:t>
            </a:r>
            <a:endParaRPr lang="en-US" sz="1400" dirty="0"/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data</c:v>
                </c:pt>
              </c:strCache>
            </c:strRef>
          </c:tx>
          <c:spPr>
            <a:ln>
              <a:solidFill>
                <a:schemeClr val="accent1">
                  <a:lumMod val="50000"/>
                </a:schemeClr>
              </a:solidFill>
            </a:ln>
          </c:spPr>
          <c:marker>
            <c:symbol val="circle"/>
            <c:size val="7"/>
            <c:spPr>
              <a:solidFill>
                <a:schemeClr val="accent1">
                  <a:lumMod val="5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Sheet1!$L$3:$L$5</c:f>
                <c:numCache>
                  <c:formatCode>General</c:formatCode>
                  <c:ptCount val="3"/>
                  <c:pt idx="0">
                    <c:v>5.3541261347363376</c:v>
                  </c:pt>
                  <c:pt idx="1">
                    <c:v>8.1178814970409618</c:v>
                  </c:pt>
                  <c:pt idx="2">
                    <c:v>8.3606219864313918</c:v>
                  </c:pt>
                </c:numCache>
              </c:numRef>
            </c:plus>
            <c:minus>
              <c:numRef>
                <c:f>Sheet1!$L$3:$L$5</c:f>
                <c:numCache>
                  <c:formatCode>General</c:formatCode>
                  <c:ptCount val="3"/>
                  <c:pt idx="0">
                    <c:v>5.3541261347363376</c:v>
                  </c:pt>
                  <c:pt idx="1">
                    <c:v>8.1178814970409618</c:v>
                  </c:pt>
                  <c:pt idx="2">
                    <c:v>8.3606219864313918</c:v>
                  </c:pt>
                </c:numCache>
              </c:numRef>
            </c:minus>
          </c:errBars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1"/>
                <c:pt idx="0">
                  <c:v>0</c:v>
                </c:pt>
              </c:numLit>
            </c:plus>
            <c:minus>
              <c:numLit>
                <c:formatCode>General</c:formatCode>
                <c:ptCount val="1"/>
                <c:pt idx="0">
                  <c:v>0</c:v>
                </c:pt>
              </c:numLit>
            </c:minus>
          </c:errBars>
          <c:xVal>
            <c:numRef>
              <c:f>Sheet1!$B$3:$B$5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Sheet1!$K$3:$K$5</c:f>
              <c:numCache>
                <c:formatCode>0.0</c:formatCode>
                <c:ptCount val="3"/>
                <c:pt idx="0">
                  <c:v>11.333333333333334</c:v>
                </c:pt>
                <c:pt idx="1">
                  <c:v>18.5</c:v>
                </c:pt>
                <c:pt idx="2">
                  <c:v>23.5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CCB-4269-BD52-7793150F7C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6002176"/>
        <c:axId val="176004096"/>
      </c:scatterChart>
      <c:valAx>
        <c:axId val="176002176"/>
        <c:scaling>
          <c:orientation val="minMax"/>
          <c:max val="3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6004096"/>
        <c:crosses val="autoZero"/>
        <c:crossBetween val="midCat"/>
      </c:valAx>
      <c:valAx>
        <c:axId val="176004096"/>
        <c:scaling>
          <c:orientation val="minMax"/>
        </c:scaling>
        <c:delete val="0"/>
        <c:axPos val="l"/>
        <c:numFmt formatCode="0" sourceLinked="0"/>
        <c:majorTickMark val="out"/>
        <c:minorTickMark val="none"/>
        <c:tickLblPos val="nextTo"/>
        <c:crossAx val="176002176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Sheet1!$Y$2</c:f>
              <c:strCache>
                <c:ptCount val="1"/>
                <c:pt idx="0">
                  <c:v>dose 0</c:v>
                </c:pt>
              </c:strCache>
            </c:strRef>
          </c:tx>
          <c:xVal>
            <c:numRef>
              <c:f>Sheet1!$X$3:$X$5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Sheet1!$Y$3:$Y$5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EC0-40B7-BDB6-ECEB7AE348A5}"/>
            </c:ext>
          </c:extLst>
        </c:ser>
        <c:ser>
          <c:idx val="1"/>
          <c:order val="1"/>
          <c:tx>
            <c:strRef>
              <c:f>Sheet1!$Z$2</c:f>
              <c:strCache>
                <c:ptCount val="1"/>
                <c:pt idx="0">
                  <c:v>dose 0.5X</c:v>
                </c:pt>
              </c:strCache>
            </c:strRef>
          </c:tx>
          <c:xVal>
            <c:numRef>
              <c:f>Sheet1!$X$3:$X$5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Sheet1!$Z$3:$Z$5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EC0-40B7-BDB6-ECEB7AE348A5}"/>
            </c:ext>
          </c:extLst>
        </c:ser>
        <c:ser>
          <c:idx val="2"/>
          <c:order val="2"/>
          <c:tx>
            <c:strRef>
              <c:f>Sheet1!$AA$2</c:f>
              <c:strCache>
                <c:ptCount val="1"/>
                <c:pt idx="0">
                  <c:v>dose 1X</c:v>
                </c:pt>
              </c:strCache>
            </c:strRef>
          </c:tx>
          <c:xVal>
            <c:numRef>
              <c:f>Sheet1!$X$3:$X$5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Sheet1!$AA$3:$AA$5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EC0-40B7-BDB6-ECEB7AE348A5}"/>
            </c:ext>
          </c:extLst>
        </c:ser>
        <c:ser>
          <c:idx val="3"/>
          <c:order val="3"/>
          <c:tx>
            <c:strRef>
              <c:f>Sheet1!$AB$2</c:f>
              <c:strCache>
                <c:ptCount val="1"/>
                <c:pt idx="0">
                  <c:v>dose 2X</c:v>
                </c:pt>
              </c:strCache>
            </c:strRef>
          </c:tx>
          <c:xVal>
            <c:numRef>
              <c:f>Sheet1!$X$3:$X$5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Sheet1!$AB$3:$AB$5</c:f>
              <c:numCache>
                <c:formatCode>General</c:formatCode>
                <c:ptCount val="3"/>
                <c:pt idx="0">
                  <c:v>10</c:v>
                </c:pt>
                <c:pt idx="1">
                  <c:v>30</c:v>
                </c:pt>
                <c:pt idx="2">
                  <c:v>40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EC0-40B7-BDB6-ECEB7AE348A5}"/>
            </c:ext>
          </c:extLst>
        </c:ser>
        <c:ser>
          <c:idx val="4"/>
          <c:order val="4"/>
          <c:tx>
            <c:strRef>
              <c:f>Sheet1!$AC$2</c:f>
              <c:strCache>
                <c:ptCount val="1"/>
                <c:pt idx="0">
                  <c:v>dose 4X</c:v>
                </c:pt>
              </c:strCache>
            </c:strRef>
          </c:tx>
          <c:xVal>
            <c:numRef>
              <c:f>Sheet1!$X$3:$X$5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Sheet1!$AC$3:$AC$5</c:f>
              <c:numCache>
                <c:formatCode>General</c:formatCode>
                <c:ptCount val="3"/>
                <c:pt idx="0">
                  <c:v>10</c:v>
                </c:pt>
                <c:pt idx="1">
                  <c:v>35</c:v>
                </c:pt>
                <c:pt idx="2">
                  <c:v>45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DEC0-40B7-BDB6-ECEB7AE348A5}"/>
            </c:ext>
          </c:extLst>
        </c:ser>
        <c:ser>
          <c:idx val="5"/>
          <c:order val="5"/>
          <c:tx>
            <c:strRef>
              <c:f>Sheet1!$AD$2</c:f>
              <c:strCache>
                <c:ptCount val="1"/>
                <c:pt idx="0">
                  <c:v>dose 10X</c:v>
                </c:pt>
              </c:strCache>
            </c:strRef>
          </c:tx>
          <c:xVal>
            <c:numRef>
              <c:f>Sheet1!$X$3:$X$5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30</c:v>
                </c:pt>
              </c:numCache>
            </c:numRef>
          </c:xVal>
          <c:yVal>
            <c:numRef>
              <c:f>Sheet1!$AD$3:$AD$5</c:f>
              <c:numCache>
                <c:formatCode>General</c:formatCode>
                <c:ptCount val="3"/>
                <c:pt idx="0">
                  <c:v>10</c:v>
                </c:pt>
                <c:pt idx="1">
                  <c:v>50</c:v>
                </c:pt>
                <c:pt idx="2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DEC0-40B7-BDB6-ECEB7AE348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6474368"/>
        <c:axId val="176755072"/>
      </c:scatterChart>
      <c:valAx>
        <c:axId val="17647436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Days in culture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6755072"/>
        <c:crosses val="autoZero"/>
        <c:crossBetween val="midCat"/>
      </c:valAx>
      <c:valAx>
        <c:axId val="176755072"/>
        <c:scaling>
          <c:orientation val="minMax"/>
        </c:scaling>
        <c:delete val="0"/>
        <c:axPos val="l"/>
        <c:title>
          <c:tx>
            <c:rich>
              <a:bodyPr rot="0" vert="wordArtVert"/>
              <a:lstStyle/>
              <a:p>
                <a:pPr>
                  <a:defRPr/>
                </a:pPr>
                <a:r>
                  <a:rPr lang="en-US" dirty="0"/>
                  <a:t>X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647436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6513055555555558"/>
          <c:y val="0.24884842519685044"/>
          <c:w val="0.19313888888888889"/>
          <c:h val="0.50230314960629907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1"/>
          <c:order val="0"/>
          <c:tx>
            <c:strRef>
              <c:f>Sheet1!$Y$26</c:f>
              <c:strCache>
                <c:ptCount val="1"/>
                <c:pt idx="0">
                  <c:v>day 10</c:v>
                </c:pt>
              </c:strCache>
            </c:strRef>
          </c:tx>
          <c:xVal>
            <c:numRef>
              <c:f>Sheet1!$X$27:$X$32</c:f>
              <c:numCache>
                <c:formatCode>General</c:formatCode>
                <c:ptCount val="6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2</c:v>
                </c:pt>
                <c:pt idx="4">
                  <c:v>4</c:v>
                </c:pt>
                <c:pt idx="5">
                  <c:v>10</c:v>
                </c:pt>
              </c:numCache>
            </c:numRef>
          </c:xVal>
          <c:yVal>
            <c:numRef>
              <c:f>Sheet1!$Y$27:$Y$32</c:f>
              <c:numCache>
                <c:formatCode>General</c:formatCode>
                <c:ptCount val="6"/>
                <c:pt idx="0">
                  <c:v>10</c:v>
                </c:pt>
                <c:pt idx="1">
                  <c:v>12</c:v>
                </c:pt>
                <c:pt idx="2">
                  <c:v>20</c:v>
                </c:pt>
                <c:pt idx="3">
                  <c:v>30</c:v>
                </c:pt>
                <c:pt idx="4">
                  <c:v>35</c:v>
                </c:pt>
                <c:pt idx="5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030-47AF-8A3A-80405DCA917E}"/>
            </c:ext>
          </c:extLst>
        </c:ser>
        <c:ser>
          <c:idx val="2"/>
          <c:order val="1"/>
          <c:tx>
            <c:strRef>
              <c:f>Sheet1!$Z$26</c:f>
              <c:strCache>
                <c:ptCount val="1"/>
                <c:pt idx="0">
                  <c:v>day 30</c:v>
                </c:pt>
              </c:strCache>
            </c:strRef>
          </c:tx>
          <c:xVal>
            <c:numRef>
              <c:f>Sheet1!$X$27:$X$32</c:f>
              <c:numCache>
                <c:formatCode>General</c:formatCode>
                <c:ptCount val="6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2</c:v>
                </c:pt>
                <c:pt idx="4">
                  <c:v>4</c:v>
                </c:pt>
                <c:pt idx="5">
                  <c:v>10</c:v>
                </c:pt>
              </c:numCache>
            </c:numRef>
          </c:xVal>
          <c:yVal>
            <c:numRef>
              <c:f>Sheet1!$Z$27:$Z$32</c:f>
              <c:numCache>
                <c:formatCode>General</c:formatCode>
                <c:ptCount val="6"/>
                <c:pt idx="0">
                  <c:v>10</c:v>
                </c:pt>
                <c:pt idx="1">
                  <c:v>15</c:v>
                </c:pt>
                <c:pt idx="2">
                  <c:v>25</c:v>
                </c:pt>
                <c:pt idx="3">
                  <c:v>40</c:v>
                </c:pt>
                <c:pt idx="4">
                  <c:v>45</c:v>
                </c:pt>
                <c:pt idx="5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030-47AF-8A3A-80405DCA91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6784512"/>
        <c:axId val="176786432"/>
      </c:scatterChart>
      <c:valAx>
        <c:axId val="1767845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treatment</a:t>
                </a:r>
                <a:r>
                  <a:rPr lang="en-US" baseline="0"/>
                  <a:t> concentration</a:t>
                </a:r>
                <a:endParaRPr lang="en-US"/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6786432"/>
        <c:crosses val="autoZero"/>
        <c:crossBetween val="midCat"/>
      </c:valAx>
      <c:valAx>
        <c:axId val="176786432"/>
        <c:scaling>
          <c:orientation val="minMax"/>
        </c:scaling>
        <c:delete val="0"/>
        <c:axPos val="l"/>
        <c:title>
          <c:tx>
            <c:rich>
              <a:bodyPr rot="0" vert="wordArtVert"/>
              <a:lstStyle/>
              <a:p>
                <a:pPr>
                  <a:defRPr/>
                </a:pPr>
                <a:r>
                  <a:rPr lang="en-US"/>
                  <a:t>X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6784512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50841666666666618"/>
          <c:y val="0.40702354913969102"/>
          <c:w val="0.19577319587628875"/>
          <c:h val="0.16743438320209991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Sheet3!$C$2</c:f>
              <c:strCache>
                <c:ptCount val="1"/>
                <c:pt idx="0">
                  <c:v>Y</c:v>
                </c:pt>
              </c:strCache>
            </c:strRef>
          </c:tx>
          <c:spPr>
            <a:ln w="28575">
              <a:noFill/>
            </a:ln>
          </c:spPr>
          <c:marker>
            <c:symbol val="circle"/>
            <c:size val="7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</c:spPr>
          </c:marker>
          <c:xVal>
            <c:numRef>
              <c:f>Sheet3!$B$3:$B$12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Sheet3!$C$3:$C$12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11</c:v>
                </c:pt>
                <c:pt idx="6">
                  <c:v>11.3</c:v>
                </c:pt>
                <c:pt idx="7">
                  <c:v>11.4</c:v>
                </c:pt>
                <c:pt idx="8">
                  <c:v>11.4</c:v>
                </c:pt>
                <c:pt idx="9">
                  <c:v>11.450000000000005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E1-41BD-828D-EDFFB737D5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7037696"/>
        <c:axId val="177040000"/>
      </c:scatterChart>
      <c:valAx>
        <c:axId val="1770376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rPr lang="en-US" sz="1100" dirty="0"/>
                  <a:t>Amount of protein loaded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7040000"/>
        <c:crosses val="autoZero"/>
        <c:crossBetween val="midCat"/>
      </c:valAx>
      <c:valAx>
        <c:axId val="17704000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100"/>
                </a:pPr>
                <a:r>
                  <a:rPr lang="en-US" sz="1100" dirty="0"/>
                  <a:t>Band intensity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7037696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31638" y="0"/>
            <a:ext cx="4002299" cy="350520"/>
          </a:xfrm>
          <a:prstGeom prst="rect">
            <a:avLst/>
          </a:prstGeom>
        </p:spPr>
        <p:txBody>
          <a:bodyPr vert="horz" lIns="91946" tIns="45972" rIns="91946" bIns="45972" rtlCol="0"/>
          <a:lstStyle>
            <a:lvl1pPr algn="r">
              <a:defRPr sz="1200"/>
            </a:lvl1pPr>
          </a:lstStyle>
          <a:p>
            <a:fld id="{AF4113FA-DD48-4DC6-A2AB-1233EBCD7036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31638" y="6658664"/>
            <a:ext cx="4002299" cy="350520"/>
          </a:xfrm>
          <a:prstGeom prst="rect">
            <a:avLst/>
          </a:prstGeom>
        </p:spPr>
        <p:txBody>
          <a:bodyPr vert="horz" lIns="91946" tIns="45972" rIns="91946" bIns="45972" rtlCol="0" anchor="b"/>
          <a:lstStyle>
            <a:lvl1pPr algn="r">
              <a:defRPr sz="1200"/>
            </a:lvl1pPr>
          </a:lstStyle>
          <a:p>
            <a:fld id="{8DCFF320-602A-47FE-8E33-2A72AAA34B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357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299" cy="350520"/>
          </a:xfrm>
          <a:prstGeom prst="rect">
            <a:avLst/>
          </a:prstGeom>
        </p:spPr>
        <p:txBody>
          <a:bodyPr vert="horz" lIns="91946" tIns="45972" rIns="91946" bIns="4597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1638" y="0"/>
            <a:ext cx="4002299" cy="350520"/>
          </a:xfrm>
          <a:prstGeom prst="rect">
            <a:avLst/>
          </a:prstGeom>
        </p:spPr>
        <p:txBody>
          <a:bodyPr vert="horz" lIns="91946" tIns="45972" rIns="91946" bIns="45972" rtlCol="0"/>
          <a:lstStyle>
            <a:lvl1pPr algn="r">
              <a:defRPr sz="1200"/>
            </a:lvl1pPr>
          </a:lstStyle>
          <a:p>
            <a:fld id="{FCBD60E4-0BC3-41B4-82B2-1C156EE1360F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08288" y="527050"/>
            <a:ext cx="36195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946" tIns="45972" rIns="91946" bIns="4597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608" y="3329940"/>
            <a:ext cx="7388860" cy="3154680"/>
          </a:xfrm>
          <a:prstGeom prst="rect">
            <a:avLst/>
          </a:prstGeom>
        </p:spPr>
        <p:txBody>
          <a:bodyPr vert="horz" lIns="91946" tIns="45972" rIns="91946" bIns="4597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02299" cy="350520"/>
          </a:xfrm>
          <a:prstGeom prst="rect">
            <a:avLst/>
          </a:prstGeom>
        </p:spPr>
        <p:txBody>
          <a:bodyPr vert="horz" lIns="91946" tIns="45972" rIns="91946" bIns="4597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1638" y="6658664"/>
            <a:ext cx="4002299" cy="350520"/>
          </a:xfrm>
          <a:prstGeom prst="rect">
            <a:avLst/>
          </a:prstGeom>
        </p:spPr>
        <p:txBody>
          <a:bodyPr vert="horz" lIns="91946" tIns="45972" rIns="91946" bIns="45972" rtlCol="0" anchor="b"/>
          <a:lstStyle>
            <a:lvl1pPr algn="r">
              <a:defRPr sz="1200"/>
            </a:lvl1pPr>
          </a:lstStyle>
          <a:p>
            <a:fld id="{489A82AA-38B2-4431-9E73-5E33BF14A3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688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5618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78094" algn="l" defTabSz="95618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56188" algn="l" defTabSz="95618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434282" algn="l" defTabSz="95618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912376" algn="l" defTabSz="95618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390470" algn="l" defTabSz="95618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868564" algn="l" defTabSz="95618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346658" algn="l" defTabSz="95618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824752" algn="l" defTabSz="95618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08288" y="527050"/>
            <a:ext cx="3619500" cy="2628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9A82AA-38B2-4431-9E73-5E33BF14A34E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9A82AA-38B2-4431-9E73-5E33BF14A34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96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08288" y="527050"/>
            <a:ext cx="3619500" cy="2628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9A82AA-38B2-4431-9E73-5E33BF14A34E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996" y="2187138"/>
            <a:ext cx="8239284" cy="15091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3991" y="3989652"/>
            <a:ext cx="6785293" cy="179925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80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61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4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2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0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68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46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247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596CF-87BB-43FC-91C8-E04D36866874}" type="datetime1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PATH 548Q- June 2014- Helene Cote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4D82-5BC8-4049-B8C4-0FDB2E918D4A}" type="datetime1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PATH 548Q- June 2014- Helene Cote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702" y="4524214"/>
            <a:ext cx="8239284" cy="1398334"/>
          </a:xfrm>
        </p:spPr>
        <p:txBody>
          <a:bodyPr anchor="t"/>
          <a:lstStyle>
            <a:lvl1pPr algn="l">
              <a:defRPr sz="4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702" y="2984091"/>
            <a:ext cx="8239284" cy="1540123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7809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56188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3428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123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39047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86856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3466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82475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D07A0-605B-43EF-B39D-17EF28A4C67D}" type="datetime1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PATH 548Q- June 2014- Helene Cote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4664" y="1642799"/>
            <a:ext cx="4281196" cy="4646446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7415" y="1642799"/>
            <a:ext cx="4281196" cy="4646446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ACB29-FAF4-4559-AAB4-FB36C87F71B2}" type="datetime1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PATH 548Q- June 2014- Helene Cote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4664" y="1575978"/>
            <a:ext cx="4282880" cy="656793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8094" indent="0">
              <a:buNone/>
              <a:defRPr sz="2100" b="1"/>
            </a:lvl2pPr>
            <a:lvl3pPr marL="956188" indent="0">
              <a:buNone/>
              <a:defRPr sz="1900" b="1"/>
            </a:lvl3pPr>
            <a:lvl4pPr marL="1434282" indent="0">
              <a:buNone/>
              <a:defRPr sz="1700" b="1"/>
            </a:lvl4pPr>
            <a:lvl5pPr marL="1912376" indent="0">
              <a:buNone/>
              <a:defRPr sz="1700" b="1"/>
            </a:lvl5pPr>
            <a:lvl6pPr marL="2390470" indent="0">
              <a:buNone/>
              <a:defRPr sz="1700" b="1"/>
            </a:lvl6pPr>
            <a:lvl7pPr marL="2868564" indent="0">
              <a:buNone/>
              <a:defRPr sz="1700" b="1"/>
            </a:lvl7pPr>
            <a:lvl8pPr marL="3346658" indent="0">
              <a:buNone/>
              <a:defRPr sz="1700" b="1"/>
            </a:lvl8pPr>
            <a:lvl9pPr marL="3824752" indent="0">
              <a:buNone/>
              <a:defRPr sz="1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664" y="2232771"/>
            <a:ext cx="4282880" cy="4056473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4050" y="1575978"/>
            <a:ext cx="4284562" cy="656793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8094" indent="0">
              <a:buNone/>
              <a:defRPr sz="2100" b="1"/>
            </a:lvl2pPr>
            <a:lvl3pPr marL="956188" indent="0">
              <a:buNone/>
              <a:defRPr sz="1900" b="1"/>
            </a:lvl3pPr>
            <a:lvl4pPr marL="1434282" indent="0">
              <a:buNone/>
              <a:defRPr sz="1700" b="1"/>
            </a:lvl4pPr>
            <a:lvl5pPr marL="1912376" indent="0">
              <a:buNone/>
              <a:defRPr sz="1700" b="1"/>
            </a:lvl5pPr>
            <a:lvl6pPr marL="2390470" indent="0">
              <a:buNone/>
              <a:defRPr sz="1700" b="1"/>
            </a:lvl6pPr>
            <a:lvl7pPr marL="2868564" indent="0">
              <a:buNone/>
              <a:defRPr sz="1700" b="1"/>
            </a:lvl7pPr>
            <a:lvl8pPr marL="3346658" indent="0">
              <a:buNone/>
              <a:defRPr sz="1700" b="1"/>
            </a:lvl8pPr>
            <a:lvl9pPr marL="3824752" indent="0">
              <a:buNone/>
              <a:defRPr sz="1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4050" y="2232771"/>
            <a:ext cx="4284562" cy="4056473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ED784-6751-4F75-8148-0EF74916AC7A}" type="datetime1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PATH 548Q- June 2014- Helene Cote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38E3-2BFC-49F9-949E-DB620013B571}" type="datetime1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PATH 548Q- June 2014- Helene Cote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FADBD-D5D1-46B9-A8AC-329E92913926}" type="datetime1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PATH 548Q- June 2014- Helene Cote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64" y="280319"/>
            <a:ext cx="3189021" cy="1192984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9801" y="280319"/>
            <a:ext cx="5418810" cy="6008925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4664" y="1473304"/>
            <a:ext cx="3189021" cy="4815941"/>
          </a:xfrm>
        </p:spPr>
        <p:txBody>
          <a:bodyPr/>
          <a:lstStyle>
            <a:lvl1pPr marL="0" indent="0">
              <a:buNone/>
              <a:defRPr sz="1500"/>
            </a:lvl1pPr>
            <a:lvl2pPr marL="478094" indent="0">
              <a:buNone/>
              <a:defRPr sz="1300"/>
            </a:lvl2pPr>
            <a:lvl3pPr marL="956188" indent="0">
              <a:buNone/>
              <a:defRPr sz="1000"/>
            </a:lvl3pPr>
            <a:lvl4pPr marL="1434282" indent="0">
              <a:buNone/>
              <a:defRPr sz="900"/>
            </a:lvl4pPr>
            <a:lvl5pPr marL="1912376" indent="0">
              <a:buNone/>
              <a:defRPr sz="900"/>
            </a:lvl5pPr>
            <a:lvl6pPr marL="2390470" indent="0">
              <a:buNone/>
              <a:defRPr sz="900"/>
            </a:lvl6pPr>
            <a:lvl7pPr marL="2868564" indent="0">
              <a:buNone/>
              <a:defRPr sz="900"/>
            </a:lvl7pPr>
            <a:lvl8pPr marL="3346658" indent="0">
              <a:buNone/>
              <a:defRPr sz="900"/>
            </a:lvl8pPr>
            <a:lvl9pPr marL="382475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50896-C74F-4733-81BC-A0FAFFB6FA15}" type="datetime1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PATH 548Q- June 2014- Helene Cote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9950" y="4928394"/>
            <a:ext cx="5815965" cy="581825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9950" y="629087"/>
            <a:ext cx="5815965" cy="4224338"/>
          </a:xfrm>
        </p:spPr>
        <p:txBody>
          <a:bodyPr/>
          <a:lstStyle>
            <a:lvl1pPr marL="0" indent="0">
              <a:buNone/>
              <a:defRPr sz="3300"/>
            </a:lvl1pPr>
            <a:lvl2pPr marL="478094" indent="0">
              <a:buNone/>
              <a:defRPr sz="2900"/>
            </a:lvl2pPr>
            <a:lvl3pPr marL="956188" indent="0">
              <a:buNone/>
              <a:defRPr sz="2500"/>
            </a:lvl3pPr>
            <a:lvl4pPr marL="1434282" indent="0">
              <a:buNone/>
              <a:defRPr sz="2100"/>
            </a:lvl4pPr>
            <a:lvl5pPr marL="1912376" indent="0">
              <a:buNone/>
              <a:defRPr sz="2100"/>
            </a:lvl5pPr>
            <a:lvl6pPr marL="2390470" indent="0">
              <a:buNone/>
              <a:defRPr sz="2100"/>
            </a:lvl6pPr>
            <a:lvl7pPr marL="2868564" indent="0">
              <a:buNone/>
              <a:defRPr sz="2100"/>
            </a:lvl7pPr>
            <a:lvl8pPr marL="3346658" indent="0">
              <a:buNone/>
              <a:defRPr sz="2100"/>
            </a:lvl8pPr>
            <a:lvl9pPr marL="3824752" indent="0">
              <a:buNone/>
              <a:defRPr sz="21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9950" y="5510219"/>
            <a:ext cx="5815965" cy="826288"/>
          </a:xfrm>
        </p:spPr>
        <p:txBody>
          <a:bodyPr/>
          <a:lstStyle>
            <a:lvl1pPr marL="0" indent="0">
              <a:buNone/>
              <a:defRPr sz="1500"/>
            </a:lvl1pPr>
            <a:lvl2pPr marL="478094" indent="0">
              <a:buNone/>
              <a:defRPr sz="1300"/>
            </a:lvl2pPr>
            <a:lvl3pPr marL="956188" indent="0">
              <a:buNone/>
              <a:defRPr sz="1000"/>
            </a:lvl3pPr>
            <a:lvl4pPr marL="1434282" indent="0">
              <a:buNone/>
              <a:defRPr sz="900"/>
            </a:lvl4pPr>
            <a:lvl5pPr marL="1912376" indent="0">
              <a:buNone/>
              <a:defRPr sz="900"/>
            </a:lvl5pPr>
            <a:lvl6pPr marL="2390470" indent="0">
              <a:buNone/>
              <a:defRPr sz="900"/>
            </a:lvl6pPr>
            <a:lvl7pPr marL="2868564" indent="0">
              <a:buNone/>
              <a:defRPr sz="900"/>
            </a:lvl7pPr>
            <a:lvl8pPr marL="3346658" indent="0">
              <a:buNone/>
              <a:defRPr sz="900"/>
            </a:lvl8pPr>
            <a:lvl9pPr marL="382475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B5477-062A-4A69-BF0E-ABF5BF06EB9C}" type="datetime1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PATH 548Q- June 2014- Helene Cote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3458-B7F7-4D7E-826D-3B29EEE85CBA}" type="datetime1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PATH 548Q- June 2014- Helene Cote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7624" y="281950"/>
            <a:ext cx="2180987" cy="60072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4664" y="281950"/>
            <a:ext cx="6381406" cy="60072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AE077-96CC-45E8-B82C-C94FC89C84FD}" type="datetime1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PATH 548Q- June 2014- Helene Cote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664" y="281949"/>
            <a:ext cx="8723948" cy="1173427"/>
          </a:xfrm>
          <a:prstGeom prst="rect">
            <a:avLst/>
          </a:prstGeom>
        </p:spPr>
        <p:txBody>
          <a:bodyPr vert="horz" lIns="95619" tIns="47809" rIns="95619" bIns="4780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4664" y="1642799"/>
            <a:ext cx="8723948" cy="4646446"/>
          </a:xfrm>
          <a:prstGeom prst="rect">
            <a:avLst/>
          </a:prstGeom>
        </p:spPr>
        <p:txBody>
          <a:bodyPr vert="horz" lIns="95619" tIns="47809" rIns="95619" bIns="4780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466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8DF4-4EED-4DB0-A3BD-DE87F2A97EF8}" type="datetime1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11869" y="6525559"/>
            <a:ext cx="3069537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PATH 548Q- June 2014- Helene Cote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F07AE-1E89-4AE4-98DC-E8711993B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56188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8571" indent="-358571" algn="l" defTabSz="956188" rtl="0" eaLnBrk="1" latinLnBrk="0" hangingPunct="1">
        <a:spcBef>
          <a:spcPct val="20000"/>
        </a:spcBef>
        <a:buFont typeface="Arial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776903" indent="-298809" algn="l" defTabSz="956188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95235" indent="-239047" algn="l" defTabSz="95618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3329" indent="-239047" algn="l" defTabSz="956188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1423" indent="-239047" algn="l" defTabSz="956188" rtl="0" eaLnBrk="1" latinLnBrk="0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29517" indent="-239047" algn="l" defTabSz="95618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07611" indent="-239047" algn="l" defTabSz="95618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85705" indent="-239047" algn="l" defTabSz="95618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63799" indent="-239047" algn="l" defTabSz="95618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618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094" algn="l" defTabSz="95618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6188" algn="l" defTabSz="95618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4282" algn="l" defTabSz="95618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2376" algn="l" defTabSz="95618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470" algn="l" defTabSz="95618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68564" algn="l" defTabSz="95618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46658" algn="l" defTabSz="95618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24752" algn="l" defTabSz="95618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openxmlformats.org/officeDocument/2006/relationships/chart" Target="../charts/chart3.xml"/><Relationship Id="rId7" Type="http://schemas.openxmlformats.org/officeDocument/2006/relationships/chart" Target="../charts/chart7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7" Type="http://schemas.openxmlformats.org/officeDocument/2006/relationships/chart" Target="../charts/chart14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8.xml"/><Relationship Id="rId4" Type="http://schemas.openxmlformats.org/officeDocument/2006/relationships/chart" Target="../charts/char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file:///C:\Documents%20and%20Settings\hcote\My%20Documents\Downloads\Hoojimans%20FINAL.pdf" TargetMode="External"/><Relationship Id="rId2" Type="http://schemas.openxmlformats.org/officeDocument/2006/relationships/hyperlink" Target="http://www.3rs-reduction.co.uk/assets/applets/Festing_Altman.pdf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ontrols.engin.umich.edu/wiki/index.php/Design_of_experiments_via_factorial_desig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894454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r>
              <a:rPr lang="en-US" sz="2500" b="1" dirty="0"/>
              <a:t>Experimental study design considerations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FE3266-1C45-495C-9BD5-7E48158F1CF3}"/>
              </a:ext>
            </a:extLst>
          </p:cNvPr>
          <p:cNvSpPr txBox="1"/>
          <p:nvPr/>
        </p:nvSpPr>
        <p:spPr>
          <a:xfrm>
            <a:off x="503237" y="2072481"/>
            <a:ext cx="115288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76092"/>
                </a:solidFill>
              </a:rPr>
              <a:t>Module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2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8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2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2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2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2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4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2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6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2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Lecture objectives</a:t>
            </a:r>
            <a:endParaRPr lang="en-US" sz="3300" dirty="0"/>
          </a:p>
        </p:txBody>
      </p:sp>
      <p:sp>
        <p:nvSpPr>
          <p:cNvPr id="18" name="TextBox 17"/>
          <p:cNvSpPr txBox="1"/>
          <p:nvPr/>
        </p:nvSpPr>
        <p:spPr>
          <a:xfrm>
            <a:off x="323109" y="1095199"/>
            <a:ext cx="8714528" cy="4436201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pPr marL="358571" indent="-358571">
              <a:buClr>
                <a:schemeClr val="accent1">
                  <a:lumMod val="75000"/>
                </a:schemeClr>
              </a:buClr>
            </a:pP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Become familiar with the factors to consider before starting in vitro, cell culture, or animal studies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  <a:buAutoNum type="arabicPeriod"/>
            </a:pP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Recognize the importance of power and how it influences the study design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  <a:buAutoNum type="arabicPeriod"/>
            </a:pP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AutoNum type="arabicPeriod"/>
            </a:pP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pPr marL="358571" indent="-358571">
              <a:buClr>
                <a:schemeClr val="accent1">
                  <a:lumMod val="75000"/>
                </a:schemeClr>
              </a:buClr>
            </a:pPr>
            <a:br>
              <a:rPr lang="en-US" sz="2100" dirty="0">
                <a:solidFill>
                  <a:schemeClr val="accent1">
                    <a:lumMod val="50000"/>
                  </a:schemeClr>
                </a:solidFill>
              </a:rPr>
            </a:b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 marL="358571" indent="-358571">
              <a:buClr>
                <a:schemeClr val="accent1">
                  <a:lumMod val="75000"/>
                </a:schemeClr>
              </a:buClr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 marL="358571" indent="-358571">
              <a:buClr>
                <a:schemeClr val="accent1">
                  <a:lumMod val="75000"/>
                </a:schemeClr>
              </a:buClr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3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8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3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3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2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3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4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3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6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3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Lecture: Study design consideration</a:t>
            </a:r>
            <a:endParaRPr lang="en-US" sz="3300" dirty="0"/>
          </a:p>
        </p:txBody>
      </p:sp>
      <p:sp>
        <p:nvSpPr>
          <p:cNvPr id="18" name="TextBox 17"/>
          <p:cNvSpPr txBox="1"/>
          <p:nvPr/>
        </p:nvSpPr>
        <p:spPr>
          <a:xfrm>
            <a:off x="323109" y="1095199"/>
            <a:ext cx="9370166" cy="6744526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pPr marL="358571" indent="-358571">
              <a:buClr>
                <a:schemeClr val="accent1">
                  <a:lumMod val="75000"/>
                </a:schemeClr>
              </a:buClr>
            </a:pPr>
            <a:r>
              <a:rPr lang="en-US" sz="2500" b="1" dirty="0">
                <a:solidFill>
                  <a:schemeClr val="accent1">
                    <a:lumMod val="50000"/>
                  </a:schemeClr>
                </a:solidFill>
              </a:rPr>
              <a:t>Start with a research question, then consider:</a:t>
            </a:r>
          </a:p>
          <a:p>
            <a:pPr marL="358571" indent="-358571">
              <a:buClr>
                <a:schemeClr val="accent1">
                  <a:lumMod val="75000"/>
                </a:schemeClr>
              </a:buClr>
            </a:pP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Type of research/model (in vitro, cultured cells, animals, humans)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  <a:buAutoNum type="arabicPeriod"/>
            </a:pP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Study population and study sample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  <a:buAutoNum type="arabicPeriod"/>
            </a:pP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Study sample’s characteristic that you want to measure/study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  <a:buAutoNum type="arabicPeriod"/>
            </a:pP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Assays/methods that you will use to investigate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  <a:buAutoNum type="arabicPeriod"/>
            </a:pP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Number of replicate assays, sample size (independent or biological replicates)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  <a:buAutoNum type="arabicPeriod"/>
            </a:pP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Statistical analyses you will use to answer your research question</a:t>
            </a: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 marL="358571" indent="-358571">
              <a:buClr>
                <a:schemeClr val="accent1">
                  <a:lumMod val="75000"/>
                </a:schemeClr>
              </a:buClr>
            </a:pPr>
            <a:br>
              <a:rPr lang="en-US" sz="2100" dirty="0">
                <a:solidFill>
                  <a:schemeClr val="accent1">
                    <a:lumMod val="50000"/>
                  </a:schemeClr>
                </a:solidFill>
              </a:rPr>
            </a:b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 marL="358571" indent="-358571">
              <a:buClr>
                <a:schemeClr val="accent1">
                  <a:lumMod val="75000"/>
                </a:schemeClr>
              </a:buClr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 marL="358571" indent="-358571">
              <a:buClr>
                <a:schemeClr val="accent1">
                  <a:lumMod val="75000"/>
                </a:schemeClr>
              </a:buClr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933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1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3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5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7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</a:t>
            </a:r>
            <a:endParaRPr lang="en-US" sz="3300" dirty="0"/>
          </a:p>
        </p:txBody>
      </p:sp>
      <p:sp>
        <p:nvSpPr>
          <p:cNvPr id="19" name="TextBox 18"/>
          <p:cNvSpPr txBox="1"/>
          <p:nvPr/>
        </p:nvSpPr>
        <p:spPr>
          <a:xfrm>
            <a:off x="323110" y="1095199"/>
            <a:ext cx="9208610" cy="5913529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sz="2500" b="1" dirty="0">
                <a:solidFill>
                  <a:schemeClr val="accent1">
                    <a:lumMod val="50000"/>
                  </a:schemeClr>
                </a:solidFill>
              </a:rPr>
              <a:t>Research question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Examples: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	- Effect of a drug on a disease outcome?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	- Investigation of what signaling pathway is turned on by…?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	- Could a test be a biomarker for a given disease?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	- What are the risk factors associated with a given </a:t>
            </a:r>
            <a:br>
              <a:rPr lang="en-US" sz="25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   disease/diagnostic/outcome?</a:t>
            </a:r>
          </a:p>
          <a:p>
            <a:pPr marL="358571" indent="-358571">
              <a:buClr>
                <a:schemeClr val="accent1">
                  <a:lumMod val="75000"/>
                </a:schemeClr>
              </a:buClr>
            </a:pP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Exploratory (pilot) or confirmatory? are you “looking” for a potential signal or are testing a hypothesis?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  <a:buFontTx/>
              <a:buChar char="-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It’s OK to explore in order to “generate hypotheses”, as long as you don’t treat the exploration as a confirmatory study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  <a:buFontTx/>
              <a:buChar char="-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Often don’t have enough information to go straight into the big study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  <a:buFontTx/>
              <a:buChar char="-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Sometimes you feel you have enough info but not enough $</a:t>
            </a:r>
          </a:p>
          <a:p>
            <a:pPr marL="358571" indent="-358571">
              <a:buClr>
                <a:schemeClr val="accent1">
                  <a:lumMod val="75000"/>
                </a:schemeClr>
              </a:buClr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5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5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5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1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5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3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5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5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5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7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5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9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5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 – </a:t>
            </a:r>
            <a:r>
              <a:rPr lang="en-US" sz="3300" dirty="0"/>
              <a:t>pilot or exploratory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555" y="853281"/>
            <a:ext cx="9409482" cy="6113584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500" b="1" dirty="0">
                <a:solidFill>
                  <a:schemeClr val="accent1">
                    <a:lumMod val="50000"/>
                  </a:schemeClr>
                </a:solidFill>
              </a:rPr>
              <a:t>Exploratory, meant to generate data that will: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	- tell you if something is worth pursuing at all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			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- hypothesis generating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		- is there any signal? You need to know before going further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	- serve as preliminary data in a grant application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			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-  small (= inexpensive) experiment that catches the attention of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                      reviewers, shows feasibility and convinces them that you should study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                      this in more detail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	- allow you to determine how you should do the “definitive” study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			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- preliminary data to allow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sample size calculations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to ensure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                     that the “definitive” study will be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powered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to answer the research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	  question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500" b="1" dirty="0">
                <a:solidFill>
                  <a:schemeClr val="accent1">
                    <a:lumMod val="50000"/>
                  </a:schemeClr>
                </a:solidFill>
              </a:rPr>
              <a:t>Size of exploratory study often dictated by feasibility (time and $)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6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6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6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1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6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3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6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5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6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7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6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9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6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1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6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 – </a:t>
            </a:r>
            <a:r>
              <a:rPr lang="en-US" sz="3300" dirty="0"/>
              <a:t>pilot or exploratory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555" y="1095199"/>
            <a:ext cx="9370166" cy="4697811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pPr marL="358571" indent="-358571">
              <a:buClr>
                <a:schemeClr val="accent1">
                  <a:lumMod val="75000"/>
                </a:schemeClr>
              </a:buClr>
            </a:pP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500" b="1" dirty="0">
                <a:solidFill>
                  <a:schemeClr val="accent1">
                    <a:lumMod val="50000"/>
                  </a:schemeClr>
                </a:solidFill>
              </a:rPr>
              <a:t>Good time to refine your method/assay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500" b="1" dirty="0">
                <a:solidFill>
                  <a:schemeClr val="accent1">
                    <a:lumMod val="50000"/>
                  </a:schemeClr>
                </a:solidFill>
              </a:rPr>
              <a:t>Get information that will be needed by biostatistician and later for publication, to explain how you calculated your sample size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500" b="1" dirty="0">
                <a:solidFill>
                  <a:schemeClr val="accent1">
                    <a:lumMod val="50000"/>
                  </a:schemeClr>
                </a:solidFill>
              </a:rPr>
              <a:t>Questions you may want to answer at this stage: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	-  What are the sources of variability, error, bias?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	-  How feasible is my intended study? 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	-  How long does it take? How $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	-  How many replicates (assay/technical/independent) do I need?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7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7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7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1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7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3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7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5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7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7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7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9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7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1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7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3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7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5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7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 – </a:t>
            </a:r>
            <a:r>
              <a:rPr lang="en-US" sz="3300" dirty="0"/>
              <a:t>Types of study/research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555" y="1095199"/>
            <a:ext cx="9370166" cy="3820648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pPr marL="358571" indent="-358571">
              <a:buClr>
                <a:schemeClr val="accent1">
                  <a:lumMod val="75000"/>
                </a:schemeClr>
              </a:buClr>
            </a:pP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500" b="1" i="1" dirty="0">
                <a:solidFill>
                  <a:schemeClr val="accent1">
                    <a:lumMod val="50000"/>
                  </a:schemeClr>
                </a:solidFill>
              </a:rPr>
              <a:t>In vitro </a:t>
            </a:r>
            <a:r>
              <a:rPr lang="en-US" sz="2500" b="1" dirty="0">
                <a:solidFill>
                  <a:schemeClr val="accent1">
                    <a:lumMod val="50000"/>
                  </a:schemeClr>
                </a:solidFill>
              </a:rPr>
              <a:t>experiments/assays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500" b="1" dirty="0">
                <a:solidFill>
                  <a:schemeClr val="accent1">
                    <a:lumMod val="50000"/>
                  </a:schemeClr>
                </a:solidFill>
              </a:rPr>
              <a:t>Cell culture model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500" b="1" dirty="0">
                <a:solidFill>
                  <a:schemeClr val="accent1">
                    <a:lumMod val="50000"/>
                  </a:schemeClr>
                </a:solidFill>
              </a:rPr>
              <a:t>Animal model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500" b="1" dirty="0">
                <a:solidFill>
                  <a:schemeClr val="accent1">
                    <a:lumMod val="50000"/>
                  </a:schemeClr>
                </a:solidFill>
              </a:rPr>
              <a:t>Humans/clinical samples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endParaRPr lang="en-US" sz="25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" name="Isosceles Triangle 27"/>
          <p:cNvSpPr/>
          <p:nvPr/>
        </p:nvSpPr>
        <p:spPr>
          <a:xfrm>
            <a:off x="4618037" y="1310481"/>
            <a:ext cx="2064643" cy="28741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27037" y="5120481"/>
            <a:ext cx="8839200" cy="1558490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 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In vitro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and cell culture experiments are usually shorter and can often deal with a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   more complex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study design (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e.g.,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varied exposures. Duration, etc.)</a:t>
            </a: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Animal studies have more sources of variability and human studies have the most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because of social determinants of health, genetics, environmental exposures, etc…</a:t>
            </a:r>
          </a:p>
        </p:txBody>
      </p:sp>
      <p:sp>
        <p:nvSpPr>
          <p:cNvPr id="20" name="Isosceles Triangle 19"/>
          <p:cNvSpPr/>
          <p:nvPr/>
        </p:nvSpPr>
        <p:spPr>
          <a:xfrm flipV="1">
            <a:off x="6523037" y="1310481"/>
            <a:ext cx="2064643" cy="28741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904037" y="1539081"/>
            <a:ext cx="136813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Complexity</a:t>
            </a:r>
          </a:p>
          <a:p>
            <a:r>
              <a:rPr lang="en-US" dirty="0">
                <a:solidFill>
                  <a:schemeClr val="bg1"/>
                </a:solidFill>
              </a:rPr>
              <a:t>of the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9037" y="3596481"/>
            <a:ext cx="117295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Variability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</a:t>
            </a:r>
            <a:r>
              <a:rPr lang="en-US" sz="3300" b="1" i="1" dirty="0"/>
              <a:t>In vitro </a:t>
            </a:r>
            <a:r>
              <a:rPr lang="en-US" sz="3300" b="1" dirty="0"/>
              <a:t>or cell experiments – </a:t>
            </a:r>
            <a:r>
              <a:rPr lang="en-US" sz="3300" dirty="0"/>
              <a:t>replicates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32" y="1173428"/>
            <a:ext cx="9450943" cy="5036366"/>
          </a:xfrm>
          <a:prstGeom prst="rect">
            <a:avLst/>
          </a:prstGeom>
        </p:spPr>
        <p:txBody>
          <a:bodyPr wrap="square" lIns="95619" tIns="47809" rIns="95619" bIns="47809">
            <a:spAutoFit/>
          </a:bodyPr>
          <a:lstStyle/>
          <a:p>
            <a:pPr marL="478094" indent="-478094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en-US" sz="2500" b="1" dirty="0">
                <a:solidFill>
                  <a:schemeClr val="accent1">
                    <a:lumMod val="50000"/>
                  </a:schemeClr>
                </a:solidFill>
              </a:rPr>
              <a:t>Types of replicates (example for cell culture study)</a:t>
            </a:r>
          </a:p>
          <a:p>
            <a:pPr marL="956188" lvl="1" indent="-478094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	1. assay replicates </a:t>
            </a:r>
          </a:p>
          <a:p>
            <a:pPr marL="956188" lvl="1" indent="-478094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		- </a:t>
            </a:r>
            <a:r>
              <a:rPr lang="en-US" sz="2100" i="1" dirty="0">
                <a:solidFill>
                  <a:schemeClr val="accent1">
                    <a:lumMod val="50000"/>
                  </a:schemeClr>
                </a:solidFill>
              </a:rPr>
              <a:t>e.g., </a:t>
            </a: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same cell pellet assayed X times at the same time</a:t>
            </a:r>
          </a:p>
          <a:p>
            <a:pPr marL="956188" lvl="1" indent="-478094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	2. experimental or technical replicates </a:t>
            </a:r>
          </a:p>
          <a:p>
            <a:pPr marL="956188" lvl="1" indent="-478094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		- </a:t>
            </a:r>
            <a:r>
              <a:rPr lang="en-US" sz="2100" i="1" dirty="0">
                <a:solidFill>
                  <a:schemeClr val="accent1">
                    <a:lumMod val="50000"/>
                  </a:schemeClr>
                </a:solidFill>
              </a:rPr>
              <a:t>e.g., </a:t>
            </a: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number of flask or well per group, done at the same time</a:t>
            </a:r>
          </a:p>
          <a:p>
            <a:pPr marL="956188" lvl="1" indent="-478094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	3. independent replicates</a:t>
            </a:r>
          </a:p>
          <a:p>
            <a:pPr marL="956188" lvl="1" indent="-478094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		- experiments repeated on same cell line at another time</a:t>
            </a:r>
          </a:p>
          <a:p>
            <a:pPr marL="956188" lvl="1" indent="-478094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	4. biological replicates </a:t>
            </a:r>
          </a:p>
          <a:p>
            <a:pPr marL="956188" lvl="1" indent="-478094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		- experiment repeated on a different cell line</a:t>
            </a:r>
          </a:p>
          <a:p>
            <a:pPr marL="956188" lvl="1" indent="-478094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</a:t>
            </a:r>
            <a:r>
              <a:rPr lang="en-US" sz="3300" b="1" i="1" dirty="0"/>
              <a:t>In vitro </a:t>
            </a:r>
            <a:r>
              <a:rPr lang="en-US" sz="3300" b="1" dirty="0"/>
              <a:t>or cell experiments – </a:t>
            </a:r>
            <a:r>
              <a:rPr lang="en-US" sz="3300" dirty="0"/>
              <a:t>replicates</a:t>
            </a:r>
          </a:p>
        </p:txBody>
      </p:sp>
      <p:sp>
        <p:nvSpPr>
          <p:cNvPr id="12" name="Oval 11"/>
          <p:cNvSpPr/>
          <p:nvPr/>
        </p:nvSpPr>
        <p:spPr>
          <a:xfrm>
            <a:off x="3957762" y="2658260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4425714" y="2658260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4893664" y="2658260"/>
            <a:ext cx="267400" cy="273057"/>
          </a:xfrm>
          <a:prstGeom prst="ellipse">
            <a:avLst/>
          </a:prstGeom>
          <a:solidFill>
            <a:srgbClr val="37609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2754459" y="3545698"/>
            <a:ext cx="267400" cy="273057"/>
          </a:xfrm>
          <a:prstGeom prst="ellipse">
            <a:avLst/>
          </a:prstGeom>
          <a:solidFill>
            <a:srgbClr val="37609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3222410" y="3545698"/>
            <a:ext cx="267400" cy="273057"/>
          </a:xfrm>
          <a:prstGeom prst="ellipse">
            <a:avLst/>
          </a:prstGeom>
          <a:solidFill>
            <a:srgbClr val="37609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3690362" y="3545698"/>
            <a:ext cx="267400" cy="273057"/>
          </a:xfrm>
          <a:prstGeom prst="ellipse">
            <a:avLst/>
          </a:prstGeom>
          <a:solidFill>
            <a:srgbClr val="37609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4091462" y="3545698"/>
            <a:ext cx="267400" cy="273057"/>
          </a:xfrm>
          <a:prstGeom prst="ellipse">
            <a:avLst/>
          </a:prstGeom>
          <a:solidFill>
            <a:srgbClr val="37609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4559414" y="3545698"/>
            <a:ext cx="267400" cy="273057"/>
          </a:xfrm>
          <a:prstGeom prst="ellipse">
            <a:avLst/>
          </a:prstGeom>
          <a:solidFill>
            <a:srgbClr val="37609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5027365" y="3545698"/>
            <a:ext cx="267400" cy="273057"/>
          </a:xfrm>
          <a:prstGeom prst="ellipse">
            <a:avLst/>
          </a:prstGeom>
          <a:solidFill>
            <a:srgbClr val="37609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5428466" y="3545698"/>
            <a:ext cx="267400" cy="273057"/>
          </a:xfrm>
          <a:prstGeom prst="ellipse">
            <a:avLst/>
          </a:prstGeom>
          <a:solidFill>
            <a:srgbClr val="37609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5896417" y="3545698"/>
            <a:ext cx="267400" cy="273057"/>
          </a:xfrm>
          <a:prstGeom prst="ellipse">
            <a:avLst/>
          </a:prstGeom>
          <a:solidFill>
            <a:srgbClr val="37609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6364369" y="3545698"/>
            <a:ext cx="267400" cy="273057"/>
          </a:xfrm>
          <a:prstGeom prst="ellipse">
            <a:avLst/>
          </a:prstGeom>
          <a:solidFill>
            <a:srgbClr val="37609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4" name="Left Brace 23"/>
          <p:cNvSpPr/>
          <p:nvPr/>
        </p:nvSpPr>
        <p:spPr>
          <a:xfrm rot="5400000">
            <a:off x="5859457" y="2705121"/>
            <a:ext cx="341323" cy="12033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5" name="Left Brace 24"/>
          <p:cNvSpPr/>
          <p:nvPr/>
        </p:nvSpPr>
        <p:spPr>
          <a:xfrm rot="5400000">
            <a:off x="4522453" y="2705121"/>
            <a:ext cx="341323" cy="12033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6" name="Left Brace 25"/>
          <p:cNvSpPr/>
          <p:nvPr/>
        </p:nvSpPr>
        <p:spPr>
          <a:xfrm rot="5400000">
            <a:off x="3185449" y="2705121"/>
            <a:ext cx="341323" cy="12033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7" name="Left Brace 26"/>
          <p:cNvSpPr/>
          <p:nvPr/>
        </p:nvSpPr>
        <p:spPr>
          <a:xfrm rot="5400000">
            <a:off x="4388752" y="1885947"/>
            <a:ext cx="341323" cy="12033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4702896" y="3009572"/>
            <a:ext cx="0" cy="13652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4" idx="1"/>
          </p:cNvCxnSpPr>
          <p:nvPr/>
        </p:nvCxnSpPr>
        <p:spPr>
          <a:xfrm flipH="1" flipV="1">
            <a:off x="5227917" y="2931318"/>
            <a:ext cx="802202" cy="20479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3356111" y="2999582"/>
            <a:ext cx="601652" cy="14651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03199" y="1290593"/>
            <a:ext cx="1766967" cy="789049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pPr algn="ctr"/>
            <a:r>
              <a:rPr lang="en-US" sz="1500" dirty="0">
                <a:solidFill>
                  <a:schemeClr val="accent1">
                    <a:lumMod val="50000"/>
                  </a:schemeClr>
                </a:solidFill>
              </a:rPr>
              <a:t>n=3 is minimum </a:t>
            </a:r>
          </a:p>
          <a:p>
            <a:pPr algn="ctr"/>
            <a:r>
              <a:rPr lang="en-US" sz="1500" dirty="0">
                <a:solidFill>
                  <a:schemeClr val="accent1">
                    <a:lumMod val="50000"/>
                  </a:schemeClr>
                </a:solidFill>
              </a:rPr>
              <a:t>to generate error bars</a:t>
            </a:r>
          </a:p>
        </p:txBody>
      </p:sp>
      <p:sp>
        <p:nvSpPr>
          <p:cNvPr id="32" name="Oval 31"/>
          <p:cNvSpPr/>
          <p:nvPr/>
        </p:nvSpPr>
        <p:spPr>
          <a:xfrm>
            <a:off x="4361974" y="1408113"/>
            <a:ext cx="323109" cy="312914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3906042" y="1016970"/>
            <a:ext cx="1345665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Seeding flask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54411" y="2503311"/>
            <a:ext cx="1987956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Flask or well (n=3)</a:t>
            </a:r>
          </a:p>
        </p:txBody>
      </p:sp>
      <p:cxnSp>
        <p:nvCxnSpPr>
          <p:cNvPr id="129" name="Straight Connector 128"/>
          <p:cNvCxnSpPr/>
          <p:nvPr/>
        </p:nvCxnSpPr>
        <p:spPr>
          <a:xfrm>
            <a:off x="4568615" y="1919332"/>
            <a:ext cx="0" cy="391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1211659" y="2581540"/>
            <a:ext cx="2110105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Technical replicates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866070" y="3442053"/>
            <a:ext cx="2504096" cy="681327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Each flask or well assayed 3 times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380871" y="4798311"/>
            <a:ext cx="7428166" cy="973715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To obtain </a:t>
            </a:r>
            <a:r>
              <a:rPr lang="en-US" b="1" u="sng" dirty="0">
                <a:solidFill>
                  <a:srgbClr val="C00000"/>
                </a:solidFill>
              </a:rPr>
              <a:t>independent</a:t>
            </a:r>
            <a:r>
              <a:rPr lang="en-US" u="sng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replicates, the whole thing should be repeated a minimum of 3+ additional times for each condition tested if you wish to report statistics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38681" y="3495455"/>
            <a:ext cx="1755777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Assay replicates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50E1C6-64F3-4FC6-B7D4-981574AFBE71}"/>
              </a:ext>
            </a:extLst>
          </p:cNvPr>
          <p:cNvSpPr txBox="1"/>
          <p:nvPr/>
        </p:nvSpPr>
        <p:spPr>
          <a:xfrm>
            <a:off x="4518765" y="4097144"/>
            <a:ext cx="61266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10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10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10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1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10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3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10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5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10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7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10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9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10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</a:t>
            </a:r>
            <a:r>
              <a:rPr lang="en-US" sz="3300" b="1" i="1" dirty="0"/>
              <a:t>In vitro </a:t>
            </a:r>
            <a:r>
              <a:rPr lang="en-US" sz="3300" b="1" dirty="0"/>
              <a:t>or cell experiments – </a:t>
            </a:r>
            <a:r>
              <a:rPr lang="en-US" sz="3300" dirty="0"/>
              <a:t>replicates</a:t>
            </a:r>
          </a:p>
        </p:txBody>
      </p:sp>
      <p:sp>
        <p:nvSpPr>
          <p:cNvPr id="31" name="Oval 30"/>
          <p:cNvSpPr/>
          <p:nvPr/>
        </p:nvSpPr>
        <p:spPr>
          <a:xfrm>
            <a:off x="1687967" y="2658260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2" name="Oval 31"/>
          <p:cNvSpPr/>
          <p:nvPr/>
        </p:nvSpPr>
        <p:spPr>
          <a:xfrm>
            <a:off x="2155919" y="2658260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3" name="Oval 32"/>
          <p:cNvSpPr/>
          <p:nvPr/>
        </p:nvSpPr>
        <p:spPr>
          <a:xfrm>
            <a:off x="2623869" y="2658260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484664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952615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6" name="Oval 35"/>
          <p:cNvSpPr/>
          <p:nvPr/>
        </p:nvSpPr>
        <p:spPr>
          <a:xfrm>
            <a:off x="1420566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7" name="Oval 36"/>
          <p:cNvSpPr/>
          <p:nvPr/>
        </p:nvSpPr>
        <p:spPr>
          <a:xfrm>
            <a:off x="1821667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8" name="Oval 37"/>
          <p:cNvSpPr/>
          <p:nvPr/>
        </p:nvSpPr>
        <p:spPr>
          <a:xfrm>
            <a:off x="2289619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2757569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3158671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3626622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4094574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44" name="Left Brace 43"/>
          <p:cNvSpPr/>
          <p:nvPr/>
        </p:nvSpPr>
        <p:spPr>
          <a:xfrm rot="5400000">
            <a:off x="3589661" y="2705121"/>
            <a:ext cx="341323" cy="12033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45" name="Left Brace 44"/>
          <p:cNvSpPr/>
          <p:nvPr/>
        </p:nvSpPr>
        <p:spPr>
          <a:xfrm rot="5400000">
            <a:off x="2252657" y="2705121"/>
            <a:ext cx="341323" cy="12033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46" name="Left Brace 45"/>
          <p:cNvSpPr/>
          <p:nvPr/>
        </p:nvSpPr>
        <p:spPr>
          <a:xfrm rot="5400000">
            <a:off x="915654" y="2705121"/>
            <a:ext cx="341323" cy="12033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47" name="Left Brace 46"/>
          <p:cNvSpPr/>
          <p:nvPr/>
        </p:nvSpPr>
        <p:spPr>
          <a:xfrm rot="5400000">
            <a:off x="2118957" y="1885947"/>
            <a:ext cx="341323" cy="12033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 flipV="1">
            <a:off x="2433101" y="3009572"/>
            <a:ext cx="0" cy="13652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44" idx="1"/>
          </p:cNvCxnSpPr>
          <p:nvPr/>
        </p:nvCxnSpPr>
        <p:spPr>
          <a:xfrm flipH="1" flipV="1">
            <a:off x="2958121" y="2931318"/>
            <a:ext cx="802202" cy="20479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1086316" y="2999582"/>
            <a:ext cx="601652" cy="14651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361974" y="1408113"/>
            <a:ext cx="323109" cy="312914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3473423" y="1016970"/>
            <a:ext cx="1345665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Seeding flask</a:t>
            </a:r>
          </a:p>
        </p:txBody>
      </p:sp>
      <p:sp>
        <p:nvSpPr>
          <p:cNvPr id="86" name="Oval 85"/>
          <p:cNvSpPr/>
          <p:nvPr/>
        </p:nvSpPr>
        <p:spPr>
          <a:xfrm>
            <a:off x="6534604" y="2639418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7002556" y="2639418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88" name="Oval 87"/>
          <p:cNvSpPr/>
          <p:nvPr/>
        </p:nvSpPr>
        <p:spPr>
          <a:xfrm>
            <a:off x="7470507" y="2639418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89" name="Oval 88"/>
          <p:cNvSpPr/>
          <p:nvPr/>
        </p:nvSpPr>
        <p:spPr>
          <a:xfrm>
            <a:off x="5331301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90" name="Oval 89"/>
          <p:cNvSpPr/>
          <p:nvPr/>
        </p:nvSpPr>
        <p:spPr>
          <a:xfrm>
            <a:off x="5799252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91" name="Oval 90"/>
          <p:cNvSpPr/>
          <p:nvPr/>
        </p:nvSpPr>
        <p:spPr>
          <a:xfrm>
            <a:off x="6267204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92" name="Oval 91"/>
          <p:cNvSpPr/>
          <p:nvPr/>
        </p:nvSpPr>
        <p:spPr>
          <a:xfrm>
            <a:off x="6668304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93" name="Oval 92"/>
          <p:cNvSpPr/>
          <p:nvPr/>
        </p:nvSpPr>
        <p:spPr>
          <a:xfrm>
            <a:off x="7136256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94" name="Oval 93"/>
          <p:cNvSpPr/>
          <p:nvPr/>
        </p:nvSpPr>
        <p:spPr>
          <a:xfrm>
            <a:off x="7604207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95" name="Oval 94"/>
          <p:cNvSpPr/>
          <p:nvPr/>
        </p:nvSpPr>
        <p:spPr>
          <a:xfrm>
            <a:off x="8005309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96" name="Oval 95"/>
          <p:cNvSpPr/>
          <p:nvPr/>
        </p:nvSpPr>
        <p:spPr>
          <a:xfrm>
            <a:off x="8473259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97" name="Oval 96"/>
          <p:cNvSpPr/>
          <p:nvPr/>
        </p:nvSpPr>
        <p:spPr>
          <a:xfrm>
            <a:off x="8941211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98" name="Left Brace 97"/>
          <p:cNvSpPr/>
          <p:nvPr/>
        </p:nvSpPr>
        <p:spPr>
          <a:xfrm rot="5400000">
            <a:off x="8436299" y="2686279"/>
            <a:ext cx="341323" cy="1203303"/>
          </a:xfrm>
          <a:prstGeom prst="leftBrac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99" name="Left Brace 98"/>
          <p:cNvSpPr/>
          <p:nvPr/>
        </p:nvSpPr>
        <p:spPr>
          <a:xfrm rot="5400000">
            <a:off x="7099295" y="2686279"/>
            <a:ext cx="341323" cy="1203303"/>
          </a:xfrm>
          <a:prstGeom prst="leftBrac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00" name="Left Brace 99"/>
          <p:cNvSpPr/>
          <p:nvPr/>
        </p:nvSpPr>
        <p:spPr>
          <a:xfrm rot="5400000">
            <a:off x="5762292" y="2686279"/>
            <a:ext cx="341323" cy="1203303"/>
          </a:xfrm>
          <a:prstGeom prst="leftBrac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01" name="Left Brace 100"/>
          <p:cNvSpPr/>
          <p:nvPr/>
        </p:nvSpPr>
        <p:spPr>
          <a:xfrm rot="5400000">
            <a:off x="6965595" y="1837637"/>
            <a:ext cx="341323" cy="1203303"/>
          </a:xfrm>
          <a:prstGeom prst="leftBrac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cxnSp>
        <p:nvCxnSpPr>
          <p:cNvPr id="103" name="Straight Connector 102"/>
          <p:cNvCxnSpPr/>
          <p:nvPr/>
        </p:nvCxnSpPr>
        <p:spPr>
          <a:xfrm flipV="1">
            <a:off x="7267918" y="2990731"/>
            <a:ext cx="0" cy="136529"/>
          </a:xfrm>
          <a:prstGeom prst="line">
            <a:avLst/>
          </a:prstGeom>
          <a:solidFill>
            <a:schemeClr val="bg1"/>
          </a:solidFill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98" idx="1"/>
          </p:cNvCxnSpPr>
          <p:nvPr/>
        </p:nvCxnSpPr>
        <p:spPr>
          <a:xfrm flipH="1" flipV="1">
            <a:off x="7804759" y="2912476"/>
            <a:ext cx="802202" cy="204792"/>
          </a:xfrm>
          <a:prstGeom prst="line">
            <a:avLst/>
          </a:prstGeom>
          <a:solidFill>
            <a:schemeClr val="bg1"/>
          </a:solidFill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V="1">
            <a:off x="5932954" y="2980741"/>
            <a:ext cx="601652" cy="146518"/>
          </a:xfrm>
          <a:prstGeom prst="line">
            <a:avLst/>
          </a:prstGeom>
          <a:solidFill>
            <a:schemeClr val="bg1"/>
          </a:solidFill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endCxn id="47" idx="1"/>
          </p:cNvCxnSpPr>
          <p:nvPr/>
        </p:nvCxnSpPr>
        <p:spPr>
          <a:xfrm flipH="1">
            <a:off x="2289618" y="1721027"/>
            <a:ext cx="1910801" cy="59591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endCxn id="101" idx="1"/>
          </p:cNvCxnSpPr>
          <p:nvPr/>
        </p:nvCxnSpPr>
        <p:spPr>
          <a:xfrm>
            <a:off x="4846637" y="1721027"/>
            <a:ext cx="2289619" cy="5476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2594833" y="1564570"/>
            <a:ext cx="1124707" cy="327384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</a:rPr>
              <a:t>+ treatment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63748" y="1955712"/>
            <a:ext cx="1230504" cy="558217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pPr algn="ctr"/>
            <a:r>
              <a:rPr lang="en-US" sz="1500" dirty="0">
                <a:solidFill>
                  <a:schemeClr val="accent1">
                    <a:lumMod val="50000"/>
                  </a:schemeClr>
                </a:solidFill>
              </a:rPr>
              <a:t>no treatment</a:t>
            </a:r>
          </a:p>
          <a:p>
            <a:pPr algn="ctr"/>
            <a:r>
              <a:rPr lang="en-US" sz="1500" dirty="0">
                <a:solidFill>
                  <a:schemeClr val="accent1">
                    <a:lumMod val="50000"/>
                  </a:schemeClr>
                </a:solidFill>
              </a:rPr>
              <a:t>(vehicle)</a:t>
            </a:r>
          </a:p>
        </p:txBody>
      </p:sp>
      <p:cxnSp>
        <p:nvCxnSpPr>
          <p:cNvPr id="115" name="Straight Arrow Connector 114"/>
          <p:cNvCxnSpPr/>
          <p:nvPr/>
        </p:nvCxnSpPr>
        <p:spPr>
          <a:xfrm>
            <a:off x="4927415" y="1642798"/>
            <a:ext cx="3796533" cy="625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7027625" y="1642799"/>
            <a:ext cx="944914" cy="327384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</a:rPr>
              <a:t>Medium?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250524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407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07071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10958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060159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49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533002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47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916174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88058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859942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35</a:t>
            </a:r>
          </a:p>
        </p:txBody>
      </p:sp>
      <p:sp>
        <p:nvSpPr>
          <p:cNvPr id="126" name="Left Brace 125"/>
          <p:cNvSpPr/>
          <p:nvPr/>
        </p:nvSpPr>
        <p:spPr>
          <a:xfrm rot="16200000" flipV="1">
            <a:off x="5762292" y="3764939"/>
            <a:ext cx="341323" cy="1203303"/>
          </a:xfrm>
          <a:prstGeom prst="leftBrac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27" name="TextBox 126"/>
          <p:cNvSpPr txBox="1"/>
          <p:nvPr/>
        </p:nvSpPr>
        <p:spPr>
          <a:xfrm>
            <a:off x="5573633" y="4580828"/>
            <a:ext cx="744539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37 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2</a:t>
            </a:r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9" name="Left Brace 128"/>
          <p:cNvSpPr/>
          <p:nvPr/>
        </p:nvSpPr>
        <p:spPr>
          <a:xfrm rot="16200000" flipV="1">
            <a:off x="7081034" y="3793349"/>
            <a:ext cx="341323" cy="1203303"/>
          </a:xfrm>
          <a:prstGeom prst="leftBrac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30" name="TextBox 129"/>
          <p:cNvSpPr txBox="1"/>
          <p:nvPr/>
        </p:nvSpPr>
        <p:spPr>
          <a:xfrm>
            <a:off x="7014844" y="4580828"/>
            <a:ext cx="744539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47 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2</a:t>
            </a:r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1" name="Left Brace 130"/>
          <p:cNvSpPr/>
          <p:nvPr/>
        </p:nvSpPr>
        <p:spPr>
          <a:xfrm rot="16200000" flipV="1">
            <a:off x="8436298" y="3821758"/>
            <a:ext cx="341323" cy="1203303"/>
          </a:xfrm>
          <a:prstGeom prst="leftBrac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32" name="TextBox 131"/>
          <p:cNvSpPr txBox="1"/>
          <p:nvPr/>
        </p:nvSpPr>
        <p:spPr>
          <a:xfrm>
            <a:off x="8328416" y="4580828"/>
            <a:ext cx="744539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33 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2</a:t>
            </a:r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3" name="Left Brace 132"/>
          <p:cNvSpPr/>
          <p:nvPr/>
        </p:nvSpPr>
        <p:spPr>
          <a:xfrm rot="16200000" flipV="1">
            <a:off x="7063830" y="3842085"/>
            <a:ext cx="493030" cy="2665650"/>
          </a:xfrm>
          <a:prstGeom prst="leftBrac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6946847" y="5441341"/>
            <a:ext cx="2139151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39 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7 (n=3, CV ~18%)</a:t>
            </a:r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408635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80519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365183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39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769069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48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218270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52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691113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47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074286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46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546170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42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018053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45</a:t>
            </a:r>
          </a:p>
        </p:txBody>
      </p:sp>
      <p:sp>
        <p:nvSpPr>
          <p:cNvPr id="176" name="Left Brace 175"/>
          <p:cNvSpPr/>
          <p:nvPr/>
        </p:nvSpPr>
        <p:spPr>
          <a:xfrm rot="16200000" flipV="1">
            <a:off x="920403" y="3764939"/>
            <a:ext cx="341323" cy="1203303"/>
          </a:xfrm>
          <a:prstGeom prst="leftBrac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77" name="TextBox 176"/>
          <p:cNvSpPr txBox="1"/>
          <p:nvPr/>
        </p:nvSpPr>
        <p:spPr>
          <a:xfrm>
            <a:off x="731745" y="4580828"/>
            <a:ext cx="744539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40 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1</a:t>
            </a:r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8" name="Left Brace 177"/>
          <p:cNvSpPr/>
          <p:nvPr/>
        </p:nvSpPr>
        <p:spPr>
          <a:xfrm rot="16200000" flipV="1">
            <a:off x="2239146" y="3793349"/>
            <a:ext cx="341323" cy="1203303"/>
          </a:xfrm>
          <a:prstGeom prst="leftBrac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79" name="TextBox 178"/>
          <p:cNvSpPr txBox="1"/>
          <p:nvPr/>
        </p:nvSpPr>
        <p:spPr>
          <a:xfrm>
            <a:off x="2172956" y="4580828"/>
            <a:ext cx="744539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49 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3</a:t>
            </a:r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0" name="Left Brace 179"/>
          <p:cNvSpPr/>
          <p:nvPr/>
        </p:nvSpPr>
        <p:spPr>
          <a:xfrm rot="16200000" flipV="1">
            <a:off x="3594409" y="3821758"/>
            <a:ext cx="341323" cy="1203303"/>
          </a:xfrm>
          <a:prstGeom prst="leftBrac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81" name="TextBox 180"/>
          <p:cNvSpPr txBox="1"/>
          <p:nvPr/>
        </p:nvSpPr>
        <p:spPr>
          <a:xfrm>
            <a:off x="3486528" y="4580828"/>
            <a:ext cx="744539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44 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2</a:t>
            </a:r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2" name="Left Brace 181"/>
          <p:cNvSpPr/>
          <p:nvPr/>
        </p:nvSpPr>
        <p:spPr>
          <a:xfrm rot="16200000" flipV="1">
            <a:off x="2221942" y="3842085"/>
            <a:ext cx="493030" cy="2665650"/>
          </a:xfrm>
          <a:prstGeom prst="leftBrac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83" name="TextBox 182"/>
          <p:cNvSpPr txBox="1"/>
          <p:nvPr/>
        </p:nvSpPr>
        <p:spPr>
          <a:xfrm>
            <a:off x="2104959" y="5441341"/>
            <a:ext cx="2143961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44 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5 (n=3, CV~11%)</a:t>
            </a:r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224" name="Group 223"/>
          <p:cNvGrpSpPr/>
          <p:nvPr/>
        </p:nvGrpSpPr>
        <p:grpSpPr>
          <a:xfrm>
            <a:off x="1324237" y="2970480"/>
            <a:ext cx="7649904" cy="3917801"/>
            <a:chOff x="1299880" y="2895600"/>
            <a:chExt cx="7216417" cy="3816212"/>
          </a:xfrm>
        </p:grpSpPr>
        <p:grpSp>
          <p:nvGrpSpPr>
            <p:cNvPr id="223" name="Group 222"/>
            <p:cNvGrpSpPr/>
            <p:nvPr/>
          </p:nvGrpSpPr>
          <p:grpSpPr>
            <a:xfrm>
              <a:off x="5867400" y="2895600"/>
              <a:ext cx="2648897" cy="3816212"/>
              <a:chOff x="5867400" y="2895600"/>
              <a:chExt cx="2648897" cy="3816212"/>
            </a:xfrm>
          </p:grpSpPr>
          <p:cxnSp>
            <p:nvCxnSpPr>
              <p:cNvPr id="138" name="Straight Arrow Connector 137"/>
              <p:cNvCxnSpPr/>
              <p:nvPr/>
            </p:nvCxnSpPr>
            <p:spPr>
              <a:xfrm>
                <a:off x="6037730" y="4114800"/>
                <a:ext cx="0" cy="167640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TextBox 138"/>
              <p:cNvSpPr txBox="1"/>
              <p:nvPr/>
            </p:nvSpPr>
            <p:spPr>
              <a:xfrm>
                <a:off x="5867400" y="5833646"/>
                <a:ext cx="382881" cy="3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700" dirty="0">
                    <a:solidFill>
                      <a:srgbClr val="C00000"/>
                    </a:solidFill>
                  </a:rPr>
                  <a:t>36</a:t>
                </a:r>
              </a:p>
            </p:txBody>
          </p:sp>
          <p:cxnSp>
            <p:nvCxnSpPr>
              <p:cNvPr id="140" name="Straight Arrow Connector 139"/>
              <p:cNvCxnSpPr/>
              <p:nvPr/>
            </p:nvCxnSpPr>
            <p:spPr>
              <a:xfrm>
                <a:off x="6863874" y="4114800"/>
                <a:ext cx="0" cy="167640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TextBox 140"/>
              <p:cNvSpPr txBox="1"/>
              <p:nvPr/>
            </p:nvSpPr>
            <p:spPr>
              <a:xfrm>
                <a:off x="6693544" y="5833646"/>
                <a:ext cx="382881" cy="3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700" dirty="0">
                    <a:solidFill>
                      <a:srgbClr val="C00000"/>
                    </a:solidFill>
                  </a:rPr>
                  <a:t>49</a:t>
                </a:r>
              </a:p>
            </p:txBody>
          </p:sp>
          <p:cxnSp>
            <p:nvCxnSpPr>
              <p:cNvPr id="142" name="Straight Arrow Connector 141"/>
              <p:cNvCxnSpPr/>
              <p:nvPr/>
            </p:nvCxnSpPr>
            <p:spPr>
              <a:xfrm>
                <a:off x="7690018" y="4114800"/>
                <a:ext cx="0" cy="167640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TextBox 142"/>
              <p:cNvSpPr txBox="1"/>
              <p:nvPr/>
            </p:nvSpPr>
            <p:spPr>
              <a:xfrm>
                <a:off x="7519688" y="5833646"/>
                <a:ext cx="382881" cy="3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700" dirty="0">
                    <a:solidFill>
                      <a:srgbClr val="C00000"/>
                    </a:solidFill>
                  </a:rPr>
                  <a:t>32</a:t>
                </a:r>
              </a:p>
            </p:txBody>
          </p:sp>
          <p:sp>
            <p:nvSpPr>
              <p:cNvPr id="144" name="Left Brace 143"/>
              <p:cNvSpPr/>
              <p:nvPr/>
            </p:nvSpPr>
            <p:spPr>
              <a:xfrm rot="16200000" flipV="1">
                <a:off x="6734403" y="5430703"/>
                <a:ext cx="296498" cy="1627094"/>
              </a:xfrm>
              <a:prstGeom prst="leftBrace">
                <a:avLst>
                  <a:gd name="adj1" fmla="val 8333"/>
                  <a:gd name="adj2" fmla="val 50551"/>
                </a:avLst>
              </a:prstGeom>
              <a:solidFill>
                <a:schemeClr val="bg1"/>
              </a:solidFill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5" name="TextBox 144"/>
              <p:cNvSpPr txBox="1"/>
              <p:nvPr/>
            </p:nvSpPr>
            <p:spPr>
              <a:xfrm>
                <a:off x="6553200" y="6367047"/>
                <a:ext cx="1963097" cy="3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700" dirty="0">
                    <a:solidFill>
                      <a:srgbClr val="C00000"/>
                    </a:solidFill>
                  </a:rPr>
                  <a:t>39 </a:t>
                </a:r>
                <a:r>
                  <a:rPr lang="en-US" sz="1700" dirty="0">
                    <a:solidFill>
                      <a:srgbClr val="C00000"/>
                    </a:solidFill>
                    <a:sym typeface="Symbol"/>
                  </a:rPr>
                  <a:t> 9 (n=3, CV~23%)</a:t>
                </a:r>
                <a:endParaRPr lang="en-US" sz="1700" dirty="0"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147" name="Straight Arrow Connector 146"/>
              <p:cNvCxnSpPr/>
              <p:nvPr/>
            </p:nvCxnSpPr>
            <p:spPr>
              <a:xfrm flipH="1">
                <a:off x="6019800" y="2971800"/>
                <a:ext cx="152400" cy="38100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Arrow Connector 148"/>
              <p:cNvCxnSpPr/>
              <p:nvPr/>
            </p:nvCxnSpPr>
            <p:spPr>
              <a:xfrm>
                <a:off x="6781800" y="2895600"/>
                <a:ext cx="0" cy="45720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Arrow Connector 152"/>
              <p:cNvCxnSpPr>
                <a:endCxn id="98" idx="2"/>
              </p:cNvCxnSpPr>
              <p:nvPr/>
            </p:nvCxnSpPr>
            <p:spPr>
              <a:xfrm>
                <a:off x="7239000" y="2895600"/>
                <a:ext cx="312684" cy="47331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2" name="Group 221"/>
            <p:cNvGrpSpPr/>
            <p:nvPr/>
          </p:nvGrpSpPr>
          <p:grpSpPr>
            <a:xfrm>
              <a:off x="1299880" y="2895600"/>
              <a:ext cx="2648897" cy="3816212"/>
              <a:chOff x="1299880" y="2895600"/>
              <a:chExt cx="2648897" cy="3816212"/>
            </a:xfrm>
          </p:grpSpPr>
          <p:cxnSp>
            <p:nvCxnSpPr>
              <p:cNvPr id="184" name="Straight Arrow Connector 183"/>
              <p:cNvCxnSpPr/>
              <p:nvPr/>
            </p:nvCxnSpPr>
            <p:spPr>
              <a:xfrm>
                <a:off x="1470210" y="4114800"/>
                <a:ext cx="0" cy="167640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" name="TextBox 184"/>
              <p:cNvSpPr txBox="1"/>
              <p:nvPr/>
            </p:nvSpPr>
            <p:spPr>
              <a:xfrm>
                <a:off x="1299880" y="5833646"/>
                <a:ext cx="382881" cy="3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700" dirty="0">
                    <a:solidFill>
                      <a:srgbClr val="C00000"/>
                    </a:solidFill>
                  </a:rPr>
                  <a:t>39</a:t>
                </a:r>
              </a:p>
            </p:txBody>
          </p:sp>
          <p:cxnSp>
            <p:nvCxnSpPr>
              <p:cNvPr id="186" name="Straight Arrow Connector 185"/>
              <p:cNvCxnSpPr/>
              <p:nvPr/>
            </p:nvCxnSpPr>
            <p:spPr>
              <a:xfrm>
                <a:off x="2296354" y="4114800"/>
                <a:ext cx="0" cy="167640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7" name="TextBox 186"/>
              <p:cNvSpPr txBox="1"/>
              <p:nvPr/>
            </p:nvSpPr>
            <p:spPr>
              <a:xfrm>
                <a:off x="2126024" y="5833646"/>
                <a:ext cx="382881" cy="3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700" dirty="0">
                    <a:solidFill>
                      <a:srgbClr val="C00000"/>
                    </a:solidFill>
                  </a:rPr>
                  <a:t>52</a:t>
                </a:r>
              </a:p>
            </p:txBody>
          </p:sp>
          <p:cxnSp>
            <p:nvCxnSpPr>
              <p:cNvPr id="188" name="Straight Arrow Connector 187"/>
              <p:cNvCxnSpPr/>
              <p:nvPr/>
            </p:nvCxnSpPr>
            <p:spPr>
              <a:xfrm>
                <a:off x="3122498" y="4114800"/>
                <a:ext cx="0" cy="167640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TextBox 188"/>
              <p:cNvSpPr txBox="1"/>
              <p:nvPr/>
            </p:nvSpPr>
            <p:spPr>
              <a:xfrm>
                <a:off x="2952168" y="5833646"/>
                <a:ext cx="382881" cy="3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700" dirty="0">
                    <a:solidFill>
                      <a:srgbClr val="C00000"/>
                    </a:solidFill>
                  </a:rPr>
                  <a:t>46</a:t>
                </a:r>
              </a:p>
            </p:txBody>
          </p:sp>
          <p:sp>
            <p:nvSpPr>
              <p:cNvPr id="190" name="Left Brace 189"/>
              <p:cNvSpPr/>
              <p:nvPr/>
            </p:nvSpPr>
            <p:spPr>
              <a:xfrm rot="16200000" flipV="1">
                <a:off x="2166883" y="5430703"/>
                <a:ext cx="296498" cy="1627094"/>
              </a:xfrm>
              <a:prstGeom prst="leftBrace">
                <a:avLst>
                  <a:gd name="adj1" fmla="val 8333"/>
                  <a:gd name="adj2" fmla="val 50551"/>
                </a:avLst>
              </a:prstGeom>
              <a:solidFill>
                <a:schemeClr val="bg1"/>
              </a:solidFill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1" name="TextBox 190"/>
              <p:cNvSpPr txBox="1"/>
              <p:nvPr/>
            </p:nvSpPr>
            <p:spPr>
              <a:xfrm>
                <a:off x="1985680" y="6367047"/>
                <a:ext cx="1963097" cy="3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700" dirty="0">
                    <a:solidFill>
                      <a:srgbClr val="C00000"/>
                    </a:solidFill>
                  </a:rPr>
                  <a:t>46 </a:t>
                </a:r>
                <a:r>
                  <a:rPr lang="en-US" sz="1700" dirty="0">
                    <a:solidFill>
                      <a:srgbClr val="C00000"/>
                    </a:solidFill>
                    <a:sym typeface="Symbol"/>
                  </a:rPr>
                  <a:t> 7 (n=3, CV~14%)</a:t>
                </a:r>
                <a:endParaRPr lang="en-US" sz="1700" dirty="0"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193" name="Straight Arrow Connector 192"/>
              <p:cNvCxnSpPr/>
              <p:nvPr/>
            </p:nvCxnSpPr>
            <p:spPr>
              <a:xfrm flipH="1">
                <a:off x="1524000" y="2971800"/>
                <a:ext cx="152400" cy="38100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Arrow Connector 193"/>
              <p:cNvCxnSpPr/>
              <p:nvPr/>
            </p:nvCxnSpPr>
            <p:spPr>
              <a:xfrm>
                <a:off x="2209800" y="2895600"/>
                <a:ext cx="76200" cy="45720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Arrow Connector 194"/>
              <p:cNvCxnSpPr/>
              <p:nvPr/>
            </p:nvCxnSpPr>
            <p:spPr>
              <a:xfrm>
                <a:off x="2743200" y="2895600"/>
                <a:ext cx="312684" cy="47331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8" name="TextBox 127"/>
          <p:cNvSpPr txBox="1"/>
          <p:nvPr/>
        </p:nvSpPr>
        <p:spPr>
          <a:xfrm>
            <a:off x="4038865" y="2581540"/>
            <a:ext cx="1412478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Flask or well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523529" y="3520282"/>
            <a:ext cx="654386" cy="681327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Data</a:t>
            </a:r>
          </a:p>
          <a:p>
            <a:r>
              <a:rPr lang="en-US" dirty="0">
                <a:solidFill>
                  <a:srgbClr val="C00000"/>
                </a:solidFill>
              </a:rPr>
              <a:t>(3X)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184D4E-D8FF-4AFB-85D4-FCB67850E89E}"/>
              </a:ext>
            </a:extLst>
          </p:cNvPr>
          <p:cNvSpPr txBox="1"/>
          <p:nvPr/>
        </p:nvSpPr>
        <p:spPr>
          <a:xfrm>
            <a:off x="4344535" y="4522892"/>
            <a:ext cx="10176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Assay CV?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0CFEB72-0AE1-43D9-8114-BC1A39904914}"/>
              </a:ext>
            </a:extLst>
          </p:cNvPr>
          <p:cNvSpPr txBox="1"/>
          <p:nvPr/>
        </p:nvSpPr>
        <p:spPr>
          <a:xfrm>
            <a:off x="4167374" y="4816421"/>
            <a:ext cx="14699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mean</a:t>
            </a:r>
            <a:r>
              <a:rPr lang="en-US" sz="1400" dirty="0"/>
              <a:t> (range) CV= </a:t>
            </a:r>
          </a:p>
          <a:p>
            <a:pPr algn="ctr"/>
            <a:r>
              <a:rPr lang="en-US" sz="1400" dirty="0"/>
              <a:t>4.5 (2.5-5.7)%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D581198-6D30-4EFF-BE40-D9EAEAED07B4}"/>
              </a:ext>
            </a:extLst>
          </p:cNvPr>
          <p:cNvSpPr txBox="1"/>
          <p:nvPr/>
        </p:nvSpPr>
        <p:spPr>
          <a:xfrm>
            <a:off x="4548533" y="6051670"/>
            <a:ext cx="119180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Where is the </a:t>
            </a:r>
            <a:br>
              <a:rPr lang="en-US" sz="1400" dirty="0"/>
            </a:br>
            <a:r>
              <a:rPr lang="en-US" sz="1400" dirty="0"/>
              <a:t>variability </a:t>
            </a:r>
          </a:p>
          <a:p>
            <a:pPr algn="ctr"/>
            <a:r>
              <a:rPr lang="en-US" sz="1400" dirty="0"/>
              <a:t>coming from?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8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1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2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3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4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5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6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</a:t>
            </a:r>
            <a:r>
              <a:rPr lang="en-US" sz="3300" b="1" i="1" dirty="0"/>
              <a:t>In vitro </a:t>
            </a:r>
            <a:r>
              <a:rPr lang="en-US" sz="3300" b="1" dirty="0"/>
              <a:t>or cell experiments – </a:t>
            </a:r>
            <a:r>
              <a:rPr lang="en-US" sz="3300" dirty="0"/>
              <a:t>replicates</a:t>
            </a:r>
          </a:p>
        </p:txBody>
      </p:sp>
      <p:sp>
        <p:nvSpPr>
          <p:cNvPr id="22" name="Oval 21"/>
          <p:cNvSpPr/>
          <p:nvPr/>
        </p:nvSpPr>
        <p:spPr>
          <a:xfrm>
            <a:off x="484664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952615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1420566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1821667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2289619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2757569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3158671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3626622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0" name="Oval 29"/>
          <p:cNvSpPr/>
          <p:nvPr/>
        </p:nvSpPr>
        <p:spPr>
          <a:xfrm>
            <a:off x="4094574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4361974" y="1408113"/>
            <a:ext cx="323109" cy="312914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3473423" y="1016970"/>
            <a:ext cx="1345665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Seeding flask</a:t>
            </a:r>
          </a:p>
        </p:txBody>
      </p:sp>
      <p:sp>
        <p:nvSpPr>
          <p:cNvPr id="44" name="Oval 43"/>
          <p:cNvSpPr/>
          <p:nvPr/>
        </p:nvSpPr>
        <p:spPr>
          <a:xfrm>
            <a:off x="5331301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45" name="Oval 44"/>
          <p:cNvSpPr/>
          <p:nvPr/>
        </p:nvSpPr>
        <p:spPr>
          <a:xfrm>
            <a:off x="5799252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46" name="Oval 45"/>
          <p:cNvSpPr/>
          <p:nvPr/>
        </p:nvSpPr>
        <p:spPr>
          <a:xfrm>
            <a:off x="6267204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6668304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48" name="Oval 47"/>
          <p:cNvSpPr/>
          <p:nvPr/>
        </p:nvSpPr>
        <p:spPr>
          <a:xfrm>
            <a:off x="7136256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49" name="Oval 48"/>
          <p:cNvSpPr/>
          <p:nvPr/>
        </p:nvSpPr>
        <p:spPr>
          <a:xfrm>
            <a:off x="7604207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8005309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8473259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8941211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grpSp>
        <p:nvGrpSpPr>
          <p:cNvPr id="142" name="Group 141"/>
          <p:cNvGrpSpPr/>
          <p:nvPr/>
        </p:nvGrpSpPr>
        <p:grpSpPr>
          <a:xfrm>
            <a:off x="484664" y="1721027"/>
            <a:ext cx="3877310" cy="1756407"/>
            <a:chOff x="457200" y="1676400"/>
            <a:chExt cx="3657600" cy="1710863"/>
          </a:xfrm>
        </p:grpSpPr>
        <p:grpSp>
          <p:nvGrpSpPr>
            <p:cNvPr id="139" name="Group 138"/>
            <p:cNvGrpSpPr/>
            <p:nvPr/>
          </p:nvGrpSpPr>
          <p:grpSpPr>
            <a:xfrm>
              <a:off x="457200" y="2256859"/>
              <a:ext cx="3657600" cy="1130404"/>
              <a:chOff x="457200" y="2256859"/>
              <a:chExt cx="3657600" cy="1130404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1592317" y="2589330"/>
                <a:ext cx="252248" cy="26597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2033752" y="2589330"/>
                <a:ext cx="252248" cy="26597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2475186" y="2589330"/>
                <a:ext cx="252248" cy="26597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Left Brace 30"/>
              <p:cNvSpPr/>
              <p:nvPr/>
            </p:nvSpPr>
            <p:spPr>
              <a:xfrm rot="5400000">
                <a:off x="3381006" y="2653468"/>
                <a:ext cx="332472" cy="1135117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Left Brace 31"/>
              <p:cNvSpPr/>
              <p:nvPr/>
            </p:nvSpPr>
            <p:spPr>
              <a:xfrm rot="5400000">
                <a:off x="2119764" y="2653468"/>
                <a:ext cx="332472" cy="1135117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Left Brace 32"/>
              <p:cNvSpPr/>
              <p:nvPr/>
            </p:nvSpPr>
            <p:spPr>
              <a:xfrm rot="5400000">
                <a:off x="858523" y="2653468"/>
                <a:ext cx="332472" cy="1135117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Left Brace 33"/>
              <p:cNvSpPr/>
              <p:nvPr/>
            </p:nvSpPr>
            <p:spPr>
              <a:xfrm rot="5400000">
                <a:off x="1993640" y="1855536"/>
                <a:ext cx="332472" cy="1135117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5" name="Straight Connector 34"/>
              <p:cNvCxnSpPr/>
              <p:nvPr/>
            </p:nvCxnSpPr>
            <p:spPr>
              <a:xfrm flipV="1">
                <a:off x="2295228" y="2931533"/>
                <a:ext cx="0" cy="132989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>
                <a:stCxn id="31" idx="1"/>
              </p:cNvCxnSpPr>
              <p:nvPr/>
            </p:nvCxnSpPr>
            <p:spPr>
              <a:xfrm flipH="1" flipV="1">
                <a:off x="2790497" y="2855308"/>
                <a:ext cx="756745" cy="19948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V="1">
                <a:off x="1024759" y="2921802"/>
                <a:ext cx="567559" cy="142719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0" name="Straight Arrow Connector 59"/>
            <p:cNvCxnSpPr>
              <a:endCxn id="34" idx="1"/>
            </p:cNvCxnSpPr>
            <p:nvPr/>
          </p:nvCxnSpPr>
          <p:spPr>
            <a:xfrm flipH="1">
              <a:off x="2159876" y="1676400"/>
              <a:ext cx="1802524" cy="58045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4846637" y="1721027"/>
            <a:ext cx="4361974" cy="1737565"/>
            <a:chOff x="4572000" y="1676400"/>
            <a:chExt cx="4114800" cy="1692510"/>
          </a:xfrm>
        </p:grpSpPr>
        <p:sp>
          <p:nvSpPr>
            <p:cNvPr id="53" name="Left Brace 52"/>
            <p:cNvSpPr/>
            <p:nvPr/>
          </p:nvSpPr>
          <p:spPr>
            <a:xfrm rot="5400000">
              <a:off x="7953006" y="2635115"/>
              <a:ext cx="332472" cy="1135117"/>
            </a:xfrm>
            <a:prstGeom prst="leftBrac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Left Brace 53"/>
            <p:cNvSpPr/>
            <p:nvPr/>
          </p:nvSpPr>
          <p:spPr>
            <a:xfrm rot="5400000">
              <a:off x="6691764" y="2635115"/>
              <a:ext cx="332472" cy="1135117"/>
            </a:xfrm>
            <a:prstGeom prst="leftBrac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Left Brace 54"/>
            <p:cNvSpPr/>
            <p:nvPr/>
          </p:nvSpPr>
          <p:spPr>
            <a:xfrm rot="5400000">
              <a:off x="5430523" y="2635115"/>
              <a:ext cx="332472" cy="1135117"/>
            </a:xfrm>
            <a:prstGeom prst="leftBrac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Left Brace 55"/>
            <p:cNvSpPr/>
            <p:nvPr/>
          </p:nvSpPr>
          <p:spPr>
            <a:xfrm rot="5400000">
              <a:off x="6565640" y="1808478"/>
              <a:ext cx="332472" cy="1135117"/>
            </a:xfrm>
            <a:prstGeom prst="leftBrac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1" name="Group 140"/>
            <p:cNvGrpSpPr/>
            <p:nvPr/>
          </p:nvGrpSpPr>
          <p:grpSpPr>
            <a:xfrm>
              <a:off x="4572000" y="1676400"/>
              <a:ext cx="3547242" cy="1369769"/>
              <a:chOff x="4572000" y="1676400"/>
              <a:chExt cx="3547242" cy="1369769"/>
            </a:xfrm>
          </p:grpSpPr>
          <p:sp>
            <p:nvSpPr>
              <p:cNvPr id="41" name="Oval 40"/>
              <p:cNvSpPr/>
              <p:nvPr/>
            </p:nvSpPr>
            <p:spPr>
              <a:xfrm>
                <a:off x="6164317" y="2570977"/>
                <a:ext cx="252248" cy="2659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6605752" y="2570977"/>
                <a:ext cx="252248" cy="2659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7047186" y="2570977"/>
                <a:ext cx="252248" cy="2659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/>
              <p:cNvCxnSpPr/>
              <p:nvPr/>
            </p:nvCxnSpPr>
            <p:spPr>
              <a:xfrm flipV="1">
                <a:off x="6856077" y="2913180"/>
                <a:ext cx="0" cy="132989"/>
              </a:xfrm>
              <a:prstGeom prst="line">
                <a:avLst/>
              </a:prstGeom>
              <a:solidFill>
                <a:schemeClr val="bg1"/>
              </a:solidFill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1"/>
              </p:cNvCxnSpPr>
              <p:nvPr/>
            </p:nvCxnSpPr>
            <p:spPr>
              <a:xfrm flipH="1" flipV="1">
                <a:off x="7362497" y="2836955"/>
                <a:ext cx="756745" cy="199482"/>
              </a:xfrm>
              <a:prstGeom prst="line">
                <a:avLst/>
              </a:prstGeom>
              <a:solidFill>
                <a:schemeClr val="bg1"/>
              </a:solidFill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V="1">
                <a:off x="5596759" y="2903449"/>
                <a:ext cx="567559" cy="142719"/>
              </a:xfrm>
              <a:prstGeom prst="line">
                <a:avLst/>
              </a:prstGeom>
              <a:solidFill>
                <a:schemeClr val="bg1"/>
              </a:solidFill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/>
              <p:cNvCxnSpPr>
                <a:endCxn id="56" idx="1"/>
              </p:cNvCxnSpPr>
              <p:nvPr/>
            </p:nvCxnSpPr>
            <p:spPr>
              <a:xfrm>
                <a:off x="4572000" y="1676400"/>
                <a:ext cx="2159876" cy="533401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TextBox 61"/>
          <p:cNvSpPr txBox="1"/>
          <p:nvPr/>
        </p:nvSpPr>
        <p:spPr>
          <a:xfrm>
            <a:off x="2594833" y="1564570"/>
            <a:ext cx="1124707" cy="327384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</a:rPr>
              <a:t>+ treatment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63748" y="1955712"/>
            <a:ext cx="1230504" cy="558217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pPr algn="ctr"/>
            <a:r>
              <a:rPr lang="en-US" sz="1500" dirty="0">
                <a:solidFill>
                  <a:schemeClr val="accent1">
                    <a:lumMod val="50000"/>
                  </a:schemeClr>
                </a:solidFill>
              </a:rPr>
              <a:t>no treatment</a:t>
            </a:r>
          </a:p>
          <a:p>
            <a:pPr algn="ctr"/>
            <a:r>
              <a:rPr lang="en-US" sz="1500" dirty="0">
                <a:solidFill>
                  <a:schemeClr val="accent1">
                    <a:lumMod val="50000"/>
                  </a:schemeClr>
                </a:solidFill>
              </a:rPr>
              <a:t>(vehicle)</a:t>
            </a: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4927415" y="1642798"/>
            <a:ext cx="3796533" cy="625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027625" y="1642799"/>
            <a:ext cx="944914" cy="327384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</a:rPr>
              <a:t>Medium?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50524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22407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07071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10958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60159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33002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16174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88058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59942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8635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80519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365183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69069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18270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52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91113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074286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546170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18053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45</a:t>
            </a:r>
          </a:p>
        </p:txBody>
      </p:sp>
      <p:grpSp>
        <p:nvGrpSpPr>
          <p:cNvPr id="144" name="Group 143"/>
          <p:cNvGrpSpPr/>
          <p:nvPr/>
        </p:nvGrpSpPr>
        <p:grpSpPr>
          <a:xfrm>
            <a:off x="489413" y="4195928"/>
            <a:ext cx="3877309" cy="1599356"/>
            <a:chOff x="461680" y="4087128"/>
            <a:chExt cx="3657599" cy="1557885"/>
          </a:xfrm>
        </p:grpSpPr>
        <p:sp>
          <p:nvSpPr>
            <p:cNvPr id="113" name="Left Brace 112"/>
            <p:cNvSpPr/>
            <p:nvPr/>
          </p:nvSpPr>
          <p:spPr>
            <a:xfrm rot="16200000" flipV="1">
              <a:off x="863003" y="3685805"/>
              <a:ext cx="332472" cy="1135117"/>
            </a:xfrm>
            <a:prstGeom prst="leftBrac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690280" y="4462046"/>
              <a:ext cx="694388" cy="3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accent1">
                      <a:lumMod val="50000"/>
                    </a:schemeClr>
                  </a:solidFill>
                </a:rPr>
                <a:t>40 </a:t>
              </a:r>
              <a:r>
                <a:rPr lang="en-US" sz="1700" dirty="0">
                  <a:solidFill>
                    <a:schemeClr val="accent1">
                      <a:lumMod val="50000"/>
                    </a:schemeClr>
                  </a:solidFill>
                  <a:sym typeface="Symbol"/>
                </a:rPr>
                <a:t> 1</a:t>
              </a:r>
              <a:endParaRPr lang="en-US" sz="17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15" name="Left Brace 114"/>
            <p:cNvSpPr/>
            <p:nvPr/>
          </p:nvSpPr>
          <p:spPr>
            <a:xfrm rot="16200000" flipV="1">
              <a:off x="2107018" y="3713478"/>
              <a:ext cx="332472" cy="1135117"/>
            </a:xfrm>
            <a:prstGeom prst="leftBrac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049824" y="4462046"/>
              <a:ext cx="694388" cy="3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accent1">
                      <a:lumMod val="50000"/>
                    </a:schemeClr>
                  </a:solidFill>
                </a:rPr>
                <a:t>49 </a:t>
              </a:r>
              <a:r>
                <a:rPr lang="en-US" sz="1700" dirty="0">
                  <a:solidFill>
                    <a:schemeClr val="accent1">
                      <a:lumMod val="50000"/>
                    </a:schemeClr>
                  </a:solidFill>
                  <a:sym typeface="Symbol"/>
                </a:rPr>
                <a:t> 3</a:t>
              </a:r>
              <a:endParaRPr lang="en-US" sz="17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17" name="Left Brace 116"/>
            <p:cNvSpPr/>
            <p:nvPr/>
          </p:nvSpPr>
          <p:spPr>
            <a:xfrm rot="16200000" flipV="1">
              <a:off x="3385485" y="3741151"/>
              <a:ext cx="332472" cy="1135117"/>
            </a:xfrm>
            <a:prstGeom prst="leftBrac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3288962" y="4462046"/>
              <a:ext cx="694388" cy="3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accent1">
                      <a:lumMod val="50000"/>
                    </a:schemeClr>
                  </a:solidFill>
                </a:rPr>
                <a:t>44 </a:t>
              </a:r>
              <a:r>
                <a:rPr lang="en-US" sz="1700" dirty="0">
                  <a:solidFill>
                    <a:schemeClr val="accent1">
                      <a:lumMod val="50000"/>
                    </a:schemeClr>
                  </a:solidFill>
                  <a:sym typeface="Symbol"/>
                </a:rPr>
                <a:t> 2</a:t>
              </a:r>
              <a:endParaRPr lang="en-US" sz="17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19" name="Left Brace 118"/>
            <p:cNvSpPr/>
            <p:nvPr/>
          </p:nvSpPr>
          <p:spPr>
            <a:xfrm rot="16200000" flipV="1">
              <a:off x="2088457" y="3783424"/>
              <a:ext cx="480246" cy="2514599"/>
            </a:xfrm>
            <a:prstGeom prst="leftBrac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985680" y="5300248"/>
              <a:ext cx="694388" cy="3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accent1">
                      <a:lumMod val="50000"/>
                    </a:schemeClr>
                  </a:solidFill>
                </a:rPr>
                <a:t>44 </a:t>
              </a:r>
              <a:r>
                <a:rPr lang="en-US" sz="1700" dirty="0">
                  <a:solidFill>
                    <a:schemeClr val="accent1">
                      <a:lumMod val="50000"/>
                    </a:schemeClr>
                  </a:solidFill>
                  <a:sym typeface="Symbol"/>
                </a:rPr>
                <a:t> 5</a:t>
              </a:r>
              <a:endParaRPr lang="en-US" sz="17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5331302" y="4195928"/>
            <a:ext cx="3877309" cy="1599356"/>
            <a:chOff x="5029200" y="4087128"/>
            <a:chExt cx="3657599" cy="1557885"/>
          </a:xfrm>
        </p:grpSpPr>
        <p:sp>
          <p:nvSpPr>
            <p:cNvPr id="75" name="Left Brace 74"/>
            <p:cNvSpPr/>
            <p:nvPr/>
          </p:nvSpPr>
          <p:spPr>
            <a:xfrm rot="16200000" flipV="1">
              <a:off x="5430523" y="3685805"/>
              <a:ext cx="332472" cy="1135117"/>
            </a:xfrm>
            <a:prstGeom prst="leftBrac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5257800" y="4462046"/>
              <a:ext cx="694388" cy="3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accent1">
                      <a:lumMod val="50000"/>
                    </a:schemeClr>
                  </a:solidFill>
                </a:rPr>
                <a:t>37 </a:t>
              </a:r>
              <a:r>
                <a:rPr lang="en-US" sz="1700" dirty="0">
                  <a:solidFill>
                    <a:schemeClr val="accent1">
                      <a:lumMod val="50000"/>
                    </a:schemeClr>
                  </a:solidFill>
                  <a:sym typeface="Symbol"/>
                </a:rPr>
                <a:t> 2</a:t>
              </a:r>
              <a:endParaRPr lang="en-US" sz="17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77" name="Left Brace 76"/>
            <p:cNvSpPr/>
            <p:nvPr/>
          </p:nvSpPr>
          <p:spPr>
            <a:xfrm rot="16200000" flipV="1">
              <a:off x="6674538" y="3713478"/>
              <a:ext cx="332472" cy="1135117"/>
            </a:xfrm>
            <a:prstGeom prst="leftBrac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617344" y="4462046"/>
              <a:ext cx="694388" cy="3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accent1">
                      <a:lumMod val="50000"/>
                    </a:schemeClr>
                  </a:solidFill>
                </a:rPr>
                <a:t>47 </a:t>
              </a:r>
              <a:r>
                <a:rPr lang="en-US" sz="1700" dirty="0">
                  <a:solidFill>
                    <a:schemeClr val="accent1">
                      <a:lumMod val="50000"/>
                    </a:schemeClr>
                  </a:solidFill>
                  <a:sym typeface="Symbol"/>
                </a:rPr>
                <a:t> 2</a:t>
              </a:r>
              <a:endParaRPr lang="en-US" sz="17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79" name="Left Brace 78"/>
            <p:cNvSpPr/>
            <p:nvPr/>
          </p:nvSpPr>
          <p:spPr>
            <a:xfrm rot="16200000" flipV="1">
              <a:off x="7953005" y="3741151"/>
              <a:ext cx="332472" cy="1135117"/>
            </a:xfrm>
            <a:prstGeom prst="leftBrac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856482" y="4462046"/>
              <a:ext cx="694388" cy="3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accent1">
                      <a:lumMod val="50000"/>
                    </a:schemeClr>
                  </a:solidFill>
                </a:rPr>
                <a:t>33 </a:t>
              </a:r>
              <a:r>
                <a:rPr lang="en-US" sz="1700" dirty="0">
                  <a:solidFill>
                    <a:schemeClr val="accent1">
                      <a:lumMod val="50000"/>
                    </a:schemeClr>
                  </a:solidFill>
                  <a:sym typeface="Symbol"/>
                </a:rPr>
                <a:t> 2</a:t>
              </a:r>
              <a:endParaRPr lang="en-US" sz="17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81" name="Left Brace 80"/>
            <p:cNvSpPr/>
            <p:nvPr/>
          </p:nvSpPr>
          <p:spPr>
            <a:xfrm rot="16200000" flipV="1">
              <a:off x="6655977" y="3783424"/>
              <a:ext cx="480246" cy="2514599"/>
            </a:xfrm>
            <a:prstGeom prst="leftBrac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6553200" y="5300248"/>
              <a:ext cx="694388" cy="3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accent1">
                      <a:lumMod val="50000"/>
                    </a:schemeClr>
                  </a:solidFill>
                </a:rPr>
                <a:t>39 </a:t>
              </a:r>
              <a:r>
                <a:rPr lang="en-US" sz="1700" dirty="0">
                  <a:solidFill>
                    <a:schemeClr val="accent1">
                      <a:lumMod val="50000"/>
                    </a:schemeClr>
                  </a:solidFill>
                  <a:sym typeface="Symbol"/>
                </a:rPr>
                <a:t> 7</a:t>
              </a:r>
              <a:endParaRPr lang="en-US" sz="17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147" name="TextBox 146"/>
          <p:cNvSpPr txBox="1"/>
          <p:nvPr/>
        </p:nvSpPr>
        <p:spPr>
          <a:xfrm>
            <a:off x="2100210" y="5897205"/>
            <a:ext cx="744539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44 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3</a:t>
            </a:r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2100210" y="6362519"/>
            <a:ext cx="794232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44 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2 </a:t>
            </a:r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6948995" y="5897205"/>
            <a:ext cx="744539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39 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3</a:t>
            </a:r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6946847" y="6318943"/>
            <a:ext cx="744539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39 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2</a:t>
            </a:r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CE40160-4E77-4E54-9B72-203167E27514}"/>
              </a:ext>
            </a:extLst>
          </p:cNvPr>
          <p:cNvCxnSpPr>
            <a:stCxn id="120" idx="3"/>
            <a:endCxn id="82" idx="1"/>
          </p:cNvCxnSpPr>
          <p:nvPr/>
        </p:nvCxnSpPr>
        <p:spPr>
          <a:xfrm>
            <a:off x="2841059" y="5618313"/>
            <a:ext cx="410578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4F9B161-2380-4FBC-9CDA-FE0FA115C765}"/>
              </a:ext>
            </a:extLst>
          </p:cNvPr>
          <p:cNvSpPr txBox="1"/>
          <p:nvPr/>
        </p:nvSpPr>
        <p:spPr>
          <a:xfrm>
            <a:off x="3404513" y="5381369"/>
            <a:ext cx="2821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Would need n~</a:t>
            </a:r>
            <a:r>
              <a:rPr lang="en-US" sz="1200" b="1" dirty="0">
                <a:solidFill>
                  <a:srgbClr val="FF0000"/>
                </a:solidFill>
              </a:rPr>
              <a:t>32</a:t>
            </a:r>
            <a:r>
              <a:rPr lang="en-US" sz="1200" dirty="0"/>
              <a:t> to detect this difference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2FC4D1B2-2E41-427A-AF4C-729B1B906714}"/>
              </a:ext>
            </a:extLst>
          </p:cNvPr>
          <p:cNvCxnSpPr/>
          <p:nvPr/>
        </p:nvCxnSpPr>
        <p:spPr>
          <a:xfrm>
            <a:off x="2864922" y="6080229"/>
            <a:ext cx="410578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960F565A-DDB8-4350-9C5C-A58E2F3796E5}"/>
              </a:ext>
            </a:extLst>
          </p:cNvPr>
          <p:cNvSpPr txBox="1"/>
          <p:nvPr/>
        </p:nvSpPr>
        <p:spPr>
          <a:xfrm>
            <a:off x="3428376" y="5843285"/>
            <a:ext cx="2821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Would need n=</a:t>
            </a:r>
            <a:r>
              <a:rPr lang="en-US" sz="1200" b="1" dirty="0">
                <a:solidFill>
                  <a:srgbClr val="FF0000"/>
                </a:solidFill>
              </a:rPr>
              <a:t>6</a:t>
            </a:r>
            <a:r>
              <a:rPr lang="en-US" sz="1200" dirty="0"/>
              <a:t> to detect this difference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04CA4E8-8E1D-46BC-B98C-1B436B6CF304}"/>
              </a:ext>
            </a:extLst>
          </p:cNvPr>
          <p:cNvCxnSpPr/>
          <p:nvPr/>
        </p:nvCxnSpPr>
        <p:spPr>
          <a:xfrm>
            <a:off x="2841059" y="6533206"/>
            <a:ext cx="410578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D02EA47A-4DC2-48BB-8FC6-C39561127B57}"/>
              </a:ext>
            </a:extLst>
          </p:cNvPr>
          <p:cNvSpPr txBox="1"/>
          <p:nvPr/>
        </p:nvSpPr>
        <p:spPr>
          <a:xfrm>
            <a:off x="3404513" y="6296262"/>
            <a:ext cx="2821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Would need n=</a:t>
            </a:r>
            <a:r>
              <a:rPr lang="en-US" sz="1200" b="1" dirty="0">
                <a:solidFill>
                  <a:srgbClr val="FF0000"/>
                </a:solidFill>
              </a:rPr>
              <a:t>3</a:t>
            </a:r>
            <a:r>
              <a:rPr lang="en-US" sz="1200" dirty="0"/>
              <a:t> to detect this difference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8EA6C3-439E-44A5-B6DB-1ABC09D8E6A4}"/>
              </a:ext>
            </a:extLst>
          </p:cNvPr>
          <p:cNvSpPr txBox="1"/>
          <p:nvPr/>
        </p:nvSpPr>
        <p:spPr>
          <a:xfrm>
            <a:off x="254141" y="5579605"/>
            <a:ext cx="176298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JASP:</a:t>
            </a:r>
          </a:p>
          <a:p>
            <a:r>
              <a:rPr lang="en-US" dirty="0"/>
              <a:t>Cohen’s delta = difference in means/SD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12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12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12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12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1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12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2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12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3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12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4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12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5" name="Slide Number Placeholder 2"/>
          <p:cNvSpPr txBox="1">
            <a:spLocks/>
          </p:cNvSpPr>
          <p:nvPr/>
        </p:nvSpPr>
        <p:spPr>
          <a:xfrm>
            <a:off x="7350734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12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</a:t>
            </a:r>
            <a:r>
              <a:rPr lang="en-US" sz="3300" b="1" i="1" dirty="0"/>
              <a:t>In vitro </a:t>
            </a:r>
            <a:r>
              <a:rPr lang="en-US" sz="3300" b="1" dirty="0"/>
              <a:t>or cell experiments – </a:t>
            </a:r>
            <a:r>
              <a:rPr lang="en-US" sz="3300" dirty="0"/>
              <a:t>replicates</a:t>
            </a:r>
          </a:p>
        </p:txBody>
      </p:sp>
      <p:sp>
        <p:nvSpPr>
          <p:cNvPr id="19" name="Oval 18"/>
          <p:cNvSpPr/>
          <p:nvPr/>
        </p:nvSpPr>
        <p:spPr>
          <a:xfrm>
            <a:off x="484664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952615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420566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1821667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2289619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2757569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3158671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3626622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4094574" y="3545698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4361974" y="1408113"/>
            <a:ext cx="323109" cy="312914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473423" y="1016970"/>
            <a:ext cx="1345665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Seeding flask</a:t>
            </a:r>
          </a:p>
        </p:txBody>
      </p:sp>
      <p:sp>
        <p:nvSpPr>
          <p:cNvPr id="31" name="Oval 30"/>
          <p:cNvSpPr/>
          <p:nvPr/>
        </p:nvSpPr>
        <p:spPr>
          <a:xfrm>
            <a:off x="5331301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2" name="Oval 31"/>
          <p:cNvSpPr/>
          <p:nvPr/>
        </p:nvSpPr>
        <p:spPr>
          <a:xfrm>
            <a:off x="5799252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3" name="Oval 32"/>
          <p:cNvSpPr/>
          <p:nvPr/>
        </p:nvSpPr>
        <p:spPr>
          <a:xfrm>
            <a:off x="6267204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6668304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7136256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6" name="Oval 35"/>
          <p:cNvSpPr/>
          <p:nvPr/>
        </p:nvSpPr>
        <p:spPr>
          <a:xfrm>
            <a:off x="7604207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7" name="Oval 36"/>
          <p:cNvSpPr/>
          <p:nvPr/>
        </p:nvSpPr>
        <p:spPr>
          <a:xfrm>
            <a:off x="8005309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8" name="Oval 37"/>
          <p:cNvSpPr/>
          <p:nvPr/>
        </p:nvSpPr>
        <p:spPr>
          <a:xfrm>
            <a:off x="8473259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8941211" y="3526857"/>
            <a:ext cx="267400" cy="273057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2504096" y="1955713"/>
            <a:ext cx="1124707" cy="327384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</a:rPr>
              <a:t>+ treatment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40849" y="2346855"/>
            <a:ext cx="1230504" cy="558217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pPr algn="ctr"/>
            <a:r>
              <a:rPr lang="en-US" sz="1500" dirty="0">
                <a:solidFill>
                  <a:schemeClr val="accent1">
                    <a:lumMod val="50000"/>
                  </a:schemeClr>
                </a:solidFill>
              </a:rPr>
              <a:t>no treatment</a:t>
            </a:r>
          </a:p>
          <a:p>
            <a:pPr algn="ctr"/>
            <a:r>
              <a:rPr lang="en-US" sz="1500" dirty="0">
                <a:solidFill>
                  <a:schemeClr val="accent1">
                    <a:lumMod val="50000"/>
                  </a:schemeClr>
                </a:solidFill>
              </a:rPr>
              <a:t>(vehicle)</a:t>
            </a: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4927415" y="1642798"/>
            <a:ext cx="3796533" cy="625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027625" y="1642799"/>
            <a:ext cx="944914" cy="327384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</a:rPr>
              <a:t>Medium?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50524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22407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07071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10958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60159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33002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16174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88058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59942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8635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0519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65183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69069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18270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52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91113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74286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46170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18053" y="3911424"/>
            <a:ext cx="414320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45</a:t>
            </a:r>
          </a:p>
        </p:txBody>
      </p:sp>
      <p:sp>
        <p:nvSpPr>
          <p:cNvPr id="111" name="Left Brace 110"/>
          <p:cNvSpPr/>
          <p:nvPr/>
        </p:nvSpPr>
        <p:spPr>
          <a:xfrm rot="5400000">
            <a:off x="2303991" y="1388041"/>
            <a:ext cx="319433" cy="39580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cxnSp>
        <p:nvCxnSpPr>
          <p:cNvPr id="113" name="Straight Connector 112"/>
          <p:cNvCxnSpPr>
            <a:endCxn id="111" idx="1"/>
          </p:cNvCxnSpPr>
          <p:nvPr/>
        </p:nvCxnSpPr>
        <p:spPr>
          <a:xfrm flipH="1">
            <a:off x="2463707" y="1799255"/>
            <a:ext cx="1817489" cy="140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Left Brace 114"/>
          <p:cNvSpPr/>
          <p:nvPr/>
        </p:nvSpPr>
        <p:spPr>
          <a:xfrm rot="5400000">
            <a:off x="7069851" y="1388041"/>
            <a:ext cx="319433" cy="39580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cxnSp>
        <p:nvCxnSpPr>
          <p:cNvPr id="117" name="Straight Connector 116"/>
          <p:cNvCxnSpPr>
            <a:stCxn id="115" idx="1"/>
          </p:cNvCxnSpPr>
          <p:nvPr/>
        </p:nvCxnSpPr>
        <p:spPr>
          <a:xfrm flipH="1" flipV="1">
            <a:off x="4765860" y="1799255"/>
            <a:ext cx="2463707" cy="1408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Left Brace 117"/>
          <p:cNvSpPr/>
          <p:nvPr/>
        </p:nvSpPr>
        <p:spPr>
          <a:xfrm rot="16200000" flipV="1">
            <a:off x="2252888" y="2320263"/>
            <a:ext cx="319433" cy="39580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19" name="Left Brace 118"/>
          <p:cNvSpPr/>
          <p:nvPr/>
        </p:nvSpPr>
        <p:spPr>
          <a:xfrm rot="16200000" flipV="1">
            <a:off x="7130845" y="2326782"/>
            <a:ext cx="319433" cy="39580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21" name="TextBox 120"/>
          <p:cNvSpPr txBox="1"/>
          <p:nvPr/>
        </p:nvSpPr>
        <p:spPr>
          <a:xfrm>
            <a:off x="2019433" y="4537252"/>
            <a:ext cx="1308796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44 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4  (n=9)</a:t>
            </a:r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052227" y="5371101"/>
            <a:ext cx="1259103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44 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5 (n=3)</a:t>
            </a:r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316527" y="5402697"/>
            <a:ext cx="1824386" cy="327384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500" dirty="0"/>
              <a:t>Original study design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07378" y="4537252"/>
            <a:ext cx="1308796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39 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6  (n=9)</a:t>
            </a:r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6607378" y="5371101"/>
            <a:ext cx="1259103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39 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7 (n=3)</a:t>
            </a:r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152438" y="4359836"/>
            <a:ext cx="2382166" cy="117377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p = 0.066 (Mann-Whitney)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p = 0.008 (Wilcoxon sign rank)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p = 0.049 (t-test)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p = 0.008 (paired t-test)</a:t>
            </a:r>
          </a:p>
          <a:p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74637" y="5780645"/>
            <a:ext cx="9592105" cy="973715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You may want to :</a:t>
            </a:r>
          </a:p>
          <a:p>
            <a:pPr marL="358571" indent="-358571">
              <a:buAutoNum type="arabicParenR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Optimize your experimental conditions to decrease variability</a:t>
            </a:r>
          </a:p>
          <a:p>
            <a:pPr marL="358571" indent="-358571">
              <a:buAutoNum type="arabicParenR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Increase your n where you need 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41AD5C-F08F-44DE-A56A-BF3BCE9666FB}"/>
              </a:ext>
            </a:extLst>
          </p:cNvPr>
          <p:cNvSpPr txBox="1"/>
          <p:nvPr/>
        </p:nvSpPr>
        <p:spPr>
          <a:xfrm>
            <a:off x="3753330" y="5421486"/>
            <a:ext cx="22892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376092"/>
                </a:solidFill>
              </a:rPr>
              <a:t>Would not reach significance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F6DB83-9396-4AEC-A010-0AF77B7A2643}"/>
              </a:ext>
            </a:extLst>
          </p:cNvPr>
          <p:cNvSpPr/>
          <p:nvPr/>
        </p:nvSpPr>
        <p:spPr>
          <a:xfrm>
            <a:off x="4094573" y="4839534"/>
            <a:ext cx="1972079" cy="4344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i="1" dirty="0"/>
              <a:t> In vitro </a:t>
            </a:r>
            <a:r>
              <a:rPr lang="en-US" sz="3300" b="1" dirty="0"/>
              <a:t>or cell experiments – </a:t>
            </a:r>
            <a:r>
              <a:rPr lang="en-US" sz="3300" dirty="0"/>
              <a:t>replicates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109" y="1005681"/>
            <a:ext cx="9127834" cy="1850878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Example: Mouse model of Huntington’s disease: HD+ vs. WT, young vs. old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(4 groups, n = 10-12 animal per group, many images per animal)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Objective: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To perform transmission electron microscopy (TEM) and do morphometric analyses of a) cell size, b) mitochondria number, and c) mitochondria size.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Research question: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do these differ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with disease or age?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pic>
        <p:nvPicPr>
          <p:cNvPr id="1026" name="Object 7"/>
          <p:cNvPicPr>
            <a:picLocks noChangeArrowheads="1"/>
          </p:cNvPicPr>
          <p:nvPr/>
        </p:nvPicPr>
        <p:blipFill>
          <a:blip r:embed="rId2" cstate="print"/>
          <a:srcRect t="-124" r="-32" b="-172"/>
          <a:stretch>
            <a:fillRect/>
          </a:stretch>
        </p:blipFill>
        <p:spPr bwMode="auto">
          <a:xfrm>
            <a:off x="323109" y="3285596"/>
            <a:ext cx="4119642" cy="3598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8351837" y="4053681"/>
            <a:ext cx="60960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02C053-3B54-4922-B78A-940558CFF752}"/>
              </a:ext>
            </a:extLst>
          </p:cNvPr>
          <p:cNvSpPr/>
          <p:nvPr/>
        </p:nvSpPr>
        <p:spPr>
          <a:xfrm>
            <a:off x="4705277" y="4389197"/>
            <a:ext cx="4483140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Q1: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What could be done to minimize bias? Not all cells look the same. Which one to measure?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8CDA4C-F02E-4AD3-A5AF-933AE347DC08}"/>
              </a:ext>
            </a:extLst>
          </p:cNvPr>
          <p:cNvSpPr txBox="1"/>
          <p:nvPr/>
        </p:nvSpPr>
        <p:spPr>
          <a:xfrm>
            <a:off x="4721792" y="3084185"/>
            <a:ext cx="4510671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Obtained dozens of TEM images per animal, each containing many cells which each contain many mitochondria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i="1" dirty="0"/>
              <a:t> In vitro </a:t>
            </a:r>
            <a:r>
              <a:rPr lang="en-US" sz="3300" b="1" dirty="0"/>
              <a:t>or cell experiments – </a:t>
            </a:r>
            <a:r>
              <a:rPr lang="en-US" sz="3300" dirty="0"/>
              <a:t>replicates</a:t>
            </a:r>
          </a:p>
        </p:txBody>
      </p:sp>
      <p:pic>
        <p:nvPicPr>
          <p:cNvPr id="1026" name="Object 7"/>
          <p:cNvPicPr>
            <a:picLocks noChangeArrowheads="1"/>
          </p:cNvPicPr>
          <p:nvPr/>
        </p:nvPicPr>
        <p:blipFill>
          <a:blip r:embed="rId2" cstate="print"/>
          <a:srcRect t="-124" r="-32" b="-172"/>
          <a:stretch>
            <a:fillRect/>
          </a:stretch>
        </p:blipFill>
        <p:spPr bwMode="auto">
          <a:xfrm>
            <a:off x="323109" y="3285596"/>
            <a:ext cx="4119642" cy="3598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617502" y="2361632"/>
            <a:ext cx="4692052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Q2: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How does one decide how many images or cells per animal (replicates) to analyze for each measure?</a:t>
            </a:r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4542546" y="3425961"/>
            <a:ext cx="4454318" cy="2380320"/>
            <a:chOff x="4600542" y="4129881"/>
            <a:chExt cx="4454318" cy="2380320"/>
          </a:xfrm>
        </p:grpSpPr>
        <p:sp>
          <p:nvSpPr>
            <p:cNvPr id="11" name="TextBox 10"/>
            <p:cNvSpPr txBox="1"/>
            <p:nvPr/>
          </p:nvSpPr>
          <p:spPr>
            <a:xfrm>
              <a:off x="4600542" y="4928119"/>
              <a:ext cx="627095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254061"/>
                  </a:solidFill>
                </a:rPr>
                <a:t>%CV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82133" y="6125480"/>
              <a:ext cx="3872727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254061"/>
                  </a:solidFill>
                </a:rPr>
                <a:t>Number of images or cells per animal</a:t>
              </a:r>
            </a:p>
          </p:txBody>
        </p:sp>
        <p:sp>
          <p:nvSpPr>
            <p:cNvPr id="12" name="Freeform 11"/>
            <p:cNvSpPr/>
            <p:nvPr/>
          </p:nvSpPr>
          <p:spPr>
            <a:xfrm>
              <a:off x="5358809" y="4210493"/>
              <a:ext cx="3519377" cy="1063256"/>
            </a:xfrm>
            <a:custGeom>
              <a:avLst/>
              <a:gdLst>
                <a:gd name="connsiteX0" fmla="*/ 0 w 3519377"/>
                <a:gd name="connsiteY0" fmla="*/ 0 h 1063256"/>
                <a:gd name="connsiteX1" fmla="*/ 21265 w 3519377"/>
                <a:gd name="connsiteY1" fmla="*/ 53163 h 1063256"/>
                <a:gd name="connsiteX2" fmla="*/ 31898 w 3519377"/>
                <a:gd name="connsiteY2" fmla="*/ 85060 h 1063256"/>
                <a:gd name="connsiteX3" fmla="*/ 53163 w 3519377"/>
                <a:gd name="connsiteY3" fmla="*/ 106326 h 1063256"/>
                <a:gd name="connsiteX4" fmla="*/ 85061 w 3519377"/>
                <a:gd name="connsiteY4" fmla="*/ 180754 h 1063256"/>
                <a:gd name="connsiteX5" fmla="*/ 95693 w 3519377"/>
                <a:gd name="connsiteY5" fmla="*/ 212651 h 1063256"/>
                <a:gd name="connsiteX6" fmla="*/ 116958 w 3519377"/>
                <a:gd name="connsiteY6" fmla="*/ 244549 h 1063256"/>
                <a:gd name="connsiteX7" fmla="*/ 138224 w 3519377"/>
                <a:gd name="connsiteY7" fmla="*/ 287079 h 1063256"/>
                <a:gd name="connsiteX8" fmla="*/ 170121 w 3519377"/>
                <a:gd name="connsiteY8" fmla="*/ 318977 h 1063256"/>
                <a:gd name="connsiteX9" fmla="*/ 212651 w 3519377"/>
                <a:gd name="connsiteY9" fmla="*/ 382772 h 1063256"/>
                <a:gd name="connsiteX10" fmla="*/ 233917 w 3519377"/>
                <a:gd name="connsiteY10" fmla="*/ 404037 h 1063256"/>
                <a:gd name="connsiteX11" fmla="*/ 308344 w 3519377"/>
                <a:gd name="connsiteY11" fmla="*/ 446567 h 1063256"/>
                <a:gd name="connsiteX12" fmla="*/ 340242 w 3519377"/>
                <a:gd name="connsiteY12" fmla="*/ 457200 h 1063256"/>
                <a:gd name="connsiteX13" fmla="*/ 574158 w 3519377"/>
                <a:gd name="connsiteY13" fmla="*/ 478465 h 1063256"/>
                <a:gd name="connsiteX14" fmla="*/ 595424 w 3519377"/>
                <a:gd name="connsiteY14" fmla="*/ 510363 h 1063256"/>
                <a:gd name="connsiteX15" fmla="*/ 637954 w 3519377"/>
                <a:gd name="connsiteY15" fmla="*/ 595423 h 1063256"/>
                <a:gd name="connsiteX16" fmla="*/ 680484 w 3519377"/>
                <a:gd name="connsiteY16" fmla="*/ 691116 h 1063256"/>
                <a:gd name="connsiteX17" fmla="*/ 691117 w 3519377"/>
                <a:gd name="connsiteY17" fmla="*/ 723014 h 1063256"/>
                <a:gd name="connsiteX18" fmla="*/ 712382 w 3519377"/>
                <a:gd name="connsiteY18" fmla="*/ 754912 h 1063256"/>
                <a:gd name="connsiteX19" fmla="*/ 744279 w 3519377"/>
                <a:gd name="connsiteY19" fmla="*/ 744279 h 1063256"/>
                <a:gd name="connsiteX20" fmla="*/ 776177 w 3519377"/>
                <a:gd name="connsiteY20" fmla="*/ 723014 h 1063256"/>
                <a:gd name="connsiteX21" fmla="*/ 808075 w 3519377"/>
                <a:gd name="connsiteY21" fmla="*/ 733647 h 1063256"/>
                <a:gd name="connsiteX22" fmla="*/ 818707 w 3519377"/>
                <a:gd name="connsiteY22" fmla="*/ 765544 h 1063256"/>
                <a:gd name="connsiteX23" fmla="*/ 882503 w 3519377"/>
                <a:gd name="connsiteY23" fmla="*/ 818707 h 1063256"/>
                <a:gd name="connsiteX24" fmla="*/ 914400 w 3519377"/>
                <a:gd name="connsiteY24" fmla="*/ 850605 h 1063256"/>
                <a:gd name="connsiteX25" fmla="*/ 1010093 w 3519377"/>
                <a:gd name="connsiteY25" fmla="*/ 882502 h 1063256"/>
                <a:gd name="connsiteX26" fmla="*/ 1137684 w 3519377"/>
                <a:gd name="connsiteY26" fmla="*/ 871870 h 1063256"/>
                <a:gd name="connsiteX27" fmla="*/ 1201479 w 3519377"/>
                <a:gd name="connsiteY27" fmla="*/ 850605 h 1063256"/>
                <a:gd name="connsiteX28" fmla="*/ 1233377 w 3519377"/>
                <a:gd name="connsiteY28" fmla="*/ 839972 h 1063256"/>
                <a:gd name="connsiteX29" fmla="*/ 1265275 w 3519377"/>
                <a:gd name="connsiteY29" fmla="*/ 861237 h 1063256"/>
                <a:gd name="connsiteX30" fmla="*/ 1286540 w 3519377"/>
                <a:gd name="connsiteY30" fmla="*/ 893135 h 1063256"/>
                <a:gd name="connsiteX31" fmla="*/ 1329070 w 3519377"/>
                <a:gd name="connsiteY31" fmla="*/ 914400 h 1063256"/>
                <a:gd name="connsiteX32" fmla="*/ 1403498 w 3519377"/>
                <a:gd name="connsiteY32" fmla="*/ 978195 h 1063256"/>
                <a:gd name="connsiteX33" fmla="*/ 1446028 w 3519377"/>
                <a:gd name="connsiteY33" fmla="*/ 988828 h 1063256"/>
                <a:gd name="connsiteX34" fmla="*/ 1488558 w 3519377"/>
                <a:gd name="connsiteY34" fmla="*/ 1010093 h 1063256"/>
                <a:gd name="connsiteX35" fmla="*/ 1701210 w 3519377"/>
                <a:gd name="connsiteY35" fmla="*/ 999460 h 1063256"/>
                <a:gd name="connsiteX36" fmla="*/ 1786270 w 3519377"/>
                <a:gd name="connsiteY36" fmla="*/ 978195 h 1063256"/>
                <a:gd name="connsiteX37" fmla="*/ 1945758 w 3519377"/>
                <a:gd name="connsiteY37" fmla="*/ 956930 h 1063256"/>
                <a:gd name="connsiteX38" fmla="*/ 1977656 w 3519377"/>
                <a:gd name="connsiteY38" fmla="*/ 946298 h 1063256"/>
                <a:gd name="connsiteX39" fmla="*/ 2062717 w 3519377"/>
                <a:gd name="connsiteY39" fmla="*/ 956930 h 1063256"/>
                <a:gd name="connsiteX40" fmla="*/ 2126512 w 3519377"/>
                <a:gd name="connsiteY40" fmla="*/ 978195 h 1063256"/>
                <a:gd name="connsiteX41" fmla="*/ 2243470 w 3519377"/>
                <a:gd name="connsiteY41" fmla="*/ 999460 h 1063256"/>
                <a:gd name="connsiteX42" fmla="*/ 2583712 w 3519377"/>
                <a:gd name="connsiteY42" fmla="*/ 1010093 h 1063256"/>
                <a:gd name="connsiteX43" fmla="*/ 2626242 w 3519377"/>
                <a:gd name="connsiteY43" fmla="*/ 1020726 h 1063256"/>
                <a:gd name="connsiteX44" fmla="*/ 2690038 w 3519377"/>
                <a:gd name="connsiteY44" fmla="*/ 1041991 h 1063256"/>
                <a:gd name="connsiteX45" fmla="*/ 3062177 w 3519377"/>
                <a:gd name="connsiteY45" fmla="*/ 1041991 h 1063256"/>
                <a:gd name="connsiteX46" fmla="*/ 3104707 w 3519377"/>
                <a:gd name="connsiteY46" fmla="*/ 1063256 h 1063256"/>
                <a:gd name="connsiteX47" fmla="*/ 3349256 w 3519377"/>
                <a:gd name="connsiteY47" fmla="*/ 1052623 h 1063256"/>
                <a:gd name="connsiteX48" fmla="*/ 3487479 w 3519377"/>
                <a:gd name="connsiteY48" fmla="*/ 1020726 h 1063256"/>
                <a:gd name="connsiteX49" fmla="*/ 3519377 w 3519377"/>
                <a:gd name="connsiteY49" fmla="*/ 1020726 h 1063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519377" h="1063256">
                  <a:moveTo>
                    <a:pt x="0" y="0"/>
                  </a:moveTo>
                  <a:cubicBezTo>
                    <a:pt x="7088" y="17721"/>
                    <a:pt x="14563" y="35292"/>
                    <a:pt x="21265" y="53163"/>
                  </a:cubicBezTo>
                  <a:cubicBezTo>
                    <a:pt x="25200" y="63657"/>
                    <a:pt x="26132" y="75450"/>
                    <a:pt x="31898" y="85060"/>
                  </a:cubicBezTo>
                  <a:cubicBezTo>
                    <a:pt x="37056" y="93656"/>
                    <a:pt x="46075" y="99237"/>
                    <a:pt x="53163" y="106326"/>
                  </a:cubicBezTo>
                  <a:cubicBezTo>
                    <a:pt x="75293" y="194842"/>
                    <a:pt x="48347" y="107324"/>
                    <a:pt x="85061" y="180754"/>
                  </a:cubicBezTo>
                  <a:cubicBezTo>
                    <a:pt x="90073" y="190778"/>
                    <a:pt x="90681" y="202627"/>
                    <a:pt x="95693" y="212651"/>
                  </a:cubicBezTo>
                  <a:cubicBezTo>
                    <a:pt x="101408" y="224081"/>
                    <a:pt x="110618" y="233454"/>
                    <a:pt x="116958" y="244549"/>
                  </a:cubicBezTo>
                  <a:cubicBezTo>
                    <a:pt x="124822" y="258311"/>
                    <a:pt x="129011" y="274181"/>
                    <a:pt x="138224" y="287079"/>
                  </a:cubicBezTo>
                  <a:cubicBezTo>
                    <a:pt x="146964" y="299315"/>
                    <a:pt x="160889" y="307108"/>
                    <a:pt x="170121" y="318977"/>
                  </a:cubicBezTo>
                  <a:cubicBezTo>
                    <a:pt x="185812" y="339151"/>
                    <a:pt x="198474" y="361507"/>
                    <a:pt x="212651" y="382772"/>
                  </a:cubicBezTo>
                  <a:cubicBezTo>
                    <a:pt x="218212" y="391113"/>
                    <a:pt x="226089" y="397775"/>
                    <a:pt x="233917" y="404037"/>
                  </a:cubicBezTo>
                  <a:cubicBezTo>
                    <a:pt x="254454" y="420466"/>
                    <a:pt x="284833" y="436491"/>
                    <a:pt x="308344" y="446567"/>
                  </a:cubicBezTo>
                  <a:cubicBezTo>
                    <a:pt x="318646" y="450982"/>
                    <a:pt x="329369" y="454482"/>
                    <a:pt x="340242" y="457200"/>
                  </a:cubicBezTo>
                  <a:cubicBezTo>
                    <a:pt x="423206" y="477942"/>
                    <a:pt x="473491" y="472544"/>
                    <a:pt x="574158" y="478465"/>
                  </a:cubicBezTo>
                  <a:cubicBezTo>
                    <a:pt x="581247" y="489098"/>
                    <a:pt x="589709" y="498933"/>
                    <a:pt x="595424" y="510363"/>
                  </a:cubicBezTo>
                  <a:cubicBezTo>
                    <a:pt x="647448" y="614410"/>
                    <a:pt x="588685" y="521521"/>
                    <a:pt x="637954" y="595423"/>
                  </a:cubicBezTo>
                  <a:cubicBezTo>
                    <a:pt x="657649" y="693902"/>
                    <a:pt x="632264" y="606732"/>
                    <a:pt x="680484" y="691116"/>
                  </a:cubicBezTo>
                  <a:cubicBezTo>
                    <a:pt x="686045" y="700847"/>
                    <a:pt x="686105" y="712989"/>
                    <a:pt x="691117" y="723014"/>
                  </a:cubicBezTo>
                  <a:cubicBezTo>
                    <a:pt x="696832" y="734444"/>
                    <a:pt x="705294" y="744279"/>
                    <a:pt x="712382" y="754912"/>
                  </a:cubicBezTo>
                  <a:cubicBezTo>
                    <a:pt x="723014" y="751368"/>
                    <a:pt x="734255" y="749291"/>
                    <a:pt x="744279" y="744279"/>
                  </a:cubicBezTo>
                  <a:cubicBezTo>
                    <a:pt x="755709" y="738564"/>
                    <a:pt x="763572" y="725115"/>
                    <a:pt x="776177" y="723014"/>
                  </a:cubicBezTo>
                  <a:cubicBezTo>
                    <a:pt x="787232" y="721172"/>
                    <a:pt x="797442" y="730103"/>
                    <a:pt x="808075" y="733647"/>
                  </a:cubicBezTo>
                  <a:cubicBezTo>
                    <a:pt x="811619" y="744279"/>
                    <a:pt x="812490" y="756219"/>
                    <a:pt x="818707" y="765544"/>
                  </a:cubicBezTo>
                  <a:cubicBezTo>
                    <a:pt x="842006" y="800492"/>
                    <a:pt x="853080" y="794188"/>
                    <a:pt x="882503" y="818707"/>
                  </a:cubicBezTo>
                  <a:cubicBezTo>
                    <a:pt x="894054" y="828333"/>
                    <a:pt x="900951" y="843880"/>
                    <a:pt x="914400" y="850605"/>
                  </a:cubicBezTo>
                  <a:cubicBezTo>
                    <a:pt x="944473" y="865642"/>
                    <a:pt x="1010093" y="882502"/>
                    <a:pt x="1010093" y="882502"/>
                  </a:cubicBezTo>
                  <a:cubicBezTo>
                    <a:pt x="1052623" y="878958"/>
                    <a:pt x="1095587" y="878886"/>
                    <a:pt x="1137684" y="871870"/>
                  </a:cubicBezTo>
                  <a:cubicBezTo>
                    <a:pt x="1159794" y="868185"/>
                    <a:pt x="1180214" y="857693"/>
                    <a:pt x="1201479" y="850605"/>
                  </a:cubicBezTo>
                  <a:lnTo>
                    <a:pt x="1233377" y="839972"/>
                  </a:lnTo>
                  <a:cubicBezTo>
                    <a:pt x="1244010" y="847060"/>
                    <a:pt x="1256239" y="852201"/>
                    <a:pt x="1265275" y="861237"/>
                  </a:cubicBezTo>
                  <a:cubicBezTo>
                    <a:pt x="1274311" y="870273"/>
                    <a:pt x="1276723" y="884954"/>
                    <a:pt x="1286540" y="893135"/>
                  </a:cubicBezTo>
                  <a:cubicBezTo>
                    <a:pt x="1298716" y="903282"/>
                    <a:pt x="1316390" y="904890"/>
                    <a:pt x="1329070" y="914400"/>
                  </a:cubicBezTo>
                  <a:cubicBezTo>
                    <a:pt x="1364289" y="940814"/>
                    <a:pt x="1365338" y="961840"/>
                    <a:pt x="1403498" y="978195"/>
                  </a:cubicBezTo>
                  <a:cubicBezTo>
                    <a:pt x="1416929" y="983951"/>
                    <a:pt x="1432345" y="983697"/>
                    <a:pt x="1446028" y="988828"/>
                  </a:cubicBezTo>
                  <a:cubicBezTo>
                    <a:pt x="1460869" y="994393"/>
                    <a:pt x="1474381" y="1003005"/>
                    <a:pt x="1488558" y="1010093"/>
                  </a:cubicBezTo>
                  <a:cubicBezTo>
                    <a:pt x="1559442" y="1006549"/>
                    <a:pt x="1630641" y="1007021"/>
                    <a:pt x="1701210" y="999460"/>
                  </a:cubicBezTo>
                  <a:cubicBezTo>
                    <a:pt x="1730270" y="996346"/>
                    <a:pt x="1757223" y="981422"/>
                    <a:pt x="1786270" y="978195"/>
                  </a:cubicBezTo>
                  <a:cubicBezTo>
                    <a:pt x="1832354" y="973075"/>
                    <a:pt x="1898022" y="967538"/>
                    <a:pt x="1945758" y="956930"/>
                  </a:cubicBezTo>
                  <a:cubicBezTo>
                    <a:pt x="1956699" y="954499"/>
                    <a:pt x="1967023" y="949842"/>
                    <a:pt x="1977656" y="946298"/>
                  </a:cubicBezTo>
                  <a:cubicBezTo>
                    <a:pt x="2006010" y="949842"/>
                    <a:pt x="2034777" y="950943"/>
                    <a:pt x="2062717" y="956930"/>
                  </a:cubicBezTo>
                  <a:cubicBezTo>
                    <a:pt x="2084635" y="961627"/>
                    <a:pt x="2105247" y="971107"/>
                    <a:pt x="2126512" y="978195"/>
                  </a:cubicBezTo>
                  <a:cubicBezTo>
                    <a:pt x="2156781" y="988285"/>
                    <a:pt x="2217300" y="998118"/>
                    <a:pt x="2243470" y="999460"/>
                  </a:cubicBezTo>
                  <a:cubicBezTo>
                    <a:pt x="2356790" y="1005271"/>
                    <a:pt x="2470298" y="1006549"/>
                    <a:pt x="2583712" y="1010093"/>
                  </a:cubicBezTo>
                  <a:cubicBezTo>
                    <a:pt x="2597889" y="1013637"/>
                    <a:pt x="2612245" y="1016527"/>
                    <a:pt x="2626242" y="1020726"/>
                  </a:cubicBezTo>
                  <a:cubicBezTo>
                    <a:pt x="2647712" y="1027167"/>
                    <a:pt x="2690038" y="1041991"/>
                    <a:pt x="2690038" y="1041991"/>
                  </a:cubicBezTo>
                  <a:cubicBezTo>
                    <a:pt x="2846693" y="1028936"/>
                    <a:pt x="2874878" y="1021180"/>
                    <a:pt x="3062177" y="1041991"/>
                  </a:cubicBezTo>
                  <a:cubicBezTo>
                    <a:pt x="3077930" y="1043741"/>
                    <a:pt x="3090530" y="1056168"/>
                    <a:pt x="3104707" y="1063256"/>
                  </a:cubicBezTo>
                  <a:cubicBezTo>
                    <a:pt x="3186223" y="1059712"/>
                    <a:pt x="3267870" y="1058436"/>
                    <a:pt x="3349256" y="1052623"/>
                  </a:cubicBezTo>
                  <a:cubicBezTo>
                    <a:pt x="3372171" y="1050986"/>
                    <a:pt x="3480150" y="1022558"/>
                    <a:pt x="3487479" y="1020726"/>
                  </a:cubicBezTo>
                  <a:cubicBezTo>
                    <a:pt x="3497794" y="1018147"/>
                    <a:pt x="3508744" y="1020726"/>
                    <a:pt x="3519377" y="102072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6827837" y="5349949"/>
              <a:ext cx="0" cy="608732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5227637" y="4129881"/>
              <a:ext cx="0" cy="1981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5227637" y="6111081"/>
              <a:ext cx="3429000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/>
          <p:cNvSpPr/>
          <p:nvPr/>
        </p:nvSpPr>
        <p:spPr>
          <a:xfrm>
            <a:off x="8351837" y="4053681"/>
            <a:ext cx="60960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E66795-A8E3-4A61-B67A-8828BADF9DC6}"/>
              </a:ext>
            </a:extLst>
          </p:cNvPr>
          <p:cNvSpPr/>
          <p:nvPr/>
        </p:nvSpPr>
        <p:spPr>
          <a:xfrm>
            <a:off x="323006" y="957336"/>
            <a:ext cx="8790831" cy="152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A1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Use a grid to minimize selection bias, have a pre-determined plan.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Ideally, try to be blinded as to what you are assaying (e.g. treated vs. control), and try to randomize </a:t>
            </a:r>
            <a:br>
              <a:rPr lang="en-US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</a:rPr>
              <a:t>-&gt; It gives reviewers confidence when you can write that “all assays were conducted in a blinded and randomized fashion”</a:t>
            </a:r>
            <a:endParaRPr lang="en-US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EB85C3-7EFC-42C1-8962-58A3D839333B}"/>
              </a:ext>
            </a:extLst>
          </p:cNvPr>
          <p:cNvSpPr txBox="1"/>
          <p:nvPr/>
        </p:nvSpPr>
        <p:spPr>
          <a:xfrm>
            <a:off x="4794673" y="5967373"/>
            <a:ext cx="45235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The n may not be the same for cells and for mitochondria</a:t>
            </a:r>
          </a:p>
        </p:txBody>
      </p:sp>
    </p:spTree>
    <p:extLst>
      <p:ext uri="{BB962C8B-B14F-4D97-AF65-F5344CB8AC3E}">
        <p14:creationId xmlns:p14="http://schemas.microsoft.com/office/powerpoint/2010/main" val="398432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Slide Number Placeholder 1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>
            <a:defPPr>
              <a:defRPr lang="en-US"/>
            </a:defPPr>
            <a:lvl1pPr marL="0" algn="r" defTabSz="956188" rtl="0" eaLnBrk="1" latinLnBrk="0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78094" algn="l" defTabSz="956188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6188" algn="l" defTabSz="956188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4282" algn="l" defTabSz="956188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2376" algn="l" defTabSz="956188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0470" algn="l" defTabSz="956188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8564" algn="l" defTabSz="956188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6658" algn="l" defTabSz="956188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4752" algn="l" defTabSz="956188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B5F07AE-1E89-4AE4-98DC-E8711993B5F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</a:t>
            </a:r>
            <a:r>
              <a:rPr lang="en-US" sz="3300" b="1" i="1" dirty="0"/>
              <a:t>In vitro </a:t>
            </a:r>
            <a:r>
              <a:rPr lang="en-US" sz="3300" b="1" dirty="0"/>
              <a:t>or cell experiments – </a:t>
            </a:r>
            <a:r>
              <a:rPr lang="en-US" sz="3300" dirty="0"/>
              <a:t>replicates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109" y="1040966"/>
            <a:ext cx="9127834" cy="973715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My collaborator determined that analyzing 20 cells yielded the lowest stable CV on the cell size measure but because counting 20 cells was very time consuming, they analyzed only 3 animals in each of the 4 group (valuing accuracy)</a:t>
            </a:r>
          </a:p>
        </p:txBody>
      </p:sp>
      <p:pic>
        <p:nvPicPr>
          <p:cNvPr id="7" name="Object 7"/>
          <p:cNvPicPr>
            <a:picLocks noChangeArrowheads="1"/>
          </p:cNvPicPr>
          <p:nvPr/>
        </p:nvPicPr>
        <p:blipFill>
          <a:blip r:embed="rId2" cstate="print"/>
          <a:srcRect t="-124" r="-32" b="-172"/>
          <a:stretch>
            <a:fillRect/>
          </a:stretch>
        </p:blipFill>
        <p:spPr bwMode="auto">
          <a:xfrm>
            <a:off x="323109" y="3285596"/>
            <a:ext cx="4119642" cy="3598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282263" y="1985837"/>
            <a:ext cx="9039470" cy="973715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Symbol" pitchFamily="18" charset="2"/>
              <a:buChar char="®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20 cells x 4 groups x 3 animals per group = 240 cells</a:t>
            </a:r>
          </a:p>
          <a:p>
            <a:pPr>
              <a:buFont typeface="Symbol" pitchFamily="18" charset="2"/>
              <a:buChar char="®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ended up comparing 4 groups of n = 3 → nothing reached significance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7724" y="4605719"/>
            <a:ext cx="4787721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Symbol" pitchFamily="18" charset="2"/>
              <a:buChar char="®"/>
            </a:pPr>
            <a:r>
              <a:rPr lang="en-US" b="1" dirty="0">
                <a:solidFill>
                  <a:srgbClr val="C00000"/>
                </a:solidFill>
                <a:sym typeface="Symbol"/>
              </a:rPr>
              <a:t> look at 6 cells, compare 4 groups of n = 10!</a:t>
            </a:r>
          </a:p>
          <a:p>
            <a:pPr>
              <a:buFont typeface="Symbol" pitchFamily="18" charset="2"/>
              <a:buChar char="®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→ 6 x 4 x 10 = 240 cells</a:t>
            </a:r>
          </a:p>
          <a:p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4737621" y="2216666"/>
            <a:ext cx="1066800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160940" y="5179719"/>
            <a:ext cx="1066800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151437" y="4663281"/>
            <a:ext cx="23916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637" y="5839766"/>
            <a:ext cx="440396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Same amount of work, much more power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814051" y="3227476"/>
            <a:ext cx="4845050" cy="6771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Q3: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What may have been a better alternate study design?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37437" y="3748881"/>
            <a:ext cx="381000" cy="155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678B06-E709-4F59-82D6-176591EC7E37}"/>
              </a:ext>
            </a:extLst>
          </p:cNvPr>
          <p:cNvSpPr txBox="1"/>
          <p:nvPr/>
        </p:nvSpPr>
        <p:spPr>
          <a:xfrm>
            <a:off x="4819556" y="6345727"/>
            <a:ext cx="394024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Entire summer wasted, no publication</a:t>
            </a:r>
          </a:p>
        </p:txBody>
      </p:sp>
    </p:spTree>
    <p:extLst>
      <p:ext uri="{BB962C8B-B14F-4D97-AF65-F5344CB8AC3E}">
        <p14:creationId xmlns:p14="http://schemas.microsoft.com/office/powerpoint/2010/main" val="154411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  <p:bldP spid="13" grpId="0"/>
      <p:bldP spid="3" grpId="0"/>
      <p:bldP spid="14" grpId="0" animBg="1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i="1" dirty="0"/>
              <a:t> In vitro </a:t>
            </a:r>
            <a:r>
              <a:rPr lang="en-US" sz="3300" b="1" dirty="0"/>
              <a:t>or cell experiments – </a:t>
            </a:r>
            <a:r>
              <a:rPr lang="en-US" sz="3300" dirty="0"/>
              <a:t>replicates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32" y="1251656"/>
            <a:ext cx="8481616" cy="2143266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Need to balance variability in your measurement with having a sufficiently large sample size to have statistical power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To be able to do that, you need to have a good idea about the variability of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358571" indent="-358571">
              <a:buAutoNum type="arabicParenR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Your assay itself</a:t>
            </a:r>
          </a:p>
          <a:p>
            <a:pPr marL="358571" indent="-358571">
              <a:buAutoNum type="arabicParenR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Your sample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</a:t>
            </a:r>
            <a:r>
              <a:rPr lang="en-US" sz="3300" b="1" i="1" dirty="0"/>
              <a:t>In vitro </a:t>
            </a:r>
            <a:r>
              <a:rPr lang="en-US" sz="3300" b="1" dirty="0"/>
              <a:t>or cell experiments – </a:t>
            </a:r>
            <a:r>
              <a:rPr lang="en-US" sz="3300" dirty="0"/>
              <a:t>sources of variability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110" y="1016971"/>
            <a:ext cx="2348311" cy="48127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2500" b="1" dirty="0">
                <a:solidFill>
                  <a:srgbClr val="254061"/>
                </a:solidFill>
              </a:rPr>
              <a:t>Assay variability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63" y="1510234"/>
            <a:ext cx="8019572" cy="5651919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rgbClr val="254061"/>
                </a:solidFill>
              </a:rPr>
              <a:t>  </a:t>
            </a:r>
            <a:r>
              <a:rPr lang="en-US" b="1" dirty="0">
                <a:solidFill>
                  <a:srgbClr val="254061"/>
                </a:solidFill>
              </a:rPr>
              <a:t>Intra-assay variability (CV): </a:t>
            </a:r>
          </a:p>
          <a:p>
            <a:pPr lvl="1"/>
            <a:r>
              <a:rPr lang="en-US" dirty="0">
                <a:solidFill>
                  <a:srgbClr val="254061"/>
                </a:solidFill>
              </a:rPr>
              <a:t>On same day, repeat the assay on a given specimen ~10+ times</a:t>
            </a:r>
          </a:p>
          <a:p>
            <a:pPr lvl="1"/>
            <a:r>
              <a:rPr lang="en-US" dirty="0">
                <a:solidFill>
                  <a:srgbClr val="254061"/>
                </a:solidFill>
              </a:rPr>
              <a:t>Calculate intra-assay %CV =  SD*100/mean</a:t>
            </a:r>
          </a:p>
          <a:p>
            <a:pPr lvl="1"/>
            <a:endParaRPr lang="en-US" dirty="0">
              <a:solidFill>
                <a:srgbClr val="254061"/>
              </a:solidFill>
            </a:endParaRPr>
          </a:p>
          <a:p>
            <a:pPr lvl="1"/>
            <a:r>
              <a:rPr lang="en-US" dirty="0">
                <a:solidFill>
                  <a:srgbClr val="254061"/>
                </a:solidFill>
              </a:rPr>
              <a:t>Ideally, intra-assay CV should be &lt;5%, or at least &lt;10%</a:t>
            </a:r>
          </a:p>
          <a:p>
            <a:pPr lvl="1"/>
            <a:r>
              <a:rPr lang="en-US" dirty="0">
                <a:solidFill>
                  <a:srgbClr val="254061"/>
                </a:solidFill>
              </a:rPr>
              <a:t>If higher, </a:t>
            </a:r>
          </a:p>
          <a:p>
            <a:pPr lvl="1"/>
            <a:r>
              <a:rPr lang="en-US" dirty="0">
                <a:solidFill>
                  <a:srgbClr val="254061"/>
                </a:solidFill>
                <a:sym typeface="Symbol"/>
              </a:rPr>
              <a:t>	- </a:t>
            </a:r>
            <a:r>
              <a:rPr lang="en-US" dirty="0">
                <a:solidFill>
                  <a:srgbClr val="254061"/>
                </a:solidFill>
              </a:rPr>
              <a:t>the number of assay replicates in order to </a:t>
            </a:r>
            <a:r>
              <a:rPr lang="en-US" dirty="0">
                <a:solidFill>
                  <a:srgbClr val="254061"/>
                </a:solidFill>
                <a:sym typeface="Symbol"/>
              </a:rPr>
              <a:t> %CV</a:t>
            </a:r>
          </a:p>
          <a:p>
            <a:pPr lvl="1"/>
            <a:r>
              <a:rPr lang="en-US" dirty="0">
                <a:solidFill>
                  <a:srgbClr val="254061"/>
                </a:solidFill>
                <a:sym typeface="Symbol"/>
              </a:rPr>
              <a:t>	- optimize the assay to  %CV</a:t>
            </a:r>
          </a:p>
          <a:p>
            <a:pPr lvl="1"/>
            <a:endParaRPr lang="en-US" dirty="0">
              <a:solidFill>
                <a:srgbClr val="254061"/>
              </a:solidFill>
              <a:sym typeface="Symbol"/>
            </a:endParaRPr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rgbClr val="254061"/>
                </a:solidFill>
              </a:rPr>
              <a:t> </a:t>
            </a:r>
            <a:r>
              <a:rPr lang="en-US" b="1" dirty="0">
                <a:solidFill>
                  <a:srgbClr val="254061"/>
                </a:solidFill>
              </a:rPr>
              <a:t>Inter-assay variability (CV): </a:t>
            </a:r>
          </a:p>
          <a:p>
            <a:pPr lvl="1"/>
            <a:r>
              <a:rPr lang="en-US" dirty="0">
                <a:solidFill>
                  <a:srgbClr val="254061"/>
                </a:solidFill>
              </a:rPr>
              <a:t>On different days, repeat the assay ~10+ independent times on one or two specimens (always using the exact same starting material)</a:t>
            </a:r>
          </a:p>
          <a:p>
            <a:pPr lvl="1"/>
            <a:endParaRPr lang="en-US" dirty="0">
              <a:solidFill>
                <a:srgbClr val="254061"/>
              </a:solidFill>
            </a:endParaRPr>
          </a:p>
          <a:p>
            <a:pPr lvl="1"/>
            <a:r>
              <a:rPr lang="en-US" dirty="0">
                <a:solidFill>
                  <a:srgbClr val="254061"/>
                </a:solidFill>
              </a:rPr>
              <a:t>Ideally, inter-assay CV should be &lt;10%, or at least &lt;15-20%</a:t>
            </a:r>
          </a:p>
          <a:p>
            <a:pPr lvl="1"/>
            <a:r>
              <a:rPr lang="en-US" dirty="0">
                <a:solidFill>
                  <a:srgbClr val="254061"/>
                </a:solidFill>
              </a:rPr>
              <a:t>If higher, </a:t>
            </a:r>
            <a:endParaRPr lang="en-US" dirty="0">
              <a:solidFill>
                <a:srgbClr val="254061"/>
              </a:solidFill>
              <a:sym typeface="Symbol"/>
            </a:endParaRPr>
          </a:p>
          <a:p>
            <a:pPr lvl="1"/>
            <a:r>
              <a:rPr lang="en-US" dirty="0">
                <a:solidFill>
                  <a:srgbClr val="254061"/>
                </a:solidFill>
                <a:sym typeface="Symbol"/>
              </a:rPr>
              <a:t>	- optimize the assay to  %CV</a:t>
            </a:r>
          </a:p>
          <a:p>
            <a:pPr lvl="1"/>
            <a:endParaRPr lang="en-US" dirty="0">
              <a:solidFill>
                <a:srgbClr val="25406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254061"/>
                </a:solidFill>
              </a:rPr>
              <a:t>Inter-operator variability (CV): </a:t>
            </a:r>
            <a:r>
              <a:rPr lang="en-US" dirty="0">
                <a:solidFill>
                  <a:srgbClr val="254061"/>
                </a:solidFill>
              </a:rPr>
              <a:t>different people can get different values…</a:t>
            </a:r>
          </a:p>
          <a:p>
            <a:r>
              <a:rPr lang="en-US" dirty="0">
                <a:solidFill>
                  <a:srgbClr val="254061"/>
                </a:solidFill>
              </a:rPr>
              <a:t>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63940" y="2221180"/>
            <a:ext cx="23622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Q: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Do you know your intra-assay CV?</a:t>
            </a:r>
          </a:p>
        </p:txBody>
      </p:sp>
      <p:sp>
        <p:nvSpPr>
          <p:cNvPr id="7" name="Rectangle 6"/>
          <p:cNvSpPr/>
          <p:nvPr/>
        </p:nvSpPr>
        <p:spPr>
          <a:xfrm>
            <a:off x="8809037" y="4322564"/>
            <a:ext cx="399574" cy="1121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244935" y="5051929"/>
            <a:ext cx="23622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Q: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Do you know your inter-assay CV?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F324F9-A217-490D-8EF1-45A596A78D62}"/>
              </a:ext>
            </a:extLst>
          </p:cNvPr>
          <p:cNvSpPr/>
          <p:nvPr/>
        </p:nvSpPr>
        <p:spPr>
          <a:xfrm>
            <a:off x="7120388" y="3028208"/>
            <a:ext cx="216642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Q: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What can you do to </a:t>
            </a:r>
            <a:r>
              <a:rPr lang="en-US" dirty="0">
                <a:solidFill>
                  <a:srgbClr val="254061"/>
                </a:solidFill>
                <a:sym typeface="Symbol"/>
              </a:rPr>
              <a:t> intra-assay CV?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70D555-1BE1-4837-AE9E-8B95864F9DAA}"/>
              </a:ext>
            </a:extLst>
          </p:cNvPr>
          <p:cNvSpPr/>
          <p:nvPr/>
        </p:nvSpPr>
        <p:spPr>
          <a:xfrm>
            <a:off x="7277759" y="5741028"/>
            <a:ext cx="216642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Q: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What can you do to </a:t>
            </a:r>
            <a:r>
              <a:rPr lang="en-US" dirty="0">
                <a:solidFill>
                  <a:srgbClr val="254061"/>
                </a:solidFill>
                <a:sym typeface="Symbol"/>
              </a:rPr>
              <a:t> inter-assay CV?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</a:t>
            </a:r>
            <a:r>
              <a:rPr lang="en-US" sz="3300" b="1" i="1" dirty="0"/>
              <a:t>In vitro </a:t>
            </a:r>
            <a:r>
              <a:rPr lang="en-US" sz="3300" b="1" dirty="0"/>
              <a:t>or cell experiments – </a:t>
            </a:r>
            <a:r>
              <a:rPr lang="en-US" sz="3300" dirty="0"/>
              <a:t>sources of variability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9653" y="1158081"/>
            <a:ext cx="8453316" cy="548264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2500" b="1" dirty="0">
                <a:solidFill>
                  <a:srgbClr val="254061"/>
                </a:solidFill>
              </a:rPr>
              <a:t>What are other potential sources of variability? </a:t>
            </a:r>
            <a:endParaRPr lang="en-US" sz="2500" dirty="0">
              <a:solidFill>
                <a:srgbClr val="254061"/>
              </a:solidFill>
            </a:endParaRPr>
          </a:p>
          <a:p>
            <a:endParaRPr lang="en-US" sz="2500" b="1" dirty="0">
              <a:solidFill>
                <a:srgbClr val="254061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500" dirty="0">
                <a:solidFill>
                  <a:srgbClr val="254061"/>
                </a:solidFill>
              </a:rPr>
              <a:t>  Treatment variability (</a:t>
            </a:r>
            <a:r>
              <a:rPr lang="en-US" sz="2500" dirty="0" err="1">
                <a:solidFill>
                  <a:srgbClr val="254061"/>
                </a:solidFill>
              </a:rPr>
              <a:t>pipeting</a:t>
            </a:r>
            <a:r>
              <a:rPr lang="en-US" sz="2500" dirty="0">
                <a:solidFill>
                  <a:srgbClr val="254061"/>
                </a:solidFill>
              </a:rPr>
              <a:t> error, poorly calibrated </a:t>
            </a:r>
            <a:r>
              <a:rPr lang="en-US" sz="2500" dirty="0" err="1">
                <a:solidFill>
                  <a:srgbClr val="254061"/>
                </a:solidFill>
              </a:rPr>
              <a:t>pipets</a:t>
            </a:r>
            <a:r>
              <a:rPr lang="en-US" sz="2500" dirty="0">
                <a:solidFill>
                  <a:srgbClr val="254061"/>
                </a:solidFill>
              </a:rPr>
              <a:t>)</a:t>
            </a:r>
          </a:p>
          <a:p>
            <a:pPr>
              <a:buFont typeface="Wingdings" pitchFamily="2" charset="2"/>
              <a:buChar char="§"/>
            </a:pPr>
            <a:r>
              <a:rPr lang="en-US" sz="2500" dirty="0">
                <a:solidFill>
                  <a:srgbClr val="254061"/>
                </a:solidFill>
              </a:rPr>
              <a:t>  Cell density/</a:t>
            </a:r>
            <a:r>
              <a:rPr lang="en-US" sz="2500" dirty="0" err="1">
                <a:solidFill>
                  <a:srgbClr val="254061"/>
                </a:solidFill>
              </a:rPr>
              <a:t>confluency</a:t>
            </a:r>
            <a:r>
              <a:rPr lang="en-US" sz="2500" dirty="0">
                <a:solidFill>
                  <a:srgbClr val="254061"/>
                </a:solidFill>
              </a:rPr>
              <a:t> differences</a:t>
            </a:r>
          </a:p>
          <a:p>
            <a:pPr>
              <a:buFont typeface="Wingdings" pitchFamily="2" charset="2"/>
              <a:buChar char="§"/>
            </a:pPr>
            <a:r>
              <a:rPr lang="en-US" sz="2500" dirty="0">
                <a:solidFill>
                  <a:srgbClr val="254061"/>
                </a:solidFill>
              </a:rPr>
              <a:t>  Cell passage/cell stock or cell source difference</a:t>
            </a:r>
          </a:p>
          <a:p>
            <a:pPr>
              <a:buFont typeface="Wingdings" pitchFamily="2" charset="2"/>
              <a:buChar char="§"/>
            </a:pPr>
            <a:r>
              <a:rPr lang="en-US" sz="2500" dirty="0">
                <a:solidFill>
                  <a:srgbClr val="254061"/>
                </a:solidFill>
              </a:rPr>
              <a:t>  Time out of incubator or freezer</a:t>
            </a:r>
          </a:p>
          <a:p>
            <a:pPr>
              <a:buFont typeface="Wingdings" pitchFamily="2" charset="2"/>
              <a:buChar char="§"/>
            </a:pPr>
            <a:r>
              <a:rPr lang="en-US" sz="2500" dirty="0">
                <a:solidFill>
                  <a:srgbClr val="254061"/>
                </a:solidFill>
              </a:rPr>
              <a:t>  Expiry date and different lot# of reagents</a:t>
            </a:r>
          </a:p>
          <a:p>
            <a:pPr>
              <a:buFont typeface="Wingdings" pitchFamily="2" charset="2"/>
              <a:buChar char="§"/>
            </a:pPr>
            <a:r>
              <a:rPr lang="en-US" sz="2500" dirty="0">
                <a:solidFill>
                  <a:srgbClr val="254061"/>
                </a:solidFill>
              </a:rPr>
              <a:t>  Freeze-thawing/degradation of reagents</a:t>
            </a:r>
          </a:p>
          <a:p>
            <a:pPr>
              <a:buFont typeface="Wingdings" pitchFamily="2" charset="2"/>
              <a:buChar char="§"/>
            </a:pPr>
            <a:r>
              <a:rPr lang="en-US" sz="2500" dirty="0">
                <a:solidFill>
                  <a:srgbClr val="254061"/>
                </a:solidFill>
              </a:rPr>
              <a:t>  Time on trypsin?</a:t>
            </a:r>
          </a:p>
          <a:p>
            <a:pPr>
              <a:buFont typeface="Wingdings" pitchFamily="2" charset="2"/>
              <a:buChar char="§"/>
            </a:pPr>
            <a:r>
              <a:rPr lang="en-US" sz="2500" dirty="0">
                <a:solidFill>
                  <a:srgbClr val="254061"/>
                </a:solidFill>
              </a:rPr>
              <a:t>  </a:t>
            </a:r>
            <a:r>
              <a:rPr lang="en-US" sz="2500" dirty="0" err="1">
                <a:solidFill>
                  <a:srgbClr val="254061"/>
                </a:solidFill>
              </a:rPr>
              <a:t>Mycoplasma</a:t>
            </a:r>
            <a:endParaRPr lang="en-US" sz="2500" dirty="0">
              <a:solidFill>
                <a:srgbClr val="254061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500" dirty="0">
                <a:solidFill>
                  <a:srgbClr val="254061"/>
                </a:solidFill>
              </a:rPr>
              <a:t>  Instrument fluctuation (lamp, well to well variability, T°)</a:t>
            </a:r>
          </a:p>
          <a:p>
            <a:pPr>
              <a:buFont typeface="Wingdings" pitchFamily="2" charset="2"/>
              <a:buChar char="§"/>
            </a:pPr>
            <a:r>
              <a:rPr lang="en-US" sz="2500" dirty="0">
                <a:solidFill>
                  <a:srgbClr val="254061"/>
                </a:solidFill>
              </a:rPr>
              <a:t>  Temperature in the lab (summer/winter)?</a:t>
            </a:r>
          </a:p>
          <a:p>
            <a:pPr>
              <a:buFont typeface="Wingdings" pitchFamily="2" charset="2"/>
              <a:buChar char="§"/>
            </a:pPr>
            <a:r>
              <a:rPr lang="en-US" sz="2500" dirty="0">
                <a:solidFill>
                  <a:srgbClr val="254061"/>
                </a:solidFill>
              </a:rPr>
              <a:t>  Extraction method?</a:t>
            </a:r>
          </a:p>
          <a:p>
            <a:pPr>
              <a:buFont typeface="Wingdings" pitchFamily="2" charset="2"/>
              <a:buChar char="§"/>
            </a:pPr>
            <a:r>
              <a:rPr lang="en-US" sz="2500" dirty="0">
                <a:solidFill>
                  <a:srgbClr val="254061"/>
                </a:solidFill>
              </a:rPr>
              <a:t> 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46847" y="6650636"/>
            <a:ext cx="2261764" cy="374845"/>
          </a:xfrm>
        </p:spPr>
        <p:txBody>
          <a:bodyPr/>
          <a:lstStyle/>
          <a:p>
            <a:fld id="{7B5F07AE-1E89-4AE4-98DC-E8711993B5F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i="1" dirty="0"/>
              <a:t> In vitro </a:t>
            </a:r>
            <a:r>
              <a:rPr lang="en-US" sz="3300" b="1" dirty="0"/>
              <a:t>or cell experiments – </a:t>
            </a:r>
            <a:r>
              <a:rPr lang="en-US" sz="3300" dirty="0"/>
              <a:t>monitor variability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165" y="900931"/>
            <a:ext cx="9450943" cy="2651097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Strongly consider using </a:t>
            </a:r>
            <a:r>
              <a:rPr lang="en-US" sz="2100" b="1" dirty="0">
                <a:solidFill>
                  <a:schemeClr val="accent1">
                    <a:lumMod val="50000"/>
                  </a:schemeClr>
                </a:solidFill>
              </a:rPr>
              <a:t>internal controls (ICs)</a:t>
            </a:r>
          </a:p>
          <a:p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100" b="1" dirty="0">
                <a:solidFill>
                  <a:schemeClr val="accent1">
                    <a:lumMod val="50000"/>
                  </a:schemeClr>
                </a:solidFill>
              </a:rPr>
              <a:t>Definition: </a:t>
            </a: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Large batch of specimen/preparation kept in small </a:t>
            </a:r>
            <a:r>
              <a:rPr lang="en-US" sz="2100" b="1" u="sng" dirty="0">
                <a:solidFill>
                  <a:schemeClr val="accent1">
                    <a:lumMod val="50000"/>
                  </a:schemeClr>
                </a:solidFill>
              </a:rPr>
              <a:t>one-time aliquots</a:t>
            </a: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br>
              <a:rPr lang="en-US" sz="21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                    one of which is included in each run/assay</a:t>
            </a:r>
          </a:p>
          <a:p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100" u="sng" dirty="0">
                <a:solidFill>
                  <a:schemeClr val="accent1">
                    <a:lumMod val="50000"/>
                  </a:schemeClr>
                </a:solidFill>
              </a:rPr>
              <a:t>Keep track </a:t>
            </a: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of the value obtained for your internal control, and calculate you CV</a:t>
            </a:r>
          </a:p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(whole lab or each operator). May want to establish </a:t>
            </a:r>
            <a:r>
              <a:rPr lang="en-US" sz="2000" b="1" i="1" dirty="0">
                <a:solidFill>
                  <a:schemeClr val="accent1">
                    <a:lumMod val="50000"/>
                  </a:schemeClr>
                </a:solidFill>
              </a:rPr>
              <a:t>a priori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criteria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for rejecting a run exclusion.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7B84362-AE02-466D-ACBE-9B0AF0DAB0BE}"/>
              </a:ext>
            </a:extLst>
          </p:cNvPr>
          <p:cNvGrpSpPr/>
          <p:nvPr/>
        </p:nvGrpSpPr>
        <p:grpSpPr>
          <a:xfrm>
            <a:off x="484664" y="3645359"/>
            <a:ext cx="6411698" cy="3129139"/>
            <a:chOff x="484664" y="3520282"/>
            <a:chExt cx="6411698" cy="3129139"/>
          </a:xfrm>
        </p:grpSpPr>
        <p:sp>
          <p:nvSpPr>
            <p:cNvPr id="11" name="Oval 10"/>
            <p:cNvSpPr/>
            <p:nvPr/>
          </p:nvSpPr>
          <p:spPr>
            <a:xfrm>
              <a:off x="3231092" y="4380795"/>
              <a:ext cx="323109" cy="39114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5619" tIns="47809" rIns="95619" bIns="47809"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C84C7B2-28D6-4D39-8DED-0187008668AF}"/>
                </a:ext>
              </a:extLst>
            </p:cNvPr>
            <p:cNvGrpSpPr/>
            <p:nvPr/>
          </p:nvGrpSpPr>
          <p:grpSpPr>
            <a:xfrm>
              <a:off x="484664" y="3520282"/>
              <a:ext cx="6411698" cy="3129139"/>
              <a:chOff x="484664" y="3520282"/>
              <a:chExt cx="6411698" cy="3129139"/>
            </a:xfrm>
          </p:grpSpPr>
          <p:graphicFrame>
            <p:nvGraphicFramePr>
              <p:cNvPr id="5" name="Chart 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22653490"/>
                  </p:ext>
                </p:extLst>
              </p:nvPr>
            </p:nvGraphicFramePr>
            <p:xfrm>
              <a:off x="484664" y="3520282"/>
              <a:ext cx="6411698" cy="31291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D61BF9-CF5B-41CA-8B23-61E7DCA7DA22}"/>
                  </a:ext>
                </a:extLst>
              </p:cNvPr>
              <p:cNvSpPr txBox="1"/>
              <p:nvPr/>
            </p:nvSpPr>
            <p:spPr>
              <a:xfrm rot="16200000">
                <a:off x="317755" y="4784295"/>
                <a:ext cx="1233864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Value of IC</a:t>
                </a: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FC1FA3-37B8-4BD7-8F7A-8C5CBD9D6BB4}"/>
                </a:ext>
              </a:extLst>
            </p:cNvPr>
            <p:cNvSpPr/>
            <p:nvPr/>
          </p:nvSpPr>
          <p:spPr>
            <a:xfrm rot="16200000">
              <a:off x="354762" y="4886022"/>
              <a:ext cx="775124" cy="2367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5ADEA4F-4662-4D80-8ECA-FFF8F33A6FF0}"/>
                </a:ext>
              </a:extLst>
            </p:cNvPr>
            <p:cNvGrpSpPr/>
            <p:nvPr/>
          </p:nvGrpSpPr>
          <p:grpSpPr>
            <a:xfrm>
              <a:off x="2865437" y="6210532"/>
              <a:ext cx="1973874" cy="384721"/>
              <a:chOff x="2785019" y="6921914"/>
              <a:chExt cx="1973874" cy="384721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368532F-B58E-4470-8828-FA88F5C4D1B2}"/>
                  </a:ext>
                </a:extLst>
              </p:cNvPr>
              <p:cNvSpPr/>
              <p:nvPr/>
            </p:nvSpPr>
            <p:spPr>
              <a:xfrm>
                <a:off x="3635008" y="6978333"/>
                <a:ext cx="775124" cy="2367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01293A-B99A-4C86-9022-FD43BF3F8F1F}"/>
                  </a:ext>
                </a:extLst>
              </p:cNvPr>
              <p:cNvSpPr txBox="1"/>
              <p:nvPr/>
            </p:nvSpPr>
            <p:spPr>
              <a:xfrm>
                <a:off x="2785019" y="6921914"/>
                <a:ext cx="1973874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Assay run number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D4FF61-E3C3-4984-B501-02CB38D43B0A}"/>
              </a:ext>
            </a:extLst>
          </p:cNvPr>
          <p:cNvGrpSpPr/>
          <p:nvPr/>
        </p:nvGrpSpPr>
        <p:grpSpPr>
          <a:xfrm>
            <a:off x="1615546" y="4740557"/>
            <a:ext cx="7013875" cy="1249453"/>
            <a:chOff x="1615546" y="4615480"/>
            <a:chExt cx="7013875" cy="1249453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1696323" y="4850166"/>
              <a:ext cx="5492856" cy="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615546" y="5710679"/>
              <a:ext cx="5492856" cy="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7189179" y="4615480"/>
              <a:ext cx="1440242" cy="388940"/>
            </a:xfrm>
            <a:prstGeom prst="rect">
              <a:avLst/>
            </a:prstGeom>
            <a:noFill/>
          </p:spPr>
          <p:txBody>
            <a:bodyPr wrap="none" lIns="95619" tIns="47809" rIns="95619" bIns="47809" rtlCol="0">
              <a:spAutoFit/>
            </a:bodyPr>
            <a:lstStyle/>
            <a:p>
              <a:r>
                <a:rPr lang="en-US" dirty="0"/>
                <a:t>Mean + 2 SD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189179" y="5475993"/>
              <a:ext cx="1440242" cy="388940"/>
            </a:xfrm>
            <a:prstGeom prst="rect">
              <a:avLst/>
            </a:prstGeom>
            <a:noFill/>
          </p:spPr>
          <p:txBody>
            <a:bodyPr wrap="none" lIns="95619" tIns="47809" rIns="95619" bIns="47809" rtlCol="0">
              <a:spAutoFit/>
            </a:bodyPr>
            <a:lstStyle/>
            <a:p>
              <a:r>
                <a:rPr lang="en-US" dirty="0"/>
                <a:t>Mean – 2 SD</a:t>
              </a:r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4EAFA2C4-96FB-4303-AA8C-808D6B0CAEF5}"/>
              </a:ext>
            </a:extLst>
          </p:cNvPr>
          <p:cNvSpPr/>
          <p:nvPr/>
        </p:nvSpPr>
        <p:spPr>
          <a:xfrm>
            <a:off x="3170237" y="4505872"/>
            <a:ext cx="460164" cy="36065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i="1" dirty="0"/>
              <a:t> In vitro </a:t>
            </a:r>
            <a:r>
              <a:rPr lang="en-US" sz="3300" b="1" dirty="0"/>
              <a:t>or cell experiments – </a:t>
            </a:r>
            <a:r>
              <a:rPr lang="en-US" sz="3300" dirty="0"/>
              <a:t>internal control(s)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109" y="988842"/>
            <a:ext cx="9127834" cy="6036639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pPr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Examples of internal controls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Large amount of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aliquoted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material for any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</a:rPr>
              <a:t>in vitro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assay</a:t>
            </a:r>
          </a:p>
          <a:p>
            <a:pPr lvl="1">
              <a:buClr>
                <a:schemeClr val="accent1">
                  <a:lumMod val="60000"/>
                  <a:lumOff val="40000"/>
                </a:schemeClr>
              </a:buClr>
              <a:buSzPct val="120000"/>
              <a:buFontTx/>
              <a:buChar char="-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Protein prep for ELISA, Western blots, protein assay (BCA)</a:t>
            </a:r>
          </a:p>
          <a:p>
            <a:pPr lvl="1">
              <a:buClr>
                <a:schemeClr val="accent1">
                  <a:lumMod val="60000"/>
                  <a:lumOff val="40000"/>
                </a:schemeClr>
              </a:buClr>
              <a:buSzPct val="120000"/>
              <a:buFontTx/>
              <a:buChar char="-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Extract for enzymatic assay</a:t>
            </a:r>
          </a:p>
          <a:p>
            <a:pPr lvl="1">
              <a:buClr>
                <a:schemeClr val="accent1">
                  <a:lumMod val="60000"/>
                  <a:lumOff val="40000"/>
                </a:schemeClr>
              </a:buClr>
              <a:buSzPct val="120000"/>
              <a:buFontTx/>
              <a:buChar char="-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Genomic DNA,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cDNA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or plasmid  DNA for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qPCR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sequencing</a:t>
            </a:r>
          </a:p>
          <a:p>
            <a:pPr lvl="1">
              <a:buClr>
                <a:schemeClr val="accent1">
                  <a:lumMod val="60000"/>
                  <a:lumOff val="40000"/>
                </a:schemeClr>
              </a:buClr>
              <a:buSzPct val="120000"/>
              <a:buFontTx/>
              <a:buChar char="-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RNA for mRNA reverse transcription + qPCR, microarray, transcriptomics, etc.</a:t>
            </a:r>
          </a:p>
          <a:p>
            <a:pPr lvl="1">
              <a:buClr>
                <a:schemeClr val="accent1">
                  <a:lumMod val="60000"/>
                  <a:lumOff val="40000"/>
                </a:schemeClr>
              </a:buClr>
              <a:buSzPct val="120000"/>
              <a:buFontTx/>
              <a:buChar char="-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Cells from a unique donor or culture</a:t>
            </a:r>
          </a:p>
          <a:p>
            <a:pPr lvl="1">
              <a:buClr>
                <a:schemeClr val="accent1">
                  <a:lumMod val="60000"/>
                  <a:lumOff val="40000"/>
                </a:schemeClr>
              </a:buClr>
              <a:buSzPct val="120000"/>
              <a:buFontTx/>
              <a:buChar char="-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Pooled blood or plasma</a:t>
            </a:r>
          </a:p>
          <a:p>
            <a:pPr lvl="1">
              <a:buClr>
                <a:schemeClr val="accent1">
                  <a:lumMod val="60000"/>
                  <a:lumOff val="40000"/>
                </a:schemeClr>
              </a:buClr>
              <a:buSzPct val="120000"/>
              <a:buFontTx/>
              <a:buChar char="-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Tissue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Ideally single-use = single freeze-thaw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Will act as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canary in a coal mine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often the first sign that something is “not right” with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the assay or experiment, something that a usual kit positive control would not reveal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Allows you to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monitor your variability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such as intra-assay, inter-assay, inter-operator,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inter-instrument, before and after maintenance, inter-site, etc… something often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required by better journals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</a:t>
            </a:r>
            <a:r>
              <a:rPr lang="en-US" sz="3300" b="1" i="1" dirty="0"/>
              <a:t>In vitro </a:t>
            </a:r>
            <a:r>
              <a:rPr lang="en-US" sz="3300" b="1" dirty="0"/>
              <a:t>or cell experiments – </a:t>
            </a:r>
            <a:r>
              <a:rPr lang="en-US" sz="3300" dirty="0"/>
              <a:t>blind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936" y="1462881"/>
            <a:ext cx="8915401" cy="4917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54061"/>
                </a:solidFill>
              </a:rPr>
              <a:t>At the end of any “large experiment”, good idea to “validate” your data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254061"/>
              </a:solidFill>
            </a:endParaRPr>
          </a:p>
          <a:p>
            <a:pPr marL="342900" indent="-34290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54061"/>
                </a:solidFill>
              </a:rPr>
              <a:t>Select a subset of your sample (5 or 10% depending on your n)</a:t>
            </a:r>
          </a:p>
          <a:p>
            <a:pPr marL="342900" indent="-34290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54061"/>
                </a:solidFill>
              </a:rPr>
              <a:t>Ideally select randomly but could also select a broad range on purpose</a:t>
            </a:r>
          </a:p>
          <a:p>
            <a:pPr marL="342900" indent="-34290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54061"/>
                </a:solidFill>
              </a:rPr>
              <a:t>Repeat your measurement after blinding yourself</a:t>
            </a:r>
          </a:p>
          <a:p>
            <a:pPr marL="342900" indent="-34290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54061"/>
                </a:solidFill>
              </a:rPr>
              <a:t>Calculate your correlation (or do a Bland Altman plot although not a different assay)</a:t>
            </a:r>
          </a:p>
          <a:p>
            <a:pPr marL="342900" indent="-34290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54061"/>
                </a:solidFill>
              </a:rPr>
              <a:t>May want to decide ahead of time what would be acceptable criteria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endParaRPr lang="en-US" dirty="0">
              <a:solidFill>
                <a:srgbClr val="254061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54061"/>
                </a:solidFill>
              </a:rPr>
              <a:t>Example: </a:t>
            </a:r>
            <a:r>
              <a:rPr lang="en-US" dirty="0">
                <a:solidFill>
                  <a:srgbClr val="254061"/>
                </a:solidFill>
              </a:rPr>
              <a:t>We measure leukocyte telomere length on a cohort of 900 participants. At the end of it all, select 40 (convenient = 1 plate) for repeat.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endParaRPr lang="en-US" dirty="0">
              <a:solidFill>
                <a:srgbClr val="2540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64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</a:t>
            </a:r>
            <a:r>
              <a:rPr lang="en-US" sz="3300" b="1" i="1" dirty="0"/>
              <a:t>In vitro </a:t>
            </a:r>
            <a:r>
              <a:rPr lang="en-US" sz="3300" b="1" dirty="0"/>
              <a:t>or cell experiments – </a:t>
            </a:r>
            <a:r>
              <a:rPr lang="en-US" sz="2900" dirty="0"/>
              <a:t>inter-replicate variability</a:t>
            </a:r>
            <a:endParaRPr lang="en-US" sz="3300" dirty="0"/>
          </a:p>
        </p:txBody>
      </p:sp>
      <p:graphicFrame>
        <p:nvGraphicFramePr>
          <p:cNvPr id="5" name="Chart 4"/>
          <p:cNvGraphicFramePr/>
          <p:nvPr/>
        </p:nvGraphicFramePr>
        <p:xfrm>
          <a:off x="323109" y="1584127"/>
          <a:ext cx="2170889" cy="2092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2584873" y="1584127"/>
          <a:ext cx="2170889" cy="2092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4765860" y="1584127"/>
          <a:ext cx="2170889" cy="2092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/>
          <p:cNvGraphicFramePr/>
          <p:nvPr/>
        </p:nvGraphicFramePr>
        <p:xfrm>
          <a:off x="6946847" y="1584127"/>
          <a:ext cx="2170889" cy="2092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42333" y="1016971"/>
            <a:ext cx="8854644" cy="681327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b="1" dirty="0">
                <a:solidFill>
                  <a:srgbClr val="254061"/>
                </a:solidFill>
              </a:rPr>
              <a:t>Example: </a:t>
            </a:r>
            <a:r>
              <a:rPr lang="en-US" dirty="0">
                <a:solidFill>
                  <a:srgbClr val="254061"/>
                </a:solidFill>
              </a:rPr>
              <a:t>you treat cells for 30 days, hypothesized that X would increase with treatment</a:t>
            </a:r>
          </a:p>
          <a:p>
            <a:r>
              <a:rPr lang="en-US" dirty="0">
                <a:solidFill>
                  <a:srgbClr val="254061"/>
                </a:solidFill>
              </a:rPr>
              <a:t>Repeated the longitudinal experiment 4 times = 4 independent replicates</a:t>
            </a:r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2039938173"/>
              </p:ext>
            </p:extLst>
          </p:nvPr>
        </p:nvGraphicFramePr>
        <p:xfrm>
          <a:off x="3715756" y="3754967"/>
          <a:ext cx="2827205" cy="2816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42332" y="6492964"/>
            <a:ext cx="6006748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rgbClr val="254061"/>
                </a:solidFill>
              </a:rPr>
              <a:t>Assumes that untreated culture does not change over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554" y="2346854"/>
            <a:ext cx="319743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rgbClr val="254061"/>
                </a:solidFill>
              </a:rPr>
              <a:t>X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61457" y="3911424"/>
            <a:ext cx="3554299" cy="2659768"/>
            <a:chOff x="161457" y="3911424"/>
            <a:chExt cx="3554299" cy="2659768"/>
          </a:xfrm>
        </p:grpSpPr>
        <p:graphicFrame>
          <p:nvGraphicFramePr>
            <p:cNvPr id="10" name="Chart 9"/>
            <p:cNvGraphicFramePr/>
            <p:nvPr>
              <p:extLst>
                <p:ext uri="{D42A27DB-BD31-4B8C-83A1-F6EECF244321}">
                  <p14:modId xmlns:p14="http://schemas.microsoft.com/office/powerpoint/2010/main" val="1550922542"/>
                </p:ext>
              </p:extLst>
            </p:nvPr>
          </p:nvGraphicFramePr>
          <p:xfrm>
            <a:off x="403887" y="3911424"/>
            <a:ext cx="3311869" cy="265976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17" name="TextBox 16"/>
            <p:cNvSpPr txBox="1"/>
            <p:nvPr/>
          </p:nvSpPr>
          <p:spPr>
            <a:xfrm>
              <a:off x="161457" y="4693709"/>
              <a:ext cx="319743" cy="388940"/>
            </a:xfrm>
            <a:prstGeom prst="rect">
              <a:avLst/>
            </a:prstGeom>
            <a:noFill/>
          </p:spPr>
          <p:txBody>
            <a:bodyPr wrap="none" lIns="95619" tIns="47809" rIns="95619" bIns="47809" rtlCol="0">
              <a:spAutoFit/>
            </a:bodyPr>
            <a:lstStyle/>
            <a:p>
              <a:r>
                <a:rPr lang="en-US" dirty="0">
                  <a:solidFill>
                    <a:srgbClr val="254061"/>
                  </a:solidFill>
                </a:rPr>
                <a:t>X</a:t>
              </a:r>
            </a:p>
          </p:txBody>
        </p:sp>
      </p:grpSp>
      <p:sp>
        <p:nvSpPr>
          <p:cNvPr id="18" name="Oval 17"/>
          <p:cNvSpPr/>
          <p:nvPr/>
        </p:nvSpPr>
        <p:spPr>
          <a:xfrm>
            <a:off x="323109" y="1799255"/>
            <a:ext cx="565441" cy="164279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584873" y="1799255"/>
            <a:ext cx="565441" cy="164279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/>
          </a:p>
        </p:txBody>
      </p:sp>
      <p:graphicFrame>
        <p:nvGraphicFramePr>
          <p:cNvPr id="20" name="Chart 19"/>
          <p:cNvGraphicFramePr/>
          <p:nvPr>
            <p:extLst>
              <p:ext uri="{D42A27DB-BD31-4B8C-83A1-F6EECF244321}">
                <p14:modId xmlns:p14="http://schemas.microsoft.com/office/powerpoint/2010/main" val="4203022529"/>
              </p:ext>
            </p:extLst>
          </p:nvPr>
        </p:nvGraphicFramePr>
        <p:xfrm>
          <a:off x="6623738" y="3676738"/>
          <a:ext cx="3231092" cy="2581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  <p:bldP spid="15" grpId="0"/>
      <p:bldP spid="18" grpId="0" animBg="1"/>
      <p:bldP spid="19" grpId="0" animBg="1"/>
      <p:bldGraphic spid="20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In vitro or cell experiments – </a:t>
            </a:r>
            <a:r>
              <a:rPr lang="en-US" sz="2900" dirty="0"/>
              <a:t>inter-replicate variability</a:t>
            </a:r>
            <a:endParaRPr lang="en-US" sz="3300" dirty="0"/>
          </a:p>
        </p:txBody>
      </p:sp>
      <p:graphicFrame>
        <p:nvGraphicFramePr>
          <p:cNvPr id="6" name="Chart 5"/>
          <p:cNvGraphicFramePr/>
          <p:nvPr/>
        </p:nvGraphicFramePr>
        <p:xfrm>
          <a:off x="295242" y="1545012"/>
          <a:ext cx="2128077" cy="2131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2637784" y="1545012"/>
          <a:ext cx="2052806" cy="2131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/>
          <p:cNvGraphicFramePr/>
          <p:nvPr/>
        </p:nvGraphicFramePr>
        <p:xfrm>
          <a:off x="4927415" y="1545012"/>
          <a:ext cx="2128077" cy="2131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/>
          <p:cNvGraphicFramePr/>
          <p:nvPr/>
        </p:nvGraphicFramePr>
        <p:xfrm>
          <a:off x="7108402" y="1545012"/>
          <a:ext cx="2128077" cy="2131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42332" y="1095199"/>
            <a:ext cx="5413958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rgbClr val="254061"/>
                </a:solidFill>
              </a:rPr>
              <a:t>Controls (untreated cultures) stay constant over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9179" y="3833195"/>
            <a:ext cx="2423319" cy="2804986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sz="1800" b="1" dirty="0">
                <a:solidFill>
                  <a:srgbClr val="254061"/>
                </a:solidFill>
              </a:rPr>
              <a:t>Fold change at </a:t>
            </a:r>
          </a:p>
          <a:p>
            <a:r>
              <a:rPr lang="en-US" sz="1800" b="1" dirty="0">
                <a:solidFill>
                  <a:srgbClr val="254061"/>
                </a:solidFill>
              </a:rPr>
              <a:t>0 vs. 30 days?</a:t>
            </a:r>
          </a:p>
          <a:p>
            <a:endParaRPr lang="en-US" sz="1400" dirty="0">
              <a:solidFill>
                <a:srgbClr val="254061"/>
              </a:solidFill>
            </a:endParaRPr>
          </a:p>
          <a:p>
            <a:r>
              <a:rPr lang="en-US" sz="1800" dirty="0">
                <a:solidFill>
                  <a:srgbClr val="254061"/>
                </a:solidFill>
              </a:rPr>
              <a:t>If control culture was not constant </a:t>
            </a:r>
          </a:p>
          <a:p>
            <a:pPr>
              <a:buFont typeface="Symbol" pitchFamily="18" charset="2"/>
              <a:buChar char="®"/>
            </a:pPr>
            <a:r>
              <a:rPr lang="en-US" sz="1800" dirty="0">
                <a:solidFill>
                  <a:srgbClr val="254061"/>
                </a:solidFill>
                <a:sym typeface="Symbol"/>
              </a:rPr>
              <a:t> could compare a</a:t>
            </a:r>
            <a:r>
              <a:rPr lang="en-US" sz="1800" dirty="0">
                <a:solidFill>
                  <a:srgbClr val="254061"/>
                </a:solidFill>
              </a:rPr>
              <a:t>rea under the curves</a:t>
            </a:r>
          </a:p>
          <a:p>
            <a:pPr>
              <a:buFont typeface="Symbol" pitchFamily="18" charset="2"/>
              <a:buChar char="®"/>
            </a:pPr>
            <a:r>
              <a:rPr lang="en-US" sz="1800" dirty="0">
                <a:solidFill>
                  <a:srgbClr val="254061"/>
                </a:solidFill>
              </a:rPr>
              <a:t> could compare the </a:t>
            </a:r>
            <a:r>
              <a:rPr lang="en-US" sz="1800" dirty="0">
                <a:solidFill>
                  <a:srgbClr val="254061"/>
                </a:solidFill>
                <a:sym typeface="Symbol"/>
              </a:rPr>
              <a:t></a:t>
            </a:r>
            <a:endParaRPr lang="en-US" sz="1800" dirty="0">
              <a:solidFill>
                <a:srgbClr val="254061"/>
              </a:solidFill>
            </a:endParaRPr>
          </a:p>
          <a:p>
            <a:endParaRPr lang="en-US" sz="1800" b="1" dirty="0">
              <a:solidFill>
                <a:srgbClr val="254061"/>
              </a:solidFill>
            </a:endParaRPr>
          </a:p>
          <a:p>
            <a:endParaRPr lang="en-US" sz="1800" b="1" dirty="0">
              <a:solidFill>
                <a:srgbClr val="25406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1554" y="4850166"/>
            <a:ext cx="319743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rgbClr val="254061"/>
                </a:solidFill>
              </a:rPr>
              <a:t>X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473750" y="3598510"/>
            <a:ext cx="3473094" cy="2816225"/>
            <a:chOff x="3505510" y="3505200"/>
            <a:chExt cx="3276290" cy="2743200"/>
          </a:xfrm>
        </p:grpSpPr>
        <p:graphicFrame>
          <p:nvGraphicFramePr>
            <p:cNvPr id="11" name="Chart 10"/>
            <p:cNvGraphicFramePr/>
            <p:nvPr/>
          </p:nvGraphicFramePr>
          <p:xfrm>
            <a:off x="3962400" y="3505200"/>
            <a:ext cx="281940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15" name="TextBox 14"/>
            <p:cNvSpPr txBox="1"/>
            <p:nvPr/>
          </p:nvSpPr>
          <p:spPr>
            <a:xfrm rot="16200000">
              <a:off x="3000053" y="4717988"/>
              <a:ext cx="1533519" cy="522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254061"/>
                  </a:solidFill>
                </a:rPr>
                <a:t>Fold change in X </a:t>
              </a:r>
            </a:p>
            <a:p>
              <a:pPr algn="ctr"/>
              <a:r>
                <a:rPr lang="en-US" sz="1500" dirty="0">
                  <a:solidFill>
                    <a:srgbClr val="254061"/>
                  </a:solidFill>
                </a:rPr>
                <a:t>relative to control</a:t>
              </a:r>
            </a:p>
          </p:txBody>
        </p:sp>
      </p:grpSp>
      <p:graphicFrame>
        <p:nvGraphicFramePr>
          <p:cNvPr id="17" name="Chart 16"/>
          <p:cNvGraphicFramePr/>
          <p:nvPr/>
        </p:nvGraphicFramePr>
        <p:xfrm>
          <a:off x="403886" y="3676739"/>
          <a:ext cx="2988760" cy="2659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Graphic spid="17" grpId="0">
        <p:bldAsOne/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In vitro or cell experiments – </a:t>
            </a:r>
            <a:r>
              <a:rPr lang="en-US" sz="2900" dirty="0"/>
              <a:t>inter-replicate variability</a:t>
            </a:r>
            <a:endParaRPr lang="en-US" sz="3300" dirty="0"/>
          </a:p>
        </p:txBody>
      </p:sp>
      <p:sp>
        <p:nvSpPr>
          <p:cNvPr id="4" name="TextBox 3"/>
          <p:cNvSpPr txBox="1"/>
          <p:nvPr/>
        </p:nvSpPr>
        <p:spPr>
          <a:xfrm>
            <a:off x="242332" y="1095199"/>
            <a:ext cx="6568697" cy="681327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rgbClr val="254061"/>
                </a:solidFill>
              </a:rPr>
              <a:t>Or find a way to reduce baseline variability between replicates… </a:t>
            </a:r>
          </a:p>
          <a:p>
            <a:r>
              <a:rPr lang="en-US" dirty="0">
                <a:solidFill>
                  <a:srgbClr val="254061"/>
                </a:solidFill>
              </a:rPr>
              <a:t>Or do a couple more replicates. For n=6,</a:t>
            </a:r>
          </a:p>
        </p:txBody>
      </p:sp>
      <p:graphicFrame>
        <p:nvGraphicFramePr>
          <p:cNvPr id="5" name="Chart 4"/>
          <p:cNvGraphicFramePr/>
          <p:nvPr/>
        </p:nvGraphicFramePr>
        <p:xfrm>
          <a:off x="646218" y="1877483"/>
          <a:ext cx="3238020" cy="2581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4765860" y="1877483"/>
          <a:ext cx="3200801" cy="2581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4038865" y="2972682"/>
            <a:ext cx="646218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3109" y="2737997"/>
            <a:ext cx="319743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rgbClr val="254061"/>
                </a:solidFill>
              </a:rPr>
              <a:t>X</a:t>
            </a:r>
          </a:p>
        </p:txBody>
      </p:sp>
      <p:sp>
        <p:nvSpPr>
          <p:cNvPr id="16" name="Slide Number Placeholder 1"/>
          <p:cNvSpPr txBox="1">
            <a:spLocks/>
          </p:cNvSpPr>
          <p:nvPr/>
        </p:nvSpPr>
        <p:spPr>
          <a:xfrm>
            <a:off x="6946847" y="6369102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/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/>
              <a:t>24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graphicFrame>
        <p:nvGraphicFramePr>
          <p:cNvPr id="17" name="Chart 16"/>
          <p:cNvGraphicFramePr/>
          <p:nvPr/>
        </p:nvGraphicFramePr>
        <p:xfrm>
          <a:off x="565441" y="4302566"/>
          <a:ext cx="2827205" cy="2581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Chart 17"/>
          <p:cNvGraphicFramePr/>
          <p:nvPr/>
        </p:nvGraphicFramePr>
        <p:xfrm>
          <a:off x="4361974" y="4302566"/>
          <a:ext cx="2907983" cy="2581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19" name="Straight Arrow Connector 18"/>
          <p:cNvCxnSpPr/>
          <p:nvPr/>
        </p:nvCxnSpPr>
        <p:spPr>
          <a:xfrm>
            <a:off x="3554201" y="5632450"/>
            <a:ext cx="646218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3109" y="5475993"/>
            <a:ext cx="319743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rgbClr val="254061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956" y="4224338"/>
            <a:ext cx="2423319" cy="1850878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b="1" dirty="0">
                <a:solidFill>
                  <a:srgbClr val="254061"/>
                </a:solidFill>
              </a:rPr>
              <a:t>0 vs. 30 days?</a:t>
            </a:r>
          </a:p>
          <a:p>
            <a:endParaRPr lang="en-US" b="1" dirty="0">
              <a:solidFill>
                <a:srgbClr val="254061"/>
              </a:solidFill>
            </a:endParaRPr>
          </a:p>
          <a:p>
            <a:r>
              <a:rPr lang="en-US" dirty="0">
                <a:solidFill>
                  <a:srgbClr val="254061"/>
                </a:solidFill>
              </a:rPr>
              <a:t>Not much changed except maybe the p value…</a:t>
            </a:r>
          </a:p>
          <a:p>
            <a:endParaRPr lang="en-US" b="1" dirty="0">
              <a:solidFill>
                <a:srgbClr val="25406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In vitro or cell experiments – </a:t>
            </a:r>
            <a:r>
              <a:rPr lang="en-US" sz="2900" dirty="0"/>
              <a:t>inter-treatment variability</a:t>
            </a:r>
            <a:endParaRPr lang="en-US" sz="3300" dirty="0"/>
          </a:p>
        </p:txBody>
      </p:sp>
      <p:sp>
        <p:nvSpPr>
          <p:cNvPr id="4" name="TextBox 3"/>
          <p:cNvSpPr txBox="1"/>
          <p:nvPr/>
        </p:nvSpPr>
        <p:spPr>
          <a:xfrm>
            <a:off x="198437" y="1005681"/>
            <a:ext cx="9067800" cy="5463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54061"/>
                </a:solidFill>
              </a:rPr>
              <a:t>So far this was inter-replicate variability on a single treatment. </a:t>
            </a:r>
          </a:p>
          <a:p>
            <a:endParaRPr lang="en-US" dirty="0">
              <a:solidFill>
                <a:srgbClr val="254061"/>
              </a:solidFill>
            </a:endParaRPr>
          </a:p>
          <a:p>
            <a:r>
              <a:rPr lang="en-US" dirty="0">
                <a:solidFill>
                  <a:srgbClr val="254061"/>
                </a:solidFill>
              </a:rPr>
              <a:t>But what if I have to test 3 or more different treatments?</a:t>
            </a:r>
          </a:p>
          <a:p>
            <a:endParaRPr lang="en-US" dirty="0">
              <a:solidFill>
                <a:srgbClr val="254061"/>
              </a:solidFill>
            </a:endParaRPr>
          </a:p>
          <a:p>
            <a:r>
              <a:rPr lang="en-US" dirty="0">
                <a:solidFill>
                  <a:srgbClr val="254061"/>
                </a:solidFill>
              </a:rPr>
              <a:t>How to differentiate between an effect due to my treatment versus one due to my inter-replicate variability? </a:t>
            </a:r>
            <a:r>
              <a:rPr lang="en-US" dirty="0">
                <a:solidFill>
                  <a:srgbClr val="C00000"/>
                </a:solidFill>
              </a:rPr>
              <a:t>→ blocking and randomization</a:t>
            </a:r>
          </a:p>
          <a:p>
            <a:endParaRPr lang="en-US" dirty="0">
              <a:solidFill>
                <a:srgbClr val="254061"/>
              </a:solidFill>
            </a:endParaRPr>
          </a:p>
          <a:p>
            <a:r>
              <a:rPr lang="en-US" dirty="0">
                <a:solidFill>
                  <a:srgbClr val="254061"/>
                </a:solidFill>
              </a:rPr>
              <a:t>What statistical test to use? t-test will involve many comparisons with multiple comparison adjustment which are costly  </a:t>
            </a:r>
            <a:r>
              <a:rPr lang="en-US" dirty="0">
                <a:solidFill>
                  <a:srgbClr val="C00000"/>
                </a:solidFill>
              </a:rPr>
              <a:t>→ one-way ANOVA (single factor which is the treatment), can add post-hoc Tukey test which will account for multiple comparisons 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254061"/>
                </a:solidFill>
              </a:rPr>
              <a:t>ANOVA: </a:t>
            </a:r>
            <a:r>
              <a:rPr lang="en-US" dirty="0">
                <a:solidFill>
                  <a:srgbClr val="254061"/>
                </a:solidFill>
              </a:rPr>
              <a:t>Analysis of variance = assesses statistical significance of the differences among observed treatment means </a:t>
            </a:r>
            <a:r>
              <a:rPr lang="en-US" b="1" dirty="0">
                <a:solidFill>
                  <a:srgbClr val="254061"/>
                </a:solidFill>
              </a:rPr>
              <a:t>based on whether their variance is larger than would be expected because of random variation</a:t>
            </a:r>
            <a:r>
              <a:rPr lang="en-US" dirty="0">
                <a:solidFill>
                  <a:srgbClr val="254061"/>
                </a:solidFill>
              </a:rPr>
              <a:t>. If yes, systematic treatment effects are inferred. </a:t>
            </a:r>
          </a:p>
          <a:p>
            <a:endParaRPr lang="en-US" sz="1600" dirty="0">
              <a:solidFill>
                <a:srgbClr val="254061"/>
              </a:solidFill>
            </a:endParaRPr>
          </a:p>
          <a:p>
            <a:r>
              <a:rPr lang="en-US" sz="1600" dirty="0">
                <a:solidFill>
                  <a:srgbClr val="254061"/>
                </a:solidFill>
              </a:rPr>
              <a:t>Subject to the same assumptions as t-test:	-  randomly selected sample</a:t>
            </a:r>
          </a:p>
          <a:p>
            <a:r>
              <a:rPr lang="en-US" sz="1600" dirty="0">
                <a:solidFill>
                  <a:srgbClr val="254061"/>
                </a:solidFill>
              </a:rPr>
              <a:t>				- from normally distributed population</a:t>
            </a:r>
          </a:p>
          <a:p>
            <a:r>
              <a:rPr lang="en-US" sz="1600" dirty="0">
                <a:solidFill>
                  <a:srgbClr val="254061"/>
                </a:solidFill>
              </a:rPr>
              <a:t>				- with equal variance (that is not influenced by treatment)</a:t>
            </a:r>
          </a:p>
          <a:p>
            <a:r>
              <a:rPr lang="en-US" sz="1600" dirty="0">
                <a:solidFill>
                  <a:srgbClr val="254061"/>
                </a:solidFill>
              </a:rPr>
              <a:t>				(rule of thumb, ratio between SD &lt;2)</a:t>
            </a:r>
            <a:endParaRPr lang="en-US" dirty="0">
              <a:solidFill>
                <a:srgbClr val="2540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665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Cell experiments – </a:t>
            </a:r>
            <a:r>
              <a:rPr lang="en-US" sz="2900" dirty="0"/>
              <a:t>inter-treatment variability</a:t>
            </a:r>
            <a:endParaRPr lang="en-US" sz="3300" dirty="0"/>
          </a:p>
        </p:txBody>
      </p:sp>
      <p:sp>
        <p:nvSpPr>
          <p:cNvPr id="4" name="TextBox 3"/>
          <p:cNvSpPr txBox="1"/>
          <p:nvPr/>
        </p:nvSpPr>
        <p:spPr>
          <a:xfrm>
            <a:off x="427036" y="1095088"/>
            <a:ext cx="8839199" cy="623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54061"/>
                </a:solidFill>
              </a:rPr>
              <a:t>For any given experiment, you have:</a:t>
            </a:r>
          </a:p>
          <a:p>
            <a:endParaRPr lang="en-US" b="1" dirty="0">
              <a:solidFill>
                <a:srgbClr val="25406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4061"/>
                </a:solidFill>
              </a:rPr>
              <a:t>the within-group variance = experimental error (assay, manipulation, operator)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4061"/>
                </a:solidFill>
              </a:rPr>
              <a:t>the between group variance = hopefully your treatment effect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4061"/>
                </a:solidFill>
              </a:rPr>
              <a:t>both influence your measure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254061"/>
              </a:solidFill>
            </a:endParaRPr>
          </a:p>
          <a:p>
            <a:r>
              <a:rPr lang="en-US" b="1" dirty="0">
                <a:solidFill>
                  <a:srgbClr val="254061"/>
                </a:solidFill>
              </a:rPr>
              <a:t>Example: </a:t>
            </a:r>
            <a:r>
              <a:rPr lang="en-US" dirty="0">
                <a:solidFill>
                  <a:srgbClr val="254061"/>
                </a:solidFill>
              </a:rPr>
              <a:t>You need to measure the difference between 3 treatments but your assay(s) done in triplicate require a lot of cells and you cannot start all your independent experiments with the same original aliquot of cells</a:t>
            </a:r>
          </a:p>
          <a:p>
            <a:endParaRPr lang="en-US" dirty="0">
              <a:solidFill>
                <a:srgbClr val="254061"/>
              </a:solidFill>
            </a:endParaRPr>
          </a:p>
          <a:p>
            <a:r>
              <a:rPr lang="en-US" dirty="0">
                <a:solidFill>
                  <a:srgbClr val="254061"/>
                </a:solidFill>
              </a:rPr>
              <a:t>Consequence?  </a:t>
            </a:r>
          </a:p>
          <a:p>
            <a:r>
              <a:rPr lang="en-US" dirty="0">
                <a:solidFill>
                  <a:srgbClr val="254061"/>
                </a:solidFill>
              </a:rPr>
              <a:t>Likely that cells from different cultures will react slightly differently to your treatment owing to variation in  	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- cell passage #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		- cell concentration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		- growth rate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		- medium composition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		- cell stress, etc.</a:t>
            </a:r>
          </a:p>
          <a:p>
            <a:endParaRPr lang="en-US" dirty="0">
              <a:solidFill>
                <a:srgbClr val="254061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= nuisance variables that can confound the real effect you’re interested in.</a:t>
            </a:r>
          </a:p>
          <a:p>
            <a:r>
              <a:rPr lang="en-US" b="1" dirty="0">
                <a:solidFill>
                  <a:srgbClr val="C00000"/>
                </a:solidFill>
              </a:rPr>
              <a:t> What can you do?</a:t>
            </a:r>
          </a:p>
          <a:p>
            <a:endParaRPr lang="en-US" dirty="0">
              <a:solidFill>
                <a:srgbClr val="2540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89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Slide Number Placeholder 1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>
            <a:defPPr>
              <a:defRPr lang="en-US"/>
            </a:defPPr>
            <a:lvl1pPr marL="0" algn="r" defTabSz="956188" rtl="0" eaLnBrk="1" latinLnBrk="0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78094" algn="l" defTabSz="956188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6188" algn="l" defTabSz="956188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4282" algn="l" defTabSz="956188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2376" algn="l" defTabSz="956188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0470" algn="l" defTabSz="956188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8564" algn="l" defTabSz="956188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46658" algn="l" defTabSz="956188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24752" algn="l" defTabSz="956188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B5F07AE-1E89-4AE4-98DC-E8711993B5F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Cell experiments – </a:t>
            </a:r>
            <a:r>
              <a:rPr lang="en-US" sz="2900" dirty="0"/>
              <a:t>inter-treatment variability</a:t>
            </a:r>
            <a:endParaRPr lang="en-US" sz="3300" dirty="0"/>
          </a:p>
        </p:txBody>
      </p:sp>
      <p:sp>
        <p:nvSpPr>
          <p:cNvPr id="6" name="Oval 5"/>
          <p:cNvSpPr/>
          <p:nvPr/>
        </p:nvSpPr>
        <p:spPr>
          <a:xfrm>
            <a:off x="9133378" y="1620367"/>
            <a:ext cx="267400" cy="273057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7531645" y="3463211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7627487" y="3796495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452368" y="4085424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7244123" y="5760037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850260" y="5865494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6446837" y="5792761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4474908" y="1366518"/>
            <a:ext cx="323109" cy="312914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048465" y="1316596"/>
            <a:ext cx="1345665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Seeding flask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37" y="1310481"/>
            <a:ext cx="160440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54061"/>
                </a:solidFill>
              </a:rPr>
              <a:t>Freezer stock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930422" y="1513020"/>
            <a:ext cx="98952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958875" y="1495677"/>
            <a:ext cx="98952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15572" y="1310481"/>
            <a:ext cx="3403065" cy="1404602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6 independent replicates of 3 treatments done in triplicate = 54</a:t>
            </a:r>
          </a:p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Then 54 x 2 or 3 assays</a:t>
            </a:r>
          </a:p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Too much!</a:t>
            </a:r>
          </a:p>
          <a:p>
            <a:endParaRPr lang="en-US" sz="17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654567" y="3655777"/>
            <a:ext cx="323109" cy="312914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048465" y="3605855"/>
            <a:ext cx="598666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flask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37" y="3599740"/>
            <a:ext cx="160440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54061"/>
                </a:solidFill>
              </a:rPr>
              <a:t>Freezer stock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1930422" y="3802279"/>
            <a:ext cx="98952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120675" y="3784936"/>
            <a:ext cx="98952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177372" y="3599740"/>
            <a:ext cx="3403065" cy="358162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3 freezer aliquots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6930796" y="3655777"/>
            <a:ext cx="494761" cy="1230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6983960" y="3879183"/>
            <a:ext cx="5476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951012" y="3933024"/>
            <a:ext cx="480379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7887770" y="3301484"/>
            <a:ext cx="494761" cy="1230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7940934" y="3524890"/>
            <a:ext cx="5476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907986" y="3578731"/>
            <a:ext cx="480379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5906" y="2758281"/>
            <a:ext cx="370992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What could you do to mitigate this?</a:t>
            </a:r>
          </a:p>
        </p:txBody>
      </p:sp>
      <p:sp>
        <p:nvSpPr>
          <p:cNvPr id="32" name="Oval 31"/>
          <p:cNvSpPr/>
          <p:nvPr/>
        </p:nvSpPr>
        <p:spPr>
          <a:xfrm>
            <a:off x="7531645" y="4834811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3" name="Oval 32"/>
          <p:cNvSpPr/>
          <p:nvPr/>
        </p:nvSpPr>
        <p:spPr>
          <a:xfrm>
            <a:off x="7627487" y="5168095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7452368" y="5457024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3654567" y="5027377"/>
            <a:ext cx="323109" cy="312914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3048465" y="4977455"/>
            <a:ext cx="598666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flask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037" y="4971340"/>
            <a:ext cx="160440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54061"/>
                </a:solidFill>
              </a:rPr>
              <a:t>Freezer stock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1930422" y="5173879"/>
            <a:ext cx="98952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4120675" y="5156536"/>
            <a:ext cx="98952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177372" y="4971340"/>
            <a:ext cx="3403065" cy="358162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6 freezer aliquots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6930796" y="5027377"/>
            <a:ext cx="494761" cy="1230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6983960" y="5250783"/>
            <a:ext cx="5476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951012" y="5304624"/>
            <a:ext cx="480379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7887770" y="4673084"/>
            <a:ext cx="494761" cy="1230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7940934" y="4896490"/>
            <a:ext cx="5476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7907986" y="4950331"/>
            <a:ext cx="480379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930795" y="5324648"/>
            <a:ext cx="53165" cy="4054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6951911" y="5289894"/>
            <a:ext cx="305891" cy="4401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40" idx="2"/>
          </p:cNvCxnSpPr>
          <p:nvPr/>
        </p:nvCxnSpPr>
        <p:spPr>
          <a:xfrm flipH="1">
            <a:off x="6580537" y="5329502"/>
            <a:ext cx="298368" cy="4005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37898" y="5730081"/>
            <a:ext cx="601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254061"/>
                </a:solidFill>
              </a:rPr>
              <a:t>Even if your measures shift in the various independent experiments, the relative differences between treatment within the same culture should remain the same. </a:t>
            </a:r>
          </a:p>
          <a:p>
            <a:r>
              <a:rPr lang="en-US" sz="1800" b="1" dirty="0">
                <a:solidFill>
                  <a:srgbClr val="254061"/>
                </a:solidFill>
              </a:rPr>
              <a:t>Removes variability. This “blocking”  is similar to “pairing”</a:t>
            </a:r>
          </a:p>
        </p:txBody>
      </p:sp>
      <p:sp>
        <p:nvSpPr>
          <p:cNvPr id="51" name="Oval 50"/>
          <p:cNvSpPr/>
          <p:nvPr/>
        </p:nvSpPr>
        <p:spPr>
          <a:xfrm>
            <a:off x="8521995" y="3139281"/>
            <a:ext cx="267400" cy="273057"/>
          </a:xfrm>
          <a:prstGeom prst="ellipse">
            <a:avLst/>
          </a:prstGeom>
          <a:solidFill>
            <a:srgbClr val="FFC00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8617837" y="3472565"/>
            <a:ext cx="267400" cy="27305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8442718" y="3761494"/>
            <a:ext cx="267400" cy="2730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8521995" y="4420190"/>
            <a:ext cx="267400" cy="273057"/>
          </a:xfrm>
          <a:prstGeom prst="ellipse">
            <a:avLst/>
          </a:prstGeom>
          <a:solidFill>
            <a:srgbClr val="FFC00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55" name="Oval 54"/>
          <p:cNvSpPr/>
          <p:nvPr/>
        </p:nvSpPr>
        <p:spPr>
          <a:xfrm>
            <a:off x="8617837" y="4753474"/>
            <a:ext cx="267400" cy="27305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56" name="Oval 55"/>
          <p:cNvSpPr/>
          <p:nvPr/>
        </p:nvSpPr>
        <p:spPr>
          <a:xfrm>
            <a:off x="8442718" y="5042403"/>
            <a:ext cx="267400" cy="2730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265052" y="5580716"/>
            <a:ext cx="10486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n=1/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Treatment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Same day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14776" y="2758281"/>
            <a:ext cx="1106025" cy="37672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ight Brace 61"/>
          <p:cNvSpPr/>
          <p:nvPr/>
        </p:nvSpPr>
        <p:spPr>
          <a:xfrm rot="5400000">
            <a:off x="7197199" y="5690262"/>
            <a:ext cx="263866" cy="149719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6580536" y="6612991"/>
            <a:ext cx="16254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Not at same time</a:t>
            </a:r>
          </a:p>
        </p:txBody>
      </p:sp>
    </p:spTree>
    <p:extLst>
      <p:ext uri="{BB962C8B-B14F-4D97-AF65-F5344CB8AC3E}">
        <p14:creationId xmlns:p14="http://schemas.microsoft.com/office/powerpoint/2010/main" val="397857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9" grpId="0" animBg="1"/>
      <p:bldP spid="20" grpId="0"/>
      <p:bldP spid="21" grpId="0"/>
      <p:bldP spid="24" grpId="0"/>
      <p:bldP spid="31" grpId="0"/>
      <p:bldP spid="32" grpId="0" animBg="1"/>
      <p:bldP spid="33" grpId="0" animBg="1"/>
      <p:bldP spid="34" grpId="0" animBg="1"/>
      <p:bldP spid="35" grpId="0" animBg="1"/>
      <p:bldP spid="36" grpId="0"/>
      <p:bldP spid="37" grpId="0"/>
      <p:bldP spid="40" grpId="0"/>
      <p:bldP spid="50" grpId="0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/>
      <p:bldP spid="61" grpId="0" animBg="1"/>
      <p:bldP spid="62" grpId="0" animBg="1"/>
      <p:bldP spid="6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Cell experiments – </a:t>
            </a:r>
            <a:r>
              <a:rPr lang="en-US" sz="2900" dirty="0"/>
              <a:t>inter-treatment variability</a:t>
            </a:r>
            <a:endParaRPr lang="en-US" sz="3300" dirty="0"/>
          </a:p>
        </p:txBody>
      </p:sp>
      <p:sp>
        <p:nvSpPr>
          <p:cNvPr id="85" name="Oval 84"/>
          <p:cNvSpPr/>
          <p:nvPr/>
        </p:nvSpPr>
        <p:spPr>
          <a:xfrm>
            <a:off x="7473203" y="2407632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7569045" y="2740916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7393926" y="3029845"/>
            <a:ext cx="267400" cy="2730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88" name="Oval 87"/>
          <p:cNvSpPr/>
          <p:nvPr/>
        </p:nvSpPr>
        <p:spPr>
          <a:xfrm>
            <a:off x="3596125" y="2600198"/>
            <a:ext cx="323109" cy="312914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2990023" y="2550276"/>
            <a:ext cx="598666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flask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8595" y="2544161"/>
            <a:ext cx="160440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54061"/>
                </a:solidFill>
              </a:rPr>
              <a:t>Freezer stock</a:t>
            </a:r>
          </a:p>
        </p:txBody>
      </p:sp>
      <p:cxnSp>
        <p:nvCxnSpPr>
          <p:cNvPr id="91" name="Straight Arrow Connector 90"/>
          <p:cNvCxnSpPr/>
          <p:nvPr/>
        </p:nvCxnSpPr>
        <p:spPr>
          <a:xfrm>
            <a:off x="1871980" y="2746700"/>
            <a:ext cx="98952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4062233" y="2729357"/>
            <a:ext cx="98952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5118930" y="2544161"/>
            <a:ext cx="3403065" cy="358162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X freezer aliquots</a:t>
            </a:r>
          </a:p>
        </p:txBody>
      </p:sp>
      <p:cxnSp>
        <p:nvCxnSpPr>
          <p:cNvPr id="94" name="Straight Arrow Connector 93"/>
          <p:cNvCxnSpPr/>
          <p:nvPr/>
        </p:nvCxnSpPr>
        <p:spPr>
          <a:xfrm flipV="1">
            <a:off x="6872354" y="2600198"/>
            <a:ext cx="494761" cy="1230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6925518" y="2823604"/>
            <a:ext cx="5476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>
            <a:off x="6892570" y="2877445"/>
            <a:ext cx="480379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 flipV="1">
            <a:off x="7829328" y="2245905"/>
            <a:ext cx="494761" cy="1230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>
            <a:off x="7882492" y="2469311"/>
            <a:ext cx="5476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7849544" y="2523152"/>
            <a:ext cx="480379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8463553" y="2083702"/>
            <a:ext cx="267400" cy="273057"/>
          </a:xfrm>
          <a:prstGeom prst="ellipse">
            <a:avLst/>
          </a:prstGeom>
          <a:solidFill>
            <a:srgbClr val="FFC00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01" name="Oval 100"/>
          <p:cNvSpPr/>
          <p:nvPr/>
        </p:nvSpPr>
        <p:spPr>
          <a:xfrm>
            <a:off x="8559395" y="2416986"/>
            <a:ext cx="267400" cy="27305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02" name="Oval 101"/>
          <p:cNvSpPr/>
          <p:nvPr/>
        </p:nvSpPr>
        <p:spPr>
          <a:xfrm>
            <a:off x="8384276" y="2705915"/>
            <a:ext cx="267400" cy="2730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grpSp>
        <p:nvGrpSpPr>
          <p:cNvPr id="1025" name="Group 1024"/>
          <p:cNvGrpSpPr/>
          <p:nvPr/>
        </p:nvGrpSpPr>
        <p:grpSpPr>
          <a:xfrm rot="4502565">
            <a:off x="7028893" y="3439267"/>
            <a:ext cx="997467" cy="895270"/>
            <a:chOff x="7861011" y="4587081"/>
            <a:chExt cx="997467" cy="895270"/>
          </a:xfrm>
        </p:grpSpPr>
        <p:cxnSp>
          <p:nvCxnSpPr>
            <p:cNvPr id="109" name="Straight Arrow Connector 108"/>
            <p:cNvCxnSpPr/>
            <p:nvPr/>
          </p:nvCxnSpPr>
          <p:spPr>
            <a:xfrm flipV="1">
              <a:off x="7861011" y="4749284"/>
              <a:ext cx="494761" cy="12304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/>
            <p:nvPr/>
          </p:nvCxnSpPr>
          <p:spPr>
            <a:xfrm>
              <a:off x="7914175" y="4972690"/>
              <a:ext cx="54768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/>
            <p:nvPr/>
          </p:nvCxnSpPr>
          <p:spPr>
            <a:xfrm>
              <a:off x="7881227" y="5026531"/>
              <a:ext cx="480379" cy="152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Oval 111"/>
            <p:cNvSpPr/>
            <p:nvPr/>
          </p:nvSpPr>
          <p:spPr>
            <a:xfrm>
              <a:off x="8495236" y="4587081"/>
              <a:ext cx="267400" cy="273057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5619" tIns="47809" rIns="95619" bIns="47809"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Oval 112"/>
            <p:cNvSpPr/>
            <p:nvPr/>
          </p:nvSpPr>
          <p:spPr>
            <a:xfrm>
              <a:off x="8591078" y="4920365"/>
              <a:ext cx="267400" cy="273057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5619" tIns="47809" rIns="95619" bIns="47809"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Oval 113"/>
            <p:cNvSpPr/>
            <p:nvPr/>
          </p:nvSpPr>
          <p:spPr>
            <a:xfrm>
              <a:off x="8415959" y="5209294"/>
              <a:ext cx="267400" cy="27305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5619" tIns="47809" rIns="95619" bIns="47809"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24" name="Group 1023"/>
          <p:cNvGrpSpPr/>
          <p:nvPr/>
        </p:nvGrpSpPr>
        <p:grpSpPr>
          <a:xfrm rot="2775401">
            <a:off x="7738542" y="2930004"/>
            <a:ext cx="997467" cy="895270"/>
            <a:chOff x="7994711" y="3294791"/>
            <a:chExt cx="997467" cy="895270"/>
          </a:xfrm>
        </p:grpSpPr>
        <p:cxnSp>
          <p:nvCxnSpPr>
            <p:cNvPr id="121" name="Straight Arrow Connector 120"/>
            <p:cNvCxnSpPr/>
            <p:nvPr/>
          </p:nvCxnSpPr>
          <p:spPr>
            <a:xfrm flipV="1">
              <a:off x="7994711" y="3456994"/>
              <a:ext cx="494761" cy="12304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>
              <a:off x="8047875" y="3680400"/>
              <a:ext cx="54768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>
              <a:off x="8014927" y="3734241"/>
              <a:ext cx="480379" cy="152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Oval 123"/>
            <p:cNvSpPr/>
            <p:nvPr/>
          </p:nvSpPr>
          <p:spPr>
            <a:xfrm>
              <a:off x="8628936" y="3294791"/>
              <a:ext cx="267400" cy="27305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5619" tIns="47809" rIns="95619" bIns="47809"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/>
            <p:cNvSpPr/>
            <p:nvPr/>
          </p:nvSpPr>
          <p:spPr>
            <a:xfrm>
              <a:off x="8724778" y="3628075"/>
              <a:ext cx="267400" cy="27305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5619" tIns="47809" rIns="95619" bIns="47809"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/>
            <p:cNvSpPr/>
            <p:nvPr/>
          </p:nvSpPr>
          <p:spPr>
            <a:xfrm>
              <a:off x="8549659" y="3917004"/>
              <a:ext cx="267400" cy="27305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5619" tIns="47809" rIns="95619" bIns="47809"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2" name="TextBox 131"/>
          <p:cNvSpPr txBox="1"/>
          <p:nvPr/>
        </p:nvSpPr>
        <p:spPr>
          <a:xfrm>
            <a:off x="427037" y="1346720"/>
            <a:ext cx="804156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54061"/>
                </a:solidFill>
              </a:rPr>
              <a:t>Another possibility would be to do all your experiments completely randomized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FDCC01-2660-4D9B-B21C-879852FB202B}"/>
              </a:ext>
            </a:extLst>
          </p:cNvPr>
          <p:cNvSpPr txBox="1"/>
          <p:nvPr/>
        </p:nvSpPr>
        <p:spPr>
          <a:xfrm>
            <a:off x="515952" y="3950176"/>
            <a:ext cx="503554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54061"/>
                </a:solidFill>
              </a:rPr>
              <a:t>More complicated to keep track of and to explain</a:t>
            </a:r>
          </a:p>
        </p:txBody>
      </p:sp>
    </p:spTree>
    <p:extLst>
      <p:ext uri="{BB962C8B-B14F-4D97-AF65-F5344CB8AC3E}">
        <p14:creationId xmlns:p14="http://schemas.microsoft.com/office/powerpoint/2010/main" val="6815966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</a:t>
            </a:r>
            <a:r>
              <a:rPr lang="en-US" sz="3300" b="1" i="1" dirty="0"/>
              <a:t>In vitro </a:t>
            </a:r>
            <a:r>
              <a:rPr lang="en-US" sz="3300" b="1" dirty="0"/>
              <a:t>or cell experiments</a:t>
            </a:r>
            <a:endParaRPr lang="en-US" sz="3300" dirty="0"/>
          </a:p>
        </p:txBody>
      </p:sp>
      <p:sp>
        <p:nvSpPr>
          <p:cNvPr id="10" name="TextBox 9"/>
          <p:cNvSpPr txBox="1"/>
          <p:nvPr/>
        </p:nvSpPr>
        <p:spPr>
          <a:xfrm>
            <a:off x="323110" y="1251656"/>
            <a:ext cx="7053189" cy="2435654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To increase your ability to demonstrate that a treatment has an effect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-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 inter-flask/well variability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	-  inter-experiment variability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	-  n per group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	- exploit blocking and/or randomization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	- time-response (more time points)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	- dose-response (several concentrations)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14" name="Chart 13"/>
          <p:cNvGraphicFramePr/>
          <p:nvPr/>
        </p:nvGraphicFramePr>
        <p:xfrm>
          <a:off x="427037" y="367268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Chart 14"/>
          <p:cNvGraphicFramePr/>
          <p:nvPr/>
        </p:nvGraphicFramePr>
        <p:xfrm>
          <a:off x="4999037" y="3748881"/>
          <a:ext cx="36957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46847" y="6509262"/>
            <a:ext cx="2261764" cy="374845"/>
          </a:xfrm>
        </p:spPr>
        <p:txBody>
          <a:bodyPr/>
          <a:lstStyle/>
          <a:p>
            <a:fld id="{7B5F07AE-1E89-4AE4-98DC-E8711993B5F2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 – </a:t>
            </a:r>
            <a:r>
              <a:rPr lang="en-US" sz="3300" dirty="0"/>
              <a:t>sources of variability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32" y="929481"/>
            <a:ext cx="7121925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rgbClr val="254061"/>
                </a:solidFill>
              </a:rPr>
              <a:t>There is possible bias and variability at </a:t>
            </a:r>
            <a:r>
              <a:rPr lang="en-US" b="1" u="sng" dirty="0">
                <a:solidFill>
                  <a:srgbClr val="254061"/>
                </a:solidFill>
              </a:rPr>
              <a:t>each step</a:t>
            </a:r>
            <a:r>
              <a:rPr lang="en-US" b="1" dirty="0">
                <a:solidFill>
                  <a:srgbClr val="254061"/>
                </a:solidFill>
              </a:rPr>
              <a:t> </a:t>
            </a:r>
            <a:r>
              <a:rPr lang="en-US" dirty="0">
                <a:solidFill>
                  <a:srgbClr val="254061"/>
                </a:solidFill>
              </a:rPr>
              <a:t>of your methodology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796532" y="1445882"/>
            <a:ext cx="1549173" cy="408142"/>
            <a:chOff x="3581400" y="2040841"/>
            <a:chExt cx="1461389" cy="397559"/>
          </a:xfrm>
        </p:grpSpPr>
        <p:sp>
          <p:nvSpPr>
            <p:cNvPr id="8" name="Rectangle 7"/>
            <p:cNvSpPr/>
            <p:nvPr/>
          </p:nvSpPr>
          <p:spPr>
            <a:xfrm>
              <a:off x="3581400" y="2057400"/>
              <a:ext cx="1438835" cy="381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54061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587780" y="2040841"/>
              <a:ext cx="1455009" cy="374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254061"/>
                  </a:solidFill>
                </a:rPr>
                <a:t>Cells or tissue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2498613" y="5938322"/>
            <a:ext cx="6595179" cy="558217"/>
          </a:xfrm>
          <a:prstGeom prst="rect">
            <a:avLst/>
          </a:prstGeom>
          <a:noFill/>
          <a:ln>
            <a:noFill/>
          </a:ln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500" dirty="0">
                <a:solidFill>
                  <a:srgbClr val="C00000"/>
                </a:solidFill>
              </a:rPr>
              <a:t>* Quantitation dependent on being in the linear range of assay</a:t>
            </a:r>
          </a:p>
          <a:p>
            <a:r>
              <a:rPr lang="en-US" sz="1500" dirty="0">
                <a:solidFill>
                  <a:srgbClr val="C00000"/>
                </a:solidFill>
              </a:rPr>
              <a:t># Sequence may vary from one cell to another, platform   ^ affected by cell viability</a:t>
            </a:r>
          </a:p>
        </p:txBody>
      </p:sp>
      <p:grpSp>
        <p:nvGrpSpPr>
          <p:cNvPr id="86" name="Group 85"/>
          <p:cNvGrpSpPr/>
          <p:nvPr/>
        </p:nvGrpSpPr>
        <p:grpSpPr>
          <a:xfrm>
            <a:off x="2560637" y="2010480"/>
            <a:ext cx="1753865" cy="3203324"/>
            <a:chOff x="2560637" y="2190397"/>
            <a:chExt cx="1753865" cy="3203324"/>
          </a:xfrm>
        </p:grpSpPr>
        <p:cxnSp>
          <p:nvCxnSpPr>
            <p:cNvPr id="59" name="Straight Arrow Connector 58"/>
            <p:cNvCxnSpPr/>
            <p:nvPr/>
          </p:nvCxnSpPr>
          <p:spPr>
            <a:xfrm flipH="1">
              <a:off x="3627438" y="2190397"/>
              <a:ext cx="581953" cy="312914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Group 59"/>
            <p:cNvGrpSpPr/>
            <p:nvPr/>
          </p:nvGrpSpPr>
          <p:grpSpPr>
            <a:xfrm>
              <a:off x="2789237" y="2682081"/>
              <a:ext cx="1525265" cy="391142"/>
              <a:chOff x="3581400" y="2057400"/>
              <a:chExt cx="1438835" cy="381000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3581400" y="2057400"/>
                <a:ext cx="1438835" cy="381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254061"/>
                  </a:solidFill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3667508" y="2057400"/>
                <a:ext cx="1297743" cy="3747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254061"/>
                    </a:solidFill>
                  </a:rPr>
                  <a:t>DNA extract</a:t>
                </a:r>
              </a:p>
            </p:txBody>
          </p:sp>
        </p:grpSp>
        <p:cxnSp>
          <p:nvCxnSpPr>
            <p:cNvPr id="63" name="Straight Arrow Connector 62"/>
            <p:cNvCxnSpPr/>
            <p:nvPr/>
          </p:nvCxnSpPr>
          <p:spPr>
            <a:xfrm>
              <a:off x="3500937" y="3188593"/>
              <a:ext cx="0" cy="312914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/>
            <p:cNvGrpSpPr/>
            <p:nvPr/>
          </p:nvGrpSpPr>
          <p:grpSpPr>
            <a:xfrm>
              <a:off x="2821782" y="3596481"/>
              <a:ext cx="1339055" cy="396700"/>
              <a:chOff x="3581400" y="2057400"/>
              <a:chExt cx="1182072" cy="386414"/>
            </a:xfrm>
          </p:grpSpPr>
          <p:sp>
            <p:nvSpPr>
              <p:cNvPr id="66" name="Rectangle 65"/>
              <p:cNvSpPr/>
              <p:nvPr/>
            </p:nvSpPr>
            <p:spPr>
              <a:xfrm>
                <a:off x="3581400" y="2057400"/>
                <a:ext cx="1182072" cy="381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254061"/>
                  </a:solidFill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3607072" y="2069068"/>
                <a:ext cx="1156400" cy="3747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254061"/>
                    </a:solidFill>
                  </a:rPr>
                  <a:t>sequencing</a:t>
                </a:r>
              </a:p>
            </p:txBody>
          </p:sp>
        </p:grpSp>
        <p:sp>
          <p:nvSpPr>
            <p:cNvPr id="68" name="Right Brace 67"/>
            <p:cNvSpPr/>
            <p:nvPr/>
          </p:nvSpPr>
          <p:spPr>
            <a:xfrm rot="5400000">
              <a:off x="3299754" y="3522758"/>
              <a:ext cx="425537" cy="148738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95619" tIns="47809" rIns="95619" bIns="47809"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835071" y="4562724"/>
              <a:ext cx="137447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254061"/>
                  </a:solidFill>
                </a:rPr>
                <a:t>Genetic</a:t>
              </a:r>
            </a:p>
            <a:p>
              <a:pPr algn="ctr"/>
              <a:r>
                <a:rPr lang="en-US" sz="1600" dirty="0">
                  <a:solidFill>
                    <a:srgbClr val="254061"/>
                  </a:solidFill>
                </a:rPr>
                <a:t>Study (DNA mutations)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60637" y="3520281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C00000"/>
                  </a:solidFill>
                </a:rPr>
                <a:t>#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781759" y="2467700"/>
            <a:ext cx="2213039" cy="393264"/>
            <a:chOff x="3581400" y="2057400"/>
            <a:chExt cx="2087636" cy="383067"/>
          </a:xfrm>
        </p:grpSpPr>
        <p:sp>
          <p:nvSpPr>
            <p:cNvPr id="16" name="Rectangle 15"/>
            <p:cNvSpPr/>
            <p:nvPr/>
          </p:nvSpPr>
          <p:spPr>
            <a:xfrm>
              <a:off x="3581400" y="2057400"/>
              <a:ext cx="2087636" cy="381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54061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84663" y="2065722"/>
              <a:ext cx="1281109" cy="374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254061"/>
                  </a:solidFill>
                </a:rPr>
                <a:t>RNA extract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4619048" y="3367181"/>
            <a:ext cx="916537" cy="7040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5406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87318" y="3376322"/>
            <a:ext cx="1018227" cy="67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54061"/>
                </a:solidFill>
              </a:rPr>
              <a:t>Prepare </a:t>
            </a:r>
          </a:p>
          <a:p>
            <a:pPr algn="ctr"/>
            <a:r>
              <a:rPr lang="en-US" dirty="0" err="1">
                <a:solidFill>
                  <a:srgbClr val="254061"/>
                </a:solidFill>
              </a:rPr>
              <a:t>cDNA</a:t>
            </a:r>
            <a:r>
              <a:rPr lang="en-US" dirty="0">
                <a:solidFill>
                  <a:srgbClr val="254061"/>
                </a:solidFill>
              </a:rPr>
              <a:t> 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56967D9-A66B-4B89-A193-1EBED27C8525}"/>
              </a:ext>
            </a:extLst>
          </p:cNvPr>
          <p:cNvSpPr/>
          <p:nvPr/>
        </p:nvSpPr>
        <p:spPr>
          <a:xfrm>
            <a:off x="5656639" y="3377951"/>
            <a:ext cx="1033311" cy="7040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5406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195530B-5F23-40D5-B841-5166EF397A03}"/>
              </a:ext>
            </a:extLst>
          </p:cNvPr>
          <p:cNvSpPr txBox="1"/>
          <p:nvPr/>
        </p:nvSpPr>
        <p:spPr>
          <a:xfrm>
            <a:off x="5582652" y="3341289"/>
            <a:ext cx="11905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54061"/>
                </a:solidFill>
              </a:rPr>
              <a:t>RNA seq</a:t>
            </a:r>
          </a:p>
          <a:p>
            <a:pPr algn="ctr"/>
            <a:r>
              <a:rPr lang="en-US" dirty="0">
                <a:solidFill>
                  <a:srgbClr val="254061"/>
                </a:solidFill>
              </a:rPr>
              <a:t>/</a:t>
            </a:r>
            <a:r>
              <a:rPr lang="en-US" sz="1600" dirty="0">
                <a:solidFill>
                  <a:srgbClr val="254061"/>
                </a:solidFill>
              </a:rPr>
              <a:t>microarray</a:t>
            </a:r>
            <a:endParaRPr lang="en-US" dirty="0">
              <a:solidFill>
                <a:srgbClr val="25406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65509" y="4621674"/>
            <a:ext cx="1050105" cy="3911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5406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47989" y="4609033"/>
            <a:ext cx="702436" cy="384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rgbClr val="254061"/>
                </a:solidFill>
              </a:rPr>
              <a:t>qPCR</a:t>
            </a:r>
            <a:endParaRPr lang="en-US" dirty="0">
              <a:solidFill>
                <a:srgbClr val="25406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96531" y="5389561"/>
            <a:ext cx="3938943" cy="588994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pPr algn="ctr"/>
            <a:r>
              <a:rPr lang="en-US" sz="1600" dirty="0">
                <a:solidFill>
                  <a:srgbClr val="254061"/>
                </a:solidFill>
              </a:rPr>
              <a:t>Gene  expression study </a:t>
            </a:r>
          </a:p>
          <a:p>
            <a:pPr algn="ctr"/>
            <a:r>
              <a:rPr lang="en-US" sz="1600" dirty="0">
                <a:solidFill>
                  <a:srgbClr val="254061"/>
                </a:solidFill>
              </a:rPr>
              <a:t>(mRNA  levels)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6738139" y="3383688"/>
            <a:ext cx="1027421" cy="704056"/>
            <a:chOff x="3209734" y="1400309"/>
            <a:chExt cx="1019138" cy="685800"/>
          </a:xfrm>
        </p:grpSpPr>
        <p:sp>
          <p:nvSpPr>
            <p:cNvPr id="37" name="Rectangle 36"/>
            <p:cNvSpPr/>
            <p:nvPr/>
          </p:nvSpPr>
          <p:spPr>
            <a:xfrm>
              <a:off x="3244526" y="1400309"/>
              <a:ext cx="938371" cy="685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54061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209734" y="1405116"/>
              <a:ext cx="1019138" cy="6595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254061"/>
                  </a:solidFill>
                </a:rPr>
                <a:t>Northern </a:t>
              </a:r>
            </a:p>
            <a:p>
              <a:pPr algn="ctr"/>
              <a:r>
                <a:rPr lang="en-US" dirty="0">
                  <a:solidFill>
                    <a:srgbClr val="254061"/>
                  </a:solidFill>
                </a:rPr>
                <a:t>blot</a:t>
              </a:r>
            </a:p>
          </p:txBody>
        </p:sp>
      </p:grpSp>
      <p:cxnSp>
        <p:nvCxnSpPr>
          <p:cNvPr id="40" name="Straight Arrow Connector 39"/>
          <p:cNvCxnSpPr/>
          <p:nvPr/>
        </p:nvCxnSpPr>
        <p:spPr>
          <a:xfrm>
            <a:off x="6012993" y="2922233"/>
            <a:ext cx="0" cy="418131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129444" y="4179573"/>
            <a:ext cx="0" cy="391142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4999037" y="2949222"/>
            <a:ext cx="0" cy="312914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4873039" y="1952455"/>
            <a:ext cx="727946" cy="42942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393018" y="1952455"/>
            <a:ext cx="1136312" cy="558217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500" dirty="0">
                <a:solidFill>
                  <a:srgbClr val="C00000"/>
                </a:solidFill>
              </a:rPr>
              <a:t>RNA </a:t>
            </a:r>
          </a:p>
          <a:p>
            <a:r>
              <a:rPr lang="en-US" sz="1500" dirty="0">
                <a:solidFill>
                  <a:srgbClr val="C00000"/>
                </a:solidFill>
              </a:rPr>
              <a:t>degradation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75228" y="3658473"/>
            <a:ext cx="398885" cy="542828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sz="2900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0274" y="4676197"/>
            <a:ext cx="398885" cy="542828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sz="2900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71" name="Right Brace 70"/>
          <p:cNvSpPr/>
          <p:nvPr/>
        </p:nvSpPr>
        <p:spPr>
          <a:xfrm rot="16200000" flipH="1">
            <a:off x="5800788" y="3672761"/>
            <a:ext cx="461148" cy="311695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74F0B4B-5AA0-4BB3-B453-A9385982690C}"/>
              </a:ext>
            </a:extLst>
          </p:cNvPr>
          <p:cNvCxnSpPr/>
          <p:nvPr/>
        </p:nvCxnSpPr>
        <p:spPr>
          <a:xfrm>
            <a:off x="6827837" y="2922233"/>
            <a:ext cx="0" cy="418131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/>
          <p:cNvGrpSpPr/>
          <p:nvPr/>
        </p:nvGrpSpPr>
        <p:grpSpPr>
          <a:xfrm>
            <a:off x="5400312" y="1930047"/>
            <a:ext cx="4180247" cy="4232264"/>
            <a:chOff x="4904432" y="2109964"/>
            <a:chExt cx="4180247" cy="4232264"/>
          </a:xfrm>
        </p:grpSpPr>
        <p:cxnSp>
          <p:nvCxnSpPr>
            <p:cNvPr id="69" name="Straight Arrow Connector 68"/>
            <p:cNvCxnSpPr>
              <a:cxnSpLocks/>
            </p:cNvCxnSpPr>
            <p:nvPr/>
          </p:nvCxnSpPr>
          <p:spPr>
            <a:xfrm>
              <a:off x="4904432" y="2109964"/>
              <a:ext cx="2459825" cy="393347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74"/>
            <p:cNvGrpSpPr/>
            <p:nvPr/>
          </p:nvGrpSpPr>
          <p:grpSpPr>
            <a:xfrm>
              <a:off x="6802121" y="2647510"/>
              <a:ext cx="1724576" cy="396700"/>
              <a:chOff x="3523517" y="2057400"/>
              <a:chExt cx="1522396" cy="386414"/>
            </a:xfrm>
          </p:grpSpPr>
          <p:sp>
            <p:nvSpPr>
              <p:cNvPr id="76" name="Rectangle 75"/>
              <p:cNvSpPr/>
              <p:nvPr/>
            </p:nvSpPr>
            <p:spPr>
              <a:xfrm>
                <a:off x="3581400" y="2057400"/>
                <a:ext cx="1438835" cy="381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254061"/>
                  </a:solidFill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3523517" y="2069068"/>
                <a:ext cx="1522396" cy="3747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254061"/>
                    </a:solidFill>
                  </a:rPr>
                  <a:t>Flow cytometry</a:t>
                </a:r>
              </a:p>
            </p:txBody>
          </p:sp>
        </p:grpSp>
        <p:cxnSp>
          <p:nvCxnSpPr>
            <p:cNvPr id="78" name="Straight Arrow Connector 77"/>
            <p:cNvCxnSpPr/>
            <p:nvPr/>
          </p:nvCxnSpPr>
          <p:spPr>
            <a:xfrm>
              <a:off x="7970837" y="3111963"/>
              <a:ext cx="0" cy="660179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Group 79"/>
            <p:cNvGrpSpPr/>
            <p:nvPr/>
          </p:nvGrpSpPr>
          <p:grpSpPr>
            <a:xfrm>
              <a:off x="7372685" y="3855335"/>
              <a:ext cx="1357464" cy="833212"/>
              <a:chOff x="3685010" y="2057400"/>
              <a:chExt cx="1198324" cy="381000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3685010" y="2057400"/>
                <a:ext cx="1198324" cy="381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254061"/>
                  </a:solidFill>
                </a:endParaRP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3729819" y="2092045"/>
                <a:ext cx="1153514" cy="3096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254061"/>
                    </a:solidFill>
                  </a:rPr>
                  <a:t>Cell count</a:t>
                </a:r>
              </a:p>
              <a:p>
                <a:r>
                  <a:rPr lang="en-US" dirty="0">
                    <a:solidFill>
                      <a:srgbClr val="254061"/>
                    </a:solidFill>
                  </a:rPr>
                  <a:t>or intensity</a:t>
                </a: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8424045" y="3771041"/>
              <a:ext cx="398885" cy="542828"/>
            </a:xfrm>
            <a:prstGeom prst="rect">
              <a:avLst/>
            </a:prstGeom>
            <a:noFill/>
          </p:spPr>
          <p:txBody>
            <a:bodyPr wrap="square" lIns="95619" tIns="47809" rIns="95619" bIns="47809" rtlCol="0">
              <a:spAutoFit/>
            </a:bodyPr>
            <a:lstStyle/>
            <a:p>
              <a:r>
                <a:rPr lang="en-US" sz="2900" dirty="0">
                  <a:solidFill>
                    <a:srgbClr val="C00000"/>
                  </a:solidFill>
                </a:rPr>
                <a:t>^</a:t>
              </a:r>
            </a:p>
          </p:txBody>
        </p:sp>
        <p:sp>
          <p:nvSpPr>
            <p:cNvPr id="84" name="Right Brace 83"/>
            <p:cNvSpPr/>
            <p:nvPr/>
          </p:nvSpPr>
          <p:spPr>
            <a:xfrm rot="5400000">
              <a:off x="7907722" y="4139018"/>
              <a:ext cx="401312" cy="170611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95619" tIns="47809" rIns="95619" bIns="47809" rtlCol="0" anchor="ctr"/>
            <a:lstStyle/>
            <a:p>
              <a:pPr algn="ctr"/>
              <a:endParaRPr lang="en-US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7255320" y="5260791"/>
              <a:ext cx="1829359" cy="1081437"/>
            </a:xfrm>
            <a:prstGeom prst="rect">
              <a:avLst/>
            </a:prstGeom>
            <a:noFill/>
          </p:spPr>
          <p:txBody>
            <a:bodyPr wrap="square" lIns="95619" tIns="47809" rIns="95619" bIns="47809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254061"/>
                  </a:solidFill>
                </a:rPr>
                <a:t>Marker expression study </a:t>
              </a:r>
            </a:p>
            <a:p>
              <a:pPr algn="ctr"/>
              <a:r>
                <a:rPr lang="en-US" sz="1600" dirty="0">
                  <a:solidFill>
                    <a:srgbClr val="254061"/>
                  </a:solidFill>
                </a:rPr>
                <a:t>(cytokine, receptor, ROS, levels)</a:t>
              </a: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-106363" y="1653143"/>
            <a:ext cx="3733801" cy="4735221"/>
            <a:chOff x="-106363" y="1653143"/>
            <a:chExt cx="3733801" cy="4735221"/>
          </a:xfrm>
        </p:grpSpPr>
        <p:sp>
          <p:nvSpPr>
            <p:cNvPr id="27" name="TextBox 26"/>
            <p:cNvSpPr txBox="1"/>
            <p:nvPr/>
          </p:nvSpPr>
          <p:spPr>
            <a:xfrm>
              <a:off x="-106363" y="5799370"/>
              <a:ext cx="2986880" cy="588994"/>
            </a:xfrm>
            <a:prstGeom prst="rect">
              <a:avLst/>
            </a:prstGeom>
            <a:noFill/>
          </p:spPr>
          <p:txBody>
            <a:bodyPr wrap="square" lIns="95619" tIns="47809" rIns="95619" bIns="47809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254061"/>
                  </a:solidFill>
                </a:rPr>
                <a:t>Protein expression or</a:t>
              </a:r>
            </a:p>
            <a:p>
              <a:pPr algn="ctr"/>
              <a:r>
                <a:rPr lang="en-US" sz="1600" dirty="0">
                  <a:solidFill>
                    <a:srgbClr val="254061"/>
                  </a:solidFill>
                </a:rPr>
                <a:t> activity study </a:t>
              </a:r>
            </a:p>
          </p:txBody>
        </p:sp>
        <p:grpSp>
          <p:nvGrpSpPr>
            <p:cNvPr id="90" name="Group 89"/>
            <p:cNvGrpSpPr/>
            <p:nvPr/>
          </p:nvGrpSpPr>
          <p:grpSpPr>
            <a:xfrm>
              <a:off x="194678" y="1653143"/>
              <a:ext cx="3432760" cy="4191518"/>
              <a:chOff x="194678" y="1653143"/>
              <a:chExt cx="3432760" cy="4191518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586673" y="2479851"/>
                <a:ext cx="1648080" cy="391142"/>
                <a:chOff x="3581400" y="2057400"/>
                <a:chExt cx="1454868" cy="381000"/>
              </a:xfrm>
            </p:grpSpPr>
            <p:sp>
              <p:nvSpPr>
                <p:cNvPr id="13" name="Rectangle 12"/>
                <p:cNvSpPr/>
                <p:nvPr/>
              </p:nvSpPr>
              <p:spPr>
                <a:xfrm>
                  <a:off x="3581400" y="2057400"/>
                  <a:ext cx="1438835" cy="3810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254061"/>
                    </a:solidFill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3581400" y="2057400"/>
                  <a:ext cx="1454868" cy="3747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254061"/>
                      </a:solidFill>
                    </a:rPr>
                    <a:t>Protein extract</a:t>
                  </a:r>
                </a:p>
              </p:txBody>
            </p:sp>
          </p:grpSp>
          <p:sp>
            <p:nvSpPr>
              <p:cNvPr id="26" name="Right Brace 25"/>
              <p:cNvSpPr/>
              <p:nvPr/>
            </p:nvSpPr>
            <p:spPr>
              <a:xfrm rot="16200000" flipH="1">
                <a:off x="1128291" y="4738200"/>
                <a:ext cx="523097" cy="1689825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lIns="95619" tIns="47809" rIns="95619" bIns="47809"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Arrow Connector 28"/>
              <p:cNvCxnSpPr/>
              <p:nvPr/>
            </p:nvCxnSpPr>
            <p:spPr>
              <a:xfrm>
                <a:off x="1394446" y="2949222"/>
                <a:ext cx="0" cy="312914"/>
              </a:xfrm>
              <a:prstGeom prst="straightConnector1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>
              <a:xfrm>
                <a:off x="586673" y="3418593"/>
                <a:ext cx="1629917" cy="396699"/>
                <a:chOff x="3581400" y="2057400"/>
                <a:chExt cx="1438835" cy="386413"/>
              </a:xfrm>
            </p:grpSpPr>
            <p:sp>
              <p:nvSpPr>
                <p:cNvPr id="31" name="Rectangle 30"/>
                <p:cNvSpPr/>
                <p:nvPr/>
              </p:nvSpPr>
              <p:spPr>
                <a:xfrm>
                  <a:off x="3581400" y="2057400"/>
                  <a:ext cx="1438835" cy="3810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254061"/>
                    </a:solidFill>
                  </a:endParaRPr>
                </a:p>
              </p:txBody>
            </p:sp>
            <p:sp>
              <p:nvSpPr>
                <p:cNvPr id="32" name="TextBox 31"/>
                <p:cNvSpPr txBox="1"/>
                <p:nvPr/>
              </p:nvSpPr>
              <p:spPr>
                <a:xfrm>
                  <a:off x="3607072" y="2069068"/>
                  <a:ext cx="1315002" cy="3747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254061"/>
                      </a:solidFill>
                    </a:rPr>
                    <a:t>Protein assay</a:t>
                  </a:r>
                </a:p>
              </p:txBody>
            </p:sp>
          </p:grpSp>
          <p:grpSp>
            <p:nvGrpSpPr>
              <p:cNvPr id="33" name="Group 32"/>
              <p:cNvGrpSpPr/>
              <p:nvPr/>
            </p:nvGrpSpPr>
            <p:grpSpPr>
              <a:xfrm>
                <a:off x="586674" y="4407164"/>
                <a:ext cx="1629917" cy="396699"/>
                <a:chOff x="3581400" y="2057400"/>
                <a:chExt cx="1438835" cy="386413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3581400" y="2057400"/>
                  <a:ext cx="1438835" cy="3810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254061"/>
                    </a:solidFill>
                  </a:endParaRPr>
                </a:p>
              </p:txBody>
            </p:sp>
            <p:sp>
              <p:nvSpPr>
                <p:cNvPr id="35" name="TextBox 34"/>
                <p:cNvSpPr txBox="1"/>
                <p:nvPr/>
              </p:nvSpPr>
              <p:spPr>
                <a:xfrm>
                  <a:off x="3607072" y="2069068"/>
                  <a:ext cx="1296606" cy="3747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254061"/>
                      </a:solidFill>
                    </a:rPr>
                    <a:t>Western blot</a:t>
                  </a:r>
                </a:p>
              </p:txBody>
            </p:sp>
          </p:grpSp>
          <p:cxnSp>
            <p:nvCxnSpPr>
              <p:cNvPr id="39" name="Straight Arrow Connector 38"/>
              <p:cNvCxnSpPr/>
              <p:nvPr/>
            </p:nvCxnSpPr>
            <p:spPr>
              <a:xfrm>
                <a:off x="1394445" y="3966192"/>
                <a:ext cx="0" cy="312914"/>
              </a:xfrm>
              <a:prstGeom prst="straightConnector1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 flipH="1">
                <a:off x="1722437" y="1932252"/>
                <a:ext cx="1905001" cy="391142"/>
              </a:xfrm>
              <a:prstGeom prst="straightConnector1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1370255" y="1653143"/>
                <a:ext cx="1136312" cy="558217"/>
              </a:xfrm>
              <a:prstGeom prst="rect">
                <a:avLst/>
              </a:prstGeom>
              <a:noFill/>
            </p:spPr>
            <p:txBody>
              <a:bodyPr wrap="none" lIns="95619" tIns="47809" rIns="95619" bIns="47809" rtlCol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C00000"/>
                    </a:solidFill>
                  </a:rPr>
                  <a:t>protein </a:t>
                </a:r>
              </a:p>
              <a:p>
                <a:pPr algn="ctr"/>
                <a:r>
                  <a:rPr lang="en-US" sz="1500" dirty="0">
                    <a:solidFill>
                      <a:srgbClr val="C00000"/>
                    </a:solidFill>
                  </a:rPr>
                  <a:t>degradation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194678" y="4299301"/>
                <a:ext cx="398885" cy="542828"/>
              </a:xfrm>
              <a:prstGeom prst="rect">
                <a:avLst/>
              </a:prstGeom>
              <a:noFill/>
            </p:spPr>
            <p:txBody>
              <a:bodyPr wrap="square" lIns="95619" tIns="47809" rIns="95619" bIns="47809" rtlCol="0">
                <a:spAutoFit/>
              </a:bodyPr>
              <a:lstStyle/>
              <a:p>
                <a:r>
                  <a:rPr lang="en-US" sz="2900" dirty="0">
                    <a:solidFill>
                      <a:srgbClr val="C00000"/>
                    </a:solidFill>
                  </a:rPr>
                  <a:t>*</a:t>
                </a:r>
              </a:p>
            </p:txBody>
          </p:sp>
          <p:grpSp>
            <p:nvGrpSpPr>
              <p:cNvPr id="56" name="Group 55"/>
              <p:cNvGrpSpPr/>
              <p:nvPr/>
            </p:nvGrpSpPr>
            <p:grpSpPr>
              <a:xfrm>
                <a:off x="586673" y="4876535"/>
                <a:ext cx="1629917" cy="396699"/>
                <a:chOff x="3581400" y="2057400"/>
                <a:chExt cx="1438835" cy="386413"/>
              </a:xfrm>
            </p:grpSpPr>
            <p:sp>
              <p:nvSpPr>
                <p:cNvPr id="57" name="Rectangle 56"/>
                <p:cNvSpPr/>
                <p:nvPr/>
              </p:nvSpPr>
              <p:spPr>
                <a:xfrm>
                  <a:off x="3581400" y="2057400"/>
                  <a:ext cx="1438835" cy="3810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254061"/>
                    </a:solidFill>
                  </a:endParaRPr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3607072" y="2069068"/>
                  <a:ext cx="1332096" cy="3747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254061"/>
                      </a:solidFill>
                    </a:rPr>
                    <a:t>Activity assay</a:t>
                  </a:r>
                </a:p>
              </p:txBody>
            </p:sp>
          </p:grpSp>
          <p:sp>
            <p:nvSpPr>
              <p:cNvPr id="89" name="TextBox 88"/>
              <p:cNvSpPr txBox="1"/>
              <p:nvPr/>
            </p:nvSpPr>
            <p:spPr>
              <a:xfrm>
                <a:off x="216870" y="4741401"/>
                <a:ext cx="398885" cy="542828"/>
              </a:xfrm>
              <a:prstGeom prst="rect">
                <a:avLst/>
              </a:prstGeom>
              <a:noFill/>
            </p:spPr>
            <p:txBody>
              <a:bodyPr wrap="square" lIns="95619" tIns="47809" rIns="95619" bIns="47809" rtlCol="0">
                <a:spAutoFit/>
              </a:bodyPr>
              <a:lstStyle/>
              <a:p>
                <a:r>
                  <a:rPr lang="en-US" sz="2900" dirty="0">
                    <a:solidFill>
                      <a:srgbClr val="C00000"/>
                    </a:solidFill>
                  </a:rPr>
                  <a:t>*</a:t>
                </a:r>
              </a:p>
            </p:txBody>
          </p:sp>
        </p:grpSp>
      </p:grpSp>
      <p:sp>
        <p:nvSpPr>
          <p:cNvPr id="6" name="TextBox 5"/>
          <p:cNvSpPr txBox="1"/>
          <p:nvPr/>
        </p:nvSpPr>
        <p:spPr>
          <a:xfrm>
            <a:off x="142582" y="6623979"/>
            <a:ext cx="9176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If you use a service provider, may want to ask them questions because you will need it to publish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3" name="Picture 2" descr="fig3"/>
          <p:cNvPicPr/>
          <p:nvPr/>
        </p:nvPicPr>
        <p:blipFill>
          <a:blip r:embed="rId2" cstate="print"/>
          <a:srcRect l="4684" t="6563" r="5789" b="1250"/>
          <a:stretch>
            <a:fillRect/>
          </a:stretch>
        </p:blipFill>
        <p:spPr bwMode="auto">
          <a:xfrm>
            <a:off x="403887" y="547600"/>
            <a:ext cx="5775576" cy="7617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323109" y="-78229"/>
            <a:ext cx="5977520" cy="30509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rot="5400000">
            <a:off x="3762908" y="2922980"/>
            <a:ext cx="2894454" cy="3150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 rot="5400000">
            <a:off x="1864642" y="4479511"/>
            <a:ext cx="2894454" cy="61390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 – </a:t>
            </a:r>
            <a:r>
              <a:rPr lang="en-US" sz="3300" dirty="0"/>
              <a:t>sources of bias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109" y="1095199"/>
            <a:ext cx="9127834" cy="1850878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Possible source of bias/variability: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Not testing within the linear range of the assay or methodology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Example: Western blot or other gel scanning-based measurement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805878"/>
            <a:ext cx="2536504" cy="281218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Source: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Xin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Ye’s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PhD thesis, UBC 2013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846638" y="3066256"/>
            <a:ext cx="3695561" cy="2816225"/>
            <a:chOff x="4614862" y="2062162"/>
            <a:chExt cx="3486150" cy="2743200"/>
          </a:xfrm>
        </p:grpSpPr>
        <p:graphicFrame>
          <p:nvGraphicFramePr>
            <p:cNvPr id="15" name="Chart 14"/>
            <p:cNvGraphicFramePr/>
            <p:nvPr/>
          </p:nvGraphicFramePr>
          <p:xfrm>
            <a:off x="4614862" y="2062162"/>
            <a:ext cx="348615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cxnSp>
          <p:nvCxnSpPr>
            <p:cNvPr id="16" name="Straight Connector 15"/>
            <p:cNvCxnSpPr/>
            <p:nvPr/>
          </p:nvCxnSpPr>
          <p:spPr>
            <a:xfrm flipV="1">
              <a:off x="5436096" y="2276872"/>
              <a:ext cx="1296144" cy="165618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/>
          <p:cNvSpPr/>
          <p:nvPr/>
        </p:nvSpPr>
        <p:spPr>
          <a:xfrm>
            <a:off x="6946847" y="3379170"/>
            <a:ext cx="888550" cy="4693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61555" y="6023593"/>
            <a:ext cx="9370166" cy="742883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sz="2100" b="1" dirty="0">
                <a:solidFill>
                  <a:srgbClr val="C00000"/>
                </a:solidFill>
              </a:rPr>
              <a:t>You should never extrapolate, </a:t>
            </a:r>
            <a:r>
              <a:rPr lang="en-US" sz="2100" dirty="0">
                <a:solidFill>
                  <a:srgbClr val="C00000"/>
                </a:solidFill>
              </a:rPr>
              <a:t>you do not know what the curve will look like beyond your data points = “lower and upper limit of detection”</a:t>
            </a:r>
          </a:p>
        </p:txBody>
      </p:sp>
      <p:sp>
        <p:nvSpPr>
          <p:cNvPr id="21" name="Oval 20"/>
          <p:cNvSpPr/>
          <p:nvPr/>
        </p:nvSpPr>
        <p:spPr>
          <a:xfrm>
            <a:off x="5412079" y="4709054"/>
            <a:ext cx="646218" cy="4693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139074" y="4943739"/>
            <a:ext cx="484664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23738" y="4709054"/>
            <a:ext cx="2788431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May or may not cross zero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7947110" y="3521367"/>
            <a:ext cx="32176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68870" y="3286682"/>
            <a:ext cx="1424405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May plateau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91206" y="984159"/>
            <a:ext cx="2320963" cy="162172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Common mistake:</a:t>
            </a:r>
          </a:p>
          <a:p>
            <a:pPr algn="ctr"/>
            <a:r>
              <a:rPr lang="en-US" sz="2000" b="1" dirty="0"/>
              <a:t>Not knowing what is the linear range of your measure</a:t>
            </a:r>
          </a:p>
          <a:p>
            <a:pPr algn="ctr"/>
            <a:r>
              <a:rPr lang="en-US" sz="2000" b="1" dirty="0"/>
              <a:t>or assay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0E13FFD-65E4-4E38-86AC-A4D489A8186A}"/>
              </a:ext>
            </a:extLst>
          </p:cNvPr>
          <p:cNvSpPr/>
          <p:nvPr/>
        </p:nvSpPr>
        <p:spPr>
          <a:xfrm>
            <a:off x="1798637" y="3825081"/>
            <a:ext cx="566308" cy="28933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/>
      <p:bldP spid="21" grpId="1" animBg="1"/>
      <p:bldP spid="24" grpId="0"/>
      <p:bldP spid="22" grpId="0"/>
      <p:bldP spid="5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Slide Number Placeholder 1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32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3109" y="312914"/>
            <a:ext cx="5977520" cy="30509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pPr algn="ctr"/>
            <a:r>
              <a:rPr lang="en-US" dirty="0"/>
              <a:t>At very high DNA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 – </a:t>
            </a:r>
            <a:r>
              <a:rPr lang="en-US" sz="3300" dirty="0"/>
              <a:t>sources of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109" y="1095199"/>
            <a:ext cx="9208611" cy="1850878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Possible source of bias/variability: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Not testing within the linear range of the assay or methodology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Example: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qPCR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or RT-PCR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/>
        </p:nvPicPr>
        <p:blipFill rotWithShape="1">
          <a:blip r:embed="rId2" cstate="print"/>
          <a:srcRect l="33272" t="18271" r="7089" b="42451"/>
          <a:stretch/>
        </p:blipFill>
        <p:spPr bwMode="auto">
          <a:xfrm>
            <a:off x="365786" y="3363825"/>
            <a:ext cx="4922838" cy="2509398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cxnSp>
        <p:nvCxnSpPr>
          <p:cNvPr id="12" name="Straight Arrow Connector 11"/>
          <p:cNvCxnSpPr>
            <a:cxnSpLocks/>
          </p:cNvCxnSpPr>
          <p:nvPr/>
        </p:nvCxnSpPr>
        <p:spPr>
          <a:xfrm>
            <a:off x="2027237" y="4658039"/>
            <a:ext cx="2133600" cy="0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58FE59C-DDCF-4B4F-8975-8BAC542F7AC9}"/>
              </a:ext>
            </a:extLst>
          </p:cNvPr>
          <p:cNvCxnSpPr/>
          <p:nvPr/>
        </p:nvCxnSpPr>
        <p:spPr>
          <a:xfrm flipV="1">
            <a:off x="1493837" y="5272881"/>
            <a:ext cx="0" cy="7620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0227E89-4C19-467A-AE24-B68C9E111A3D}"/>
              </a:ext>
            </a:extLst>
          </p:cNvPr>
          <p:cNvSpPr/>
          <p:nvPr/>
        </p:nvSpPr>
        <p:spPr>
          <a:xfrm>
            <a:off x="5655204" y="3324446"/>
            <a:ext cx="3553407" cy="272382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Higher DNA copy number enter exponential amplification earlier = at lower PCR cycle threshold (Ct)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At very high DNA concentrations,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PCR amplification is no longer efficient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outside the linear range of the assay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36551" t="13689" r="5660" b="40333"/>
          <a:stretch/>
        </p:blipFill>
        <p:spPr bwMode="auto">
          <a:xfrm>
            <a:off x="46038" y="2605881"/>
            <a:ext cx="5181600" cy="2971800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cxnSp>
        <p:nvCxnSpPr>
          <p:cNvPr id="4" name="Straight Arrow Connector 3"/>
          <p:cNvCxnSpPr/>
          <p:nvPr/>
        </p:nvCxnSpPr>
        <p:spPr>
          <a:xfrm>
            <a:off x="1453991" y="4459023"/>
            <a:ext cx="2746428" cy="0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 – </a:t>
            </a:r>
            <a:r>
              <a:rPr lang="en-US" sz="3300" dirty="0"/>
              <a:t>sources of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32" y="1251656"/>
            <a:ext cx="6501756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Important to plot values and determine what range can be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8297" y="2425084"/>
            <a:ext cx="3231092" cy="3312817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Here, at low DNA concentration, linearity is not respected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 contamination?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or the number of DNA molecules is so small (&lt;5) that the serial dilution is imprecise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D6157FF-BFBC-4236-802B-241EFBB01EA4}"/>
              </a:ext>
            </a:extLst>
          </p:cNvPr>
          <p:cNvCxnSpPr>
            <a:cxnSpLocks/>
          </p:cNvCxnSpPr>
          <p:nvPr/>
        </p:nvCxnSpPr>
        <p:spPr>
          <a:xfrm flipV="1">
            <a:off x="4084637" y="4815681"/>
            <a:ext cx="0" cy="92222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431511" y="6665719"/>
            <a:ext cx="2261764" cy="374845"/>
          </a:xfrm>
        </p:spPr>
        <p:txBody>
          <a:bodyPr/>
          <a:lstStyle/>
          <a:p>
            <a:fld id="{7B5F07AE-1E89-4AE4-98DC-E8711993B5F2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 – </a:t>
            </a:r>
            <a:r>
              <a:rPr lang="en-US" sz="3300" dirty="0"/>
              <a:t>sources of bias/error/variability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87" y="938742"/>
            <a:ext cx="9116254" cy="2143266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Example: mRNA studies using 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Ct method (relative amplification = 2 </a:t>
            </a:r>
            <a:r>
              <a:rPr lang="en-US" baseline="30000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Ct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)</a:t>
            </a:r>
            <a:endParaRPr lang="en-US" baseline="30000" dirty="0">
              <a:solidFill>
                <a:schemeClr val="accent1">
                  <a:lumMod val="75000"/>
                </a:schemeClr>
              </a:solidFill>
              <a:sym typeface="Symbol"/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  <a:sym typeface="Symbol"/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Data: 	- C</a:t>
            </a:r>
            <a:r>
              <a:rPr lang="en-US" baseline="-25000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 of gene of interest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	- C</a:t>
            </a:r>
            <a:r>
              <a:rPr lang="en-US" baseline="-25000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 of a housekeeping gene (to normalize)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	- on both a test specimen and internal control aliquot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  <a:sym typeface="Symbol"/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Assumption made: both genes (interest and housekeeping) have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SAME PERFECT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sym typeface="Symbol"/>
              </a:rPr>
              <a:t>PCR</a:t>
            </a:r>
            <a:r>
              <a:rPr lang="en-US" baseline="-25000" dirty="0" err="1">
                <a:solidFill>
                  <a:schemeClr val="accent1">
                    <a:lumMod val="75000"/>
                  </a:schemeClr>
                </a:solidFill>
                <a:sym typeface="Symbol"/>
              </a:rPr>
              <a:t>eff</a:t>
            </a:r>
            <a:endParaRPr lang="en-US" baseline="-250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76981" y="3129140"/>
            <a:ext cx="0" cy="22969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76981" y="5426070"/>
            <a:ext cx="24925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6218" y="5475994"/>
            <a:ext cx="2237768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Log DNA concentration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02" y="3773990"/>
            <a:ext cx="404702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Ct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906508" y="3272563"/>
            <a:ext cx="1800179" cy="1555985"/>
          </a:xfrm>
          <a:prstGeom prst="line">
            <a:avLst/>
          </a:prstGeom>
          <a:ln w="28575">
            <a:solidFill>
              <a:srgbClr val="4A7E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84695" y="3425517"/>
            <a:ext cx="1800179" cy="155598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3935009" y="3442053"/>
            <a:ext cx="1800179" cy="155598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796533" y="1721027"/>
            <a:ext cx="4846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735188" y="1996281"/>
            <a:ext cx="64621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690143" y="3050911"/>
            <a:ext cx="0" cy="22969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690143" y="5347841"/>
            <a:ext cx="27543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cxnSpLocks/>
          </p:cNvCxnSpPr>
          <p:nvPr/>
        </p:nvCxnSpPr>
        <p:spPr>
          <a:xfrm>
            <a:off x="3958087" y="3363825"/>
            <a:ext cx="1996355" cy="1220942"/>
          </a:xfrm>
          <a:prstGeom prst="line">
            <a:avLst/>
          </a:prstGeom>
          <a:ln w="28575">
            <a:solidFill>
              <a:srgbClr val="4F6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696631" y="3050911"/>
            <a:ext cx="0" cy="22969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696632" y="5347841"/>
            <a:ext cx="27543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cxnSpLocks/>
          </p:cNvCxnSpPr>
          <p:nvPr/>
        </p:nvCxnSpPr>
        <p:spPr>
          <a:xfrm>
            <a:off x="6946848" y="3754967"/>
            <a:ext cx="2014081" cy="102746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cxnSpLocks/>
          </p:cNvCxnSpPr>
          <p:nvPr/>
        </p:nvCxnSpPr>
        <p:spPr>
          <a:xfrm>
            <a:off x="572947" y="3676738"/>
            <a:ext cx="488732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cxnSpLocks/>
          </p:cNvCxnSpPr>
          <p:nvPr/>
        </p:nvCxnSpPr>
        <p:spPr>
          <a:xfrm>
            <a:off x="565441" y="4199376"/>
            <a:ext cx="1373214" cy="0"/>
          </a:xfrm>
          <a:prstGeom prst="line">
            <a:avLst/>
          </a:prstGeom>
          <a:ln w="19050">
            <a:solidFill>
              <a:srgbClr val="4A7EBB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6946848" y="3442053"/>
            <a:ext cx="1800179" cy="155598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958087" y="5475994"/>
            <a:ext cx="2237768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Log DNA concentration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66070" y="5475994"/>
            <a:ext cx="2237768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Log DNA concentration</a:t>
            </a:r>
          </a:p>
        </p:txBody>
      </p:sp>
      <p:cxnSp>
        <p:nvCxnSpPr>
          <p:cNvPr id="86" name="Straight Connector 85"/>
          <p:cNvCxnSpPr>
            <a:cxnSpLocks/>
          </p:cNvCxnSpPr>
          <p:nvPr/>
        </p:nvCxnSpPr>
        <p:spPr>
          <a:xfrm>
            <a:off x="3551237" y="3520281"/>
            <a:ext cx="0" cy="203413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cxnSpLocks/>
          </p:cNvCxnSpPr>
          <p:nvPr/>
        </p:nvCxnSpPr>
        <p:spPr>
          <a:xfrm>
            <a:off x="446552" y="3422106"/>
            <a:ext cx="0" cy="272827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242332" y="6023593"/>
            <a:ext cx="9047057" cy="973715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Can only use this method if the assumptions are first verified…or all tested specimens have exactly the same DNA concentration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Similar problem can exist with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any measure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that is normalized to another</a:t>
            </a:r>
          </a:p>
        </p:txBody>
      </p:sp>
      <p:cxnSp>
        <p:nvCxnSpPr>
          <p:cNvPr id="93" name="Straight Connector 92"/>
          <p:cNvCxnSpPr/>
          <p:nvPr/>
        </p:nvCxnSpPr>
        <p:spPr>
          <a:xfrm>
            <a:off x="4604306" y="1721027"/>
            <a:ext cx="484664" cy="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>
            <a:off x="5412078" y="1721027"/>
            <a:ext cx="484664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D82FCEF-F441-468A-B1E4-DB2B0AA8416F}"/>
              </a:ext>
            </a:extLst>
          </p:cNvPr>
          <p:cNvCxnSpPr>
            <a:cxnSpLocks/>
          </p:cNvCxnSpPr>
          <p:nvPr/>
        </p:nvCxnSpPr>
        <p:spPr>
          <a:xfrm>
            <a:off x="572947" y="3450867"/>
            <a:ext cx="508524" cy="0"/>
          </a:xfrm>
          <a:prstGeom prst="line">
            <a:avLst/>
          </a:prstGeom>
          <a:ln w="19050">
            <a:solidFill>
              <a:srgbClr val="4A7EBB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AB33254-1D6E-4BC6-B9C9-74C2183CEC13}"/>
              </a:ext>
            </a:extLst>
          </p:cNvPr>
          <p:cNvCxnSpPr>
            <a:cxnSpLocks/>
          </p:cNvCxnSpPr>
          <p:nvPr/>
        </p:nvCxnSpPr>
        <p:spPr>
          <a:xfrm>
            <a:off x="565441" y="4434681"/>
            <a:ext cx="1373214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A85214F-FA66-437D-89DA-E84D35804BAB}"/>
              </a:ext>
            </a:extLst>
          </p:cNvPr>
          <p:cNvCxnSpPr>
            <a:cxnSpLocks/>
          </p:cNvCxnSpPr>
          <p:nvPr/>
        </p:nvCxnSpPr>
        <p:spPr>
          <a:xfrm flipV="1">
            <a:off x="1083902" y="3425517"/>
            <a:ext cx="0" cy="2006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EE81920-5349-4963-BD0B-C290F3BB428A}"/>
              </a:ext>
            </a:extLst>
          </p:cNvPr>
          <p:cNvCxnSpPr>
            <a:cxnSpLocks/>
          </p:cNvCxnSpPr>
          <p:nvPr/>
        </p:nvCxnSpPr>
        <p:spPr>
          <a:xfrm flipV="1">
            <a:off x="1953828" y="3419729"/>
            <a:ext cx="0" cy="2006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F46B37F-0E6E-4502-AFFA-E3665F5821D4}"/>
              </a:ext>
            </a:extLst>
          </p:cNvPr>
          <p:cNvCxnSpPr>
            <a:cxnSpLocks/>
          </p:cNvCxnSpPr>
          <p:nvPr/>
        </p:nvCxnSpPr>
        <p:spPr>
          <a:xfrm flipV="1">
            <a:off x="4219043" y="3347288"/>
            <a:ext cx="0" cy="2006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DD8E081-B0CB-4EB8-B4D4-6EBBC4354260}"/>
              </a:ext>
            </a:extLst>
          </p:cNvPr>
          <p:cNvCxnSpPr>
            <a:cxnSpLocks/>
          </p:cNvCxnSpPr>
          <p:nvPr/>
        </p:nvCxnSpPr>
        <p:spPr>
          <a:xfrm flipV="1">
            <a:off x="5088969" y="3341500"/>
            <a:ext cx="0" cy="2006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E384BE0-7CCC-4B73-B71E-5FB872AE51A1}"/>
              </a:ext>
            </a:extLst>
          </p:cNvPr>
          <p:cNvCxnSpPr>
            <a:cxnSpLocks/>
          </p:cNvCxnSpPr>
          <p:nvPr/>
        </p:nvCxnSpPr>
        <p:spPr>
          <a:xfrm>
            <a:off x="3690143" y="3686911"/>
            <a:ext cx="514344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8240931-75BB-4D77-A282-D24F4781D84A}"/>
              </a:ext>
            </a:extLst>
          </p:cNvPr>
          <p:cNvCxnSpPr>
            <a:cxnSpLocks/>
          </p:cNvCxnSpPr>
          <p:nvPr/>
        </p:nvCxnSpPr>
        <p:spPr>
          <a:xfrm>
            <a:off x="3690143" y="3520281"/>
            <a:ext cx="509024" cy="0"/>
          </a:xfrm>
          <a:prstGeom prst="line">
            <a:avLst/>
          </a:prstGeom>
          <a:ln w="19050">
            <a:solidFill>
              <a:srgbClr val="4F622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65BF939-EDC2-44AB-9BB5-1E03754EED6D}"/>
              </a:ext>
            </a:extLst>
          </p:cNvPr>
          <p:cNvCxnSpPr>
            <a:cxnSpLocks/>
          </p:cNvCxnSpPr>
          <p:nvPr/>
        </p:nvCxnSpPr>
        <p:spPr>
          <a:xfrm>
            <a:off x="3690143" y="4459023"/>
            <a:ext cx="1386828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268CF6E-280D-4B36-8A34-247FE280136C}"/>
              </a:ext>
            </a:extLst>
          </p:cNvPr>
          <p:cNvCxnSpPr>
            <a:cxnSpLocks/>
          </p:cNvCxnSpPr>
          <p:nvPr/>
        </p:nvCxnSpPr>
        <p:spPr>
          <a:xfrm>
            <a:off x="3690143" y="4063461"/>
            <a:ext cx="1382046" cy="0"/>
          </a:xfrm>
          <a:prstGeom prst="line">
            <a:avLst/>
          </a:prstGeom>
          <a:ln w="19050">
            <a:solidFill>
              <a:srgbClr val="4F622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82960EF-9B30-4111-A1A9-EE3926888970}"/>
              </a:ext>
            </a:extLst>
          </p:cNvPr>
          <p:cNvCxnSpPr>
            <a:cxnSpLocks/>
          </p:cNvCxnSpPr>
          <p:nvPr/>
        </p:nvCxnSpPr>
        <p:spPr>
          <a:xfrm>
            <a:off x="3551237" y="4037746"/>
            <a:ext cx="0" cy="438078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C4AA30B-27BC-4CF0-817A-8B1B4456829A}"/>
              </a:ext>
            </a:extLst>
          </p:cNvPr>
          <p:cNvCxnSpPr>
            <a:cxnSpLocks/>
          </p:cNvCxnSpPr>
          <p:nvPr/>
        </p:nvCxnSpPr>
        <p:spPr>
          <a:xfrm flipV="1">
            <a:off x="7253311" y="3355310"/>
            <a:ext cx="0" cy="2006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86B6B48-7AA9-4301-94E5-DCB17F18B67B}"/>
              </a:ext>
            </a:extLst>
          </p:cNvPr>
          <p:cNvCxnSpPr>
            <a:cxnSpLocks/>
          </p:cNvCxnSpPr>
          <p:nvPr/>
        </p:nvCxnSpPr>
        <p:spPr>
          <a:xfrm flipV="1">
            <a:off x="8123237" y="3349522"/>
            <a:ext cx="0" cy="2006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78D178D-720F-455B-912B-C3A44CA8D342}"/>
              </a:ext>
            </a:extLst>
          </p:cNvPr>
          <p:cNvCxnSpPr>
            <a:cxnSpLocks/>
          </p:cNvCxnSpPr>
          <p:nvPr/>
        </p:nvCxnSpPr>
        <p:spPr>
          <a:xfrm>
            <a:off x="6724411" y="3694933"/>
            <a:ext cx="514344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157F43F-2F87-4B00-9E54-4A0B84D6CBC0}"/>
              </a:ext>
            </a:extLst>
          </p:cNvPr>
          <p:cNvCxnSpPr>
            <a:cxnSpLocks/>
          </p:cNvCxnSpPr>
          <p:nvPr/>
        </p:nvCxnSpPr>
        <p:spPr>
          <a:xfrm>
            <a:off x="6724411" y="4467045"/>
            <a:ext cx="1386828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C589D9B-DA4C-4220-911E-BD84C499F72F}"/>
              </a:ext>
            </a:extLst>
          </p:cNvPr>
          <p:cNvCxnSpPr>
            <a:cxnSpLocks/>
          </p:cNvCxnSpPr>
          <p:nvPr/>
        </p:nvCxnSpPr>
        <p:spPr>
          <a:xfrm>
            <a:off x="6696631" y="3920841"/>
            <a:ext cx="556680" cy="0"/>
          </a:xfrm>
          <a:prstGeom prst="line">
            <a:avLst/>
          </a:prstGeom>
          <a:ln w="190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B5775E4-90ED-4E1B-B297-218F447ABF05}"/>
              </a:ext>
            </a:extLst>
          </p:cNvPr>
          <p:cNvCxnSpPr>
            <a:cxnSpLocks/>
          </p:cNvCxnSpPr>
          <p:nvPr/>
        </p:nvCxnSpPr>
        <p:spPr>
          <a:xfrm>
            <a:off x="6599237" y="3676738"/>
            <a:ext cx="0" cy="250368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D6CEAF0-92AB-44DE-A6B2-3888D353BA0E}"/>
              </a:ext>
            </a:extLst>
          </p:cNvPr>
          <p:cNvCxnSpPr>
            <a:cxnSpLocks/>
          </p:cNvCxnSpPr>
          <p:nvPr/>
        </p:nvCxnSpPr>
        <p:spPr>
          <a:xfrm>
            <a:off x="6696631" y="4363376"/>
            <a:ext cx="1428646" cy="0"/>
          </a:xfrm>
          <a:prstGeom prst="line">
            <a:avLst/>
          </a:prstGeom>
          <a:ln w="190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2DE73FD-6649-4568-BAD9-81722F203082}"/>
              </a:ext>
            </a:extLst>
          </p:cNvPr>
          <p:cNvCxnSpPr>
            <a:cxnSpLocks/>
          </p:cNvCxnSpPr>
          <p:nvPr/>
        </p:nvCxnSpPr>
        <p:spPr>
          <a:xfrm>
            <a:off x="6588226" y="4341861"/>
            <a:ext cx="0" cy="16902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7C5A793-B16D-4270-B61F-D98B37DB3B00}"/>
              </a:ext>
            </a:extLst>
          </p:cNvPr>
          <p:cNvCxnSpPr>
            <a:cxnSpLocks/>
          </p:cNvCxnSpPr>
          <p:nvPr/>
        </p:nvCxnSpPr>
        <p:spPr>
          <a:xfrm>
            <a:off x="444054" y="4186196"/>
            <a:ext cx="0" cy="272827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46847" y="6650636"/>
            <a:ext cx="2261764" cy="374845"/>
          </a:xfrm>
        </p:spPr>
        <p:txBody>
          <a:bodyPr/>
          <a:lstStyle/>
          <a:p>
            <a:fld id="{7B5F07AE-1E89-4AE4-98DC-E8711993B5F2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 – </a:t>
            </a:r>
            <a:r>
              <a:rPr lang="en-US" sz="3300" dirty="0"/>
              <a:t>sources of bias/error/variability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41008" y="3393962"/>
            <a:ext cx="2237768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Log DNA concentration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565441" y="4349415"/>
            <a:ext cx="0" cy="2190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65441" y="6539812"/>
            <a:ext cx="24233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0" y="5288156"/>
            <a:ext cx="553782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Ct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6218" y="6583388"/>
            <a:ext cx="2237768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Log DNA concentration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726996" y="5366385"/>
            <a:ext cx="193865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3634978" y="4349415"/>
            <a:ext cx="0" cy="2190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634978" y="6539812"/>
            <a:ext cx="24233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069537" y="5288156"/>
            <a:ext cx="553782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Ct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15755" y="6583388"/>
            <a:ext cx="2237768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Log DNA concentration</a:t>
            </a:r>
          </a:p>
        </p:txBody>
      </p:sp>
      <p:cxnSp>
        <p:nvCxnSpPr>
          <p:cNvPr id="49" name="Straight Connector 48"/>
          <p:cNvCxnSpPr>
            <a:cxnSpLocks/>
          </p:cNvCxnSpPr>
          <p:nvPr/>
        </p:nvCxnSpPr>
        <p:spPr>
          <a:xfrm flipV="1">
            <a:off x="3845428" y="5087326"/>
            <a:ext cx="2173686" cy="367753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6704515" y="4349415"/>
            <a:ext cx="0" cy="2190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6704515" y="6539812"/>
            <a:ext cx="24233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139074" y="5288156"/>
            <a:ext cx="553782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Ct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785293" y="6583388"/>
            <a:ext cx="2237768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Log DNA concentration</a:t>
            </a:r>
          </a:p>
        </p:txBody>
      </p:sp>
      <p:sp>
        <p:nvSpPr>
          <p:cNvPr id="59" name="Freeform 58"/>
          <p:cNvSpPr/>
          <p:nvPr/>
        </p:nvSpPr>
        <p:spPr>
          <a:xfrm>
            <a:off x="6967042" y="5088260"/>
            <a:ext cx="1605901" cy="826653"/>
          </a:xfrm>
          <a:custGeom>
            <a:avLst/>
            <a:gdLst>
              <a:gd name="connsiteX0" fmla="*/ 0 w 1514902"/>
              <a:gd name="connsiteY0" fmla="*/ 0 h 805218"/>
              <a:gd name="connsiteX1" fmla="*/ 13648 w 1514902"/>
              <a:gd name="connsiteY1" fmla="*/ 40944 h 805218"/>
              <a:gd name="connsiteX2" fmla="*/ 150126 w 1514902"/>
              <a:gd name="connsiteY2" fmla="*/ 204717 h 805218"/>
              <a:gd name="connsiteX3" fmla="*/ 218365 w 1514902"/>
              <a:gd name="connsiteY3" fmla="*/ 232012 h 805218"/>
              <a:gd name="connsiteX4" fmla="*/ 272956 w 1514902"/>
              <a:gd name="connsiteY4" fmla="*/ 272956 h 805218"/>
              <a:gd name="connsiteX5" fmla="*/ 327547 w 1514902"/>
              <a:gd name="connsiteY5" fmla="*/ 286603 h 805218"/>
              <a:gd name="connsiteX6" fmla="*/ 368490 w 1514902"/>
              <a:gd name="connsiteY6" fmla="*/ 300251 h 805218"/>
              <a:gd name="connsiteX7" fmla="*/ 968991 w 1514902"/>
              <a:gd name="connsiteY7" fmla="*/ 313899 h 805218"/>
              <a:gd name="connsiteX8" fmla="*/ 1064526 w 1514902"/>
              <a:gd name="connsiteY8" fmla="*/ 327547 h 805218"/>
              <a:gd name="connsiteX9" fmla="*/ 1146412 w 1514902"/>
              <a:gd name="connsiteY9" fmla="*/ 368490 h 805218"/>
              <a:gd name="connsiteX10" fmla="*/ 1201003 w 1514902"/>
              <a:gd name="connsiteY10" fmla="*/ 382138 h 805218"/>
              <a:gd name="connsiteX11" fmla="*/ 1310185 w 1514902"/>
              <a:gd name="connsiteY11" fmla="*/ 477672 h 805218"/>
              <a:gd name="connsiteX12" fmla="*/ 1323833 w 1514902"/>
              <a:gd name="connsiteY12" fmla="*/ 532263 h 805218"/>
              <a:gd name="connsiteX13" fmla="*/ 1378424 w 1514902"/>
              <a:gd name="connsiteY13" fmla="*/ 614150 h 805218"/>
              <a:gd name="connsiteX14" fmla="*/ 1405720 w 1514902"/>
              <a:gd name="connsiteY14" fmla="*/ 655093 h 805218"/>
              <a:gd name="connsiteX15" fmla="*/ 1473959 w 1514902"/>
              <a:gd name="connsiteY15" fmla="*/ 736980 h 805218"/>
              <a:gd name="connsiteX16" fmla="*/ 1514902 w 1514902"/>
              <a:gd name="connsiteY16" fmla="*/ 805218 h 80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4902" h="805218">
                <a:moveTo>
                  <a:pt x="0" y="0"/>
                </a:moveTo>
                <a:cubicBezTo>
                  <a:pt x="4549" y="13648"/>
                  <a:pt x="6661" y="28368"/>
                  <a:pt x="13648" y="40944"/>
                </a:cubicBezTo>
                <a:cubicBezTo>
                  <a:pt x="35092" y="79543"/>
                  <a:pt x="109243" y="188364"/>
                  <a:pt x="150126" y="204717"/>
                </a:cubicBezTo>
                <a:cubicBezTo>
                  <a:pt x="172872" y="213815"/>
                  <a:pt x="196949" y="220114"/>
                  <a:pt x="218365" y="232012"/>
                </a:cubicBezTo>
                <a:cubicBezTo>
                  <a:pt x="238249" y="243059"/>
                  <a:pt x="252611" y="262784"/>
                  <a:pt x="272956" y="272956"/>
                </a:cubicBezTo>
                <a:cubicBezTo>
                  <a:pt x="289733" y="281344"/>
                  <a:pt x="309512" y="281450"/>
                  <a:pt x="327547" y="286603"/>
                </a:cubicBezTo>
                <a:cubicBezTo>
                  <a:pt x="341379" y="290555"/>
                  <a:pt x="354117" y="299639"/>
                  <a:pt x="368490" y="300251"/>
                </a:cubicBezTo>
                <a:cubicBezTo>
                  <a:pt x="568528" y="308763"/>
                  <a:pt x="768824" y="309350"/>
                  <a:pt x="968991" y="313899"/>
                </a:cubicBezTo>
                <a:cubicBezTo>
                  <a:pt x="1000836" y="318448"/>
                  <a:pt x="1033780" y="318087"/>
                  <a:pt x="1064526" y="327547"/>
                </a:cubicBezTo>
                <a:cubicBezTo>
                  <a:pt x="1093694" y="336522"/>
                  <a:pt x="1118078" y="357156"/>
                  <a:pt x="1146412" y="368490"/>
                </a:cubicBezTo>
                <a:cubicBezTo>
                  <a:pt x="1163827" y="375456"/>
                  <a:pt x="1182806" y="377589"/>
                  <a:pt x="1201003" y="382138"/>
                </a:cubicBezTo>
                <a:cubicBezTo>
                  <a:pt x="1296538" y="445827"/>
                  <a:pt x="1264693" y="409433"/>
                  <a:pt x="1310185" y="477672"/>
                </a:cubicBezTo>
                <a:cubicBezTo>
                  <a:pt x="1314734" y="495869"/>
                  <a:pt x="1315445" y="515486"/>
                  <a:pt x="1323833" y="532263"/>
                </a:cubicBezTo>
                <a:cubicBezTo>
                  <a:pt x="1338504" y="561605"/>
                  <a:pt x="1360227" y="586854"/>
                  <a:pt x="1378424" y="614150"/>
                </a:cubicBezTo>
                <a:cubicBezTo>
                  <a:pt x="1387523" y="627798"/>
                  <a:pt x="1394122" y="643495"/>
                  <a:pt x="1405720" y="655093"/>
                </a:cubicBezTo>
                <a:cubicBezTo>
                  <a:pt x="1458262" y="707635"/>
                  <a:pt x="1435957" y="679977"/>
                  <a:pt x="1473959" y="736980"/>
                </a:cubicBezTo>
                <a:cubicBezTo>
                  <a:pt x="1491675" y="790130"/>
                  <a:pt x="1477433" y="767751"/>
                  <a:pt x="1514902" y="805218"/>
                </a:cubicBezTo>
              </a:path>
            </a:pathLst>
          </a:cu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619" tIns="47809" rIns="95619" bIns="47809"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174255" y="3802947"/>
            <a:ext cx="377379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Upon serial dilution of the specimen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4B8D67E-0CAA-40DC-9BBD-199BB7D3B886}"/>
              </a:ext>
            </a:extLst>
          </p:cNvPr>
          <p:cNvCxnSpPr/>
          <p:nvPr/>
        </p:nvCxnSpPr>
        <p:spPr>
          <a:xfrm>
            <a:off x="576981" y="1084467"/>
            <a:ext cx="0" cy="22969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E52CA2F-D54E-465E-840D-6AFCD9CA7259}"/>
              </a:ext>
            </a:extLst>
          </p:cNvPr>
          <p:cNvCxnSpPr/>
          <p:nvPr/>
        </p:nvCxnSpPr>
        <p:spPr>
          <a:xfrm>
            <a:off x="576981" y="3381397"/>
            <a:ext cx="24925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95F3421-3E45-4092-87BB-B0B7F2FBC684}"/>
              </a:ext>
            </a:extLst>
          </p:cNvPr>
          <p:cNvSpPr txBox="1"/>
          <p:nvPr/>
        </p:nvSpPr>
        <p:spPr>
          <a:xfrm>
            <a:off x="112402" y="1729317"/>
            <a:ext cx="404702" cy="388940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Ct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6335D0B-A522-4134-85E2-0934C57A3F98}"/>
              </a:ext>
            </a:extLst>
          </p:cNvPr>
          <p:cNvCxnSpPr/>
          <p:nvPr/>
        </p:nvCxnSpPr>
        <p:spPr>
          <a:xfrm>
            <a:off x="906508" y="1227890"/>
            <a:ext cx="1800179" cy="1555985"/>
          </a:xfrm>
          <a:prstGeom prst="line">
            <a:avLst/>
          </a:prstGeom>
          <a:ln w="28575">
            <a:solidFill>
              <a:srgbClr val="4A7E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82D0919-1ECF-4355-95C1-BDAEB24471DC}"/>
              </a:ext>
            </a:extLst>
          </p:cNvPr>
          <p:cNvCxnSpPr/>
          <p:nvPr/>
        </p:nvCxnSpPr>
        <p:spPr>
          <a:xfrm>
            <a:off x="784695" y="1380844"/>
            <a:ext cx="1800179" cy="1555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FBC0ECD-F2E8-4981-8981-17239E271EF5}"/>
              </a:ext>
            </a:extLst>
          </p:cNvPr>
          <p:cNvCxnSpPr/>
          <p:nvPr/>
        </p:nvCxnSpPr>
        <p:spPr>
          <a:xfrm>
            <a:off x="3935009" y="1397380"/>
            <a:ext cx="1800179" cy="1555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CEC34F6-F554-4F31-9250-B007075BE781}"/>
              </a:ext>
            </a:extLst>
          </p:cNvPr>
          <p:cNvCxnSpPr/>
          <p:nvPr/>
        </p:nvCxnSpPr>
        <p:spPr>
          <a:xfrm>
            <a:off x="3690143" y="1006238"/>
            <a:ext cx="0" cy="22969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21D862B-3FD7-4C9D-917B-B79981053A23}"/>
              </a:ext>
            </a:extLst>
          </p:cNvPr>
          <p:cNvCxnSpPr/>
          <p:nvPr/>
        </p:nvCxnSpPr>
        <p:spPr>
          <a:xfrm>
            <a:off x="3690143" y="3303168"/>
            <a:ext cx="27543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66BA5E6-C847-4A78-97BC-1CD8B8D50D17}"/>
              </a:ext>
            </a:extLst>
          </p:cNvPr>
          <p:cNvCxnSpPr>
            <a:cxnSpLocks/>
          </p:cNvCxnSpPr>
          <p:nvPr/>
        </p:nvCxnSpPr>
        <p:spPr>
          <a:xfrm>
            <a:off x="3958087" y="1319152"/>
            <a:ext cx="1996355" cy="1220942"/>
          </a:xfrm>
          <a:prstGeom prst="line">
            <a:avLst/>
          </a:prstGeom>
          <a:ln w="28575">
            <a:solidFill>
              <a:srgbClr val="4F6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4B0F36C-33D3-4D35-A040-0DCAA871BAB3}"/>
              </a:ext>
            </a:extLst>
          </p:cNvPr>
          <p:cNvCxnSpPr/>
          <p:nvPr/>
        </p:nvCxnSpPr>
        <p:spPr>
          <a:xfrm>
            <a:off x="6696631" y="1006238"/>
            <a:ext cx="0" cy="22969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B7671D1-0FBF-49E3-8166-AD15B592D4ED}"/>
              </a:ext>
            </a:extLst>
          </p:cNvPr>
          <p:cNvCxnSpPr/>
          <p:nvPr/>
        </p:nvCxnSpPr>
        <p:spPr>
          <a:xfrm>
            <a:off x="6696632" y="3303168"/>
            <a:ext cx="27543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34699F8-BA74-4517-98FE-52365FB70099}"/>
              </a:ext>
            </a:extLst>
          </p:cNvPr>
          <p:cNvCxnSpPr>
            <a:cxnSpLocks/>
          </p:cNvCxnSpPr>
          <p:nvPr/>
        </p:nvCxnSpPr>
        <p:spPr>
          <a:xfrm>
            <a:off x="6946848" y="1710294"/>
            <a:ext cx="2014081" cy="102746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0D59546-8373-4829-B565-01D1F6C021B6}"/>
              </a:ext>
            </a:extLst>
          </p:cNvPr>
          <p:cNvCxnSpPr>
            <a:cxnSpLocks/>
          </p:cNvCxnSpPr>
          <p:nvPr/>
        </p:nvCxnSpPr>
        <p:spPr>
          <a:xfrm>
            <a:off x="572947" y="1632065"/>
            <a:ext cx="488732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BB02257-ED09-4400-BFA3-9B76A0B3BFC2}"/>
              </a:ext>
            </a:extLst>
          </p:cNvPr>
          <p:cNvCxnSpPr>
            <a:cxnSpLocks/>
          </p:cNvCxnSpPr>
          <p:nvPr/>
        </p:nvCxnSpPr>
        <p:spPr>
          <a:xfrm>
            <a:off x="565441" y="2154703"/>
            <a:ext cx="1373214" cy="0"/>
          </a:xfrm>
          <a:prstGeom prst="line">
            <a:avLst/>
          </a:prstGeom>
          <a:ln w="19050">
            <a:solidFill>
              <a:srgbClr val="4A7EBB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9D02F4C-BBAD-4EF3-A217-E3C8787AC4D5}"/>
              </a:ext>
            </a:extLst>
          </p:cNvPr>
          <p:cNvCxnSpPr/>
          <p:nvPr/>
        </p:nvCxnSpPr>
        <p:spPr>
          <a:xfrm>
            <a:off x="6946848" y="1397380"/>
            <a:ext cx="1800179" cy="1555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0B762B5-4AD8-4946-B68E-B0A4601657FD}"/>
              </a:ext>
            </a:extLst>
          </p:cNvPr>
          <p:cNvSpPr txBox="1"/>
          <p:nvPr/>
        </p:nvSpPr>
        <p:spPr>
          <a:xfrm>
            <a:off x="6866070" y="3393962"/>
            <a:ext cx="2237768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Log DNA concentration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22CB165-FD32-4769-B8F6-4DEDC4C74E61}"/>
              </a:ext>
            </a:extLst>
          </p:cNvPr>
          <p:cNvCxnSpPr>
            <a:cxnSpLocks/>
          </p:cNvCxnSpPr>
          <p:nvPr/>
        </p:nvCxnSpPr>
        <p:spPr>
          <a:xfrm>
            <a:off x="3551237" y="1475608"/>
            <a:ext cx="0" cy="203413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5A6920-6479-4B08-A86B-32357ED0ED94}"/>
              </a:ext>
            </a:extLst>
          </p:cNvPr>
          <p:cNvCxnSpPr>
            <a:cxnSpLocks/>
          </p:cNvCxnSpPr>
          <p:nvPr/>
        </p:nvCxnSpPr>
        <p:spPr>
          <a:xfrm>
            <a:off x="446552" y="1377433"/>
            <a:ext cx="0" cy="272827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3DD8AA0-168D-4A9E-AC8B-B3D877A493C2}"/>
              </a:ext>
            </a:extLst>
          </p:cNvPr>
          <p:cNvCxnSpPr>
            <a:cxnSpLocks/>
          </p:cNvCxnSpPr>
          <p:nvPr/>
        </p:nvCxnSpPr>
        <p:spPr>
          <a:xfrm>
            <a:off x="572947" y="1406194"/>
            <a:ext cx="508524" cy="0"/>
          </a:xfrm>
          <a:prstGeom prst="line">
            <a:avLst/>
          </a:prstGeom>
          <a:ln w="19050">
            <a:solidFill>
              <a:srgbClr val="4A7EBB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8870B7-A347-4E28-BB82-4D18AE188A0C}"/>
              </a:ext>
            </a:extLst>
          </p:cNvPr>
          <p:cNvCxnSpPr>
            <a:cxnSpLocks/>
          </p:cNvCxnSpPr>
          <p:nvPr/>
        </p:nvCxnSpPr>
        <p:spPr>
          <a:xfrm>
            <a:off x="565441" y="2390008"/>
            <a:ext cx="1373214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83FD6C0-4CDE-4108-A8C6-ACC54CC771EF}"/>
              </a:ext>
            </a:extLst>
          </p:cNvPr>
          <p:cNvCxnSpPr>
            <a:cxnSpLocks/>
          </p:cNvCxnSpPr>
          <p:nvPr/>
        </p:nvCxnSpPr>
        <p:spPr>
          <a:xfrm flipV="1">
            <a:off x="1083902" y="1380844"/>
            <a:ext cx="0" cy="2006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4318578-07B3-497D-8D78-AE51DF476DFD}"/>
              </a:ext>
            </a:extLst>
          </p:cNvPr>
          <p:cNvCxnSpPr>
            <a:cxnSpLocks/>
          </p:cNvCxnSpPr>
          <p:nvPr/>
        </p:nvCxnSpPr>
        <p:spPr>
          <a:xfrm flipV="1">
            <a:off x="1953828" y="1375056"/>
            <a:ext cx="0" cy="2006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87030D7-3975-4FFE-94DA-444F84983F0F}"/>
              </a:ext>
            </a:extLst>
          </p:cNvPr>
          <p:cNvCxnSpPr>
            <a:cxnSpLocks/>
          </p:cNvCxnSpPr>
          <p:nvPr/>
        </p:nvCxnSpPr>
        <p:spPr>
          <a:xfrm flipV="1">
            <a:off x="4219043" y="1302615"/>
            <a:ext cx="0" cy="2006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F5D57A2-1CED-4A89-A552-B0A057330693}"/>
              </a:ext>
            </a:extLst>
          </p:cNvPr>
          <p:cNvCxnSpPr>
            <a:cxnSpLocks/>
          </p:cNvCxnSpPr>
          <p:nvPr/>
        </p:nvCxnSpPr>
        <p:spPr>
          <a:xfrm flipV="1">
            <a:off x="5088969" y="1296827"/>
            <a:ext cx="0" cy="2006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DAA06C-2F58-46CB-BFED-DDE7833E0884}"/>
              </a:ext>
            </a:extLst>
          </p:cNvPr>
          <p:cNvCxnSpPr>
            <a:cxnSpLocks/>
          </p:cNvCxnSpPr>
          <p:nvPr/>
        </p:nvCxnSpPr>
        <p:spPr>
          <a:xfrm>
            <a:off x="3690143" y="1642238"/>
            <a:ext cx="514344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026E307-F7A4-4F2C-BAC9-22112B8B394A}"/>
              </a:ext>
            </a:extLst>
          </p:cNvPr>
          <p:cNvCxnSpPr>
            <a:cxnSpLocks/>
          </p:cNvCxnSpPr>
          <p:nvPr/>
        </p:nvCxnSpPr>
        <p:spPr>
          <a:xfrm>
            <a:off x="3690143" y="1475608"/>
            <a:ext cx="509024" cy="0"/>
          </a:xfrm>
          <a:prstGeom prst="line">
            <a:avLst/>
          </a:prstGeom>
          <a:ln w="19050">
            <a:solidFill>
              <a:srgbClr val="4F622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E45D413-B00F-483A-8FBD-322CD7E5159A}"/>
              </a:ext>
            </a:extLst>
          </p:cNvPr>
          <p:cNvCxnSpPr>
            <a:cxnSpLocks/>
          </p:cNvCxnSpPr>
          <p:nvPr/>
        </p:nvCxnSpPr>
        <p:spPr>
          <a:xfrm>
            <a:off x="3690143" y="2414350"/>
            <a:ext cx="1386828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473AE5D-CAFB-46A1-81E0-6C37E938A72F}"/>
              </a:ext>
            </a:extLst>
          </p:cNvPr>
          <p:cNvCxnSpPr>
            <a:cxnSpLocks/>
          </p:cNvCxnSpPr>
          <p:nvPr/>
        </p:nvCxnSpPr>
        <p:spPr>
          <a:xfrm>
            <a:off x="3690143" y="2018788"/>
            <a:ext cx="1382046" cy="0"/>
          </a:xfrm>
          <a:prstGeom prst="line">
            <a:avLst/>
          </a:prstGeom>
          <a:ln w="19050">
            <a:solidFill>
              <a:srgbClr val="4F622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6A3A08B-3463-48F1-A877-C1ADE0532BD0}"/>
              </a:ext>
            </a:extLst>
          </p:cNvPr>
          <p:cNvCxnSpPr>
            <a:cxnSpLocks/>
          </p:cNvCxnSpPr>
          <p:nvPr/>
        </p:nvCxnSpPr>
        <p:spPr>
          <a:xfrm>
            <a:off x="3551237" y="1993073"/>
            <a:ext cx="0" cy="438078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5EA6AFF-30E4-4450-9C69-C75B26E130F6}"/>
              </a:ext>
            </a:extLst>
          </p:cNvPr>
          <p:cNvCxnSpPr>
            <a:cxnSpLocks/>
          </p:cNvCxnSpPr>
          <p:nvPr/>
        </p:nvCxnSpPr>
        <p:spPr>
          <a:xfrm flipV="1">
            <a:off x="7253311" y="1310637"/>
            <a:ext cx="0" cy="2006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BE9AA47-B740-4FC5-8B32-F8B7081EA365}"/>
              </a:ext>
            </a:extLst>
          </p:cNvPr>
          <p:cNvCxnSpPr>
            <a:cxnSpLocks/>
          </p:cNvCxnSpPr>
          <p:nvPr/>
        </p:nvCxnSpPr>
        <p:spPr>
          <a:xfrm flipV="1">
            <a:off x="8123237" y="1304849"/>
            <a:ext cx="0" cy="2006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F5DFE3B-50D3-408F-AD5D-8B1E1DA1F961}"/>
              </a:ext>
            </a:extLst>
          </p:cNvPr>
          <p:cNvCxnSpPr>
            <a:cxnSpLocks/>
          </p:cNvCxnSpPr>
          <p:nvPr/>
        </p:nvCxnSpPr>
        <p:spPr>
          <a:xfrm>
            <a:off x="6724411" y="1650260"/>
            <a:ext cx="514344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C6B2A57-B176-4932-83CC-4C438AB03131}"/>
              </a:ext>
            </a:extLst>
          </p:cNvPr>
          <p:cNvCxnSpPr>
            <a:cxnSpLocks/>
          </p:cNvCxnSpPr>
          <p:nvPr/>
        </p:nvCxnSpPr>
        <p:spPr>
          <a:xfrm>
            <a:off x="6724411" y="2422372"/>
            <a:ext cx="1386828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D6990DC-A579-41E9-A0E1-92ABC23B2655}"/>
              </a:ext>
            </a:extLst>
          </p:cNvPr>
          <p:cNvCxnSpPr>
            <a:cxnSpLocks/>
          </p:cNvCxnSpPr>
          <p:nvPr/>
        </p:nvCxnSpPr>
        <p:spPr>
          <a:xfrm>
            <a:off x="6696631" y="1876168"/>
            <a:ext cx="556680" cy="0"/>
          </a:xfrm>
          <a:prstGeom prst="line">
            <a:avLst/>
          </a:prstGeom>
          <a:ln w="190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4EEC56F-24E7-4C14-8B37-85677C0311F0}"/>
              </a:ext>
            </a:extLst>
          </p:cNvPr>
          <p:cNvCxnSpPr>
            <a:cxnSpLocks/>
          </p:cNvCxnSpPr>
          <p:nvPr/>
        </p:nvCxnSpPr>
        <p:spPr>
          <a:xfrm>
            <a:off x="6599237" y="1632065"/>
            <a:ext cx="0" cy="250368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BF11C23-642F-4F21-8A84-441827591743}"/>
              </a:ext>
            </a:extLst>
          </p:cNvPr>
          <p:cNvCxnSpPr>
            <a:cxnSpLocks/>
          </p:cNvCxnSpPr>
          <p:nvPr/>
        </p:nvCxnSpPr>
        <p:spPr>
          <a:xfrm>
            <a:off x="6696631" y="2318703"/>
            <a:ext cx="1428646" cy="0"/>
          </a:xfrm>
          <a:prstGeom prst="line">
            <a:avLst/>
          </a:prstGeom>
          <a:ln w="190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C127A30-D93D-4261-8CAF-D676C6245606}"/>
              </a:ext>
            </a:extLst>
          </p:cNvPr>
          <p:cNvCxnSpPr>
            <a:cxnSpLocks/>
          </p:cNvCxnSpPr>
          <p:nvPr/>
        </p:nvCxnSpPr>
        <p:spPr>
          <a:xfrm>
            <a:off x="6588226" y="2297188"/>
            <a:ext cx="0" cy="16902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6FFD84E-5BC9-4FC7-B653-F2E3F6251E8F}"/>
              </a:ext>
            </a:extLst>
          </p:cNvPr>
          <p:cNvCxnSpPr>
            <a:cxnSpLocks/>
          </p:cNvCxnSpPr>
          <p:nvPr/>
        </p:nvCxnSpPr>
        <p:spPr>
          <a:xfrm>
            <a:off x="444054" y="2141523"/>
            <a:ext cx="0" cy="272827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E5CDC31D-7B25-4006-8094-D168CA7D3E28}"/>
              </a:ext>
            </a:extLst>
          </p:cNvPr>
          <p:cNvSpPr txBox="1"/>
          <p:nvPr/>
        </p:nvSpPr>
        <p:spPr>
          <a:xfrm>
            <a:off x="730471" y="3393962"/>
            <a:ext cx="2237768" cy="35816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Log DNA concentration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 – </a:t>
            </a:r>
            <a:r>
              <a:rPr lang="en-US" sz="3300" dirty="0"/>
              <a:t>sources of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637" y="1005681"/>
            <a:ext cx="8804725" cy="6990747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pPr marL="358571" indent="-358571">
              <a:buAutoNum type="arabicPeriod"/>
            </a:pPr>
            <a:r>
              <a:rPr lang="en-US" sz="1800" dirty="0"/>
              <a:t>Non-randomization, i.e. assaying all your control specimens in one batch/run and the treated specimens in a separate batch/run </a:t>
            </a:r>
            <a:r>
              <a:rPr lang="en-US" sz="1800" dirty="0">
                <a:sym typeface="Symbol"/>
              </a:rPr>
              <a:t> </a:t>
            </a:r>
            <a:r>
              <a:rPr lang="en-US" sz="1800" dirty="0">
                <a:solidFill>
                  <a:srgbClr val="C00000"/>
                </a:solidFill>
                <a:sym typeface="Symbol"/>
              </a:rPr>
              <a:t>Whenever possible, randomize everything before you start assaying</a:t>
            </a:r>
            <a:br>
              <a:rPr lang="en-US" sz="1800" dirty="0">
                <a:solidFill>
                  <a:srgbClr val="C00000"/>
                </a:solidFill>
                <a:sym typeface="Symbol"/>
              </a:rPr>
            </a:br>
            <a:endParaRPr lang="en-US" sz="1800" dirty="0"/>
          </a:p>
          <a:p>
            <a:pPr marL="358571" indent="-358571">
              <a:buAutoNum type="arabicPeriod"/>
            </a:pPr>
            <a:r>
              <a:rPr lang="en-US" sz="1800" dirty="0"/>
              <a:t>Unintentional or unconscious bias when collecting/analyzing data </a:t>
            </a:r>
            <a:br>
              <a:rPr lang="en-US" sz="1800" dirty="0"/>
            </a:br>
            <a:r>
              <a:rPr lang="en-US" sz="1800" dirty="0">
                <a:sym typeface="Symbol"/>
              </a:rPr>
              <a:t> </a:t>
            </a:r>
            <a:r>
              <a:rPr lang="en-US" sz="1800" dirty="0">
                <a:solidFill>
                  <a:srgbClr val="C00000"/>
                </a:solidFill>
                <a:sym typeface="Symbol"/>
              </a:rPr>
              <a:t>Whenever possible, blind yourself</a:t>
            </a:r>
            <a:endParaRPr lang="en-US" sz="1800" dirty="0">
              <a:solidFill>
                <a:srgbClr val="C00000"/>
              </a:solidFill>
            </a:endParaRPr>
          </a:p>
          <a:p>
            <a:pPr marL="358571" indent="-358571">
              <a:buAutoNum type="arabicPeriod"/>
            </a:pPr>
            <a:endParaRPr lang="en-US" sz="1800" dirty="0"/>
          </a:p>
          <a:p>
            <a:pPr marL="358571" indent="-358571">
              <a:buAutoNum type="arabicPeriod"/>
            </a:pPr>
            <a:r>
              <a:rPr lang="en-US" sz="1800" dirty="0"/>
              <a:t>Differences in the buffer/diluent used between treatment and control or different time points, differences in the reagent lot, etc.</a:t>
            </a:r>
          </a:p>
          <a:p>
            <a:pPr marL="358571" indent="-358571">
              <a:buAutoNum type="arabicPeriod"/>
            </a:pPr>
            <a:endParaRPr lang="en-US" sz="1800" dirty="0"/>
          </a:p>
          <a:p>
            <a:pPr marL="358571" indent="-358571">
              <a:buAutoNum type="arabicPeriod"/>
            </a:pPr>
            <a:r>
              <a:rPr lang="en-US" sz="1800" dirty="0"/>
              <a:t>Data collection at different times (</a:t>
            </a:r>
            <a:r>
              <a:rPr lang="en-US" sz="1800" i="1" dirty="0"/>
              <a:t>e.g., </a:t>
            </a:r>
            <a:r>
              <a:rPr lang="en-US" sz="1800" dirty="0"/>
              <a:t>samples collected in 2000’s vs. controls collected in 2010’s = potential differences in collection protocol, processing, storage T° and time)</a:t>
            </a:r>
          </a:p>
          <a:p>
            <a:pPr marL="358571" indent="-358571">
              <a:buAutoNum type="arabicPeriod"/>
            </a:pPr>
            <a:endParaRPr lang="en-US" sz="1800" dirty="0"/>
          </a:p>
          <a:p>
            <a:pPr marL="358571" indent="-358571">
              <a:buAutoNum type="arabicPeriod"/>
            </a:pPr>
            <a:r>
              <a:rPr lang="en-US" sz="1800" dirty="0"/>
              <a:t>Data collection at different sites (example of Sick Kids vs. BC Children’s &amp; Women’s)</a:t>
            </a:r>
          </a:p>
          <a:p>
            <a:pPr marL="358571" indent="-358571"/>
            <a:endParaRPr lang="en-US" sz="1800" dirty="0"/>
          </a:p>
          <a:p>
            <a:pPr marL="358571" indent="-358571"/>
            <a:r>
              <a:rPr lang="en-US" sz="1600" dirty="0">
                <a:solidFill>
                  <a:srgbClr val="C00000"/>
                </a:solidFill>
              </a:rPr>
              <a:t>It is often very difficult to identify the sources of error/bias. The best way to counter them is sound study design and attention to details. Time spent in designing a study is time well spent</a:t>
            </a:r>
          </a:p>
          <a:p>
            <a:pPr marL="358571" indent="-358571"/>
            <a:endParaRPr lang="en-US" sz="1600" dirty="0">
              <a:solidFill>
                <a:srgbClr val="C00000"/>
              </a:solidFill>
            </a:endParaRPr>
          </a:p>
          <a:p>
            <a:pPr marL="358571" indent="-358571"/>
            <a:r>
              <a:rPr lang="en-US" sz="1600" dirty="0">
                <a:solidFill>
                  <a:srgbClr val="C00000"/>
                </a:solidFill>
              </a:rPr>
              <a:t>Does not help if biases are discovered upon challenge by reviewers after the study is over, when biases can no longer be eliminated, and only dealt with as a limitation.</a:t>
            </a:r>
          </a:p>
          <a:p>
            <a:pPr marL="358571" indent="-358571">
              <a:buAutoNum type="arabicPeriod"/>
            </a:pPr>
            <a:endParaRPr lang="en-US" sz="1600" dirty="0"/>
          </a:p>
          <a:p>
            <a:pPr marL="358571" indent="-358571">
              <a:buAutoNum type="arabicPeriod"/>
            </a:pPr>
            <a:endParaRPr lang="en-US" sz="1600" dirty="0"/>
          </a:p>
          <a:p>
            <a:pPr marL="358571" indent="-358571">
              <a:buAutoNum type="arabicPeriod"/>
            </a:pPr>
            <a:endParaRPr lang="en-US" sz="1600" dirty="0"/>
          </a:p>
          <a:p>
            <a:pPr marL="358571" indent="-358571">
              <a:buAutoNum type="arabicPeriod"/>
            </a:pPr>
            <a:endParaRPr lang="en-US" sz="1600" dirty="0"/>
          </a:p>
          <a:p>
            <a:pPr marL="358571" indent="-358571">
              <a:buAutoNum type="arabicPeriod"/>
            </a:pPr>
            <a:endParaRPr lang="en-US" sz="1600" dirty="0"/>
          </a:p>
          <a:p>
            <a:pPr marL="358571" indent="-358571">
              <a:buAutoNum type="arabicPeriod"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 – </a:t>
            </a:r>
            <a:r>
              <a:rPr lang="en-US" sz="3300" dirty="0"/>
              <a:t>animal model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64" y="1408113"/>
            <a:ext cx="8643239" cy="4697811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What animal model?</a:t>
            </a:r>
          </a:p>
          <a:p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Primates</a:t>
            </a:r>
          </a:p>
          <a:p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Rats</a:t>
            </a:r>
          </a:p>
          <a:p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Mice</a:t>
            </a:r>
          </a:p>
          <a:p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</a:rPr>
              <a:t>Zebrafish</a:t>
            </a: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C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</a:rPr>
              <a:t>elegans</a:t>
            </a: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Fruit flies</a:t>
            </a:r>
          </a:p>
          <a:p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Choice depends on cost, relevance to disease/genetics, n needed</a:t>
            </a:r>
          </a:p>
          <a:p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 – </a:t>
            </a:r>
            <a:r>
              <a:rPr lang="en-US" sz="3300" dirty="0"/>
              <a:t>animal model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109" y="1081881"/>
            <a:ext cx="9370166" cy="6682970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sz="2900" dirty="0">
                <a:solidFill>
                  <a:schemeClr val="accent1">
                    <a:lumMod val="50000"/>
                  </a:schemeClr>
                </a:solidFill>
              </a:rPr>
              <a:t>Before you start:</a:t>
            </a:r>
          </a:p>
          <a:p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Ethical considerations</a:t>
            </a: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Will you meet your objective and address your hypothesis? </a:t>
            </a: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Consider 3R (replace, refine, reduce)</a:t>
            </a: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Will it be a valid model of human disease?</a:t>
            </a: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Experimental (intervention </a:t>
            </a:r>
            <a:r>
              <a:rPr lang="en-US" sz="21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 causes a change) or observational (no </a:t>
            </a:r>
            <a:br>
              <a:rPr lang="en-US" sz="2100" dirty="0">
                <a:solidFill>
                  <a:schemeClr val="accent1">
                    <a:lumMod val="50000"/>
                  </a:schemeClr>
                </a:solidFill>
                <a:sym typeface="Symbol"/>
              </a:rPr>
            </a:br>
            <a:r>
              <a:rPr lang="en-US" sz="21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    intervention  look for associations)</a:t>
            </a: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sz="2100" dirty="0">
              <a:solidFill>
                <a:schemeClr val="accent1">
                  <a:lumMod val="50000"/>
                </a:schemeClr>
              </a:solidFill>
              <a:sym typeface="Symbol"/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 What strain? What phenotype? WT or transgenic?</a:t>
            </a:r>
          </a:p>
          <a:p>
            <a:pPr>
              <a:buClr>
                <a:schemeClr val="accent1">
                  <a:lumMod val="75000"/>
                </a:schemeClr>
              </a:buClr>
              <a:buSzPct val="120000"/>
            </a:pPr>
            <a:endParaRPr lang="en-US" sz="2100" dirty="0">
              <a:solidFill>
                <a:schemeClr val="accent1">
                  <a:lumMod val="50000"/>
                </a:schemeClr>
              </a:solidFill>
              <a:sym typeface="Symbol"/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 Exploratory (hypothesis generating, sample size calculation) or confirmatory?</a:t>
            </a:r>
            <a:br>
              <a:rPr lang="en-US" sz="2100" dirty="0">
                <a:solidFill>
                  <a:schemeClr val="accent1">
                    <a:lumMod val="50000"/>
                  </a:schemeClr>
                </a:solidFill>
                <a:sym typeface="Symbol"/>
              </a:rPr>
            </a:br>
            <a:r>
              <a:rPr lang="en-US" sz="21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   or a mix? (pilot or final you hope to publish?)</a:t>
            </a: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sz="2100" dirty="0">
              <a:solidFill>
                <a:schemeClr val="accent1">
                  <a:lumMod val="50000"/>
                </a:schemeClr>
              </a:solidFill>
              <a:sym typeface="Symbol"/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 Experimental unit = ? Each animal, each litter, each cage?  how many animals </a:t>
            </a:r>
            <a:br>
              <a:rPr lang="en-US" sz="2100" dirty="0">
                <a:solidFill>
                  <a:schemeClr val="accent1">
                    <a:lumMod val="50000"/>
                  </a:schemeClr>
                </a:solidFill>
                <a:sym typeface="Symbol"/>
              </a:rPr>
            </a:br>
            <a:r>
              <a:rPr lang="en-US" sz="21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   per cage?</a:t>
            </a: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sz="2100" dirty="0">
              <a:solidFill>
                <a:schemeClr val="accent1">
                  <a:lumMod val="50000"/>
                </a:schemeClr>
              </a:solidFill>
              <a:sym typeface="Symbol"/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</a:pPr>
            <a:endParaRPr lang="en-US" sz="2100" dirty="0">
              <a:solidFill>
                <a:schemeClr val="accent1">
                  <a:lumMod val="50000"/>
                </a:schemeClr>
              </a:solidFill>
              <a:sym typeface="Symbol"/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 – </a:t>
            </a:r>
            <a:r>
              <a:rPr lang="en-US" sz="3300" dirty="0"/>
              <a:t>animal model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109" y="1016971"/>
            <a:ext cx="8966279" cy="6205917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r>
              <a:rPr lang="en-US" sz="2900" dirty="0">
                <a:solidFill>
                  <a:schemeClr val="accent1">
                    <a:lumMod val="50000"/>
                  </a:schemeClr>
                </a:solidFill>
              </a:rPr>
              <a:t>Also before you start:</a:t>
            </a:r>
          </a:p>
          <a:p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Plan for randomization to assign treatment/intervention </a:t>
            </a:r>
          </a:p>
          <a:p>
            <a:pPr>
              <a:buClr>
                <a:schemeClr val="accent1">
                  <a:lumMod val="75000"/>
                </a:schemeClr>
              </a:buClr>
              <a:buSzPct val="120000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</a:rPr>
              <a:t>- (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 bias, perceived or not)</a:t>
            </a:r>
          </a:p>
          <a:p>
            <a:pPr>
              <a:buClr>
                <a:schemeClr val="accent1">
                  <a:lumMod val="75000"/>
                </a:schemeClr>
              </a:buClr>
              <a:buSzPct val="120000"/>
            </a:pPr>
            <a:r>
              <a:rPr lang="en-US" sz="2100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	- can be done in Excel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“=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sym typeface="Symbol"/>
              </a:rPr>
              <a:t>randbetween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/>
              </a:rPr>
              <a:t>(bottom, top)”</a:t>
            </a:r>
            <a:endParaRPr lang="en-US" sz="21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Choice of outcome (primary, secondary)</a:t>
            </a:r>
          </a:p>
          <a:p>
            <a:pPr marL="713821" indent="-713821"/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	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</a:rPr>
              <a:t>- Measure Y at t=X</a:t>
            </a:r>
          </a:p>
          <a:p>
            <a:pPr marL="713821" indent="-713821"/>
            <a:r>
              <a:rPr lang="en-US" sz="2100" dirty="0">
                <a:solidFill>
                  <a:schemeClr val="accent1">
                    <a:lumMod val="75000"/>
                  </a:schemeClr>
                </a:solidFill>
              </a:rPr>
              <a:t>  	- Difference between measure at baseline and t=X</a:t>
            </a:r>
          </a:p>
          <a:p>
            <a:pPr marL="713821" indent="-713821"/>
            <a:r>
              <a:rPr lang="en-US" sz="2100" dirty="0">
                <a:solidFill>
                  <a:schemeClr val="accent1">
                    <a:lumMod val="75000"/>
                  </a:schemeClr>
                </a:solidFill>
              </a:rPr>
              <a:t>  	- Time to peak measure</a:t>
            </a:r>
          </a:p>
          <a:p>
            <a:pPr marL="713821" indent="-713821"/>
            <a:r>
              <a:rPr lang="en-US" sz="2100" dirty="0">
                <a:solidFill>
                  <a:schemeClr val="accent1">
                    <a:lumMod val="75000"/>
                  </a:schemeClr>
                </a:solidFill>
              </a:rPr>
              <a:t> 	- Area under the measure’s curve at t=X</a:t>
            </a:r>
          </a:p>
          <a:p>
            <a:pPr marL="713821" indent="-713821"/>
            <a:r>
              <a:rPr lang="en-US" sz="2100" dirty="0">
                <a:solidFill>
                  <a:schemeClr val="accent1">
                    <a:lumMod val="75000"/>
                  </a:schemeClr>
                </a:solidFill>
              </a:rPr>
              <a:t>  	- Slope of regression line for measure in each individual or group</a:t>
            </a:r>
          </a:p>
          <a:p>
            <a:pPr marL="713821" indent="-713821"/>
            <a:r>
              <a:rPr lang="en-US" sz="2100" dirty="0">
                <a:solidFill>
                  <a:schemeClr val="accent1">
                    <a:lumMod val="75000"/>
                  </a:schemeClr>
                </a:solidFill>
              </a:rPr>
              <a:t> 	- Survival analysis (time to death, disease, </a:t>
            </a:r>
            <a:r>
              <a:rPr lang="en-US" sz="2100" dirty="0" err="1">
                <a:solidFill>
                  <a:schemeClr val="accent1">
                    <a:lumMod val="75000"/>
                  </a:schemeClr>
                </a:solidFill>
              </a:rPr>
              <a:t>tumour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</a:rPr>
              <a:t>, phenotype expression)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Choice of variables of interest (dose, time, sex, age, etc…)</a:t>
            </a: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- If there are too many important variables, a factorial design may be considered or you may increase your n to plan for a multivariable model</a:t>
            </a:r>
          </a:p>
          <a:p>
            <a:pPr>
              <a:buClr>
                <a:schemeClr val="accent1">
                  <a:lumMod val="75000"/>
                </a:schemeClr>
              </a:buClr>
              <a:buSzPct val="120000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 – </a:t>
            </a:r>
            <a:r>
              <a:rPr lang="en-US" sz="3300" dirty="0"/>
              <a:t>animal model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109" y="1016971"/>
            <a:ext cx="8966279" cy="4282313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pPr>
              <a:buClr>
                <a:schemeClr val="accent1">
                  <a:lumMod val="75000"/>
                </a:schemeClr>
              </a:buClr>
              <a:buSzPct val="120000"/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What are the positive and negative controls? (if applicable)</a:t>
            </a: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Positive control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 to prove that an effect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can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be seen (high dose, no treatment,..)</a:t>
            </a: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                                n may be smaller</a:t>
            </a: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</a:pPr>
            <a:endParaRPr lang="en-US" dirty="0">
              <a:solidFill>
                <a:schemeClr val="accent1">
                  <a:lumMod val="50000"/>
                </a:schemeClr>
              </a:solidFill>
              <a:sym typeface="Symbol"/>
            </a:endParaRP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Negative control (sham surgery, placebo treatment, etc…) </a:t>
            </a: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endParaRPr lang="en-US" dirty="0">
              <a:solidFill>
                <a:schemeClr val="accent1">
                  <a:lumMod val="50000"/>
                </a:schemeClr>
              </a:solidFill>
              <a:sym typeface="Symbol"/>
            </a:endParaRP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endParaRPr lang="en-US" dirty="0">
              <a:solidFill>
                <a:schemeClr val="accent1">
                  <a:lumMod val="50000"/>
                </a:schemeClr>
              </a:solidFill>
              <a:sym typeface="Symbol"/>
            </a:endParaRP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More than one positive and one negative control may be appropriate</a:t>
            </a: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endParaRPr lang="en-US" dirty="0">
              <a:solidFill>
                <a:schemeClr val="accent1">
                  <a:lumMod val="50000"/>
                </a:schemeClr>
              </a:solidFill>
              <a:sym typeface="Symbol"/>
            </a:endParaRPr>
          </a:p>
          <a:p>
            <a:pPr lvl="3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Show that the effect is not observed with an unrelated treatment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4" name="Footer Placeholder 1"/>
          <p:cNvSpPr txBox="1">
            <a:spLocks/>
          </p:cNvSpPr>
          <p:nvPr/>
        </p:nvSpPr>
        <p:spPr>
          <a:xfrm>
            <a:off x="3311869" y="6525559"/>
            <a:ext cx="3069537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ctr">
              <a:defRPr/>
            </a:pPr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3311869" y="6525559"/>
            <a:ext cx="3069537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ctr">
              <a:defRPr/>
            </a:pPr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8" name="Footer Placeholder 1"/>
          <p:cNvSpPr txBox="1">
            <a:spLocks/>
          </p:cNvSpPr>
          <p:nvPr/>
        </p:nvSpPr>
        <p:spPr>
          <a:xfrm>
            <a:off x="3311869" y="6525559"/>
            <a:ext cx="3069537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ctr">
              <a:defRPr/>
            </a:pPr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1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3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5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7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9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1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3" name="Slide Number Placeholder 2"/>
          <p:cNvSpPr txBox="1">
            <a:spLocks/>
          </p:cNvSpPr>
          <p:nvPr/>
        </p:nvSpPr>
        <p:spPr>
          <a:xfrm>
            <a:off x="6946847" y="6525559"/>
            <a:ext cx="2261764" cy="374845"/>
          </a:xfrm>
          <a:prstGeom prst="rect">
            <a:avLst/>
          </a:prstGeom>
        </p:spPr>
        <p:txBody>
          <a:bodyPr vert="horz" lIns="95619" tIns="47809" rIns="95619" bIns="47809" rtlCol="0" anchor="ctr"/>
          <a:lstStyle/>
          <a:p>
            <a:pPr algn="r">
              <a:defRPr/>
            </a:pPr>
            <a:fld id="{7B5F07AE-1E89-4AE4-98DC-E8711993B5F2}" type="slidenum">
              <a:rPr lang="en-US" sz="1300" smtClean="0">
                <a:solidFill>
                  <a:schemeClr val="tx1">
                    <a:tint val="75000"/>
                  </a:schemeClr>
                </a:solidFill>
              </a:rPr>
              <a:pPr algn="r">
                <a:defRPr/>
              </a:pPr>
              <a:t>41</a:t>
            </a:fld>
            <a:endParaRPr lang="en-US" sz="13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 – </a:t>
            </a:r>
            <a:r>
              <a:rPr lang="en-US" sz="3300" dirty="0"/>
              <a:t>animal model experiments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555" y="1005681"/>
            <a:ext cx="9370166" cy="5851973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Sources of variability </a:t>
            </a:r>
            <a:r>
              <a:rPr lang="en-US" sz="2000" b="1" u="sng" dirty="0">
                <a:solidFill>
                  <a:schemeClr val="accent1">
                    <a:lumMod val="50000"/>
                  </a:schemeClr>
                </a:solidFill>
              </a:rPr>
              <a:t>include all those of cell culture experiments +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-  Age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	-  Sex 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	-  Environment (light, cage size, chow, noise, number of animal per cage, etc…)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	-  Different operator/staff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	-  </a:t>
            </a:r>
            <a:r>
              <a:rPr lang="en-US" sz="1800" b="1" u="sng" dirty="0">
                <a:solidFill>
                  <a:schemeClr val="accent1">
                    <a:lumMod val="50000"/>
                  </a:schemeClr>
                </a:solidFill>
              </a:rPr>
              <a:t>Inter-animal variability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endParaRPr lang="en-US" sz="1800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800" dirty="0">
                <a:solidFill>
                  <a:srgbClr val="C00000"/>
                </a:solidFill>
              </a:rPr>
              <a:t>When multiple independent sources of variation are present, the variance of the measurement is influenced by all sources of variances.</a:t>
            </a:r>
          </a:p>
          <a:p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If transplanting/grafting, what strains?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	- isogenic/syngeneic? (same genetic material)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	- with or without functional immune system? (SCID, nude)</a:t>
            </a: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How many animal per group?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- feasibility (time, $)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	- variability of the parameter you are investigating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	- pilot or not?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	- expected size of the effect?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	- statistical power needed</a:t>
            </a: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Study design – </a:t>
            </a:r>
            <a:r>
              <a:rPr lang="en-US" sz="3300" dirty="0"/>
              <a:t>animal model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237" y="1234281"/>
            <a:ext cx="876300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Types of replicates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	1. assay or replicates (same cell pellet assayed X time)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	2. experimental replicates (number of animal per group)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	3. biological replicates (different strain or animal models?)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478094" indent="-478094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Need for blocking?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	- If too many animals to process all in one day, may need to divide the experiment </a:t>
            </a:r>
            <a:br>
              <a:rPr lang="en-US" sz="1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   in smaller blocks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	- Within litter experiment? (transgenic </a:t>
            </a:r>
            <a:r>
              <a:rPr lang="en-US" sz="1800" baseline="30000" dirty="0">
                <a:solidFill>
                  <a:schemeClr val="accent1">
                    <a:lumMod val="50000"/>
                  </a:schemeClr>
                </a:solidFill>
              </a:rPr>
              <a:t>+/-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 vs. within litter </a:t>
            </a:r>
            <a:r>
              <a:rPr lang="en-US" sz="1800" baseline="30000" dirty="0">
                <a:solidFill>
                  <a:schemeClr val="accent1">
                    <a:lumMod val="50000"/>
                  </a:schemeClr>
                </a:solidFill>
              </a:rPr>
              <a:t>+/+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 or </a:t>
            </a:r>
            <a:r>
              <a:rPr lang="en-US" sz="1800" baseline="30000" dirty="0">
                <a:solidFill>
                  <a:schemeClr val="accent1">
                    <a:lumMod val="50000"/>
                  </a:schemeClr>
                </a:solidFill>
              </a:rPr>
              <a:t>-/-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marL="956188" lvl="1" indent="-478094">
              <a:buClr>
                <a:schemeClr val="accent1">
                  <a:lumMod val="75000"/>
                </a:schemeClr>
              </a:buClr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175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Animal studies – </a:t>
            </a:r>
            <a:r>
              <a:rPr lang="en-US" sz="2900" dirty="0"/>
              <a:t>EDI considerations</a:t>
            </a:r>
            <a:endParaRPr lang="en-US" sz="3300" dirty="0"/>
          </a:p>
        </p:txBody>
      </p:sp>
      <p:sp>
        <p:nvSpPr>
          <p:cNvPr id="4" name="TextBox 3"/>
          <p:cNvSpPr txBox="1"/>
          <p:nvPr/>
        </p:nvSpPr>
        <p:spPr>
          <a:xfrm>
            <a:off x="323109" y="1877484"/>
            <a:ext cx="8885501" cy="4297702"/>
          </a:xfrm>
          <a:prstGeom prst="rect">
            <a:avLst/>
          </a:prstGeom>
          <a:noFill/>
        </p:spPr>
        <p:txBody>
          <a:bodyPr wrap="square" lIns="95619" tIns="47809" rIns="95619" bIns="47809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Is sex known to affect your measure of interest? (review the literature)</a:t>
            </a:r>
          </a:p>
          <a:p>
            <a:pPr>
              <a:buFont typeface="Wingdings" pitchFamily="2" charset="2"/>
              <a:buChar char="§"/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If unknown, include both sexes and explore sex effects</a:t>
            </a:r>
          </a:p>
          <a:p>
            <a:pPr>
              <a:buFont typeface="Wingdings" pitchFamily="2" charset="2"/>
              <a:buChar char="§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Design so there is sufficient power to include sex as a variable</a:t>
            </a:r>
          </a:p>
          <a:p>
            <a:pPr>
              <a:buFont typeface="Wingdings" pitchFamily="2" charset="2"/>
              <a:buChar char="§"/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If yes, sex really should be considered during study design and analyses</a:t>
            </a:r>
          </a:p>
          <a:p>
            <a:pPr>
              <a:buFont typeface="Wingdings" pitchFamily="2" charset="2"/>
              <a:buChar char="§"/>
              <a:tabLst>
                <a:tab pos="365760" algn="l"/>
              </a:tabLst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There should be sufficient power to do sex-segregated analyses </a:t>
            </a:r>
          </a:p>
          <a:p>
            <a:pPr>
              <a:buFont typeface="Wingdings" pitchFamily="2" charset="2"/>
              <a:buChar char="§"/>
              <a:tabLst>
                <a:tab pos="365760" algn="l"/>
              </a:tabLst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§"/>
              <a:tabLst>
                <a:tab pos="365760" algn="l"/>
              </a:tabLst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Grant proposals now require an entire section on how sex and gender </a:t>
            </a:r>
            <a:br>
              <a:rPr lang="en-US" sz="21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  (gender not an issue in animal studies) will be considered in the proposed </a:t>
            </a:r>
            <a:br>
              <a:rPr lang="en-US" sz="21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  research.</a:t>
            </a:r>
          </a:p>
          <a:p>
            <a:pPr>
              <a:buFont typeface="Wingdings" pitchFamily="2" charset="2"/>
              <a:buChar char="§"/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7149" y="970181"/>
            <a:ext cx="7824425" cy="865993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2500" b="1" dirty="0">
                <a:solidFill>
                  <a:schemeClr val="accent1">
                    <a:lumMod val="50000"/>
                  </a:schemeClr>
                </a:solidFill>
              </a:rPr>
              <a:t>Why is it important to study sex?</a:t>
            </a:r>
          </a:p>
          <a:p>
            <a:r>
              <a:rPr lang="en-US" sz="2500" b="1" dirty="0">
                <a:solidFill>
                  <a:schemeClr val="accent1">
                    <a:lumMod val="50000"/>
                  </a:schemeClr>
                </a:solidFill>
              </a:rPr>
              <a:t>How can your study design ensure that sex is considered?</a:t>
            </a:r>
          </a:p>
        </p:txBody>
      </p:sp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253AA54A-64B2-4ADC-81C9-0714826A065C}"/>
              </a:ext>
            </a:extLst>
          </p:cNvPr>
          <p:cNvSpPr/>
          <p:nvPr/>
        </p:nvSpPr>
        <p:spPr>
          <a:xfrm>
            <a:off x="2286529" y="5389722"/>
            <a:ext cx="5912908" cy="151068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Common mistake:</a:t>
            </a:r>
          </a:p>
          <a:p>
            <a:r>
              <a:rPr lang="en-US" sz="2000" b="1" dirty="0"/>
              <a:t>Assuming that it is acceptable to not address it because that is how research has always been</a:t>
            </a:r>
          </a:p>
        </p:txBody>
      </p:sp>
    </p:spTree>
    <p:extLst>
      <p:ext uri="{BB962C8B-B14F-4D97-AF65-F5344CB8AC3E}">
        <p14:creationId xmlns:p14="http://schemas.microsoft.com/office/powerpoint/2010/main" val="222954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Animal studies – </a:t>
            </a:r>
            <a:r>
              <a:rPr lang="en-US" sz="2900" dirty="0"/>
              <a:t>types of studies </a:t>
            </a:r>
            <a:endParaRPr lang="en-US" sz="3300" dirty="0"/>
          </a:p>
        </p:txBody>
      </p:sp>
      <p:sp>
        <p:nvSpPr>
          <p:cNvPr id="4" name="TextBox 3"/>
          <p:cNvSpPr txBox="1"/>
          <p:nvPr/>
        </p:nvSpPr>
        <p:spPr>
          <a:xfrm>
            <a:off x="358142" y="1680218"/>
            <a:ext cx="6975027" cy="4774756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Cross-sectional (treated vs. untreated) at a single time point</a:t>
            </a:r>
          </a:p>
          <a:p>
            <a:pPr>
              <a:buFont typeface="Wingdings" pitchFamily="2" charset="2"/>
              <a:buChar char="§"/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Longitudinal (treated vs. untreated), (more powerful)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- Collect data at baseline and at the end of treatment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Collect data at several intervals</a:t>
            </a:r>
          </a:p>
          <a:p>
            <a:pPr lvl="3">
              <a:buFont typeface="Arial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serial measures on the same animals</a:t>
            </a:r>
          </a:p>
          <a:p>
            <a:pPr lvl="3">
              <a:buFont typeface="Arial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drop-out studies if tissue collection required</a:t>
            </a:r>
          </a:p>
          <a:p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Dose-response (cross-sectional or longitudinal)</a:t>
            </a:r>
          </a:p>
          <a:p>
            <a:pPr lvl="1"/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- study different doses of the treatment</a:t>
            </a:r>
          </a:p>
          <a:p>
            <a:pPr>
              <a:buFont typeface="Wingdings" pitchFamily="2" charset="2"/>
              <a:buChar char="§"/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  Any use of historical data?</a:t>
            </a:r>
          </a:p>
          <a:p>
            <a:pPr>
              <a:buFont typeface="Wingdings" pitchFamily="2" charset="2"/>
              <a:buChar char="§"/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§"/>
            </a:pPr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1621" y="1128362"/>
            <a:ext cx="8342644" cy="481272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2500" b="1" dirty="0">
                <a:solidFill>
                  <a:schemeClr val="accent1">
                    <a:lumMod val="50000"/>
                  </a:schemeClr>
                </a:solidFill>
              </a:rPr>
              <a:t>What type of study will most efficiently test your hypothesis?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109" y="5710679"/>
            <a:ext cx="7462981" cy="1066048"/>
          </a:xfrm>
          <a:prstGeom prst="rect">
            <a:avLst/>
          </a:prstGeom>
          <a:noFill/>
        </p:spPr>
        <p:txBody>
          <a:bodyPr wrap="none" lIns="95619" tIns="47809" rIns="95619" bIns="47809" rtlCol="0">
            <a:spAutoFit/>
          </a:bodyPr>
          <a:lstStyle/>
          <a:p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Then determine the sample size you need to have sufficient power</a:t>
            </a:r>
          </a:p>
          <a:p>
            <a:endParaRPr lang="en-US" sz="21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100" dirty="0">
                <a:solidFill>
                  <a:schemeClr val="accent1">
                    <a:lumMod val="50000"/>
                  </a:schemeClr>
                </a:solidFill>
              </a:rPr>
              <a:t>Unless very simple, may want to talk to a biostatistician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F07AE-1E89-4AE4-98DC-E8711993B5F2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93275" cy="86051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619" tIns="47809" rIns="95619" bIns="47809" rtlCol="0" anchor="ctr"/>
          <a:lstStyle/>
          <a:p>
            <a:r>
              <a:rPr lang="en-US" sz="3300" b="1" dirty="0"/>
              <a:t>  Animal studies – </a:t>
            </a:r>
            <a:r>
              <a:rPr lang="en-US" sz="3300" dirty="0"/>
              <a:t>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5441" y="1234281"/>
            <a:ext cx="7996952" cy="3605205"/>
          </a:xfrm>
          <a:prstGeom prst="rect">
            <a:avLst/>
          </a:prstGeom>
        </p:spPr>
        <p:txBody>
          <a:bodyPr wrap="square" lIns="95619" tIns="47809" rIns="95619" bIns="47809">
            <a:spAutoFit/>
          </a:bodyPr>
          <a:lstStyle/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Festing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MFW &amp; Altman DG. Guidelines for the design and statistical analysis of experiments using laboratory animals.  ILAR Journal (2002) 43(4): 244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hlinkClick r:id="rId2"/>
              </a:rPr>
              <a:t>http://www.3rs-reduction.co.uk/assets/applets/Festing_Altman.pdf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Hooijmans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CR et al., A Gold Standard Publication Checklist to Improve the Quality of Animal Studies, to Fully Integrate the Three Rs, and to Make Systematic Reviews More Feasible. (2010) ATLA 38:167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hlinkClick r:id="rId3" action="ppaction://hlinkfile"/>
              </a:rPr>
              <a:t>file:///C:/Documents%20and%20Settings/hcote/My%20Documents/Downloads/Hoojimans%20FINAL.pdf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6218" y="5163080"/>
            <a:ext cx="8723948" cy="1266103"/>
          </a:xfrm>
          <a:prstGeom prst="rect">
            <a:avLst/>
          </a:prstGeom>
        </p:spPr>
        <p:txBody>
          <a:bodyPr wrap="square" lIns="95619" tIns="47809" rIns="95619" bIns="47809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Design of experiments via factorial designs</a:t>
            </a:r>
          </a:p>
          <a:p>
            <a:r>
              <a:rPr lang="en-US" dirty="0">
                <a:hlinkClick r:id="rId4"/>
              </a:rPr>
              <a:t>https://controls.engin.umich.edu/wiki/index.php/Design_of_experiments_via_factorial_designs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57388</TotalTime>
  <Words>4926</Words>
  <Application>Microsoft Office PowerPoint</Application>
  <PresentationFormat>Custom</PresentationFormat>
  <Paragraphs>847</Paragraphs>
  <Slides>45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hcote</dc:creator>
  <cp:lastModifiedBy>Cote, Helene</cp:lastModifiedBy>
  <cp:revision>1746</cp:revision>
  <cp:lastPrinted>2015-05-07T17:08:42Z</cp:lastPrinted>
  <dcterms:created xsi:type="dcterms:W3CDTF">2014-03-17T21:51:02Z</dcterms:created>
  <dcterms:modified xsi:type="dcterms:W3CDTF">2026-05-07T18:29:48Z</dcterms:modified>
</cp:coreProperties>
</file>