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82" r:id="rId4"/>
    <p:sldId id="264" r:id="rId5"/>
    <p:sldId id="274" r:id="rId6"/>
    <p:sldId id="263" r:id="rId7"/>
    <p:sldId id="278" r:id="rId8"/>
    <p:sldId id="283" r:id="rId9"/>
    <p:sldId id="259" r:id="rId10"/>
    <p:sldId id="269" r:id="rId11"/>
    <p:sldId id="265" r:id="rId12"/>
    <p:sldId id="287" r:id="rId13"/>
    <p:sldId id="266" r:id="rId14"/>
    <p:sldId id="290" r:id="rId15"/>
    <p:sldId id="292" r:id="rId16"/>
    <p:sldId id="275" r:id="rId17"/>
    <p:sldId id="289" r:id="rId18"/>
    <p:sldId id="260" r:id="rId19"/>
    <p:sldId id="261" r:id="rId20"/>
    <p:sldId id="280" r:id="rId21"/>
    <p:sldId id="279" r:id="rId22"/>
    <p:sldId id="29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0" autoAdjust="0"/>
    <p:restoredTop sz="94660"/>
  </p:normalViewPr>
  <p:slideViewPr>
    <p:cSldViewPr showGuides="1">
      <p:cViewPr varScale="1">
        <p:scale>
          <a:sx n="60" d="100"/>
          <a:sy n="60" d="100"/>
        </p:scale>
        <p:origin x="1132" y="4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97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390045-4C24-43CD-AD00-F6D8B484A165}" type="datetimeFigureOut">
              <a:rPr lang="en-US" smtClean="0"/>
              <a:pPr/>
              <a:t>5/27/2025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FE67E0C-81DB-4EE3-ADE0-5CE38F74E3C2}"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390045-4C24-43CD-AD00-F6D8B484A165}" type="datetimeFigureOut">
              <a:rPr lang="en-US" smtClean="0"/>
              <a:pPr/>
              <a:t>5/27/2025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E67E0C-81DB-4EE3-ADE0-5CE38F74E3C2}"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data.care-statement.org/wp-content/uploads/2016/08/CAREchecklist-English-2016.pdf" TargetMode="External"/><Relationship Id="rId3" Type="http://schemas.openxmlformats.org/officeDocument/2006/relationships/hyperlink" Target="http://www.consort-statement.org/" TargetMode="External"/><Relationship Id="rId7" Type="http://schemas.openxmlformats.org/officeDocument/2006/relationships/hyperlink" Target="http://www.nature.com/nrclinonc/journal/v2/n8/full/ncponc0252.html" TargetMode="External"/><Relationship Id="rId2" Type="http://schemas.openxmlformats.org/officeDocument/2006/relationships/hyperlink" Target="http://www.equator-network.org/" TargetMode="External"/><Relationship Id="rId1" Type="http://schemas.openxmlformats.org/officeDocument/2006/relationships/slideLayout" Target="../slideLayouts/slideLayout7.xml"/><Relationship Id="rId6" Type="http://schemas.openxmlformats.org/officeDocument/2006/relationships/hyperlink" Target="https://www.nc3rs.org.uk/arrive-guidelines" TargetMode="External"/><Relationship Id="rId5" Type="http://schemas.openxmlformats.org/officeDocument/2006/relationships/hyperlink" Target="http://www.stard-statement.org/" TargetMode="External"/><Relationship Id="rId4" Type="http://schemas.openxmlformats.org/officeDocument/2006/relationships/hyperlink" Target="http://www.strobe-statement.or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0990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    </a:t>
            </a:r>
            <a:r>
              <a:rPr lang="en-US" sz="3200" b="1" dirty="0"/>
              <a:t>Publishing/reviewing</a:t>
            </a:r>
          </a:p>
        </p:txBody>
      </p:sp>
      <p:sp>
        <p:nvSpPr>
          <p:cNvPr id="3" name="TextBox 2"/>
          <p:cNvSpPr txBox="1"/>
          <p:nvPr/>
        </p:nvSpPr>
        <p:spPr>
          <a:xfrm>
            <a:off x="533400" y="1981200"/>
            <a:ext cx="1992853" cy="584775"/>
          </a:xfrm>
          <a:prstGeom prst="rect">
            <a:avLst/>
          </a:prstGeom>
          <a:noFill/>
        </p:spPr>
        <p:txBody>
          <a:bodyPr wrap="none" rtlCol="0">
            <a:spAutoFit/>
          </a:bodyPr>
          <a:lstStyle/>
          <a:p>
            <a:r>
              <a:rPr lang="en-US" sz="3200" dirty="0">
                <a:solidFill>
                  <a:schemeClr val="accent1">
                    <a:lumMod val="50000"/>
                  </a:schemeClr>
                </a:solidFill>
              </a:rPr>
              <a:t>Module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Lecture objective</a:t>
            </a:r>
          </a:p>
        </p:txBody>
      </p:sp>
      <p:sp>
        <p:nvSpPr>
          <p:cNvPr id="3" name="TextBox 2"/>
          <p:cNvSpPr txBox="1"/>
          <p:nvPr/>
        </p:nvSpPr>
        <p:spPr>
          <a:xfrm>
            <a:off x="304801" y="1295400"/>
            <a:ext cx="8382000" cy="2400657"/>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sz="2000" dirty="0">
                <a:solidFill>
                  <a:schemeClr val="accent1">
                    <a:lumMod val="50000"/>
                  </a:schemeClr>
                </a:solidFill>
              </a:rPr>
              <a:t>Become familiar with the scientific manuscript submission/review process</a:t>
            </a:r>
          </a:p>
          <a:p>
            <a:pPr marL="285750" indent="-285750">
              <a:lnSpc>
                <a:spcPct val="150000"/>
              </a:lnSpc>
              <a:buFont typeface="Wingdings" panose="05000000000000000000" pitchFamily="2" charset="2"/>
              <a:buChar char="§"/>
            </a:pPr>
            <a:r>
              <a:rPr lang="en-US" sz="2000" dirty="0">
                <a:solidFill>
                  <a:schemeClr val="accent1">
                    <a:lumMod val="50000"/>
                  </a:schemeClr>
                </a:solidFill>
              </a:rPr>
              <a:t>Gain knowledge about the elements and format of a manuscript review </a:t>
            </a:r>
          </a:p>
          <a:p>
            <a:pPr marL="285750" indent="-285750">
              <a:lnSpc>
                <a:spcPct val="150000"/>
              </a:lnSpc>
              <a:buFont typeface="Wingdings" panose="05000000000000000000" pitchFamily="2" charset="2"/>
              <a:buChar char="§"/>
            </a:pPr>
            <a:r>
              <a:rPr lang="en-US" sz="2000" dirty="0">
                <a:solidFill>
                  <a:schemeClr val="accent1">
                    <a:lumMod val="50000"/>
                  </a:schemeClr>
                </a:solidFill>
              </a:rPr>
              <a:t>Provide the evaluation criteria (i.e. this lecture) for the review assignment</a:t>
            </a:r>
          </a:p>
          <a:p>
            <a:pPr marL="285750" indent="-285750">
              <a:lnSpc>
                <a:spcPct val="150000"/>
              </a:lnSpc>
              <a:buFont typeface="Wingdings" panose="05000000000000000000" pitchFamily="2" charset="2"/>
              <a:buChar char="§"/>
            </a:pPr>
            <a:endParaRPr lang="en-US" sz="2000" dirty="0">
              <a:solidFill>
                <a:schemeClr val="accent1">
                  <a:lumMod val="50000"/>
                </a:schemeClr>
              </a:solidFill>
            </a:endParaRPr>
          </a:p>
          <a:p>
            <a:pPr marL="285750" indent="-285750">
              <a:lnSpc>
                <a:spcPct val="150000"/>
              </a:lnSpc>
              <a:buFont typeface="Wingdings" panose="05000000000000000000" pitchFamily="2" charset="2"/>
              <a:buChar char="§"/>
            </a:pPr>
            <a:endParaRPr lang="en-US" sz="2000" dirty="0">
              <a:solidFill>
                <a:schemeClr val="accent1">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Publishing/reviewing</a:t>
            </a:r>
          </a:p>
        </p:txBody>
      </p:sp>
      <p:sp>
        <p:nvSpPr>
          <p:cNvPr id="3" name="TextBox 2"/>
          <p:cNvSpPr txBox="1"/>
          <p:nvPr/>
        </p:nvSpPr>
        <p:spPr>
          <a:xfrm>
            <a:off x="304801" y="1295400"/>
            <a:ext cx="8382000" cy="4247317"/>
          </a:xfrm>
          <a:prstGeom prst="rect">
            <a:avLst/>
          </a:prstGeom>
          <a:noFill/>
        </p:spPr>
        <p:txBody>
          <a:bodyPr wrap="square" rtlCol="0">
            <a:spAutoFit/>
          </a:bodyPr>
          <a:lstStyle/>
          <a:p>
            <a:pPr>
              <a:lnSpc>
                <a:spcPct val="150000"/>
              </a:lnSpc>
            </a:pPr>
            <a:r>
              <a:rPr lang="en-US" b="1" dirty="0">
                <a:solidFill>
                  <a:schemeClr val="accent1">
                    <a:lumMod val="50000"/>
                  </a:schemeClr>
                </a:solidFill>
              </a:rPr>
              <a:t>If you develop you skills at critically reading (or reviewing) manuscripts, you also</a:t>
            </a:r>
          </a:p>
          <a:p>
            <a:pPr>
              <a:lnSpc>
                <a:spcPct val="150000"/>
              </a:lnSpc>
            </a:pPr>
            <a:r>
              <a:rPr lang="en-US" b="1" dirty="0">
                <a:solidFill>
                  <a:schemeClr val="accent1">
                    <a:lumMod val="50000"/>
                  </a:schemeClr>
                </a:solidFill>
              </a:rPr>
              <a:t>develop your ability to:</a:t>
            </a:r>
          </a:p>
          <a:p>
            <a:pPr>
              <a:lnSpc>
                <a:spcPct val="150000"/>
              </a:lnSpc>
            </a:pPr>
            <a:endParaRPr lang="en-US" dirty="0">
              <a:solidFill>
                <a:schemeClr val="accent1">
                  <a:lumMod val="50000"/>
                </a:schemeClr>
              </a:solidFill>
            </a:endParaRPr>
          </a:p>
          <a:p>
            <a:pPr marL="285750" indent="-285750">
              <a:lnSpc>
                <a:spcPct val="150000"/>
              </a:lnSpc>
              <a:buFontTx/>
              <a:buChar char="-"/>
            </a:pPr>
            <a:r>
              <a:rPr lang="en-US" dirty="0">
                <a:solidFill>
                  <a:schemeClr val="accent1">
                    <a:lumMod val="50000"/>
                  </a:schemeClr>
                </a:solidFill>
              </a:rPr>
              <a:t>Write stronger manuscripts yourself</a:t>
            </a:r>
          </a:p>
          <a:p>
            <a:pPr marL="285750" indent="-285750">
              <a:lnSpc>
                <a:spcPct val="150000"/>
              </a:lnSpc>
              <a:buFontTx/>
              <a:buChar char="-"/>
            </a:pPr>
            <a:r>
              <a:rPr lang="en-US" dirty="0">
                <a:solidFill>
                  <a:schemeClr val="accent1">
                    <a:lumMod val="50000"/>
                  </a:schemeClr>
                </a:solidFill>
              </a:rPr>
              <a:t>Pre-emptively address issues in your own work that may raise reviewer’s concerns</a:t>
            </a:r>
          </a:p>
          <a:p>
            <a:pPr marL="285750" indent="-285750">
              <a:lnSpc>
                <a:spcPct val="150000"/>
              </a:lnSpc>
              <a:buFontTx/>
              <a:buChar char="-"/>
            </a:pPr>
            <a:r>
              <a:rPr lang="en-US" dirty="0">
                <a:solidFill>
                  <a:schemeClr val="accent1">
                    <a:lumMod val="50000"/>
                  </a:schemeClr>
                </a:solidFill>
              </a:rPr>
              <a:t>Respond  efficiently to reviewers’ comment when you re-submit manuscripts</a:t>
            </a:r>
          </a:p>
          <a:p>
            <a:pPr marL="285750" indent="-285750">
              <a:lnSpc>
                <a:spcPct val="150000"/>
              </a:lnSpc>
              <a:buFontTx/>
              <a:buChar char="-"/>
            </a:pPr>
            <a:r>
              <a:rPr lang="en-US" dirty="0">
                <a:solidFill>
                  <a:schemeClr val="accent1">
                    <a:lumMod val="50000"/>
                  </a:schemeClr>
                </a:solidFill>
              </a:rPr>
              <a:t>Pay attention to details that may be important </a:t>
            </a:r>
          </a:p>
          <a:p>
            <a:pPr marL="285750" indent="-285750">
              <a:lnSpc>
                <a:spcPct val="150000"/>
              </a:lnSpc>
              <a:buFontTx/>
              <a:buChar char="-"/>
            </a:pPr>
            <a:r>
              <a:rPr lang="en-US" dirty="0">
                <a:solidFill>
                  <a:schemeClr val="accent1">
                    <a:lumMod val="50000"/>
                  </a:schemeClr>
                </a:solidFill>
              </a:rPr>
              <a:t>Tease apart the “good” from the “less reliable research”</a:t>
            </a:r>
          </a:p>
          <a:p>
            <a:pPr>
              <a:lnSpc>
                <a:spcPct val="150000"/>
              </a:lnSpc>
            </a:pPr>
            <a:endParaRPr lang="en-US" dirty="0">
              <a:solidFill>
                <a:schemeClr val="accent1">
                  <a:lumMod val="50000"/>
                </a:schemeClr>
              </a:solidFill>
            </a:endParaRPr>
          </a:p>
          <a:p>
            <a:pPr>
              <a:lnSpc>
                <a:spcPct val="150000"/>
              </a:lnSpc>
            </a:pPr>
            <a:endParaRPr lang="en-US" dirty="0">
              <a:solidFill>
                <a:schemeClr val="accent1">
                  <a:lumMod val="50000"/>
                </a:schemeClr>
              </a:solidFill>
            </a:endParaRPr>
          </a:p>
        </p:txBody>
      </p:sp>
    </p:spTree>
    <p:extLst>
      <p:ext uri="{BB962C8B-B14F-4D97-AF65-F5344CB8AC3E}">
        <p14:creationId xmlns:p14="http://schemas.microsoft.com/office/powerpoint/2010/main" val="396192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 y="1143000"/>
            <a:ext cx="8763000" cy="5427127"/>
          </a:xfrm>
          <a:prstGeom prst="rect">
            <a:avLst/>
          </a:prstGeom>
        </p:spPr>
        <p:txBody>
          <a:bodyPr wrap="square">
            <a:spAutoFit/>
          </a:bodyPr>
          <a:lstStyle/>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Each journal provides guidelines for its reviewers (and authors), some are journal-</a:t>
            </a:r>
            <a:br>
              <a:rPr lang="en-US" dirty="0">
                <a:solidFill>
                  <a:schemeClr val="accent1">
                    <a:lumMod val="50000"/>
                  </a:schemeClr>
                </a:solidFill>
              </a:rPr>
            </a:br>
            <a:r>
              <a:rPr lang="en-US" dirty="0">
                <a:solidFill>
                  <a:schemeClr val="accent1">
                    <a:lumMod val="50000"/>
                  </a:schemeClr>
                </a:solidFill>
              </a:rPr>
              <a:t>     specific</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Most journals have limits on the number of words (abstract and main text), the number </a:t>
            </a:r>
            <a:br>
              <a:rPr lang="en-US" dirty="0">
                <a:solidFill>
                  <a:schemeClr val="accent1">
                    <a:lumMod val="50000"/>
                  </a:schemeClr>
                </a:solidFill>
              </a:rPr>
            </a:br>
            <a:r>
              <a:rPr lang="en-US" dirty="0">
                <a:solidFill>
                  <a:schemeClr val="accent1">
                    <a:lumMod val="50000"/>
                  </a:schemeClr>
                </a:solidFill>
              </a:rPr>
              <a:t>    of tables/figures, or the number of references </a:t>
            </a:r>
            <a:r>
              <a:rPr lang="en-US" i="1" dirty="0">
                <a:solidFill>
                  <a:schemeClr val="accent1">
                    <a:lumMod val="75000"/>
                  </a:schemeClr>
                </a:solidFill>
              </a:rPr>
              <a:t>(</a:t>
            </a:r>
            <a:r>
              <a:rPr lang="en-US" i="1" dirty="0" err="1">
                <a:solidFill>
                  <a:schemeClr val="accent1">
                    <a:lumMod val="75000"/>
                  </a:schemeClr>
                </a:solidFill>
              </a:rPr>
              <a:t>PLoS</a:t>
            </a:r>
            <a:r>
              <a:rPr lang="en-US" i="1" dirty="0">
                <a:solidFill>
                  <a:schemeClr val="accent1">
                    <a:lumMod val="75000"/>
                  </a:schemeClr>
                </a:solidFill>
              </a:rPr>
              <a:t> One &amp; Genome Biology do not)</a:t>
            </a:r>
          </a:p>
          <a:p>
            <a:pPr>
              <a:lnSpc>
                <a:spcPts val="2600"/>
              </a:lnSpc>
              <a:buClr>
                <a:schemeClr val="accent1">
                  <a:lumMod val="75000"/>
                </a:schemeClr>
              </a:buClr>
              <a:buSzPct val="120000"/>
            </a:pPr>
            <a:endParaRPr lang="en-US" i="1" dirty="0">
              <a:solidFill>
                <a:schemeClr val="accent1">
                  <a:lumMod val="75000"/>
                </a:schemeClr>
              </a:solidFill>
            </a:endParaRPr>
          </a:p>
          <a:p>
            <a:pPr>
              <a:lnSpc>
                <a:spcPts val="2600"/>
              </a:lnSpc>
              <a:buClr>
                <a:schemeClr val="accent1">
                  <a:lumMod val="75000"/>
                </a:schemeClr>
              </a:buClr>
              <a:buSzPct val="120000"/>
              <a:buFont typeface="Wingdings" pitchFamily="2" charset="2"/>
              <a:buChar char="§"/>
            </a:pPr>
            <a:r>
              <a:rPr lang="en-US" i="1" dirty="0">
                <a:solidFill>
                  <a:schemeClr val="accent1">
                    <a:lumMod val="50000"/>
                  </a:schemeClr>
                </a:solidFill>
              </a:rPr>
              <a:t>  </a:t>
            </a:r>
            <a:r>
              <a:rPr lang="en-US" dirty="0">
                <a:solidFill>
                  <a:schemeClr val="accent1">
                    <a:lumMod val="50000"/>
                  </a:schemeClr>
                </a:solidFill>
              </a:rPr>
              <a:t>However, most journals today also have online supplementary material or appendix </a:t>
            </a:r>
            <a:br>
              <a:rPr lang="en-US" dirty="0">
                <a:solidFill>
                  <a:schemeClr val="accent1">
                    <a:lumMod val="50000"/>
                  </a:schemeClr>
                </a:solidFill>
              </a:rPr>
            </a:br>
            <a:r>
              <a:rPr lang="en-US" dirty="0">
                <a:solidFill>
                  <a:schemeClr val="accent1">
                    <a:lumMod val="50000"/>
                  </a:schemeClr>
                </a:solidFill>
              </a:rPr>
              <a:t>     where extra tables/figures, method details etc. can be provided </a:t>
            </a:r>
          </a:p>
          <a:p>
            <a:pPr>
              <a:lnSpc>
                <a:spcPts val="2600"/>
              </a:lnSpc>
              <a:buClr>
                <a:schemeClr val="accent1">
                  <a:lumMod val="75000"/>
                </a:schemeClr>
              </a:buClr>
              <a:buSzPct val="120000"/>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Unless the journal is general (Nature, Science, JAMA, NEJM, etc..), the editor may reject </a:t>
            </a:r>
            <a:br>
              <a:rPr lang="en-US" dirty="0">
                <a:solidFill>
                  <a:schemeClr val="accent1">
                    <a:lumMod val="50000"/>
                  </a:schemeClr>
                </a:solidFill>
              </a:rPr>
            </a:br>
            <a:r>
              <a:rPr lang="en-US" dirty="0">
                <a:solidFill>
                  <a:schemeClr val="accent1">
                    <a:lumMod val="50000"/>
                  </a:schemeClr>
                </a:solidFill>
              </a:rPr>
              <a:t>    on the basis that it is not interesting for their readership, even if a high quality study</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Some journals favor the “novelty” or “high impact” aspect, others value the </a:t>
            </a:r>
            <a:br>
              <a:rPr lang="en-US" dirty="0">
                <a:solidFill>
                  <a:schemeClr val="accent1">
                    <a:lumMod val="50000"/>
                  </a:schemeClr>
                </a:solidFill>
              </a:rPr>
            </a:br>
            <a:r>
              <a:rPr lang="en-US" dirty="0">
                <a:solidFill>
                  <a:schemeClr val="accent1">
                    <a:lumMod val="50000"/>
                  </a:schemeClr>
                </a:solidFill>
              </a:rPr>
              <a:t>    influence on clinical practice, others accept almost anything</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Ultimately (unfortunately), all studies CAN find a home no matter their quality </a:t>
            </a:r>
            <a:endParaRPr lang="en-US" dirty="0">
              <a:solidFill>
                <a:schemeClr val="accent1">
                  <a:lumMod val="75000"/>
                </a:schemeClr>
              </a:solidFill>
            </a:endParaRP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Publishing/reviewing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Publishing/reviewing </a:t>
            </a:r>
            <a:r>
              <a:rPr lang="en-US" sz="2400" dirty="0"/>
              <a:t>- process</a:t>
            </a:r>
          </a:p>
        </p:txBody>
      </p:sp>
      <p:sp>
        <p:nvSpPr>
          <p:cNvPr id="3" name="TextBox 2"/>
          <p:cNvSpPr txBox="1"/>
          <p:nvPr/>
        </p:nvSpPr>
        <p:spPr>
          <a:xfrm>
            <a:off x="342545" y="1066800"/>
            <a:ext cx="8382000" cy="5355312"/>
          </a:xfrm>
          <a:prstGeom prst="rect">
            <a:avLst/>
          </a:prstGeom>
          <a:noFill/>
        </p:spPr>
        <p:txBody>
          <a:bodyPr wrap="square" rtlCol="0">
            <a:spAutoFit/>
          </a:bodyPr>
          <a:lstStyle/>
          <a:p>
            <a:r>
              <a:rPr lang="en-US" b="1" dirty="0">
                <a:solidFill>
                  <a:schemeClr val="accent1">
                    <a:lumMod val="50000"/>
                  </a:schemeClr>
                </a:solidFill>
              </a:rPr>
              <a:t>Typically:</a:t>
            </a:r>
          </a:p>
          <a:p>
            <a:endParaRPr lang="en-US" dirty="0">
              <a:solidFill>
                <a:schemeClr val="accent1">
                  <a:lumMod val="50000"/>
                </a:schemeClr>
              </a:solidFill>
            </a:endParaRPr>
          </a:p>
          <a:p>
            <a:pPr marL="285750" indent="-285750">
              <a:buFontTx/>
              <a:buChar char="-"/>
            </a:pPr>
            <a:r>
              <a:rPr lang="en-US" dirty="0">
                <a:solidFill>
                  <a:schemeClr val="accent1">
                    <a:lumMod val="50000"/>
                  </a:schemeClr>
                </a:solidFill>
              </a:rPr>
              <a:t>At the time of manuscript submission, many journals (not all) ask the authors to suggest reviewers (these should not be collaborators)</a:t>
            </a:r>
          </a:p>
          <a:p>
            <a:pPr marL="285750" indent="-285750">
              <a:buFontTx/>
              <a:buChar char="-"/>
            </a:pPr>
            <a:endParaRPr lang="en-US" dirty="0">
              <a:solidFill>
                <a:schemeClr val="accent1">
                  <a:lumMod val="50000"/>
                </a:schemeClr>
              </a:solidFill>
            </a:endParaRPr>
          </a:p>
          <a:p>
            <a:pPr marL="285750" indent="-285750">
              <a:buFontTx/>
              <a:buChar char="-"/>
            </a:pPr>
            <a:r>
              <a:rPr lang="en-US" dirty="0">
                <a:solidFill>
                  <a:schemeClr val="accent1">
                    <a:lumMod val="50000"/>
                  </a:schemeClr>
                </a:solidFill>
              </a:rPr>
              <a:t>The Editors then contact potential reviewers (some from their database, other suggested by the authors) and ask them if they would accept to review the manuscript (</a:t>
            </a:r>
            <a:r>
              <a:rPr lang="en-US" b="1" dirty="0">
                <a:solidFill>
                  <a:schemeClr val="accent1">
                    <a:lumMod val="50000"/>
                  </a:schemeClr>
                </a:solidFill>
              </a:rPr>
              <a:t>for free</a:t>
            </a:r>
            <a:r>
              <a:rPr lang="en-US" dirty="0">
                <a:solidFill>
                  <a:schemeClr val="accent1">
                    <a:lumMod val="50000"/>
                  </a:schemeClr>
                </a:solidFill>
              </a:rPr>
              <a:t>)</a:t>
            </a:r>
          </a:p>
          <a:p>
            <a:pPr marL="285750" indent="-285750">
              <a:buFontTx/>
              <a:buChar char="-"/>
            </a:pPr>
            <a:endParaRPr lang="en-US" dirty="0">
              <a:solidFill>
                <a:schemeClr val="accent1">
                  <a:lumMod val="50000"/>
                </a:schemeClr>
              </a:solidFill>
            </a:endParaRPr>
          </a:p>
          <a:p>
            <a:pPr marL="285750" indent="-285750">
              <a:buFontTx/>
              <a:buChar char="-"/>
            </a:pPr>
            <a:r>
              <a:rPr lang="en-US" dirty="0">
                <a:solidFill>
                  <a:schemeClr val="accent1">
                    <a:lumMod val="50000"/>
                  </a:schemeClr>
                </a:solidFill>
              </a:rPr>
              <a:t>With online submission and fierce competition between journals, the time allotted for review is getting shorter (often 1-2 weeks)</a:t>
            </a:r>
          </a:p>
          <a:p>
            <a:pPr marL="285750" indent="-285750">
              <a:buFontTx/>
              <a:buChar char="-"/>
            </a:pPr>
            <a:endParaRPr lang="en-US" dirty="0">
              <a:solidFill>
                <a:schemeClr val="accent1">
                  <a:lumMod val="50000"/>
                </a:schemeClr>
              </a:solidFill>
            </a:endParaRPr>
          </a:p>
          <a:p>
            <a:pPr marL="285750" indent="-285750">
              <a:buFontTx/>
              <a:buChar char="-"/>
            </a:pPr>
            <a:r>
              <a:rPr lang="en-US" dirty="0">
                <a:solidFill>
                  <a:schemeClr val="accent1">
                    <a:lumMod val="50000"/>
                  </a:schemeClr>
                </a:solidFill>
              </a:rPr>
              <a:t>Reviewers submit back comments intended for the authors (usually anonymous) and separate comments that will be seen only by the Editor</a:t>
            </a:r>
          </a:p>
          <a:p>
            <a:pPr marL="285750" indent="-285750">
              <a:buFontTx/>
              <a:buChar char="-"/>
            </a:pPr>
            <a:endParaRPr lang="en-US" dirty="0">
              <a:solidFill>
                <a:schemeClr val="accent1">
                  <a:lumMod val="50000"/>
                </a:schemeClr>
              </a:solidFill>
            </a:endParaRPr>
          </a:p>
          <a:p>
            <a:pPr marL="285750" indent="-285750">
              <a:buFontTx/>
              <a:buChar char="-"/>
            </a:pPr>
            <a:r>
              <a:rPr lang="en-US" dirty="0">
                <a:solidFill>
                  <a:schemeClr val="accent1">
                    <a:lumMod val="50000"/>
                  </a:schemeClr>
                </a:solidFill>
              </a:rPr>
              <a:t>Some journals later let the reviewers know about their decision and/or view the other reviewers’ reviews</a:t>
            </a:r>
          </a:p>
          <a:p>
            <a:pPr marL="285750" indent="-285750">
              <a:buFontTx/>
              <a:buChar char="-"/>
            </a:pPr>
            <a:endParaRPr lang="en-US" dirty="0">
              <a:solidFill>
                <a:schemeClr val="accent1">
                  <a:lumMod val="50000"/>
                </a:schemeClr>
              </a:solidFill>
            </a:endParaRPr>
          </a:p>
          <a:p>
            <a:pPr marL="285750" indent="-285750">
              <a:buFontTx/>
              <a:buChar char="-"/>
            </a:pPr>
            <a:r>
              <a:rPr lang="en-US" dirty="0">
                <a:solidFill>
                  <a:schemeClr val="accent1">
                    <a:lumMod val="50000"/>
                  </a:schemeClr>
                </a:solidFill>
              </a:rPr>
              <a:t>Some journals may ask reviewer to re-review the manuscript after authors’ revisions</a:t>
            </a:r>
          </a:p>
        </p:txBody>
      </p:sp>
    </p:spTree>
    <p:extLst>
      <p:ext uri="{BB962C8B-B14F-4D97-AF65-F5344CB8AC3E}">
        <p14:creationId xmlns:p14="http://schemas.microsoft.com/office/powerpoint/2010/main" val="25700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326" y="1066800"/>
            <a:ext cx="8763000" cy="5586145"/>
          </a:xfrm>
          <a:prstGeom prst="rect">
            <a:avLst/>
          </a:prstGeom>
        </p:spPr>
        <p:txBody>
          <a:bodyPr wrap="square">
            <a:spAutoFit/>
          </a:bodyPr>
          <a:lstStyle/>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Is the title informative and appropriate?</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Does the introduction succinctly state </a:t>
            </a:r>
            <a:r>
              <a:rPr lang="en-US" b="1" dirty="0">
                <a:solidFill>
                  <a:schemeClr val="accent1">
                    <a:lumMod val="50000"/>
                  </a:schemeClr>
                </a:solidFill>
              </a:rPr>
              <a:t>what is known and unknown (i.e. knowledge gap) </a:t>
            </a:r>
            <a:br>
              <a:rPr lang="en-US" b="1" dirty="0">
                <a:solidFill>
                  <a:schemeClr val="accent1">
                    <a:lumMod val="50000"/>
                  </a:schemeClr>
                </a:solidFill>
              </a:rPr>
            </a:br>
            <a:r>
              <a:rPr lang="en-US" b="1" dirty="0">
                <a:solidFill>
                  <a:schemeClr val="accent1">
                    <a:lumMod val="50000"/>
                  </a:schemeClr>
                </a:solidFill>
              </a:rPr>
              <a:t>     </a:t>
            </a:r>
            <a:r>
              <a:rPr lang="en-US" dirty="0">
                <a:solidFill>
                  <a:schemeClr val="accent1">
                    <a:lumMod val="50000"/>
                  </a:schemeClr>
                </a:solidFill>
              </a:rPr>
              <a:t>about the topic? </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Are statements made properly supported by citations? Is the primary literature </a:t>
            </a:r>
            <a:br>
              <a:rPr lang="en-US" dirty="0">
                <a:solidFill>
                  <a:schemeClr val="accent1">
                    <a:lumMod val="50000"/>
                  </a:schemeClr>
                </a:solidFill>
              </a:rPr>
            </a:br>
            <a:r>
              <a:rPr lang="en-US" dirty="0">
                <a:solidFill>
                  <a:schemeClr val="accent1">
                    <a:lumMod val="50000"/>
                  </a:schemeClr>
                </a:solidFill>
              </a:rPr>
              <a:t>   appropriately cited? </a:t>
            </a:r>
            <a:r>
              <a:rPr lang="en-US" i="1" dirty="0">
                <a:solidFill>
                  <a:schemeClr val="accent1">
                    <a:lumMod val="50000"/>
                  </a:schemeClr>
                </a:solidFill>
              </a:rPr>
              <a:t>(or are they cherry-picking)</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Is the research question important? Is the biological/clinical significance stated? </a:t>
            </a:r>
            <a:r>
              <a:rPr lang="en-US" i="1" dirty="0">
                <a:solidFill>
                  <a:schemeClr val="accent1">
                    <a:lumMod val="75000"/>
                  </a:schemeClr>
                </a:solidFill>
              </a:rPr>
              <a:t>(this </a:t>
            </a:r>
            <a:br>
              <a:rPr lang="en-US" i="1" dirty="0">
                <a:solidFill>
                  <a:schemeClr val="accent1">
                    <a:lumMod val="75000"/>
                  </a:schemeClr>
                </a:solidFill>
              </a:rPr>
            </a:br>
            <a:r>
              <a:rPr lang="en-US" i="1" dirty="0">
                <a:solidFill>
                  <a:schemeClr val="accent1">
                    <a:lumMod val="75000"/>
                  </a:schemeClr>
                </a:solidFill>
              </a:rPr>
              <a:t>     may depend on the journal)</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Is a clear and testable </a:t>
            </a:r>
            <a:r>
              <a:rPr lang="en-US" b="1" dirty="0">
                <a:solidFill>
                  <a:schemeClr val="accent1">
                    <a:lumMod val="50000"/>
                  </a:schemeClr>
                </a:solidFill>
              </a:rPr>
              <a:t>hypothesis</a:t>
            </a:r>
            <a:r>
              <a:rPr lang="en-US" dirty="0">
                <a:solidFill>
                  <a:schemeClr val="accent1">
                    <a:lumMod val="50000"/>
                  </a:schemeClr>
                </a:solidFill>
              </a:rPr>
              <a:t> presented? Or at least an </a:t>
            </a:r>
            <a:r>
              <a:rPr lang="en-US" b="1" dirty="0">
                <a:solidFill>
                  <a:schemeClr val="accent1">
                    <a:lumMod val="50000"/>
                  </a:schemeClr>
                </a:solidFill>
              </a:rPr>
              <a:t>objective</a:t>
            </a:r>
            <a:r>
              <a:rPr lang="en-US" dirty="0">
                <a:solidFill>
                  <a:schemeClr val="accent1">
                    <a:lumMod val="50000"/>
                  </a:schemeClr>
                </a:solidFill>
              </a:rPr>
              <a:t>?</a:t>
            </a:r>
            <a:r>
              <a:rPr lang="en-US" i="1" dirty="0">
                <a:solidFill>
                  <a:schemeClr val="accent1">
                    <a:lumMod val="75000"/>
                  </a:schemeClr>
                </a:solidFill>
              </a:rPr>
              <a:t> (may depend on </a:t>
            </a:r>
            <a:br>
              <a:rPr lang="en-US" i="1" dirty="0">
                <a:solidFill>
                  <a:schemeClr val="accent1">
                    <a:lumMod val="75000"/>
                  </a:schemeClr>
                </a:solidFill>
              </a:rPr>
            </a:br>
            <a:r>
              <a:rPr lang="en-US" i="1" dirty="0">
                <a:solidFill>
                  <a:schemeClr val="accent1">
                    <a:lumMod val="75000"/>
                  </a:schemeClr>
                </a:solidFill>
              </a:rPr>
              <a:t>    the type of study)</a:t>
            </a:r>
          </a:p>
          <a:p>
            <a:pPr>
              <a:spcBef>
                <a:spcPts val="1200"/>
              </a:spcBef>
              <a:spcAft>
                <a:spcPts val="600"/>
              </a:spcAft>
              <a:buClr>
                <a:schemeClr val="accent1">
                  <a:lumMod val="75000"/>
                </a:schemeClr>
              </a:buClr>
              <a:buSzPct val="120000"/>
              <a:buFont typeface="Wingdings" pitchFamily="2" charset="2"/>
              <a:buChar char="§"/>
            </a:pPr>
            <a:r>
              <a:rPr lang="en-US" dirty="0">
                <a:solidFill>
                  <a:srgbClr val="C00000"/>
                </a:solidFill>
              </a:rPr>
              <a:t>  Are the overall experimental approach (including model/subjects, study design, key </a:t>
            </a:r>
            <a:br>
              <a:rPr lang="en-US" dirty="0">
                <a:solidFill>
                  <a:srgbClr val="C00000"/>
                </a:solidFill>
              </a:rPr>
            </a:br>
            <a:r>
              <a:rPr lang="en-US" dirty="0">
                <a:solidFill>
                  <a:srgbClr val="C00000"/>
                </a:solidFill>
              </a:rPr>
              <a:t>     methods, and data analysis) valid? Are potential confounders and biases properly </a:t>
            </a:r>
            <a:br>
              <a:rPr lang="en-US" dirty="0">
                <a:solidFill>
                  <a:srgbClr val="C00000"/>
                </a:solidFill>
              </a:rPr>
            </a:br>
            <a:r>
              <a:rPr lang="en-US" dirty="0">
                <a:solidFill>
                  <a:srgbClr val="C00000"/>
                </a:solidFill>
              </a:rPr>
              <a:t>     controlled for? And if not, at least pointed out as limitations.</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Are there sufficient methodological details provided for others to repeat the work? </a:t>
            </a:r>
          </a:p>
          <a:p>
            <a:pPr>
              <a:spcBef>
                <a:spcPts val="1200"/>
              </a:spcBef>
              <a:spcAft>
                <a:spcPts val="600"/>
              </a:spcAft>
              <a:buClr>
                <a:schemeClr val="accent1">
                  <a:lumMod val="75000"/>
                </a:schemeClr>
              </a:buClr>
              <a:buSzPct val="120000"/>
            </a:pPr>
            <a:endParaRPr lang="en-US" i="1" dirty="0">
              <a:solidFill>
                <a:schemeClr val="accent1">
                  <a:lumMod val="75000"/>
                </a:schemeClr>
              </a:solidFill>
            </a:endParaRP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Publishing/reviewing </a:t>
            </a:r>
            <a:r>
              <a:rPr lang="en-US" sz="3200" b="1" dirty="0">
                <a:sym typeface="Symbol"/>
              </a:rPr>
              <a:t> </a:t>
            </a:r>
            <a:r>
              <a:rPr lang="en-US" sz="2400" dirty="0">
                <a:sym typeface="Symbol"/>
              </a:rPr>
              <a:t>things to consider and comment on</a:t>
            </a:r>
            <a:endParaRPr lang="en-US" sz="3200" dirty="0"/>
          </a:p>
        </p:txBody>
      </p:sp>
      <p:sp>
        <p:nvSpPr>
          <p:cNvPr id="4" name="Rectangle 3"/>
          <p:cNvSpPr/>
          <p:nvPr/>
        </p:nvSpPr>
        <p:spPr>
          <a:xfrm>
            <a:off x="0" y="6581001"/>
            <a:ext cx="8991600" cy="261610"/>
          </a:xfrm>
          <a:prstGeom prst="rect">
            <a:avLst/>
          </a:prstGeom>
        </p:spPr>
        <p:txBody>
          <a:bodyPr wrap="square">
            <a:spAutoFit/>
          </a:bodyPr>
          <a:lstStyle/>
          <a:p>
            <a:r>
              <a:rPr lang="en-US" sz="1100" dirty="0">
                <a:solidFill>
                  <a:schemeClr val="accent1">
                    <a:lumMod val="75000"/>
                  </a:schemeClr>
                </a:solidFill>
              </a:rPr>
              <a:t>Seals DR &amp;Takana H. Manuscript peer review: A helpful checklist for student and novice referees. (2000) Advan in Physiol </a:t>
            </a:r>
            <a:r>
              <a:rPr lang="en-US" sz="1100" dirty="0" err="1">
                <a:solidFill>
                  <a:schemeClr val="accent1">
                    <a:lumMod val="75000"/>
                  </a:schemeClr>
                </a:solidFill>
              </a:rPr>
              <a:t>Edu</a:t>
            </a:r>
            <a:r>
              <a:rPr lang="en-US" sz="1100" dirty="0">
                <a:solidFill>
                  <a:schemeClr val="accent1">
                    <a:lumMod val="75000"/>
                  </a:schemeClr>
                </a:solidFill>
              </a:rPr>
              <a:t> 23:52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219200"/>
            <a:ext cx="8534400" cy="4755148"/>
          </a:xfrm>
          <a:prstGeom prst="rect">
            <a:avLst/>
          </a:prstGeom>
        </p:spPr>
        <p:txBody>
          <a:bodyPr wrap="square">
            <a:spAutoFit/>
          </a:bodyPr>
          <a:lstStyle/>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Are the measurement techniques used sufficiently reliable, precise, and/or validated? </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Is the variability of the assay used reported?</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Are the tables and ﬁgures clear and properly labeled? Are the error bars described? </a:t>
            </a:r>
            <a:br>
              <a:rPr lang="en-US" dirty="0">
                <a:solidFill>
                  <a:schemeClr val="accent1">
                    <a:lumMod val="50000"/>
                  </a:schemeClr>
                </a:solidFill>
              </a:rPr>
            </a:br>
            <a:r>
              <a:rPr lang="en-US" dirty="0">
                <a:solidFill>
                  <a:schemeClr val="accent1">
                    <a:lumMod val="50000"/>
                  </a:schemeClr>
                </a:solidFill>
              </a:rPr>
              <a:t>     Are the type and number of replicates clearly indicated?</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Are the results presented transparently? Are they believable? </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Are the study limitations identified and addressed?</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t>
            </a:r>
            <a:r>
              <a:rPr lang="en-US" dirty="0">
                <a:solidFill>
                  <a:srgbClr val="C00000"/>
                </a:solidFill>
              </a:rPr>
              <a:t>Are the </a:t>
            </a:r>
            <a:r>
              <a:rPr lang="en-US" b="1" dirty="0">
                <a:solidFill>
                  <a:srgbClr val="C00000"/>
                </a:solidFill>
              </a:rPr>
              <a:t>statistics appropriate</a:t>
            </a:r>
            <a:r>
              <a:rPr lang="en-US" dirty="0">
                <a:solidFill>
                  <a:srgbClr val="C00000"/>
                </a:solidFill>
              </a:rPr>
              <a:t>?</a:t>
            </a:r>
          </a:p>
          <a:p>
            <a:pPr>
              <a:spcBef>
                <a:spcPts val="1200"/>
              </a:spcBef>
              <a:spcAft>
                <a:spcPts val="600"/>
              </a:spcAft>
              <a:buClr>
                <a:schemeClr val="accent1">
                  <a:lumMod val="75000"/>
                </a:schemeClr>
              </a:buClr>
              <a:buSzPct val="120000"/>
              <a:buFont typeface="Wingdings" pitchFamily="2" charset="2"/>
              <a:buChar char="§"/>
            </a:pPr>
            <a:r>
              <a:rPr lang="en-US" dirty="0">
                <a:solidFill>
                  <a:srgbClr val="C00000"/>
                </a:solidFill>
              </a:rPr>
              <a:t>  Are the conclusions reasonable on the basis of the results obtained (i.e., have the </a:t>
            </a:r>
            <a:br>
              <a:rPr lang="en-US" dirty="0">
                <a:solidFill>
                  <a:srgbClr val="C00000"/>
                </a:solidFill>
              </a:rPr>
            </a:br>
            <a:r>
              <a:rPr lang="en-US" dirty="0">
                <a:solidFill>
                  <a:srgbClr val="C00000"/>
                </a:solidFill>
              </a:rPr>
              <a:t>     experimental data been </a:t>
            </a:r>
            <a:r>
              <a:rPr lang="en-US" b="1" dirty="0">
                <a:solidFill>
                  <a:srgbClr val="C00000"/>
                </a:solidFill>
              </a:rPr>
              <a:t>properly interpreted</a:t>
            </a:r>
            <a:r>
              <a:rPr lang="en-US" dirty="0">
                <a:solidFill>
                  <a:srgbClr val="C00000"/>
                </a:solidFill>
              </a:rPr>
              <a:t>)? </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Are the major ﬁndings both novel and important (</a:t>
            </a:r>
            <a:r>
              <a:rPr lang="en-US" i="1" dirty="0">
                <a:solidFill>
                  <a:schemeClr val="accent1">
                    <a:lumMod val="50000"/>
                  </a:schemeClr>
                </a:solidFill>
              </a:rPr>
              <a:t>i.e., </a:t>
            </a:r>
            <a:r>
              <a:rPr lang="en-US" dirty="0">
                <a:solidFill>
                  <a:schemeClr val="accent1">
                    <a:lumMod val="50000"/>
                  </a:schemeClr>
                </a:solidFill>
              </a:rPr>
              <a:t>has sufficient new knowledge </a:t>
            </a:r>
            <a:br>
              <a:rPr lang="en-US" dirty="0">
                <a:solidFill>
                  <a:schemeClr val="accent1">
                    <a:lumMod val="50000"/>
                  </a:schemeClr>
                </a:solidFill>
              </a:rPr>
            </a:br>
            <a:r>
              <a:rPr lang="en-US" dirty="0">
                <a:solidFill>
                  <a:schemeClr val="accent1">
                    <a:lumMod val="50000"/>
                  </a:schemeClr>
                </a:solidFill>
              </a:rPr>
              <a:t>    been gained)? </a:t>
            </a:r>
            <a:r>
              <a:rPr lang="en-US" i="1" dirty="0">
                <a:solidFill>
                  <a:schemeClr val="accent1">
                    <a:lumMod val="75000"/>
                  </a:schemeClr>
                </a:solidFill>
              </a:rPr>
              <a:t>(some journals will accept reproducibility studies that are not novel)</a:t>
            </a: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Publishing/reviewing </a:t>
            </a:r>
            <a:r>
              <a:rPr lang="en-US" sz="3200" b="1" dirty="0">
                <a:sym typeface="Symbol"/>
              </a:rPr>
              <a:t> </a:t>
            </a:r>
            <a:r>
              <a:rPr lang="en-US" sz="2400" dirty="0">
                <a:sym typeface="Symbol"/>
              </a:rPr>
              <a:t>things to consider</a:t>
            </a:r>
            <a:endParaRPr lang="en-US" sz="3200" dirty="0"/>
          </a:p>
        </p:txBody>
      </p:sp>
    </p:spTree>
    <p:extLst>
      <p:ext uri="{BB962C8B-B14F-4D97-AF65-F5344CB8AC3E}">
        <p14:creationId xmlns:p14="http://schemas.microsoft.com/office/powerpoint/2010/main" val="2807942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219200"/>
            <a:ext cx="8534400" cy="3185487"/>
          </a:xfrm>
          <a:prstGeom prst="rect">
            <a:avLst/>
          </a:prstGeom>
        </p:spPr>
        <p:txBody>
          <a:bodyPr wrap="square">
            <a:spAutoFit/>
          </a:bodyPr>
          <a:lstStyle/>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Do the authors discuss their findings in light of what is in the literature (e.g. compare </a:t>
            </a:r>
            <a:br>
              <a:rPr lang="en-US" dirty="0">
                <a:solidFill>
                  <a:schemeClr val="accent1">
                    <a:lumMod val="50000"/>
                  </a:schemeClr>
                </a:solidFill>
              </a:rPr>
            </a:br>
            <a:r>
              <a:rPr lang="en-US" dirty="0">
                <a:solidFill>
                  <a:schemeClr val="accent1">
                    <a:lumMod val="50000"/>
                  </a:schemeClr>
                </a:solidFill>
              </a:rPr>
              <a:t>     and contrast, explain the new knowledge gained)</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Again, is the literature properly cited?</a:t>
            </a:r>
          </a:p>
          <a:p>
            <a:pPr>
              <a:spcBef>
                <a:spcPts val="1200"/>
              </a:spcBef>
              <a:spcAft>
                <a:spcPts val="600"/>
              </a:spcAft>
              <a:buClr>
                <a:schemeClr val="accent1">
                  <a:lumMod val="75000"/>
                </a:schemeClr>
              </a:buClr>
              <a:buSzPct val="120000"/>
              <a:buFont typeface="Wingdings" pitchFamily="2" charset="2"/>
              <a:buChar char="§"/>
            </a:pPr>
            <a:r>
              <a:rPr lang="en-US" dirty="0">
                <a:solidFill>
                  <a:schemeClr val="accent1">
                    <a:lumMod val="50000"/>
                  </a:schemeClr>
                </a:solidFill>
              </a:rPr>
              <a:t>  Are funding sources listed?</a:t>
            </a:r>
          </a:p>
          <a:p>
            <a:pPr>
              <a:spcBef>
                <a:spcPts val="1200"/>
              </a:spcBef>
              <a:spcAft>
                <a:spcPts val="600"/>
              </a:spcAft>
              <a:buClr>
                <a:schemeClr val="accent1">
                  <a:lumMod val="75000"/>
                </a:schemeClr>
              </a:buClr>
              <a:buSzPct val="120000"/>
              <a:buFont typeface="Wingdings" pitchFamily="2" charset="2"/>
              <a:buChar char="§"/>
            </a:pPr>
            <a:r>
              <a:rPr lang="en-US" i="1" dirty="0">
                <a:solidFill>
                  <a:schemeClr val="accent1">
                    <a:lumMod val="50000"/>
                  </a:schemeClr>
                </a:solidFill>
              </a:rPr>
              <a:t> </a:t>
            </a:r>
            <a:r>
              <a:rPr lang="en-US" dirty="0">
                <a:solidFill>
                  <a:schemeClr val="accent1">
                    <a:lumMod val="50000"/>
                  </a:schemeClr>
                </a:solidFill>
              </a:rPr>
              <a:t> Was the study properly reviewed by IRB (human/animal ethics)</a:t>
            </a:r>
          </a:p>
          <a:p>
            <a:pPr>
              <a:spcBef>
                <a:spcPts val="1200"/>
              </a:spcBef>
              <a:spcAft>
                <a:spcPts val="600"/>
              </a:spcAft>
              <a:buClr>
                <a:schemeClr val="accent1">
                  <a:lumMod val="75000"/>
                </a:schemeClr>
              </a:buClr>
              <a:buSzPct val="120000"/>
              <a:buFont typeface="Wingdings" pitchFamily="2" charset="2"/>
              <a:buChar char="§"/>
            </a:pPr>
            <a:r>
              <a:rPr lang="en-US" i="1" dirty="0">
                <a:solidFill>
                  <a:schemeClr val="accent1">
                    <a:lumMod val="50000"/>
                  </a:schemeClr>
                </a:solidFill>
              </a:rPr>
              <a:t>  </a:t>
            </a:r>
            <a:r>
              <a:rPr lang="en-US" dirty="0">
                <a:solidFill>
                  <a:schemeClr val="accent1">
                    <a:lumMod val="50000"/>
                  </a:schemeClr>
                </a:solidFill>
              </a:rPr>
              <a:t>Are potential conflict of interest addressed?</a:t>
            </a:r>
          </a:p>
          <a:p>
            <a:pPr>
              <a:spcBef>
                <a:spcPts val="1200"/>
              </a:spcBef>
              <a:spcAft>
                <a:spcPts val="600"/>
              </a:spcAft>
              <a:buClr>
                <a:schemeClr val="accent1">
                  <a:lumMod val="75000"/>
                </a:schemeClr>
              </a:buClr>
              <a:buSzPct val="120000"/>
              <a:buFont typeface="Wingdings" pitchFamily="2" charset="2"/>
              <a:buChar char="§"/>
            </a:pPr>
            <a:endParaRPr lang="en-US" dirty="0">
              <a:solidFill>
                <a:schemeClr val="accent1">
                  <a:lumMod val="50000"/>
                </a:schemeClr>
              </a:solidFill>
            </a:endParaRP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Publishing/reviewing </a:t>
            </a:r>
            <a:r>
              <a:rPr lang="en-US" sz="3200" b="1" dirty="0">
                <a:sym typeface="Symbol"/>
              </a:rPr>
              <a:t> </a:t>
            </a:r>
            <a:r>
              <a:rPr lang="en-US" sz="2400" dirty="0">
                <a:sym typeface="Symbol"/>
              </a:rPr>
              <a:t>things to consider</a:t>
            </a:r>
            <a:endParaRPr lang="en-US" sz="3200" dirty="0"/>
          </a:p>
        </p:txBody>
      </p:sp>
      <p:sp>
        <p:nvSpPr>
          <p:cNvPr id="4" name="TextBox 3"/>
          <p:cNvSpPr txBox="1"/>
          <p:nvPr/>
        </p:nvSpPr>
        <p:spPr>
          <a:xfrm>
            <a:off x="457200" y="6324600"/>
            <a:ext cx="8080867" cy="369332"/>
          </a:xfrm>
          <a:prstGeom prst="rect">
            <a:avLst/>
          </a:prstGeom>
          <a:noFill/>
        </p:spPr>
        <p:txBody>
          <a:bodyPr wrap="none" rtlCol="0">
            <a:spAutoFit/>
          </a:bodyPr>
          <a:lstStyle/>
          <a:p>
            <a:r>
              <a:rPr lang="en-US" b="1" dirty="0">
                <a:solidFill>
                  <a:schemeClr val="accent1">
                    <a:lumMod val="50000"/>
                  </a:schemeClr>
                </a:solidFill>
              </a:rPr>
              <a:t>Consider ALL those points, comment on them only if especially good or if deficient.</a:t>
            </a:r>
          </a:p>
        </p:txBody>
      </p:sp>
    </p:spTree>
    <p:extLst>
      <p:ext uri="{BB962C8B-B14F-4D97-AF65-F5344CB8AC3E}">
        <p14:creationId xmlns:p14="http://schemas.microsoft.com/office/powerpoint/2010/main" val="94029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example: </a:t>
            </a:r>
            <a:r>
              <a:rPr lang="en-US" sz="3200" b="1" dirty="0" err="1"/>
              <a:t>PLoS</a:t>
            </a:r>
            <a:r>
              <a:rPr lang="en-US" sz="3200" b="1" dirty="0"/>
              <a:t> One reviewer questions</a:t>
            </a:r>
          </a:p>
        </p:txBody>
      </p:sp>
      <p:sp>
        <p:nvSpPr>
          <p:cNvPr id="3" name="Rectangle 2"/>
          <p:cNvSpPr/>
          <p:nvPr/>
        </p:nvSpPr>
        <p:spPr>
          <a:xfrm>
            <a:off x="419100" y="1066800"/>
            <a:ext cx="8572500" cy="5324535"/>
          </a:xfrm>
          <a:prstGeom prst="rect">
            <a:avLst/>
          </a:prstGeom>
        </p:spPr>
        <p:txBody>
          <a:bodyPr wrap="square">
            <a:spAutoFit/>
          </a:bodyPr>
          <a:lstStyle/>
          <a:p>
            <a:pPr>
              <a:buClr>
                <a:schemeClr val="accent1">
                  <a:lumMod val="75000"/>
                </a:schemeClr>
              </a:buClr>
              <a:buSzPct val="120000"/>
              <a:buFont typeface="Wingdings" pitchFamily="2" charset="2"/>
              <a:buChar char="§"/>
            </a:pPr>
            <a:r>
              <a:rPr lang="en-US" dirty="0">
                <a:solidFill>
                  <a:schemeClr val="accent1">
                    <a:lumMod val="50000"/>
                  </a:schemeClr>
                </a:solidFill>
              </a:rPr>
              <a:t>  Is the manuscript technically sound, and do the data support the conclusions?</a:t>
            </a:r>
          </a:p>
          <a:p>
            <a:pPr lvl="1">
              <a:buClr>
                <a:schemeClr val="accent1">
                  <a:lumMod val="75000"/>
                </a:schemeClr>
              </a:buClr>
              <a:buSzPct val="120000"/>
            </a:pPr>
            <a:r>
              <a:rPr lang="en-US" sz="1600" dirty="0">
                <a:solidFill>
                  <a:schemeClr val="accent1">
                    <a:lumMod val="75000"/>
                  </a:schemeClr>
                </a:solidFill>
              </a:rPr>
              <a:t>- The data presented in the manuscript must support the conclusions </a:t>
            </a:r>
            <a:r>
              <a:rPr lang="en-US" sz="1600" dirty="0">
                <a:solidFill>
                  <a:srgbClr val="C00000"/>
                </a:solidFill>
              </a:rPr>
              <a:t>drawn…authors should avoid overstating their conclusions</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Has the statistical analysis been performed appropriately and rigorously? </a:t>
            </a:r>
          </a:p>
          <a:p>
            <a:pPr lvl="1">
              <a:buClr>
                <a:schemeClr val="accent1">
                  <a:lumMod val="75000"/>
                </a:schemeClr>
              </a:buClr>
              <a:buSzPct val="120000"/>
            </a:pPr>
            <a:r>
              <a:rPr lang="en-US" sz="1600" dirty="0">
                <a:solidFill>
                  <a:schemeClr val="accent1">
                    <a:lumMod val="75000"/>
                  </a:schemeClr>
                </a:solidFill>
              </a:rPr>
              <a:t>- Experiments, statistics, and other analyses are performed to a high technical standard and are described in sufficient detail</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Does the manuscript adhere to the PLOS Data Policy? </a:t>
            </a:r>
          </a:p>
          <a:p>
            <a:pPr lvl="1">
              <a:buClr>
                <a:schemeClr val="accent1">
                  <a:lumMod val="75000"/>
                </a:schemeClr>
              </a:buClr>
              <a:buSzPct val="120000"/>
            </a:pPr>
            <a:r>
              <a:rPr lang="en-US" sz="1600" dirty="0">
                <a:solidFill>
                  <a:schemeClr val="accent1">
                    <a:lumMod val="75000"/>
                  </a:schemeClr>
                </a:solidFill>
              </a:rPr>
              <a:t>- Only primary research; no reviews, hypotheses, policy, opinions, etc</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Is the manuscript presented in an intelligible fashion and written in standard English?</a:t>
            </a:r>
          </a:p>
          <a:p>
            <a:pPr lvl="1">
              <a:buClr>
                <a:schemeClr val="accent1">
                  <a:lumMod val="75000"/>
                </a:schemeClr>
              </a:buClr>
              <a:buSzPct val="120000"/>
            </a:pPr>
            <a:r>
              <a:rPr lang="en-US" sz="1600" dirty="0">
                <a:solidFill>
                  <a:schemeClr val="accent1">
                    <a:lumMod val="75000"/>
                  </a:schemeClr>
                </a:solidFill>
              </a:rPr>
              <a:t>- PLOS ONE does not copyedit accepted manuscripts, so the language in submitted articles must be clear, correct, and unambiguous.</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Does the research meets all applicable standards for the ethics of experimentation and </a:t>
            </a:r>
            <a:br>
              <a:rPr lang="en-US" dirty="0">
                <a:solidFill>
                  <a:schemeClr val="accent1">
                    <a:lumMod val="50000"/>
                  </a:schemeClr>
                </a:solidFill>
              </a:rPr>
            </a:br>
            <a:r>
              <a:rPr lang="en-US" dirty="0">
                <a:solidFill>
                  <a:schemeClr val="accent1">
                    <a:lumMod val="50000"/>
                  </a:schemeClr>
                </a:solidFill>
              </a:rPr>
              <a:t>    research integrity?</a:t>
            </a:r>
          </a:p>
          <a:p>
            <a:pPr lvl="1">
              <a:buClr>
                <a:schemeClr val="accent1">
                  <a:lumMod val="75000"/>
                </a:schemeClr>
              </a:buClr>
              <a:buSzPct val="120000"/>
            </a:pPr>
            <a:r>
              <a:rPr lang="en-US" sz="1600" dirty="0">
                <a:solidFill>
                  <a:schemeClr val="accent1">
                    <a:lumMod val="75000"/>
                  </a:schemeClr>
                </a:solidFill>
              </a:rPr>
              <a:t>- Research must have been conducted to the highest ethical standards. Approval from the relevant body is required for studies involving humans (live or tissue), including observational studies, animals (live or tissue), cell lines that are not commercially available</a:t>
            </a:r>
            <a:endParaRPr lang="en-US" dirty="0">
              <a:solidFill>
                <a:schemeClr val="accent1">
                  <a:lumMod val="7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Writing a manuscript review</a:t>
            </a:r>
          </a:p>
        </p:txBody>
      </p:sp>
      <p:sp>
        <p:nvSpPr>
          <p:cNvPr id="3" name="TextBox 2"/>
          <p:cNvSpPr txBox="1"/>
          <p:nvPr/>
        </p:nvSpPr>
        <p:spPr>
          <a:xfrm>
            <a:off x="304800" y="990600"/>
            <a:ext cx="8839199" cy="5632311"/>
          </a:xfrm>
          <a:prstGeom prst="rect">
            <a:avLst/>
          </a:prstGeom>
          <a:noFill/>
        </p:spPr>
        <p:txBody>
          <a:bodyPr wrap="square" rtlCol="0">
            <a:spAutoFit/>
          </a:bodyPr>
          <a:lstStyle/>
          <a:p>
            <a:r>
              <a:rPr lang="en-US" dirty="0">
                <a:solidFill>
                  <a:schemeClr val="accent1">
                    <a:lumMod val="50000"/>
                  </a:schemeClr>
                </a:solidFill>
              </a:rPr>
              <a:t>Does the study adhere to various checklists that have been developed to enhance study reporting? Refer to EQUATOR (</a:t>
            </a:r>
            <a:r>
              <a:rPr lang="en-US" b="1" dirty="0"/>
              <a:t>Enhancing the </a:t>
            </a:r>
            <a:r>
              <a:rPr lang="en-US" b="1" dirty="0" err="1"/>
              <a:t>QUAlity</a:t>
            </a:r>
            <a:r>
              <a:rPr lang="en-US" b="1" dirty="0"/>
              <a:t> and Transparency Of health Research) </a:t>
            </a:r>
            <a:r>
              <a:rPr lang="en-US" dirty="0">
                <a:solidFill>
                  <a:schemeClr val="accent1">
                    <a:lumMod val="50000"/>
                  </a:schemeClr>
                </a:solidFill>
              </a:rPr>
              <a:t>network site </a:t>
            </a:r>
            <a:r>
              <a:rPr lang="en-US" dirty="0">
                <a:solidFill>
                  <a:schemeClr val="accent1">
                    <a:lumMod val="50000"/>
                  </a:schemeClr>
                </a:solidFill>
                <a:hlinkClick r:id="rId2"/>
              </a:rPr>
              <a:t>http://www.equator-network.org/</a:t>
            </a:r>
            <a:endParaRPr lang="en-US" dirty="0">
              <a:solidFill>
                <a:schemeClr val="accent1">
                  <a:lumMod val="50000"/>
                </a:schemeClr>
              </a:solidFill>
            </a:endParaRPr>
          </a:p>
          <a:p>
            <a:endParaRPr lang="en-US" dirty="0">
              <a:solidFill>
                <a:schemeClr val="accent1">
                  <a:lumMod val="50000"/>
                </a:schemeClr>
              </a:solidFill>
            </a:endParaRPr>
          </a:p>
          <a:p>
            <a:r>
              <a:rPr lang="en-US" dirty="0">
                <a:solidFill>
                  <a:schemeClr val="accent1">
                    <a:lumMod val="50000"/>
                  </a:schemeClr>
                </a:solidFill>
              </a:rPr>
              <a:t>RCT: CONSORT </a:t>
            </a:r>
            <a:r>
              <a:rPr lang="en-US" dirty="0">
                <a:solidFill>
                  <a:schemeClr val="accent1">
                    <a:lumMod val="50000"/>
                  </a:schemeClr>
                </a:solidFill>
                <a:hlinkClick r:id="rId3"/>
              </a:rPr>
              <a:t>http://www.consort-statement.org</a:t>
            </a:r>
            <a:endParaRPr lang="en-US" dirty="0">
              <a:solidFill>
                <a:schemeClr val="accent1">
                  <a:lumMod val="50000"/>
                </a:schemeClr>
              </a:solidFill>
            </a:endParaRPr>
          </a:p>
          <a:p>
            <a:endParaRPr lang="en-US" dirty="0">
              <a:solidFill>
                <a:schemeClr val="accent1">
                  <a:lumMod val="50000"/>
                </a:schemeClr>
              </a:solidFill>
            </a:endParaRPr>
          </a:p>
          <a:p>
            <a:endParaRPr lang="en-US" dirty="0">
              <a:solidFill>
                <a:schemeClr val="accent1">
                  <a:lumMod val="50000"/>
                </a:schemeClr>
              </a:solidFill>
            </a:endParaRPr>
          </a:p>
          <a:p>
            <a:r>
              <a:rPr lang="en-US" dirty="0">
                <a:solidFill>
                  <a:schemeClr val="accent1">
                    <a:lumMod val="50000"/>
                  </a:schemeClr>
                </a:solidFill>
              </a:rPr>
              <a:t>Observational studies: STROBE </a:t>
            </a:r>
            <a:r>
              <a:rPr lang="en-US" dirty="0">
                <a:solidFill>
                  <a:schemeClr val="accent1">
                    <a:lumMod val="50000"/>
                  </a:schemeClr>
                </a:solidFill>
                <a:hlinkClick r:id="rId4"/>
              </a:rPr>
              <a:t>http://www.strobe-statement.org</a:t>
            </a:r>
            <a:endParaRPr lang="en-US" dirty="0">
              <a:solidFill>
                <a:schemeClr val="accent1">
                  <a:lumMod val="50000"/>
                </a:schemeClr>
              </a:solidFill>
            </a:endParaRPr>
          </a:p>
          <a:p>
            <a:endParaRPr lang="en-US" dirty="0">
              <a:solidFill>
                <a:schemeClr val="accent1">
                  <a:lumMod val="50000"/>
                </a:schemeClr>
              </a:solidFill>
            </a:endParaRPr>
          </a:p>
          <a:p>
            <a:endParaRPr lang="en-US" dirty="0">
              <a:solidFill>
                <a:schemeClr val="accent1">
                  <a:lumMod val="50000"/>
                </a:schemeClr>
              </a:solidFill>
            </a:endParaRPr>
          </a:p>
          <a:p>
            <a:r>
              <a:rPr lang="en-US" dirty="0">
                <a:solidFill>
                  <a:schemeClr val="accent1">
                    <a:lumMod val="50000"/>
                  </a:schemeClr>
                </a:solidFill>
              </a:rPr>
              <a:t>Diagnostic studies: STARD </a:t>
            </a:r>
            <a:r>
              <a:rPr lang="en-US" u="sng" dirty="0">
                <a:solidFill>
                  <a:schemeClr val="accent1">
                    <a:lumMod val="50000"/>
                  </a:schemeClr>
                </a:solidFill>
                <a:hlinkClick r:id="rId5"/>
              </a:rPr>
              <a:t>http://www.stard-statement.org/</a:t>
            </a:r>
            <a:endParaRPr lang="en-US" dirty="0">
              <a:solidFill>
                <a:schemeClr val="accent1">
                  <a:lumMod val="50000"/>
                </a:schemeClr>
              </a:solidFill>
            </a:endParaRPr>
          </a:p>
          <a:p>
            <a:endParaRPr lang="en-US" dirty="0">
              <a:solidFill>
                <a:schemeClr val="accent1">
                  <a:lumMod val="50000"/>
                </a:schemeClr>
              </a:solidFill>
            </a:endParaRPr>
          </a:p>
          <a:p>
            <a:endParaRPr lang="en-US" dirty="0">
              <a:solidFill>
                <a:schemeClr val="accent1">
                  <a:lumMod val="50000"/>
                </a:schemeClr>
              </a:solidFill>
            </a:endParaRPr>
          </a:p>
          <a:p>
            <a:r>
              <a:rPr lang="en-US" dirty="0">
                <a:solidFill>
                  <a:schemeClr val="accent1">
                    <a:lumMod val="50000"/>
                  </a:schemeClr>
                </a:solidFill>
              </a:rPr>
              <a:t>Animal studies: ARRIVE </a:t>
            </a:r>
            <a:r>
              <a:rPr lang="en-US" dirty="0">
                <a:solidFill>
                  <a:schemeClr val="accent1">
                    <a:lumMod val="50000"/>
                  </a:schemeClr>
                </a:solidFill>
                <a:hlinkClick r:id="rId6"/>
              </a:rPr>
              <a:t>https://www.nc3rs.org.uk/arrive-guidelines</a:t>
            </a:r>
            <a:endParaRPr lang="en-US" dirty="0">
              <a:solidFill>
                <a:schemeClr val="accent1">
                  <a:lumMod val="50000"/>
                </a:schemeClr>
              </a:solidFill>
            </a:endParaRPr>
          </a:p>
          <a:p>
            <a:endParaRPr lang="en-US" dirty="0">
              <a:solidFill>
                <a:schemeClr val="accent1">
                  <a:lumMod val="50000"/>
                </a:schemeClr>
              </a:solidFill>
            </a:endParaRPr>
          </a:p>
          <a:p>
            <a:r>
              <a:rPr lang="en-US" dirty="0" err="1">
                <a:solidFill>
                  <a:schemeClr val="accent1">
                    <a:lumMod val="50000"/>
                  </a:schemeClr>
                </a:solidFill>
              </a:rPr>
              <a:t>Tumour</a:t>
            </a:r>
            <a:r>
              <a:rPr lang="en-US" dirty="0">
                <a:solidFill>
                  <a:schemeClr val="accent1">
                    <a:lumMod val="50000"/>
                  </a:schemeClr>
                </a:solidFill>
              </a:rPr>
              <a:t> markers: REMARK </a:t>
            </a:r>
            <a:r>
              <a:rPr lang="en-US" dirty="0">
                <a:solidFill>
                  <a:schemeClr val="accent1">
                    <a:lumMod val="50000"/>
                  </a:schemeClr>
                </a:solidFill>
                <a:hlinkClick r:id="rId7"/>
              </a:rPr>
              <a:t>http://www.nature.com/nrclinonc/journal/v2/n8/full/ncponc0252.html</a:t>
            </a:r>
            <a:endParaRPr lang="en-US" dirty="0">
              <a:solidFill>
                <a:schemeClr val="accent1">
                  <a:lumMod val="50000"/>
                </a:schemeClr>
              </a:solidFill>
            </a:endParaRPr>
          </a:p>
          <a:p>
            <a:endParaRPr lang="en-US" dirty="0">
              <a:solidFill>
                <a:schemeClr val="accent1">
                  <a:lumMod val="50000"/>
                </a:schemeClr>
              </a:solidFill>
            </a:endParaRPr>
          </a:p>
          <a:p>
            <a:r>
              <a:rPr lang="en-US" dirty="0">
                <a:solidFill>
                  <a:schemeClr val="accent1">
                    <a:lumMod val="50000"/>
                  </a:schemeClr>
                </a:solidFill>
              </a:rPr>
              <a:t>Case reports: CARE </a:t>
            </a:r>
            <a:r>
              <a:rPr lang="en-US" dirty="0">
                <a:solidFill>
                  <a:schemeClr val="accent1">
                    <a:lumMod val="50000"/>
                  </a:schemeClr>
                </a:solidFill>
                <a:hlinkClick r:id="rId8"/>
              </a:rPr>
              <a:t>http://data.care-statement.org/wp-content/uploads/2016/08/CAREchecklist-English-2016.pdf</a:t>
            </a:r>
            <a:endParaRPr lang="en-US" dirty="0">
              <a:solidFill>
                <a:schemeClr val="accent1">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Writing a manuscript review</a:t>
            </a:r>
          </a:p>
        </p:txBody>
      </p:sp>
      <p:sp>
        <p:nvSpPr>
          <p:cNvPr id="3" name="Rectangle 2"/>
          <p:cNvSpPr/>
          <p:nvPr/>
        </p:nvSpPr>
        <p:spPr>
          <a:xfrm>
            <a:off x="190500" y="1119891"/>
            <a:ext cx="8763000" cy="5738109"/>
          </a:xfrm>
          <a:prstGeom prst="rect">
            <a:avLst/>
          </a:prstGeom>
        </p:spPr>
        <p:txBody>
          <a:bodyPr wrap="square">
            <a:spAutoFit/>
          </a:bodyPr>
          <a:lstStyle/>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Starts with a short summary of study described in the manuscript, and of its main </a:t>
            </a:r>
            <a:br>
              <a:rPr lang="en-US" dirty="0">
                <a:solidFill>
                  <a:schemeClr val="accent1">
                    <a:lumMod val="50000"/>
                  </a:schemeClr>
                </a:solidFill>
              </a:rPr>
            </a:br>
            <a:r>
              <a:rPr lang="en-US" dirty="0">
                <a:solidFill>
                  <a:schemeClr val="accent1">
                    <a:lumMod val="50000"/>
                  </a:schemeClr>
                </a:solidFill>
              </a:rPr>
              <a:t>     finding (shows the reviewer read it and gets the gist of it)</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Often follows with a statement on whether the manuscript is interesting /novel/ </a:t>
            </a:r>
            <a:br>
              <a:rPr lang="en-US" dirty="0">
                <a:solidFill>
                  <a:schemeClr val="accent1">
                    <a:lumMod val="50000"/>
                  </a:schemeClr>
                </a:solidFill>
              </a:rPr>
            </a:br>
            <a:r>
              <a:rPr lang="en-US" dirty="0">
                <a:solidFill>
                  <a:schemeClr val="accent1">
                    <a:lumMod val="50000"/>
                  </a:schemeClr>
                </a:solidFill>
              </a:rPr>
              <a:t>     important/ relevant to the field of research</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Point out specific points/aspects that are the strengths of the study/manuscript </a:t>
            </a:r>
            <a:br>
              <a:rPr lang="en-US" dirty="0">
                <a:solidFill>
                  <a:schemeClr val="accent1">
                    <a:lumMod val="50000"/>
                  </a:schemeClr>
                </a:solidFill>
              </a:rPr>
            </a:br>
            <a:endParaRPr lang="en-US" dirty="0">
              <a:solidFill>
                <a:schemeClr val="accent1">
                  <a:lumMod val="50000"/>
                </a:schemeClr>
              </a:solidFill>
            </a:endParaRPr>
          </a:p>
          <a:p>
            <a:pPr marL="228600" indent="-228600">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Then, the reviewer makes a list of specific weaknesses, concerns/questions the reviewer has (often separated into </a:t>
            </a:r>
            <a:r>
              <a:rPr lang="en-US" b="1" dirty="0">
                <a:solidFill>
                  <a:schemeClr val="accent1">
                    <a:lumMod val="50000"/>
                  </a:schemeClr>
                </a:solidFill>
              </a:rPr>
              <a:t>Major </a:t>
            </a:r>
            <a:r>
              <a:rPr lang="en-US" dirty="0">
                <a:solidFill>
                  <a:schemeClr val="accent1">
                    <a:lumMod val="50000"/>
                  </a:schemeClr>
                </a:solidFill>
              </a:rPr>
              <a:t>(e.g. missing or inappropriate control, important variable not considered, wrong statistical test, wrong data interpretation) or</a:t>
            </a:r>
            <a:r>
              <a:rPr lang="en-US" b="1" dirty="0">
                <a:solidFill>
                  <a:schemeClr val="accent1">
                    <a:lumMod val="50000"/>
                  </a:schemeClr>
                </a:solidFill>
              </a:rPr>
              <a:t> minor </a:t>
            </a:r>
            <a:r>
              <a:rPr lang="en-US" dirty="0">
                <a:solidFill>
                  <a:schemeClr val="accent1">
                    <a:lumMod val="50000"/>
                  </a:schemeClr>
                </a:solidFill>
              </a:rPr>
              <a:t>(data presentation needing improvement, information missing in the methodology, missing citations, unclear text, typos, etc..). Could also ask the authors to elaborate on something or cut something</a:t>
            </a:r>
          </a:p>
          <a:p>
            <a:pPr marL="228600" indent="-228600">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marL="228600" indent="-228600">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All these comments should be made respectfully and constructively</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Writing a manuscript review</a:t>
            </a:r>
          </a:p>
        </p:txBody>
      </p:sp>
      <p:sp>
        <p:nvSpPr>
          <p:cNvPr id="3" name="Rectangle 2"/>
          <p:cNvSpPr/>
          <p:nvPr/>
        </p:nvSpPr>
        <p:spPr>
          <a:xfrm>
            <a:off x="228600" y="914400"/>
            <a:ext cx="8763000" cy="4404411"/>
          </a:xfrm>
          <a:prstGeom prst="rect">
            <a:avLst/>
          </a:prstGeom>
        </p:spPr>
        <p:txBody>
          <a:bodyPr wrap="square">
            <a:spAutoFit/>
          </a:bodyPr>
          <a:lstStyle/>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marL="287338" indent="-287338">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For each point, concern or criticism, use a number, start with “on page X, line Y, ….the authors state that…a citation is required…</a:t>
            </a:r>
            <a:r>
              <a:rPr lang="en-US" dirty="0" err="1">
                <a:solidFill>
                  <a:schemeClr val="accent1">
                    <a:lumMod val="50000"/>
                  </a:schemeClr>
                </a:solidFill>
              </a:rPr>
              <a:t>etc</a:t>
            </a:r>
            <a:r>
              <a:rPr lang="en-US" dirty="0">
                <a:solidFill>
                  <a:schemeClr val="accent1">
                    <a:lumMod val="50000"/>
                  </a:schemeClr>
                </a:solidFill>
              </a:rPr>
              <a:t>” to guide the author/editor, and a describe why that is questionable, or what the reviewer wants changed</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marL="285750" indent="-285750">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Reviewer should also specify </a:t>
            </a:r>
            <a:r>
              <a:rPr lang="en-US" u="sng" dirty="0">
                <a:solidFill>
                  <a:schemeClr val="accent1">
                    <a:lumMod val="50000"/>
                  </a:schemeClr>
                </a:solidFill>
              </a:rPr>
              <a:t>what should be addressed and how </a:t>
            </a:r>
            <a:r>
              <a:rPr lang="en-US" dirty="0">
                <a:solidFill>
                  <a:schemeClr val="accent1">
                    <a:lumMod val="50000"/>
                  </a:schemeClr>
                </a:solidFill>
              </a:rPr>
              <a:t>whenever possible. Be clear what is absolutely required vs. a suggestion; “The author must XXX…” or “the authors may want to consider XXX…”</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Generous reviewers may point out typos and grammatical errors, others will just </a:t>
            </a:r>
            <a:br>
              <a:rPr lang="en-US" dirty="0">
                <a:solidFill>
                  <a:schemeClr val="accent1">
                    <a:lumMod val="50000"/>
                  </a:schemeClr>
                </a:solidFill>
              </a:rPr>
            </a:br>
            <a:r>
              <a:rPr lang="en-US" dirty="0">
                <a:solidFill>
                  <a:schemeClr val="accent1">
                    <a:lumMod val="50000"/>
                  </a:schemeClr>
                </a:solidFill>
              </a:rPr>
              <a:t>     say it is poorly written and that the English requires editing </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A typical review may be ~2-3 pages long</a:t>
            </a:r>
          </a:p>
        </p:txBody>
      </p:sp>
    </p:spTree>
    <p:extLst>
      <p:ext uri="{BB962C8B-B14F-4D97-AF65-F5344CB8AC3E}">
        <p14:creationId xmlns:p14="http://schemas.microsoft.com/office/powerpoint/2010/main" val="429460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Writing a manuscript review</a:t>
            </a:r>
          </a:p>
        </p:txBody>
      </p:sp>
      <p:sp>
        <p:nvSpPr>
          <p:cNvPr id="3" name="Rectangle 2"/>
          <p:cNvSpPr/>
          <p:nvPr/>
        </p:nvSpPr>
        <p:spPr>
          <a:xfrm>
            <a:off x="190500" y="990600"/>
            <a:ext cx="8763000" cy="5093702"/>
          </a:xfrm>
          <a:prstGeom prst="rect">
            <a:avLst/>
          </a:prstGeom>
        </p:spPr>
        <p:txBody>
          <a:bodyPr wrap="square">
            <a:spAutoFit/>
          </a:bodyPr>
          <a:lstStyle/>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All the previous comments will be communicated to the authors, usually (but not always) </a:t>
            </a:r>
            <a:br>
              <a:rPr lang="en-US" dirty="0">
                <a:solidFill>
                  <a:schemeClr val="accent1">
                    <a:lumMod val="50000"/>
                  </a:schemeClr>
                </a:solidFill>
              </a:rPr>
            </a:br>
            <a:r>
              <a:rPr lang="en-US" dirty="0">
                <a:solidFill>
                  <a:schemeClr val="accent1">
                    <a:lumMod val="50000"/>
                  </a:schemeClr>
                </a:solidFill>
              </a:rPr>
              <a:t>     anonymously</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a:t>
            </a:r>
            <a:r>
              <a:rPr lang="en-US" dirty="0">
                <a:solidFill>
                  <a:srgbClr val="C00000"/>
                </a:solidFill>
              </a:rPr>
              <a:t>In a separate section</a:t>
            </a:r>
            <a:r>
              <a:rPr lang="en-US" dirty="0">
                <a:solidFill>
                  <a:schemeClr val="accent1">
                    <a:lumMod val="50000"/>
                  </a:schemeClr>
                </a:solidFill>
              </a:rPr>
              <a:t>, the reviewer addresses the journal’s </a:t>
            </a:r>
            <a:r>
              <a:rPr lang="en-US" b="1" dirty="0">
                <a:solidFill>
                  <a:schemeClr val="accent1">
                    <a:lumMod val="50000"/>
                  </a:schemeClr>
                </a:solidFill>
              </a:rPr>
              <a:t>Editor</a:t>
            </a:r>
            <a:r>
              <a:rPr lang="en-US" dirty="0">
                <a:solidFill>
                  <a:schemeClr val="accent1">
                    <a:lumMod val="50000"/>
                  </a:schemeClr>
                </a:solidFill>
              </a:rPr>
              <a:t> directly and provide </a:t>
            </a:r>
            <a:br>
              <a:rPr lang="en-US" dirty="0">
                <a:solidFill>
                  <a:schemeClr val="accent1">
                    <a:lumMod val="50000"/>
                  </a:schemeClr>
                </a:solidFill>
              </a:rPr>
            </a:br>
            <a:r>
              <a:rPr lang="en-US" dirty="0">
                <a:solidFill>
                  <a:schemeClr val="accent1">
                    <a:lumMod val="50000"/>
                  </a:schemeClr>
                </a:solidFill>
              </a:rPr>
              <a:t>     additional comments that the authors </a:t>
            </a:r>
            <a:r>
              <a:rPr lang="en-US" dirty="0">
                <a:solidFill>
                  <a:srgbClr val="C00000"/>
                </a:solidFill>
              </a:rPr>
              <a:t>will not see</a:t>
            </a:r>
            <a:r>
              <a:rPr lang="en-US" dirty="0">
                <a:solidFill>
                  <a:schemeClr val="accent1">
                    <a:lumMod val="50000"/>
                  </a:schemeClr>
                </a:solidFill>
              </a:rPr>
              <a:t>. Your chance to clearly state your    </a:t>
            </a:r>
            <a:br>
              <a:rPr lang="en-US" dirty="0">
                <a:solidFill>
                  <a:schemeClr val="accent1">
                    <a:lumMod val="50000"/>
                  </a:schemeClr>
                </a:solidFill>
              </a:rPr>
            </a:br>
            <a:r>
              <a:rPr lang="en-US" dirty="0">
                <a:solidFill>
                  <a:schemeClr val="accent1">
                    <a:lumMod val="50000"/>
                  </a:schemeClr>
                </a:solidFill>
              </a:rPr>
              <a:t>      opinion about the manuscript…but this should be very short</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The reviewer is also asked to provide </a:t>
            </a:r>
            <a:r>
              <a:rPr lang="en-US" u="sng" dirty="0">
                <a:solidFill>
                  <a:srgbClr val="C00000"/>
                </a:solidFill>
              </a:rPr>
              <a:t>a recommendation</a:t>
            </a:r>
            <a:r>
              <a:rPr lang="en-US" dirty="0">
                <a:solidFill>
                  <a:schemeClr val="accent1">
                    <a:lumMod val="50000"/>
                  </a:schemeClr>
                </a:solidFill>
              </a:rPr>
              <a:t>, typically:</a:t>
            </a:r>
          </a:p>
          <a:p>
            <a:pPr>
              <a:lnSpc>
                <a:spcPts val="2600"/>
              </a:lnSpc>
              <a:buClr>
                <a:schemeClr val="accent1">
                  <a:lumMod val="75000"/>
                </a:schemeClr>
              </a:buClr>
              <a:buSzPct val="120000"/>
              <a:buFont typeface="Wingdings" pitchFamily="2" charset="2"/>
              <a:buChar char="§"/>
            </a:pPr>
            <a:endParaRPr lang="en-US" dirty="0">
              <a:solidFill>
                <a:schemeClr val="accent1">
                  <a:lumMod val="50000"/>
                </a:schemeClr>
              </a:solidFill>
            </a:endParaRPr>
          </a:p>
          <a:p>
            <a:pPr lvl="1">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Accept without revision</a:t>
            </a:r>
          </a:p>
          <a:p>
            <a:pPr lvl="1">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Minor revision </a:t>
            </a:r>
            <a:r>
              <a:rPr lang="en-US" sz="1600" dirty="0">
                <a:solidFill>
                  <a:schemeClr val="accent1">
                    <a:lumMod val="75000"/>
                  </a:schemeClr>
                </a:solidFill>
              </a:rPr>
              <a:t>(usually will get accepted once those revisions are made)</a:t>
            </a:r>
            <a:endParaRPr lang="en-US" dirty="0">
              <a:solidFill>
                <a:schemeClr val="accent1">
                  <a:lumMod val="75000"/>
                </a:schemeClr>
              </a:solidFill>
            </a:endParaRPr>
          </a:p>
          <a:p>
            <a:pPr lvl="1">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Major revisions </a:t>
            </a:r>
            <a:r>
              <a:rPr lang="en-US" sz="1600" dirty="0">
                <a:solidFill>
                  <a:schemeClr val="accent1">
                    <a:lumMod val="75000"/>
                  </a:schemeClr>
                </a:solidFill>
              </a:rPr>
              <a:t>(revisions are important and may involve added experiments/analyses or </a:t>
            </a:r>
            <a:br>
              <a:rPr lang="en-US" sz="1600" dirty="0">
                <a:solidFill>
                  <a:schemeClr val="accent1">
                    <a:lumMod val="75000"/>
                  </a:schemeClr>
                </a:solidFill>
              </a:rPr>
            </a:br>
            <a:r>
              <a:rPr lang="en-US" sz="1600" dirty="0">
                <a:solidFill>
                  <a:schemeClr val="accent1">
                    <a:lumMod val="75000"/>
                  </a:schemeClr>
                </a:solidFill>
              </a:rPr>
              <a:t>                                     major rewording of the interpretation/conclusions; will often require re-</a:t>
            </a:r>
            <a:br>
              <a:rPr lang="en-US" sz="1600" dirty="0">
                <a:solidFill>
                  <a:schemeClr val="accent1">
                    <a:lumMod val="75000"/>
                  </a:schemeClr>
                </a:solidFill>
              </a:rPr>
            </a:br>
            <a:r>
              <a:rPr lang="en-US" sz="1600" dirty="0">
                <a:solidFill>
                  <a:schemeClr val="accent1">
                    <a:lumMod val="75000"/>
                  </a:schemeClr>
                </a:solidFill>
              </a:rPr>
              <a:t>                                     submission and re-review)</a:t>
            </a:r>
            <a:endParaRPr lang="en-US" dirty="0">
              <a:solidFill>
                <a:schemeClr val="accent1">
                  <a:lumMod val="75000"/>
                </a:schemeClr>
              </a:solidFill>
            </a:endParaRPr>
          </a:p>
          <a:p>
            <a:pPr lvl="1">
              <a:lnSpc>
                <a:spcPts val="2600"/>
              </a:lnSpc>
              <a:buClr>
                <a:schemeClr val="accent1">
                  <a:lumMod val="75000"/>
                </a:schemeClr>
              </a:buClr>
              <a:buSzPct val="120000"/>
              <a:buFont typeface="Wingdings" pitchFamily="2" charset="2"/>
              <a:buChar char="§"/>
            </a:pPr>
            <a:r>
              <a:rPr lang="en-US" dirty="0">
                <a:solidFill>
                  <a:schemeClr val="accent1">
                    <a:lumMod val="50000"/>
                  </a:schemeClr>
                </a:solidFill>
              </a:rPr>
              <a:t>  Reject </a:t>
            </a:r>
            <a:r>
              <a:rPr lang="en-US" sz="1600" dirty="0">
                <a:solidFill>
                  <a:schemeClr val="accent1">
                    <a:lumMod val="75000"/>
                  </a:schemeClr>
                </a:solidFill>
              </a:rPr>
              <a:t>(usually the authors are told there is no point re-submitting)</a:t>
            </a:r>
            <a:endParaRPr lang="en-US" dirty="0">
              <a:solidFill>
                <a:schemeClr val="accent1">
                  <a:lumMod val="75000"/>
                </a:schemeClr>
              </a:solidFill>
            </a:endParaRPr>
          </a:p>
        </p:txBody>
      </p:sp>
      <p:grpSp>
        <p:nvGrpSpPr>
          <p:cNvPr id="6" name="Group 5">
            <a:extLst>
              <a:ext uri="{FF2B5EF4-FFF2-40B4-BE49-F238E27FC236}">
                <a16:creationId xmlns:a16="http://schemas.microsoft.com/office/drawing/2014/main" id="{51B390DB-C8E1-4AEB-9E50-E718118B67A1}"/>
              </a:ext>
            </a:extLst>
          </p:cNvPr>
          <p:cNvGrpSpPr/>
          <p:nvPr/>
        </p:nvGrpSpPr>
        <p:grpSpPr>
          <a:xfrm>
            <a:off x="1447800" y="6236702"/>
            <a:ext cx="6553200" cy="392698"/>
            <a:chOff x="304800" y="6236702"/>
            <a:chExt cx="6553200" cy="392698"/>
          </a:xfrm>
        </p:grpSpPr>
        <p:sp>
          <p:nvSpPr>
            <p:cNvPr id="5" name="Rectangle: Rounded Corners 4">
              <a:extLst>
                <a:ext uri="{FF2B5EF4-FFF2-40B4-BE49-F238E27FC236}">
                  <a16:creationId xmlns:a16="http://schemas.microsoft.com/office/drawing/2014/main" id="{ED870611-E563-44EE-8699-2F7C56E849F6}"/>
                </a:ext>
              </a:extLst>
            </p:cNvPr>
            <p:cNvSpPr/>
            <p:nvPr/>
          </p:nvSpPr>
          <p:spPr>
            <a:xfrm>
              <a:off x="304800" y="6236702"/>
              <a:ext cx="6553200" cy="392698"/>
            </a:xfrm>
            <a:prstGeom prst="round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EAA9D0E-4136-4988-ADD7-88906BCDAA92}"/>
                </a:ext>
              </a:extLst>
            </p:cNvPr>
            <p:cNvSpPr txBox="1"/>
            <p:nvPr/>
          </p:nvSpPr>
          <p:spPr>
            <a:xfrm>
              <a:off x="457200" y="6259739"/>
              <a:ext cx="6294672" cy="369332"/>
            </a:xfrm>
            <a:prstGeom prst="rect">
              <a:avLst/>
            </a:prstGeom>
            <a:noFill/>
          </p:spPr>
          <p:txBody>
            <a:bodyPr wrap="none" rtlCol="0">
              <a:spAutoFit/>
            </a:bodyPr>
            <a:lstStyle/>
            <a:p>
              <a:r>
                <a:rPr lang="en-US" dirty="0">
                  <a:solidFill>
                    <a:schemeClr val="accent3">
                      <a:lumMod val="75000"/>
                    </a:schemeClr>
                  </a:solidFill>
                </a:rPr>
                <a:t>ALL THESE ELEMENTS SHOULD BE IN YOUR MANUSCRIPT REVIEW</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fade">
                                      <p:cBhvr>
                                        <p:cTn id="19" dur="500"/>
                                        <p:tgtEl>
                                          <p:spTgt spid="3">
                                            <p:txEl>
                                              <p:pRg st="9" end="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1C5074-EF3E-44A2-8493-19672CB6A051}"/>
              </a:ext>
            </a:extLst>
          </p:cNvPr>
          <p:cNvSpPr txBox="1"/>
          <p:nvPr/>
        </p:nvSpPr>
        <p:spPr>
          <a:xfrm>
            <a:off x="152400" y="228600"/>
            <a:ext cx="1752600" cy="2031325"/>
          </a:xfrm>
          <a:prstGeom prst="rect">
            <a:avLst/>
          </a:prstGeom>
          <a:noFill/>
        </p:spPr>
        <p:txBody>
          <a:bodyPr wrap="square" rtlCol="0">
            <a:spAutoFit/>
          </a:bodyPr>
          <a:lstStyle/>
          <a:p>
            <a:r>
              <a:rPr lang="en-US" dirty="0"/>
              <a:t>In addition to reviewers’ comments, good journals will often add Editor’s comments.</a:t>
            </a:r>
          </a:p>
        </p:txBody>
      </p:sp>
      <p:sp>
        <p:nvSpPr>
          <p:cNvPr id="3" name="Rectangle 2">
            <a:extLst>
              <a:ext uri="{FF2B5EF4-FFF2-40B4-BE49-F238E27FC236}">
                <a16:creationId xmlns:a16="http://schemas.microsoft.com/office/drawing/2014/main" id="{1EDDE7B2-D32F-4E01-B72D-CA6CFAC3B81A}"/>
              </a:ext>
            </a:extLst>
          </p:cNvPr>
          <p:cNvSpPr/>
          <p:nvPr/>
        </p:nvSpPr>
        <p:spPr>
          <a:xfrm>
            <a:off x="1905000" y="228600"/>
            <a:ext cx="7239000" cy="6586418"/>
          </a:xfrm>
          <a:prstGeom prst="rect">
            <a:avLst/>
          </a:prstGeom>
        </p:spPr>
        <p:txBody>
          <a:bodyPr wrap="square">
            <a:spAutoFit/>
          </a:bodyPr>
          <a:lstStyle/>
          <a:p>
            <a:r>
              <a:rPr lang="en-US" sz="1400" dirty="0">
                <a:latin typeface="Consolas" panose="020B0609020204030204" pitchFamily="49" charset="0"/>
                <a:ea typeface="Calibri" panose="020F0502020204030204" pitchFamily="34" charset="0"/>
                <a:cs typeface="Times New Roman" panose="02020603050405020304" pitchFamily="18" charset="0"/>
              </a:rPr>
              <a:t>Dear Dr. XXX,</a:t>
            </a:r>
          </a:p>
          <a:p>
            <a:r>
              <a:rPr lang="en-US" sz="1400" dirty="0">
                <a:latin typeface="Consolas" panose="020B0609020204030204" pitchFamily="49" charset="0"/>
                <a:ea typeface="Calibri" panose="020F0502020204030204" pitchFamily="34" charset="0"/>
                <a:cs typeface="Times New Roman" panose="02020603050405020304" pitchFamily="18" charset="0"/>
              </a:rPr>
              <a:t>It is a pleasure to provisionally accept your manuscript entitled "XXX”.</a:t>
            </a:r>
          </a:p>
          <a:p>
            <a:r>
              <a:rPr lang="en-US" sz="1400" dirty="0">
                <a:latin typeface="Consolas" panose="020B0609020204030204" pitchFamily="49" charset="0"/>
                <a:ea typeface="Calibri" panose="020F0502020204030204" pitchFamily="34" charset="0"/>
                <a:cs typeface="Times New Roman" panose="02020603050405020304" pitchFamily="18" charset="0"/>
              </a:rPr>
              <a:t> </a:t>
            </a:r>
          </a:p>
          <a:p>
            <a:r>
              <a:rPr lang="en-US" sz="1400" dirty="0">
                <a:latin typeface="Consolas" panose="020B0609020204030204" pitchFamily="49" charset="0"/>
                <a:ea typeface="Calibri" panose="020F0502020204030204" pitchFamily="34" charset="0"/>
                <a:cs typeface="Times New Roman" panose="02020603050405020304" pitchFamily="18" charset="0"/>
              </a:rPr>
              <a:t>For final acceptance, please follow the instructions below and return the requested items as soon as possible as we cannot process your manuscript further until all items listed below are dealt with.</a:t>
            </a:r>
          </a:p>
          <a:p>
            <a:r>
              <a:rPr lang="en-US" sz="1400" dirty="0">
                <a:latin typeface="Consolas" panose="020B0609020204030204" pitchFamily="49" charset="0"/>
                <a:ea typeface="Calibri" panose="020F0502020204030204" pitchFamily="34" charset="0"/>
                <a:cs typeface="Times New Roman" panose="02020603050405020304" pitchFamily="18" charset="0"/>
              </a:rPr>
              <a:t>  </a:t>
            </a:r>
          </a:p>
          <a:p>
            <a:r>
              <a:rPr lang="en-US" sz="1400" dirty="0">
                <a:latin typeface="Consolas" panose="020B0609020204030204" pitchFamily="49" charset="0"/>
                <a:ea typeface="Calibri" panose="020F0502020204030204" pitchFamily="34" charset="0"/>
                <a:cs typeface="Times New Roman" panose="02020603050405020304" pitchFamily="18" charset="0"/>
              </a:rPr>
              <a:t>We look forward to hearing from you and thank you for submitting your manuscript to the XXX</a:t>
            </a:r>
          </a:p>
          <a:p>
            <a:r>
              <a:rPr lang="en-US" sz="1400" dirty="0">
                <a:latin typeface="Consolas" panose="020B0609020204030204" pitchFamily="49" charset="0"/>
                <a:ea typeface="Calibri" panose="020F0502020204030204" pitchFamily="34" charset="0"/>
                <a:cs typeface="Times New Roman" panose="02020603050405020304" pitchFamily="18" charset="0"/>
              </a:rPr>
              <a:t> </a:t>
            </a:r>
          </a:p>
          <a:p>
            <a:r>
              <a:rPr lang="en-US" sz="1400" dirty="0">
                <a:latin typeface="Consolas" panose="020B0609020204030204" pitchFamily="49" charset="0"/>
                <a:ea typeface="Calibri" panose="020F0502020204030204" pitchFamily="34" charset="0"/>
                <a:cs typeface="Times New Roman" panose="02020603050405020304" pitchFamily="18" charset="0"/>
              </a:rPr>
              <a:t>Yours sincerely,</a:t>
            </a:r>
          </a:p>
          <a:p>
            <a:endParaRPr lang="en-US"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latin typeface="Consolas" panose="020B0609020204030204" pitchFamily="49" charset="0"/>
                <a:ea typeface="Calibri" panose="020F0502020204030204" pitchFamily="34" charset="0"/>
                <a:cs typeface="Times New Roman" panose="02020603050405020304" pitchFamily="18" charset="0"/>
              </a:rPr>
              <a:t>Editorial Office</a:t>
            </a:r>
            <a:endParaRPr lang="en-US" sz="1600" dirty="0">
              <a:latin typeface="Consolas" panose="020B0609020204030204" pitchFamily="49" charset="0"/>
              <a:ea typeface="Calibri" panose="020F0502020204030204" pitchFamily="34" charset="0"/>
              <a:cs typeface="Times New Roman" panose="02020603050405020304" pitchFamily="18" charset="0"/>
            </a:endParaRPr>
          </a:p>
          <a:p>
            <a:r>
              <a:rPr lang="en-US" dirty="0"/>
              <a:t>----------------------------------------------------------------------</a:t>
            </a:r>
          </a:p>
          <a:p>
            <a:r>
              <a:rPr lang="en-US" sz="1600" dirty="0"/>
              <a:t>Requested items for final acceptance:</a:t>
            </a:r>
          </a:p>
          <a:p>
            <a:r>
              <a:rPr lang="en-US" sz="1600" dirty="0"/>
              <a:t> </a:t>
            </a:r>
          </a:p>
          <a:p>
            <a:pPr marL="342900" indent="-342900">
              <a:buAutoNum type="arabicParenR"/>
            </a:pPr>
            <a:r>
              <a:rPr lang="en-US" sz="1600" dirty="0"/>
              <a:t>Editorial comments</a:t>
            </a:r>
          </a:p>
          <a:p>
            <a:endParaRPr lang="en-US" sz="1600" b="1" dirty="0"/>
          </a:p>
          <a:p>
            <a:r>
              <a:rPr lang="en-US" sz="1600" b="1" dirty="0"/>
              <a:t>Figures and legends</a:t>
            </a:r>
          </a:p>
          <a:p>
            <a:r>
              <a:rPr lang="en-US" sz="1600" dirty="0"/>
              <a:t>Please check your Figure legends thoroughly. Ensure that the data and the corresponding legends are consistent with one another and that all information (asterisks, arrows, other symbols </a:t>
            </a:r>
            <a:r>
              <a:rPr lang="en-US" sz="1600" dirty="0" err="1"/>
              <a:t>etc</a:t>
            </a:r>
            <a:r>
              <a:rPr lang="en-US" sz="1600" dirty="0"/>
              <a:t>) are explained. The legend should contain a brief description of the experimental conditions and experimental readout used, permitting readers to understand the data presented without reference to the main text. Please note that legends SHOULD NOT contain an interpretation of data i.e. you should not describe the results obtained as this belongs in the Results section.</a:t>
            </a:r>
            <a:endParaRPr lang="en-US" sz="1600" dirty="0">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4726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9342F80-1EA9-4A23-9EA3-31B7DD771F5D}"/>
              </a:ext>
            </a:extLst>
          </p:cNvPr>
          <p:cNvSpPr/>
          <p:nvPr/>
        </p:nvSpPr>
        <p:spPr>
          <a:xfrm>
            <a:off x="152400" y="228600"/>
            <a:ext cx="8839200" cy="6247864"/>
          </a:xfrm>
          <a:prstGeom prst="rect">
            <a:avLst/>
          </a:prstGeom>
        </p:spPr>
        <p:txBody>
          <a:bodyPr wrap="square">
            <a:spAutoFit/>
          </a:bodyPr>
          <a:lstStyle/>
          <a:p>
            <a:r>
              <a:rPr lang="en-US" sz="1600" dirty="0"/>
              <a:t>For FACS analysis: please show full gating strategy used. If multiple experiments use the same gating, please show this only once. If space is limited, you may wish to include this information as Supporting Information.</a:t>
            </a:r>
          </a:p>
          <a:p>
            <a:endParaRPr lang="en-US" sz="1600" dirty="0"/>
          </a:p>
          <a:p>
            <a:r>
              <a:rPr lang="en-US" sz="1600" dirty="0"/>
              <a:t>For graphs: please ensure that x-axis is reserved for experimental conditions and y-axis for experimental readout. Include all relevant information, such as what the error bars show, number of experimental repeats and method of statistical analysis and its results (p value). For further information on statistical analysis, please see below. If various groups are shown, please remember to include a key in the figure, if applicable, rather than describing the information in the legend.</a:t>
            </a:r>
          </a:p>
          <a:p>
            <a:endParaRPr lang="en-US" sz="1600" dirty="0"/>
          </a:p>
          <a:p>
            <a:r>
              <a:rPr lang="en-US" sz="1600" dirty="0"/>
              <a:t>Microscopy results: please indicate the magnification, show scale bars and the length of the scale bar should be described.</a:t>
            </a:r>
          </a:p>
          <a:p>
            <a:endParaRPr lang="en-US" sz="1600" dirty="0"/>
          </a:p>
          <a:p>
            <a:r>
              <a:rPr lang="en-US" sz="1600" dirty="0"/>
              <a:t>Western blots: please show loading controls.</a:t>
            </a:r>
          </a:p>
          <a:p>
            <a:endParaRPr lang="en-US" sz="1600" dirty="0"/>
          </a:p>
          <a:p>
            <a:r>
              <a:rPr lang="en-US" sz="1600" dirty="0"/>
              <a:t>For all data, </a:t>
            </a:r>
            <a:r>
              <a:rPr lang="en-US" sz="1600" dirty="0">
                <a:highlight>
                  <a:srgbClr val="FFFF00"/>
                </a:highlight>
              </a:rPr>
              <a:t>please state the number of independent experimental repeats</a:t>
            </a:r>
            <a:r>
              <a:rPr lang="en-US" sz="1600" dirty="0"/>
              <a:t>.</a:t>
            </a:r>
          </a:p>
          <a:p>
            <a:endParaRPr lang="en-US" sz="1600" dirty="0"/>
          </a:p>
          <a:p>
            <a:r>
              <a:rPr lang="en-US" sz="1600" dirty="0"/>
              <a:t>Statistical analysis - standard requirements Please check your manuscript and, in particular, the Figure legends to ensure that full statistical analysis has been performed and detailed. The name of each statistical test used and the results obtained (including a description of the comparisons made to obtain the p values, if not clearly indicated in the Figures) should be stated. The number of samples, experiments, replicates etc. should be detailed. The data presentation (mean +/- SD or SEM </a:t>
            </a:r>
            <a:r>
              <a:rPr lang="en-US" sz="1600" dirty="0" err="1"/>
              <a:t>etc</a:t>
            </a:r>
            <a:r>
              <a:rPr lang="en-US" sz="1600" dirty="0"/>
              <a:t>) should be noted. Authors are encouraged to </a:t>
            </a:r>
            <a:r>
              <a:rPr lang="en-US" sz="1600" dirty="0" err="1"/>
              <a:t>analyse</a:t>
            </a:r>
            <a:r>
              <a:rPr lang="en-US" sz="1600" dirty="0"/>
              <a:t> data across multiple experiments, if at all possible, and should note that </a:t>
            </a:r>
            <a:r>
              <a:rPr lang="en-US" sz="1600" dirty="0" err="1"/>
              <a:t>analysing</a:t>
            </a:r>
            <a:r>
              <a:rPr lang="en-US" sz="1600" dirty="0"/>
              <a:t> replicates within a single experiment does not provide information regarding experimental reproducibility.</a:t>
            </a:r>
          </a:p>
        </p:txBody>
      </p:sp>
    </p:spTree>
    <p:extLst>
      <p:ext uri="{BB962C8B-B14F-4D97-AF65-F5344CB8AC3E}">
        <p14:creationId xmlns:p14="http://schemas.microsoft.com/office/powerpoint/2010/main" val="3090584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305800" cy="5355312"/>
          </a:xfrm>
          <a:prstGeom prst="rect">
            <a:avLst/>
          </a:prstGeom>
        </p:spPr>
        <p:txBody>
          <a:bodyPr wrap="square">
            <a:spAutoFit/>
          </a:bodyPr>
          <a:lstStyle/>
          <a:p>
            <a:pPr marL="285750" indent="-285750">
              <a:buFont typeface="Wingdings" panose="05000000000000000000" pitchFamily="2" charset="2"/>
              <a:buChar char="§"/>
            </a:pPr>
            <a:r>
              <a:rPr lang="en-US" dirty="0">
                <a:solidFill>
                  <a:schemeClr val="accent1">
                    <a:lumMod val="50000"/>
                  </a:schemeClr>
                </a:solidFill>
              </a:rPr>
              <a:t>The </a:t>
            </a:r>
            <a:r>
              <a:rPr lang="en-US" b="1" dirty="0">
                <a:solidFill>
                  <a:schemeClr val="accent1">
                    <a:lumMod val="50000"/>
                  </a:schemeClr>
                </a:solidFill>
              </a:rPr>
              <a:t>impact factor (IF) </a:t>
            </a:r>
            <a:r>
              <a:rPr lang="en-US" dirty="0">
                <a:solidFill>
                  <a:schemeClr val="accent1">
                    <a:lumMod val="50000"/>
                  </a:schemeClr>
                </a:solidFill>
              </a:rPr>
              <a:t>of an academic journal = measure reflecting the average number of citations to recent articles published in that journal. </a:t>
            </a: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Frequently used as a proxy for the relative importance of a journal within its field</a:t>
            </a:r>
          </a:p>
          <a:p>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IF is controversial, many believes it does not adequately truly reflect the reality</a:t>
            </a: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General journals (and Review journals) typically have highest IF</a:t>
            </a:r>
          </a:p>
          <a:p>
            <a:pPr marL="285750" indent="-285750">
              <a:buFont typeface="Wingdings" panose="05000000000000000000" pitchFamily="2" charset="2"/>
              <a:buChar char="§"/>
            </a:pPr>
            <a:r>
              <a:rPr lang="en-US" dirty="0">
                <a:solidFill>
                  <a:schemeClr val="accent1">
                    <a:lumMod val="50000"/>
                  </a:schemeClr>
                </a:solidFill>
              </a:rPr>
              <a:t>Best journals in highly specialized fields may have relatively low IF </a:t>
            </a:r>
            <a:r>
              <a:rPr lang="en-US" dirty="0">
                <a:solidFill>
                  <a:schemeClr val="accent1">
                    <a:lumMod val="75000"/>
                  </a:schemeClr>
                </a:solidFill>
              </a:rPr>
              <a:t>(e.g. top HIV-specific journal has IF ~6-7; top pediatric journals can also have moderate IF)</a:t>
            </a:r>
          </a:p>
          <a:p>
            <a:endParaRPr lang="en-US" dirty="0">
              <a:solidFill>
                <a:schemeClr val="accent1">
                  <a:lumMod val="50000"/>
                </a:schemeClr>
              </a:solidFill>
            </a:endParaRPr>
          </a:p>
          <a:p>
            <a:r>
              <a:rPr lang="en-US" dirty="0">
                <a:solidFill>
                  <a:schemeClr val="accent1">
                    <a:lumMod val="50000"/>
                  </a:schemeClr>
                </a:solidFill>
              </a:rPr>
              <a:t>	High IF (&gt;15)</a:t>
            </a:r>
          </a:p>
          <a:p>
            <a:r>
              <a:rPr lang="en-US" dirty="0">
                <a:solidFill>
                  <a:schemeClr val="accent1">
                    <a:lumMod val="50000"/>
                  </a:schemeClr>
                </a:solidFill>
              </a:rPr>
              <a:t>	Moderate IF (~4-15) 	</a:t>
            </a:r>
            <a:br>
              <a:rPr lang="en-US" dirty="0">
                <a:solidFill>
                  <a:schemeClr val="accent1">
                    <a:lumMod val="50000"/>
                  </a:schemeClr>
                </a:solidFill>
              </a:rPr>
            </a:br>
            <a:r>
              <a:rPr lang="en-US" dirty="0">
                <a:solidFill>
                  <a:schemeClr val="accent1">
                    <a:lumMod val="50000"/>
                  </a:schemeClr>
                </a:solidFill>
              </a:rPr>
              <a:t>	Low IF (&lt;3)</a:t>
            </a:r>
          </a:p>
          <a:p>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May unduly influence what </a:t>
            </a:r>
          </a:p>
          <a:p>
            <a:pPr lvl="1"/>
            <a:r>
              <a:rPr lang="en-US" dirty="0">
                <a:solidFill>
                  <a:schemeClr val="accent1">
                    <a:lumMod val="50000"/>
                  </a:schemeClr>
                </a:solidFill>
              </a:rPr>
              <a:t>-    Editors will do (to boost IF of their journal)</a:t>
            </a:r>
          </a:p>
          <a:p>
            <a:pPr marL="742950" lvl="1" indent="-285750">
              <a:buFontTx/>
              <a:buChar char="-"/>
            </a:pPr>
            <a:r>
              <a:rPr lang="en-US" dirty="0">
                <a:solidFill>
                  <a:schemeClr val="accent1">
                    <a:lumMod val="50000"/>
                  </a:schemeClr>
                </a:solidFill>
              </a:rPr>
              <a:t>Authors will do to get published in high IF journal</a:t>
            </a:r>
          </a:p>
          <a:p>
            <a:pPr marL="742950" lvl="1" indent="-285750">
              <a:buFontTx/>
              <a:buChar char="-"/>
            </a:pPr>
            <a:r>
              <a:rPr lang="en-US" dirty="0">
                <a:solidFill>
                  <a:schemeClr val="accent1">
                    <a:lumMod val="50000"/>
                  </a:schemeClr>
                </a:solidFill>
              </a:rPr>
              <a:t>Reviewers will do (e.g. how critical)</a:t>
            </a: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Journal’s impact factor</a:t>
            </a:r>
          </a:p>
        </p:txBody>
      </p:sp>
    </p:spTree>
    <p:extLst>
      <p:ext uri="{BB962C8B-B14F-4D97-AF65-F5344CB8AC3E}">
        <p14:creationId xmlns:p14="http://schemas.microsoft.com/office/powerpoint/2010/main" val="322911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2" end="12"/>
                                            </p:txEl>
                                          </p:spTgt>
                                        </p:tgtEl>
                                        <p:attrNameLst>
                                          <p:attrName>style.visibility</p:attrName>
                                        </p:attrNameLst>
                                      </p:cBhvr>
                                      <p:to>
                                        <p:strVal val="visible"/>
                                      </p:to>
                                    </p:set>
                                    <p:animEffect transition="in" filter="fade">
                                      <p:cBhvr>
                                        <p:cTn id="7" dur="500"/>
                                        <p:tgtEl>
                                          <p:spTgt spid="2">
                                            <p:txEl>
                                              <p:pRg st="12" end="1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3" end="13"/>
                                            </p:txEl>
                                          </p:spTgt>
                                        </p:tgtEl>
                                        <p:attrNameLst>
                                          <p:attrName>style.visibility</p:attrName>
                                        </p:attrNameLst>
                                      </p:cBhvr>
                                      <p:to>
                                        <p:strVal val="visible"/>
                                      </p:to>
                                    </p:set>
                                    <p:animEffect transition="in" filter="fade">
                                      <p:cBhvr>
                                        <p:cTn id="10" dur="500"/>
                                        <p:tgtEl>
                                          <p:spTgt spid="2">
                                            <p:txEl>
                                              <p:pRg st="13" end="1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14" end="14"/>
                                            </p:txEl>
                                          </p:spTgt>
                                        </p:tgtEl>
                                        <p:attrNameLst>
                                          <p:attrName>style.visibility</p:attrName>
                                        </p:attrNameLst>
                                      </p:cBhvr>
                                      <p:to>
                                        <p:strVal val="visible"/>
                                      </p:to>
                                    </p:set>
                                    <p:animEffect transition="in" filter="fade">
                                      <p:cBhvr>
                                        <p:cTn id="13" dur="500"/>
                                        <p:tgtEl>
                                          <p:spTgt spid="2">
                                            <p:txEl>
                                              <p:pRg st="14" end="1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15" end="15"/>
                                            </p:txEl>
                                          </p:spTgt>
                                        </p:tgtEl>
                                        <p:attrNameLst>
                                          <p:attrName>style.visibility</p:attrName>
                                        </p:attrNameLst>
                                      </p:cBhvr>
                                      <p:to>
                                        <p:strVal val="visible"/>
                                      </p:to>
                                    </p:set>
                                    <p:animEffect transition="in" filter="fade">
                                      <p:cBhvr>
                                        <p:cTn id="16"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20983C-8F8A-4DDB-99E3-864AC11DF511}"/>
              </a:ext>
            </a:extLst>
          </p:cNvPr>
          <p:cNvSpPr/>
          <p:nvPr/>
        </p:nvSpPr>
        <p:spPr>
          <a:xfrm>
            <a:off x="114300" y="152400"/>
            <a:ext cx="8801100" cy="1969770"/>
          </a:xfrm>
          <a:prstGeom prst="rect">
            <a:avLst/>
          </a:prstGeom>
        </p:spPr>
        <p:txBody>
          <a:bodyPr wrap="square">
            <a:spAutoFit/>
          </a:bodyPr>
          <a:lstStyle/>
          <a:p>
            <a:r>
              <a:rPr lang="en-US" sz="1400" b="1" i="1" dirty="0">
                <a:solidFill>
                  <a:srgbClr val="A2AFB8"/>
                </a:solidFill>
                <a:latin typeface="GnstkmArialBoldItalic"/>
              </a:rPr>
              <a:t>NATURE </a:t>
            </a:r>
            <a:r>
              <a:rPr lang="en-US" sz="1400" b="1" dirty="0">
                <a:solidFill>
                  <a:srgbClr val="A2AFB8"/>
                </a:solidFill>
                <a:latin typeface="RcywltArialBold"/>
              </a:rPr>
              <a:t>| RESEARCH HIGHLIGHTS: SOCIAL SELECTION</a:t>
            </a:r>
          </a:p>
          <a:p>
            <a:r>
              <a:rPr lang="en-US" sz="4000" dirty="0">
                <a:solidFill>
                  <a:srgbClr val="222222"/>
                </a:solidFill>
                <a:latin typeface="BlkkmdArialRegular"/>
              </a:rPr>
              <a:t>Why high-profile journals have more retractions</a:t>
            </a:r>
          </a:p>
          <a:p>
            <a:r>
              <a:rPr lang="en-US" sz="1400" b="1" dirty="0">
                <a:solidFill>
                  <a:srgbClr val="333333"/>
                </a:solidFill>
                <a:latin typeface="RcywltArialBold"/>
              </a:rPr>
              <a:t>Two papers from 2011 resurfaced on social media recently: splashy retractions and female Viking fighters.</a:t>
            </a:r>
          </a:p>
          <a:p>
            <a:r>
              <a:rPr lang="en-US" sz="1400" dirty="0">
                <a:solidFill>
                  <a:srgbClr val="333333"/>
                </a:solidFill>
                <a:latin typeface="BlkkmdArialRegular"/>
              </a:rPr>
              <a:t>17 September 2014</a:t>
            </a:r>
            <a:endParaRPr lang="en-US" sz="1400" dirty="0"/>
          </a:p>
        </p:txBody>
      </p:sp>
      <p:pic>
        <p:nvPicPr>
          <p:cNvPr id="3" name="Picture 2">
            <a:extLst>
              <a:ext uri="{FF2B5EF4-FFF2-40B4-BE49-F238E27FC236}">
                <a16:creationId xmlns:a16="http://schemas.microsoft.com/office/drawing/2014/main" id="{F7BFC4FF-C2B4-4CB7-B4D6-BA644CCE0C78}"/>
              </a:ext>
            </a:extLst>
          </p:cNvPr>
          <p:cNvPicPr>
            <a:picLocks noChangeAspect="1"/>
          </p:cNvPicPr>
          <p:nvPr/>
        </p:nvPicPr>
        <p:blipFill>
          <a:blip r:embed="rId2"/>
          <a:stretch>
            <a:fillRect/>
          </a:stretch>
        </p:blipFill>
        <p:spPr>
          <a:xfrm>
            <a:off x="304800" y="2362200"/>
            <a:ext cx="4763812" cy="4191000"/>
          </a:xfrm>
          <a:prstGeom prst="rect">
            <a:avLst/>
          </a:prstGeom>
        </p:spPr>
      </p:pic>
      <p:pic>
        <p:nvPicPr>
          <p:cNvPr id="4" name="Picture 3">
            <a:extLst>
              <a:ext uri="{FF2B5EF4-FFF2-40B4-BE49-F238E27FC236}">
                <a16:creationId xmlns:a16="http://schemas.microsoft.com/office/drawing/2014/main" id="{102F0A74-1336-410B-B5B3-15CC03334335}"/>
              </a:ext>
            </a:extLst>
          </p:cNvPr>
          <p:cNvPicPr>
            <a:picLocks noChangeAspect="1"/>
          </p:cNvPicPr>
          <p:nvPr/>
        </p:nvPicPr>
        <p:blipFill>
          <a:blip r:embed="rId3"/>
          <a:stretch>
            <a:fillRect/>
          </a:stretch>
        </p:blipFill>
        <p:spPr>
          <a:xfrm>
            <a:off x="5105400" y="3048000"/>
            <a:ext cx="4038600" cy="1890037"/>
          </a:xfrm>
          <a:prstGeom prst="rect">
            <a:avLst/>
          </a:prstGeom>
        </p:spPr>
      </p:pic>
    </p:spTree>
    <p:extLst>
      <p:ext uri="{BB962C8B-B14F-4D97-AF65-F5344CB8AC3E}">
        <p14:creationId xmlns:p14="http://schemas.microsoft.com/office/powerpoint/2010/main" val="786887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Stats in NEJM vs. Nature Medicine</a:t>
            </a:r>
          </a:p>
        </p:txBody>
      </p:sp>
      <p:pic>
        <p:nvPicPr>
          <p:cNvPr id="1026" name="Picture 2"/>
          <p:cNvPicPr>
            <a:picLocks noChangeAspect="1" noChangeArrowheads="1"/>
          </p:cNvPicPr>
          <p:nvPr/>
        </p:nvPicPr>
        <p:blipFill>
          <a:blip r:embed="rId2" cstate="print"/>
          <a:srcRect/>
          <a:stretch>
            <a:fillRect/>
          </a:stretch>
        </p:blipFill>
        <p:spPr bwMode="auto">
          <a:xfrm>
            <a:off x="1" y="1143000"/>
            <a:ext cx="9143999" cy="2957605"/>
          </a:xfrm>
          <a:prstGeom prst="rect">
            <a:avLst/>
          </a:prstGeom>
          <a:noFill/>
          <a:ln w="9525">
            <a:noFill/>
            <a:miter lim="800000"/>
            <a:headEnd/>
            <a:tailEnd/>
          </a:ln>
        </p:spPr>
      </p:pic>
      <p:sp>
        <p:nvSpPr>
          <p:cNvPr id="4" name="Rectangle 3"/>
          <p:cNvSpPr/>
          <p:nvPr/>
        </p:nvSpPr>
        <p:spPr>
          <a:xfrm>
            <a:off x="190500" y="4800600"/>
            <a:ext cx="8763000" cy="1754326"/>
          </a:xfrm>
          <a:prstGeom prst="rect">
            <a:avLst/>
          </a:prstGeom>
        </p:spPr>
        <p:txBody>
          <a:bodyPr wrap="square">
            <a:spAutoFit/>
          </a:bodyPr>
          <a:lstStyle/>
          <a:p>
            <a:r>
              <a:rPr lang="en-US" dirty="0">
                <a:solidFill>
                  <a:schemeClr val="accent1">
                    <a:lumMod val="50000"/>
                  </a:schemeClr>
                </a:solidFill>
              </a:rPr>
              <a:t>All original research articles published during the first half of year 2004 in Volume 350, Numbers 1–26 of The New England Journal of Medicine and Volume 10, Numbers 1–6 of Nature Medicine were included for a bibliometric analysis.</a:t>
            </a:r>
          </a:p>
          <a:p>
            <a:endParaRPr lang="en-US" dirty="0">
              <a:solidFill>
                <a:schemeClr val="accent1">
                  <a:lumMod val="50000"/>
                </a:schemeClr>
              </a:solidFill>
            </a:endParaRPr>
          </a:p>
          <a:p>
            <a:r>
              <a:rPr lang="en-US" dirty="0">
                <a:solidFill>
                  <a:schemeClr val="accent1">
                    <a:lumMod val="50000"/>
                  </a:schemeClr>
                </a:solidFill>
              </a:rPr>
              <a:t>NEJM  n = 91</a:t>
            </a:r>
          </a:p>
          <a:p>
            <a:r>
              <a:rPr lang="en-US" dirty="0">
                <a:solidFill>
                  <a:schemeClr val="accent1">
                    <a:lumMod val="50000"/>
                  </a:schemeClr>
                </a:solidFill>
              </a:rPr>
              <a:t>Nature Medicine  n = 34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76200" y="0"/>
            <a:ext cx="8928180" cy="6858000"/>
          </a:xfrm>
          <a:prstGeom prst="rect">
            <a:avLst/>
          </a:prstGeom>
          <a:noFill/>
          <a:ln w="9525">
            <a:noFill/>
            <a:miter lim="800000"/>
            <a:headEnd/>
            <a:tailEnd/>
          </a:ln>
        </p:spPr>
      </p:pic>
      <p:sp>
        <p:nvSpPr>
          <p:cNvPr id="3" name="Rounded Rectangle 2"/>
          <p:cNvSpPr/>
          <p:nvPr/>
        </p:nvSpPr>
        <p:spPr>
          <a:xfrm>
            <a:off x="0" y="4191000"/>
            <a:ext cx="7467600" cy="314325"/>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4876800" y="533400"/>
            <a:ext cx="750526" cy="369332"/>
          </a:xfrm>
          <a:prstGeom prst="rect">
            <a:avLst/>
          </a:prstGeom>
          <a:noFill/>
        </p:spPr>
        <p:txBody>
          <a:bodyPr wrap="none" rtlCol="0">
            <a:spAutoFit/>
          </a:bodyPr>
          <a:lstStyle/>
          <a:p>
            <a:r>
              <a:rPr lang="en-US" dirty="0">
                <a:solidFill>
                  <a:srgbClr val="C00000"/>
                </a:solidFill>
              </a:rPr>
              <a:t>IF ~54</a:t>
            </a:r>
          </a:p>
        </p:txBody>
      </p:sp>
      <p:sp>
        <p:nvSpPr>
          <p:cNvPr id="5" name="TextBox 4"/>
          <p:cNvSpPr txBox="1"/>
          <p:nvPr/>
        </p:nvSpPr>
        <p:spPr>
          <a:xfrm>
            <a:off x="7016137" y="533400"/>
            <a:ext cx="750526" cy="369332"/>
          </a:xfrm>
          <a:prstGeom prst="rect">
            <a:avLst/>
          </a:prstGeom>
          <a:noFill/>
        </p:spPr>
        <p:txBody>
          <a:bodyPr wrap="none" rtlCol="0">
            <a:spAutoFit/>
          </a:bodyPr>
          <a:lstStyle/>
          <a:p>
            <a:r>
              <a:rPr lang="en-US" dirty="0">
                <a:solidFill>
                  <a:srgbClr val="C00000"/>
                </a:solidFill>
              </a:rPr>
              <a:t>IF ~28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Classical vs. Open peer review</a:t>
            </a:r>
          </a:p>
        </p:txBody>
      </p:sp>
      <p:sp>
        <p:nvSpPr>
          <p:cNvPr id="3" name="Rectangle 2"/>
          <p:cNvSpPr/>
          <p:nvPr/>
        </p:nvSpPr>
        <p:spPr>
          <a:xfrm>
            <a:off x="457200" y="1143000"/>
            <a:ext cx="8305800" cy="5632311"/>
          </a:xfrm>
          <a:prstGeom prst="rect">
            <a:avLst/>
          </a:prstGeom>
        </p:spPr>
        <p:txBody>
          <a:bodyPr wrap="square">
            <a:spAutoFit/>
          </a:bodyPr>
          <a:lstStyle/>
          <a:p>
            <a:pPr marL="285750" indent="-285750">
              <a:buFont typeface="Wingdings" panose="05000000000000000000" pitchFamily="2" charset="2"/>
              <a:buChar char="§"/>
            </a:pPr>
            <a:r>
              <a:rPr lang="en-US" dirty="0">
                <a:solidFill>
                  <a:schemeClr val="accent1">
                    <a:lumMod val="50000"/>
                  </a:schemeClr>
                </a:solidFill>
              </a:rPr>
              <a:t>Approximately a third of higher impact journals purposefully use statisticians as reviewers</a:t>
            </a: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Some journals have open peer review whereby the reviewers’ identity is revealed to the authors (and often everyone else since public)</a:t>
            </a:r>
          </a:p>
          <a:p>
            <a:pPr marL="742950" lvl="1" indent="-285750">
              <a:buFontTx/>
              <a:buChar char="-"/>
            </a:pPr>
            <a:endParaRPr lang="en-US" dirty="0">
              <a:solidFill>
                <a:schemeClr val="accent1">
                  <a:lumMod val="50000"/>
                </a:schemeClr>
              </a:solidFill>
            </a:endParaRPr>
          </a:p>
          <a:p>
            <a:pPr lvl="1"/>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Some journals offer a choice between the two options</a:t>
            </a: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Some ask if the reviews can be “re-used” or passed forward</a:t>
            </a: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Controversial</a:t>
            </a: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endParaRPr lang="en-US" dirty="0">
              <a:solidFill>
                <a:schemeClr val="accent1">
                  <a:lumMod val="50000"/>
                </a:schemeClr>
              </a:solidFill>
            </a:endParaRPr>
          </a:p>
        </p:txBody>
      </p:sp>
    </p:spTree>
    <p:extLst>
      <p:ext uri="{BB962C8B-B14F-4D97-AF65-F5344CB8AC3E}">
        <p14:creationId xmlns:p14="http://schemas.microsoft.com/office/powerpoint/2010/main" val="2709027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569119"/>
            <a:ext cx="14215533" cy="7996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p:nvCxnSpPr>
        <p:spPr>
          <a:xfrm>
            <a:off x="2438400" y="3773056"/>
            <a:ext cx="38862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438400" y="6096000"/>
            <a:ext cx="28194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438400" y="6687128"/>
            <a:ext cx="37338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438400" y="6793349"/>
            <a:ext cx="28194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Classical vs. Open peer review</a:t>
            </a:r>
          </a:p>
        </p:txBody>
      </p:sp>
    </p:spTree>
    <p:extLst>
      <p:ext uri="{BB962C8B-B14F-4D97-AF65-F5344CB8AC3E}">
        <p14:creationId xmlns:p14="http://schemas.microsoft.com/office/powerpoint/2010/main" val="555782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BC4782-B78D-46B8-8EA0-C0FA1FD81CB7}"/>
              </a:ext>
            </a:extLst>
          </p:cNvPr>
          <p:cNvSpPr/>
          <p:nvPr/>
        </p:nvSpPr>
        <p:spPr>
          <a:xfrm>
            <a:off x="1905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Resources</a:t>
            </a:r>
          </a:p>
        </p:txBody>
      </p:sp>
      <p:sp>
        <p:nvSpPr>
          <p:cNvPr id="3" name="Rectangle 2">
            <a:extLst>
              <a:ext uri="{FF2B5EF4-FFF2-40B4-BE49-F238E27FC236}">
                <a16:creationId xmlns:a16="http://schemas.microsoft.com/office/drawing/2014/main" id="{CA5FC22D-CFA9-4AFB-8B51-8A9B84C8D681}"/>
              </a:ext>
            </a:extLst>
          </p:cNvPr>
          <p:cNvSpPr/>
          <p:nvPr/>
        </p:nvSpPr>
        <p:spPr>
          <a:xfrm>
            <a:off x="304800" y="1066800"/>
            <a:ext cx="8001000" cy="923330"/>
          </a:xfrm>
          <a:prstGeom prst="rect">
            <a:avLst/>
          </a:prstGeom>
        </p:spPr>
        <p:txBody>
          <a:bodyPr wrap="square">
            <a:spAutoFit/>
          </a:bodyPr>
          <a:lstStyle/>
          <a:p>
            <a:pPr marL="285750" indent="-285750">
              <a:buFont typeface="Wingdings" panose="05000000000000000000" pitchFamily="2" charset="2"/>
              <a:buChar char="§"/>
            </a:pPr>
            <a:endParaRPr lang="en-US" dirty="0">
              <a:solidFill>
                <a:schemeClr val="accent1">
                  <a:lumMod val="50000"/>
                </a:schemeClr>
              </a:solidFill>
            </a:endParaRPr>
          </a:p>
          <a:p>
            <a:pPr marL="285750" indent="-285750">
              <a:buFont typeface="Wingdings" panose="05000000000000000000" pitchFamily="2" charset="2"/>
              <a:buChar char="§"/>
            </a:pPr>
            <a:r>
              <a:rPr lang="en-US" dirty="0">
                <a:solidFill>
                  <a:schemeClr val="accent1">
                    <a:lumMod val="50000"/>
                  </a:schemeClr>
                </a:solidFill>
              </a:rPr>
              <a:t>Lots of resources online and on each journal’s website about how to conduct a manuscript peer review</a:t>
            </a:r>
          </a:p>
        </p:txBody>
      </p:sp>
    </p:spTree>
    <p:extLst>
      <p:ext uri="{BB962C8B-B14F-4D97-AF65-F5344CB8AC3E}">
        <p14:creationId xmlns:p14="http://schemas.microsoft.com/office/powerpoint/2010/main" val="2672917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55539</TotalTime>
  <Words>2548</Words>
  <Application>Microsoft Office PowerPoint</Application>
  <PresentationFormat>On-screen Show (4:3)</PresentationFormat>
  <Paragraphs>206</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BlkkmdArialRegular</vt:lpstr>
      <vt:lpstr>Calibri</vt:lpstr>
      <vt:lpstr>Consolas</vt:lpstr>
      <vt:lpstr>GnstkmArialBoldItalic</vt:lpstr>
      <vt:lpstr>RcywltArialBold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hcote</dc:creator>
  <cp:lastModifiedBy>Cote, Helene</cp:lastModifiedBy>
  <cp:revision>940</cp:revision>
  <dcterms:created xsi:type="dcterms:W3CDTF">2014-05-07T23:33:29Z</dcterms:created>
  <dcterms:modified xsi:type="dcterms:W3CDTF">2025-05-28T05:55:49Z</dcterms:modified>
</cp:coreProperties>
</file>